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Default Extension="jpg" ContentType="image/jpg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rgbClr val="111F35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111F35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00637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30"/>
              <a:t> </a:t>
            </a:r>
            <a:r>
              <a:rPr dirty="0"/>
              <a:t>II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30"/>
              <a:t> </a:t>
            </a:r>
            <a:r>
              <a:rPr dirty="0"/>
              <a:t>Course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30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18</a:t>
            </a:r>
            <a:r>
              <a:rPr dirty="0" spc="-1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Single</a:t>
            </a:r>
            <a:r>
              <a:rPr dirty="0" spc="-40"/>
              <a:t> </a:t>
            </a:r>
            <a:r>
              <a:rPr dirty="0"/>
              <a:t>Page</a:t>
            </a:r>
            <a:r>
              <a:rPr dirty="0" spc="-15"/>
              <a:t> </a:t>
            </a:r>
            <a:r>
              <a:rPr dirty="0" spc="-10"/>
              <a:t>Applications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00637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111F35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111F35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00637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30"/>
              <a:t> </a:t>
            </a:r>
            <a:r>
              <a:rPr dirty="0"/>
              <a:t>II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30"/>
              <a:t> </a:t>
            </a:r>
            <a:r>
              <a:rPr dirty="0"/>
              <a:t>Course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30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18</a:t>
            </a:r>
            <a:r>
              <a:rPr dirty="0" spc="-1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Single</a:t>
            </a:r>
            <a:r>
              <a:rPr dirty="0" spc="-40"/>
              <a:t> </a:t>
            </a:r>
            <a:r>
              <a:rPr dirty="0"/>
              <a:t>Page</a:t>
            </a:r>
            <a:r>
              <a:rPr dirty="0" spc="-15"/>
              <a:t> </a:t>
            </a:r>
            <a:r>
              <a:rPr dirty="0" spc="-10"/>
              <a:t>Applications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00637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111F35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00637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30"/>
              <a:t> </a:t>
            </a:r>
            <a:r>
              <a:rPr dirty="0"/>
              <a:t>II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30"/>
              <a:t> </a:t>
            </a:r>
            <a:r>
              <a:rPr dirty="0"/>
              <a:t>Course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30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18</a:t>
            </a:r>
            <a:r>
              <a:rPr dirty="0" spc="-1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Single</a:t>
            </a:r>
            <a:r>
              <a:rPr dirty="0" spc="-40"/>
              <a:t> </a:t>
            </a:r>
            <a:r>
              <a:rPr dirty="0"/>
              <a:t>Page</a:t>
            </a:r>
            <a:r>
              <a:rPr dirty="0" spc="-15"/>
              <a:t> </a:t>
            </a:r>
            <a:r>
              <a:rPr dirty="0" spc="-10"/>
              <a:t>Applications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00637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111F35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00637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30"/>
              <a:t> </a:t>
            </a:r>
            <a:r>
              <a:rPr dirty="0"/>
              <a:t>II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30"/>
              <a:t> </a:t>
            </a:r>
            <a:r>
              <a:rPr dirty="0"/>
              <a:t>Course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30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18</a:t>
            </a:r>
            <a:r>
              <a:rPr dirty="0" spc="-1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Single</a:t>
            </a:r>
            <a:r>
              <a:rPr dirty="0" spc="-40"/>
              <a:t> </a:t>
            </a:r>
            <a:r>
              <a:rPr dirty="0"/>
              <a:t>Page</a:t>
            </a:r>
            <a:r>
              <a:rPr dirty="0" spc="-15"/>
              <a:t> </a:t>
            </a:r>
            <a:r>
              <a:rPr dirty="0" spc="-10"/>
              <a:t>Applications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00637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97755" y="22858"/>
            <a:ext cx="5794243" cy="683513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00637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30"/>
              <a:t> </a:t>
            </a:r>
            <a:r>
              <a:rPr dirty="0"/>
              <a:t>II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30"/>
              <a:t> </a:t>
            </a:r>
            <a:r>
              <a:rPr dirty="0"/>
              <a:t>Course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30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18</a:t>
            </a:r>
            <a:r>
              <a:rPr dirty="0" spc="-1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Single</a:t>
            </a:r>
            <a:r>
              <a:rPr dirty="0" spc="-40"/>
              <a:t> </a:t>
            </a:r>
            <a:r>
              <a:rPr dirty="0"/>
              <a:t>Page</a:t>
            </a:r>
            <a:r>
              <a:rPr dirty="0" spc="-15"/>
              <a:t> </a:t>
            </a:r>
            <a:r>
              <a:rPr dirty="0" spc="-10"/>
              <a:t>Applications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00637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62050" y="557529"/>
            <a:ext cx="10222865" cy="574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rgbClr val="111F35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62050" y="1446872"/>
            <a:ext cx="10212705" cy="36385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111F35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962050" y="6465214"/>
            <a:ext cx="8086725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00637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30"/>
              <a:t> </a:t>
            </a:r>
            <a:r>
              <a:rPr dirty="0"/>
              <a:t>II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30"/>
              <a:t> </a:t>
            </a:r>
            <a:r>
              <a:rPr dirty="0"/>
              <a:t>Course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30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18</a:t>
            </a:r>
            <a:r>
              <a:rPr dirty="0" spc="-1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Single</a:t>
            </a:r>
            <a:r>
              <a:rPr dirty="0" spc="-40"/>
              <a:t> </a:t>
            </a:r>
            <a:r>
              <a:rPr dirty="0"/>
              <a:t>Page</a:t>
            </a:r>
            <a:r>
              <a:rPr dirty="0" spc="-15"/>
              <a:t> </a:t>
            </a:r>
            <a:r>
              <a:rPr dirty="0" spc="-10"/>
              <a:t>Applications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1049761" y="6465214"/>
            <a:ext cx="219075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006379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hyperlink" Target="mailto:luigiliberolucio.starace@unina.it" TargetMode="External"/><Relationship Id="rId4" Type="http://schemas.openxmlformats.org/officeDocument/2006/relationships/hyperlink" Target="https://luistar.github.io/" TargetMode="External"/><Relationship Id="rId5" Type="http://schemas.openxmlformats.org/officeDocument/2006/relationships/hyperlink" Target="https://www.docenti.unina.it/luigiliberolucio.starace" TargetMode="Externa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jp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developer.mozilla.org/en-US/docs/Web/API/Window/popstate_event" TargetMode="External"/><Relationship Id="rId3" Type="http://schemas.openxmlformats.org/officeDocument/2006/relationships/hyperlink" Target="https://developer.mozilla.org/en-US/docs/Web/API/Document/DOMContentLoaded_event" TargetMode="External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developer.mozilla.org/en-US/docs/Web/API/Web_components/Using_custom_elements" TargetMode="External"/><Relationship Id="rId3" Type="http://schemas.openxmlformats.org/officeDocument/2006/relationships/image" Target="../media/image10.png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/Relationships>
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developer.mozilla.org/en-US/docs/Web/API/XMLHttpRequest" TargetMode="External"/></Relationships>
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jpg"/></Relationships>
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/Relationships>
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developer.mozilla.org/en-US/docs/Glossary/SPA" TargetMode="External"/><Relationship Id="rId3" Type="http://schemas.openxmlformats.org/officeDocument/2006/relationships/hyperlink" Target="http://singlepageappbook.com/" TargetMode="External"/><Relationship Id="rId4" Type="http://schemas.openxmlformats.org/officeDocument/2006/relationships/hyperlink" Target="https://github.com/mixu/singlepageappbook" TargetMode="External"/><Relationship Id="rId5" Type="http://schemas.openxmlformats.org/officeDocument/2006/relationships/hyperlink" Target="https://developer.mozilla.org/en-US/docs/Learn/Tools_and_testing/Client-side_JavaScript_frameworks" TargetMode="External"/><Relationship Id="rId6" Type="http://schemas.openxmlformats.org/officeDocument/2006/relationships/hyperlink" Target="https://developer.mozilla.org/en-US/docs/Learn/Tools_and_testing/Client-side_JavaScript_frameworks/Introduction" TargetMode="External"/><Relationship Id="rId7" Type="http://schemas.openxmlformats.org/officeDocument/2006/relationships/hyperlink" Target="https://developer.mozilla.org/en-US/docs/Learn/Tools_and_testing/Client-side_JavaScript_frameworks/Main_features" TargetMode="Externa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97755" y="22858"/>
            <a:ext cx="5794243" cy="6835139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962050" y="2230958"/>
            <a:ext cx="5688330" cy="1763395"/>
          </a:xfrm>
          <a:prstGeom prst="rect">
            <a:avLst/>
          </a:prstGeom>
        </p:spPr>
        <p:txBody>
          <a:bodyPr wrap="square" lIns="0" tIns="116205" rIns="0" bIns="0" rtlCol="0" vert="horz">
            <a:spAutoFit/>
          </a:bodyPr>
          <a:lstStyle/>
          <a:p>
            <a:pPr marL="12700" marR="5080">
              <a:lnSpc>
                <a:spcPts val="6480"/>
              </a:lnSpc>
              <a:spcBef>
                <a:spcPts val="915"/>
              </a:spcBef>
            </a:pPr>
            <a:r>
              <a:rPr dirty="0" sz="6000" spc="-30" b="1">
                <a:solidFill>
                  <a:srgbClr val="111F35"/>
                </a:solidFill>
                <a:latin typeface="Tahoma"/>
                <a:cs typeface="Tahoma"/>
              </a:rPr>
              <a:t>SINGLE</a:t>
            </a:r>
            <a:r>
              <a:rPr dirty="0" sz="6000" spc="-409" b="1">
                <a:solidFill>
                  <a:srgbClr val="111F35"/>
                </a:solidFill>
                <a:latin typeface="Tahoma"/>
                <a:cs typeface="Tahoma"/>
              </a:rPr>
              <a:t> </a:t>
            </a:r>
            <a:r>
              <a:rPr dirty="0" sz="6000" spc="60" b="1">
                <a:solidFill>
                  <a:srgbClr val="111F35"/>
                </a:solidFill>
                <a:latin typeface="Tahoma"/>
                <a:cs typeface="Tahoma"/>
              </a:rPr>
              <a:t>PAGE </a:t>
            </a:r>
            <a:r>
              <a:rPr dirty="0" sz="6000" spc="-135" b="1">
                <a:solidFill>
                  <a:srgbClr val="111F35"/>
                </a:solidFill>
                <a:latin typeface="Tahoma"/>
                <a:cs typeface="Tahoma"/>
              </a:rPr>
              <a:t>APPLICATIONS</a:t>
            </a:r>
            <a:endParaRPr sz="6000">
              <a:latin typeface="Tahoma"/>
              <a:cs typeface="Tahoma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961136" y="4471630"/>
            <a:ext cx="4638040" cy="1599565"/>
          </a:xfrm>
          <a:prstGeom prst="rect">
            <a:avLst/>
          </a:prstGeom>
        </p:spPr>
        <p:txBody>
          <a:bodyPr wrap="square" lIns="0" tIns="179705" rIns="0" bIns="0" rtlCol="0" vert="horz">
            <a:spAutoFit/>
          </a:bodyPr>
          <a:lstStyle/>
          <a:p>
            <a:pPr marL="13335">
              <a:lnSpc>
                <a:spcPct val="100000"/>
              </a:lnSpc>
              <a:spcBef>
                <a:spcPts val="1415"/>
              </a:spcBef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Luigi</a:t>
            </a:r>
            <a:r>
              <a:rPr dirty="0" sz="2800" spc="-9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Libero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Lucio</a:t>
            </a:r>
            <a:r>
              <a:rPr dirty="0" sz="2800" spc="-9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Starace,</a:t>
            </a:r>
            <a:r>
              <a:rPr dirty="0" sz="2800" spc="-9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PhD</a:t>
            </a:r>
            <a:endParaRPr sz="2800">
              <a:latin typeface="Calibri"/>
              <a:cs typeface="Calibri"/>
            </a:endParaRPr>
          </a:p>
          <a:p>
            <a:pPr marL="12700" marR="5080">
              <a:lnSpc>
                <a:spcPct val="119200"/>
              </a:lnSpc>
              <a:spcBef>
                <a:spcPts val="420"/>
              </a:spcBef>
            </a:pPr>
            <a:r>
              <a:rPr dirty="0" u="sng" sz="1700" spc="-1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3"/>
              </a:rPr>
              <a:t>luigiliberolucio.starace@unina.it</a:t>
            </a:r>
            <a:r>
              <a:rPr dirty="0" sz="1700" spc="-10">
                <a:solidFill>
                  <a:srgbClr val="006379"/>
                </a:solidFill>
                <a:latin typeface="Calibri"/>
                <a:cs typeface="Calibri"/>
              </a:rPr>
              <a:t> </a:t>
            </a:r>
            <a:r>
              <a:rPr dirty="0" u="sng" sz="1700" spc="-1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4"/>
              </a:rPr>
              <a:t>https://luistar.github.io</a:t>
            </a:r>
            <a:r>
              <a:rPr dirty="0" sz="1700" spc="-10">
                <a:solidFill>
                  <a:srgbClr val="006379"/>
                </a:solidFill>
                <a:latin typeface="Calibri"/>
                <a:cs typeface="Calibri"/>
              </a:rPr>
              <a:t> </a:t>
            </a:r>
            <a:r>
              <a:rPr dirty="0" u="sng" sz="1700" spc="-1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5"/>
              </a:rPr>
              <a:t>https://www.docenti.unina.it/luigiliberolucio.starace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962050" y="960247"/>
            <a:ext cx="6421120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70">
                <a:solidFill>
                  <a:srgbClr val="006379"/>
                </a:solidFill>
              </a:rPr>
              <a:t>WEB</a:t>
            </a:r>
            <a:r>
              <a:rPr dirty="0" sz="2800" spc="-75">
                <a:solidFill>
                  <a:srgbClr val="006379"/>
                </a:solidFill>
              </a:rPr>
              <a:t> </a:t>
            </a:r>
            <a:r>
              <a:rPr dirty="0" sz="2800">
                <a:solidFill>
                  <a:srgbClr val="006379"/>
                </a:solidFill>
              </a:rPr>
              <a:t>TECHNO</a:t>
            </a:r>
            <a:r>
              <a:rPr dirty="0" sz="2800">
                <a:solidFill>
                  <a:srgbClr val="396C77"/>
                </a:solidFill>
              </a:rPr>
              <a:t>L</a:t>
            </a:r>
            <a:r>
              <a:rPr dirty="0" sz="2800">
                <a:solidFill>
                  <a:srgbClr val="006379"/>
                </a:solidFill>
              </a:rPr>
              <a:t>OGIES</a:t>
            </a:r>
            <a:r>
              <a:rPr dirty="0" sz="2800" spc="-40">
                <a:solidFill>
                  <a:srgbClr val="006379"/>
                </a:solidFill>
              </a:rPr>
              <a:t> </a:t>
            </a:r>
            <a:r>
              <a:rPr dirty="0" sz="2800" spc="1000">
                <a:solidFill>
                  <a:srgbClr val="006379"/>
                </a:solidFill>
              </a:rPr>
              <a:t>–</a:t>
            </a:r>
            <a:r>
              <a:rPr dirty="0" sz="2800" spc="-75">
                <a:solidFill>
                  <a:srgbClr val="006379"/>
                </a:solidFill>
              </a:rPr>
              <a:t> </a:t>
            </a:r>
            <a:r>
              <a:rPr dirty="0" sz="2800" spc="-105">
                <a:solidFill>
                  <a:srgbClr val="006379"/>
                </a:solidFill>
              </a:rPr>
              <a:t>LECTURE</a:t>
            </a:r>
            <a:r>
              <a:rPr dirty="0" sz="2800" spc="-55">
                <a:solidFill>
                  <a:srgbClr val="006379"/>
                </a:solidFill>
              </a:rPr>
              <a:t> </a:t>
            </a:r>
            <a:r>
              <a:rPr dirty="0" sz="2800" spc="-25">
                <a:solidFill>
                  <a:srgbClr val="006379"/>
                </a:solidFill>
              </a:rPr>
              <a:t>18</a:t>
            </a:r>
            <a:endParaRPr sz="2800"/>
          </a:p>
        </p:txBody>
      </p:sp>
      <p:sp>
        <p:nvSpPr>
          <p:cNvPr id="6" name="object 6" descr=""/>
          <p:cNvSpPr txBox="1"/>
          <p:nvPr/>
        </p:nvSpPr>
        <p:spPr>
          <a:xfrm>
            <a:off x="962050" y="616965"/>
            <a:ext cx="6336030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-55" b="1">
                <a:solidFill>
                  <a:srgbClr val="006379"/>
                </a:solidFill>
                <a:latin typeface="Tahoma"/>
                <a:cs typeface="Tahoma"/>
              </a:rPr>
              <a:t>UNIVERSITÀ </a:t>
            </a:r>
            <a:r>
              <a:rPr dirty="0" sz="2000" spc="-10" b="1">
                <a:solidFill>
                  <a:srgbClr val="006379"/>
                </a:solidFill>
                <a:latin typeface="Tahoma"/>
                <a:cs typeface="Tahoma"/>
              </a:rPr>
              <a:t>DEGLI</a:t>
            </a:r>
            <a:r>
              <a:rPr dirty="0" sz="2000" spc="-55" b="1">
                <a:solidFill>
                  <a:srgbClr val="006379"/>
                </a:solidFill>
                <a:latin typeface="Tahoma"/>
                <a:cs typeface="Tahoma"/>
              </a:rPr>
              <a:t> </a:t>
            </a:r>
            <a:r>
              <a:rPr dirty="0" sz="2000" spc="-60" b="1">
                <a:solidFill>
                  <a:srgbClr val="006379"/>
                </a:solidFill>
                <a:latin typeface="Tahoma"/>
                <a:cs typeface="Tahoma"/>
              </a:rPr>
              <a:t>STUDI</a:t>
            </a:r>
            <a:r>
              <a:rPr dirty="0" sz="2000" spc="-40" b="1">
                <a:solidFill>
                  <a:srgbClr val="006379"/>
                </a:solidFill>
                <a:latin typeface="Tahoma"/>
                <a:cs typeface="Tahoma"/>
              </a:rPr>
              <a:t> </a:t>
            </a:r>
            <a:r>
              <a:rPr dirty="0" sz="2000" spc="-55" b="1">
                <a:solidFill>
                  <a:srgbClr val="006379"/>
                </a:solidFill>
                <a:latin typeface="Tahoma"/>
                <a:cs typeface="Tahoma"/>
              </a:rPr>
              <a:t>DI</a:t>
            </a:r>
            <a:r>
              <a:rPr dirty="0" sz="2000" spc="-50" b="1">
                <a:solidFill>
                  <a:srgbClr val="006379"/>
                </a:solidFill>
                <a:latin typeface="Tahoma"/>
                <a:cs typeface="Tahoma"/>
              </a:rPr>
              <a:t> </a:t>
            </a:r>
            <a:r>
              <a:rPr dirty="0" sz="2000" b="1">
                <a:solidFill>
                  <a:srgbClr val="006379"/>
                </a:solidFill>
                <a:latin typeface="Tahoma"/>
                <a:cs typeface="Tahoma"/>
              </a:rPr>
              <a:t>NAPOLI</a:t>
            </a:r>
            <a:r>
              <a:rPr dirty="0" sz="2000" spc="-65" b="1">
                <a:solidFill>
                  <a:srgbClr val="006379"/>
                </a:solidFill>
                <a:latin typeface="Tahoma"/>
                <a:cs typeface="Tahoma"/>
              </a:rPr>
              <a:t> </a:t>
            </a:r>
            <a:r>
              <a:rPr dirty="0" sz="2000" spc="-75" b="1">
                <a:solidFill>
                  <a:srgbClr val="006379"/>
                </a:solidFill>
                <a:latin typeface="Tahoma"/>
                <a:cs typeface="Tahoma"/>
              </a:rPr>
              <a:t>FEDERICO</a:t>
            </a:r>
            <a:r>
              <a:rPr dirty="0" sz="2000" spc="-60" b="1">
                <a:solidFill>
                  <a:srgbClr val="006379"/>
                </a:solidFill>
                <a:latin typeface="Tahoma"/>
                <a:cs typeface="Tahoma"/>
              </a:rPr>
              <a:t> </a:t>
            </a:r>
            <a:r>
              <a:rPr dirty="0" sz="2000" spc="-280" b="1">
                <a:solidFill>
                  <a:srgbClr val="006379"/>
                </a:solidFill>
                <a:latin typeface="Tahoma"/>
                <a:cs typeface="Tahoma"/>
              </a:rPr>
              <a:t>II</a:t>
            </a:r>
            <a:endParaRPr sz="20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30"/>
              <a:t> </a:t>
            </a:r>
            <a:r>
              <a:rPr dirty="0"/>
              <a:t>II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30"/>
              <a:t> </a:t>
            </a:r>
            <a:r>
              <a:rPr dirty="0"/>
              <a:t>Course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30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18</a:t>
            </a:r>
            <a:r>
              <a:rPr dirty="0" spc="-1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Single</a:t>
            </a:r>
            <a:r>
              <a:rPr dirty="0" spc="-40"/>
              <a:t> </a:t>
            </a:r>
            <a:r>
              <a:rPr dirty="0"/>
              <a:t>Page</a:t>
            </a:r>
            <a:r>
              <a:rPr dirty="0" spc="-15"/>
              <a:t> </a:t>
            </a:r>
            <a:r>
              <a:rPr dirty="0" spc="-10"/>
              <a:t>Applications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75"/>
              <a:t>PREVIOUSLY,</a:t>
            </a:r>
            <a:r>
              <a:rPr dirty="0" spc="-80"/>
              <a:t> </a:t>
            </a:r>
            <a:r>
              <a:rPr dirty="0" spc="275"/>
              <a:t>ON</a:t>
            </a:r>
            <a:r>
              <a:rPr dirty="0" spc="-95"/>
              <a:t> </a:t>
            </a:r>
            <a:r>
              <a:rPr dirty="0" spc="-70"/>
              <a:t>WEB</a:t>
            </a:r>
            <a:r>
              <a:rPr dirty="0" spc="-114"/>
              <a:t> </a:t>
            </a:r>
            <a:r>
              <a:rPr dirty="0" spc="-10"/>
              <a:t>TECHNOLOGIES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1446872"/>
            <a:ext cx="9869170" cy="3479165"/>
          </a:xfrm>
          <a:prstGeom prst="rect">
            <a:avLst/>
          </a:prstGeom>
        </p:spPr>
        <p:txBody>
          <a:bodyPr wrap="square" lIns="0" tIns="984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We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learned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how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develop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111F35"/>
                </a:solidFill>
                <a:latin typeface="Calibri"/>
                <a:cs typeface="Calibri"/>
              </a:rPr>
              <a:t>traditional</a:t>
            </a:r>
            <a:r>
              <a:rPr dirty="0" sz="2800" spc="-5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web</a:t>
            </a:r>
            <a:r>
              <a:rPr dirty="0" sz="2800" spc="-7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111F35"/>
                </a:solidFill>
                <a:latin typeface="Calibri"/>
                <a:cs typeface="Calibri"/>
              </a:rPr>
              <a:t>applications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Using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CGI,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PHP,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and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plain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Node.js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And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using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Framework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(Express)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660"/>
              </a:spcBef>
              <a:buClr>
                <a:srgbClr val="111F35"/>
              </a:buClr>
              <a:buFont typeface="Arial MT"/>
              <a:buChar char="•"/>
            </a:pPr>
            <a:endParaRPr sz="2800">
              <a:latin typeface="Calibri"/>
              <a:cs typeface="Calibri"/>
            </a:endParaRPr>
          </a:p>
          <a:p>
            <a:pPr marL="12700" marR="5080">
              <a:lnSpc>
                <a:spcPts val="3020"/>
              </a:lnSpc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web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apps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we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developed,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pages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are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dynamically</a:t>
            </a:r>
            <a:r>
              <a:rPr dirty="0" sz="2800" spc="-5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0" b="1">
                <a:solidFill>
                  <a:srgbClr val="111F35"/>
                </a:solidFill>
                <a:latin typeface="Calibri"/>
                <a:cs typeface="Calibri"/>
              </a:rPr>
              <a:t>generated</a:t>
            </a:r>
            <a:r>
              <a:rPr dirty="0" sz="2800" spc="-5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 b="1">
                <a:solidFill>
                  <a:srgbClr val="111F35"/>
                </a:solidFill>
                <a:latin typeface="Calibri"/>
                <a:cs typeface="Calibri"/>
              </a:rPr>
              <a:t>on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7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server</a:t>
            </a:r>
            <a:r>
              <a:rPr dirty="0" sz="2800" spc="-4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and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sent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web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browser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for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rendering.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2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Once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they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reach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browser,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web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pages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are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inherently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111F35"/>
                </a:solidFill>
                <a:latin typeface="Calibri"/>
                <a:cs typeface="Calibri"/>
              </a:rPr>
              <a:t>static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30"/>
              <a:t> </a:t>
            </a:r>
            <a:r>
              <a:rPr dirty="0"/>
              <a:t>II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30"/>
              <a:t> </a:t>
            </a:r>
            <a:r>
              <a:rPr dirty="0"/>
              <a:t>Course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30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18</a:t>
            </a:r>
            <a:r>
              <a:rPr dirty="0" spc="-1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Single</a:t>
            </a:r>
            <a:r>
              <a:rPr dirty="0" spc="-40"/>
              <a:t> </a:t>
            </a:r>
            <a:r>
              <a:rPr dirty="0"/>
              <a:t>Page</a:t>
            </a:r>
            <a:r>
              <a:rPr dirty="0" spc="-15"/>
              <a:t> </a:t>
            </a:r>
            <a:r>
              <a:rPr dirty="0" spc="-10"/>
              <a:t>Applications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140"/>
              <a:t>MULTI-</a:t>
            </a:r>
            <a:r>
              <a:rPr dirty="0"/>
              <a:t>PAGE</a:t>
            </a:r>
            <a:r>
              <a:rPr dirty="0" spc="35"/>
              <a:t> </a:t>
            </a:r>
            <a:r>
              <a:rPr dirty="0" spc="-55"/>
              <a:t>WEB</a:t>
            </a:r>
            <a:r>
              <a:rPr dirty="0" spc="30"/>
              <a:t> </a:t>
            </a:r>
            <a:r>
              <a:rPr dirty="0" spc="-65"/>
              <a:t>APPLICATIONS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1446872"/>
            <a:ext cx="10316210" cy="4373880"/>
          </a:xfrm>
          <a:prstGeom prst="rect">
            <a:avLst/>
          </a:prstGeom>
        </p:spPr>
        <p:txBody>
          <a:bodyPr wrap="square" lIns="0" tIns="984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our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traditional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web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apps,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when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we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change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page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(e.g.: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click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on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link):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new</a:t>
            </a:r>
            <a:r>
              <a:rPr dirty="0" sz="2800" spc="-5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request</a:t>
            </a:r>
            <a:r>
              <a:rPr dirty="0" sz="2800" spc="-3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is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sent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server</a:t>
            </a:r>
            <a:endParaRPr sz="2800">
              <a:latin typeface="Calibri"/>
              <a:cs typeface="Calibri"/>
            </a:endParaRPr>
          </a:p>
          <a:p>
            <a:pPr marL="12700" marR="264160" indent="227329">
              <a:lnSpc>
                <a:spcPct val="119600"/>
              </a:lnSpc>
              <a:spcBef>
                <a:spcPts val="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new</a:t>
            </a:r>
            <a:r>
              <a:rPr dirty="0" sz="2800" spc="-6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page</a:t>
            </a:r>
            <a:r>
              <a:rPr dirty="0" sz="2800" spc="-6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is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returned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response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and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displayed</a:t>
            </a:r>
            <a:r>
              <a:rPr dirty="0" sz="2800" spc="-5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by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browser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This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approach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is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also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known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as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0" b="1">
                <a:solidFill>
                  <a:srgbClr val="111F35"/>
                </a:solidFill>
                <a:latin typeface="Calibri"/>
                <a:cs typeface="Calibri"/>
              </a:rPr>
              <a:t>multi-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page</a:t>
            </a:r>
            <a:r>
              <a:rPr dirty="0" sz="2800" spc="-4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approach,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leading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ts val="3025"/>
              </a:lnSpc>
            </a:pPr>
            <a:r>
              <a:rPr dirty="0" sz="2800" spc="-20" b="1">
                <a:solidFill>
                  <a:srgbClr val="111F35"/>
                </a:solidFill>
                <a:latin typeface="Calibri"/>
                <a:cs typeface="Calibri"/>
              </a:rPr>
              <a:t>multi-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page</a:t>
            </a:r>
            <a:r>
              <a:rPr dirty="0" sz="2800" spc="-4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web</a:t>
            </a:r>
            <a:r>
              <a:rPr dirty="0" sz="2800" spc="-6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111F35"/>
                </a:solidFill>
                <a:latin typeface="Calibri"/>
                <a:cs typeface="Calibri"/>
              </a:rPr>
              <a:t>applications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.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645"/>
              </a:spcBef>
            </a:pPr>
            <a:endParaRPr sz="2800">
              <a:latin typeface="Calibri"/>
              <a:cs typeface="Calibri"/>
            </a:endParaRPr>
          </a:p>
          <a:p>
            <a:pPr marL="12700" marR="1744345">
              <a:lnSpc>
                <a:spcPts val="3030"/>
              </a:lnSpc>
              <a:spcBef>
                <a:spcPts val="5"/>
              </a:spcBef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Back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Lecture</a:t>
            </a:r>
            <a:r>
              <a:rPr dirty="0" sz="2800" spc="-2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7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,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we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learned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about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JavaScript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Browser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environment: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DOM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manipulation,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fetching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data,</a:t>
            </a:r>
            <a:r>
              <a:rPr dirty="0" sz="2800" spc="-9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…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1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So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far, 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however,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we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did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not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make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particular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use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of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those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features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140"/>
              <a:t>MULTI-</a:t>
            </a:r>
            <a:r>
              <a:rPr dirty="0"/>
              <a:t>PAGE</a:t>
            </a:r>
            <a:r>
              <a:rPr dirty="0" spc="270"/>
              <a:t> </a:t>
            </a:r>
            <a:r>
              <a:rPr dirty="0" spc="-65"/>
              <a:t>APPLICATIONS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59605" y="1628465"/>
            <a:ext cx="5476306" cy="4442777"/>
          </a:xfrm>
          <a:prstGeom prst="rect">
            <a:avLst/>
          </a:prstGeom>
        </p:spPr>
      </p:pic>
      <p:grpSp>
        <p:nvGrpSpPr>
          <p:cNvPr id="4" name="object 4" descr=""/>
          <p:cNvGrpSpPr/>
          <p:nvPr/>
        </p:nvGrpSpPr>
        <p:grpSpPr>
          <a:xfrm>
            <a:off x="9061450" y="3200145"/>
            <a:ext cx="2254885" cy="1488440"/>
            <a:chOff x="9061450" y="3200145"/>
            <a:chExt cx="2254885" cy="1488440"/>
          </a:xfrm>
        </p:grpSpPr>
        <p:sp>
          <p:nvSpPr>
            <p:cNvPr id="5" name="object 5" descr=""/>
            <p:cNvSpPr/>
            <p:nvPr/>
          </p:nvSpPr>
          <p:spPr>
            <a:xfrm>
              <a:off x="9067800" y="3206495"/>
              <a:ext cx="2242185" cy="1475740"/>
            </a:xfrm>
            <a:custGeom>
              <a:avLst/>
              <a:gdLst/>
              <a:ahLst/>
              <a:cxnLst/>
              <a:rect l="l" t="t" r="r" b="b"/>
              <a:pathLst>
                <a:path w="2242184" h="1475739">
                  <a:moveTo>
                    <a:pt x="2241804" y="0"/>
                  </a:moveTo>
                  <a:lnTo>
                    <a:pt x="167004" y="0"/>
                  </a:lnTo>
                  <a:lnTo>
                    <a:pt x="0" y="167004"/>
                  </a:lnTo>
                  <a:lnTo>
                    <a:pt x="0" y="1475231"/>
                  </a:lnTo>
                  <a:lnTo>
                    <a:pt x="2241804" y="1475231"/>
                  </a:lnTo>
                  <a:lnTo>
                    <a:pt x="2241804" y="0"/>
                  </a:lnTo>
                  <a:close/>
                </a:path>
              </a:pathLst>
            </a:custGeom>
            <a:solidFill>
              <a:srgbClr val="F1CD5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9067800" y="3206495"/>
              <a:ext cx="167005" cy="167005"/>
            </a:xfrm>
            <a:custGeom>
              <a:avLst/>
              <a:gdLst/>
              <a:ahLst/>
              <a:cxnLst/>
              <a:rect l="l" t="t" r="r" b="b"/>
              <a:pathLst>
                <a:path w="167004" h="167004">
                  <a:moveTo>
                    <a:pt x="167004" y="0"/>
                  </a:moveTo>
                  <a:lnTo>
                    <a:pt x="0" y="167004"/>
                  </a:lnTo>
                  <a:lnTo>
                    <a:pt x="133603" y="133603"/>
                  </a:lnTo>
                  <a:lnTo>
                    <a:pt x="167004" y="0"/>
                  </a:lnTo>
                  <a:close/>
                </a:path>
              </a:pathLst>
            </a:custGeom>
            <a:solidFill>
              <a:srgbClr val="C3A44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9067800" y="3206495"/>
              <a:ext cx="2242185" cy="1475740"/>
            </a:xfrm>
            <a:custGeom>
              <a:avLst/>
              <a:gdLst/>
              <a:ahLst/>
              <a:cxnLst/>
              <a:rect l="l" t="t" r="r" b="b"/>
              <a:pathLst>
                <a:path w="2242184" h="1475739">
                  <a:moveTo>
                    <a:pt x="167004" y="0"/>
                  </a:moveTo>
                  <a:lnTo>
                    <a:pt x="133603" y="133603"/>
                  </a:lnTo>
                  <a:lnTo>
                    <a:pt x="0" y="167004"/>
                  </a:lnTo>
                  <a:lnTo>
                    <a:pt x="167004" y="0"/>
                  </a:lnTo>
                  <a:lnTo>
                    <a:pt x="2241804" y="0"/>
                  </a:lnTo>
                  <a:lnTo>
                    <a:pt x="2241804" y="1475231"/>
                  </a:lnTo>
                  <a:lnTo>
                    <a:pt x="0" y="1475231"/>
                  </a:lnTo>
                  <a:lnTo>
                    <a:pt x="0" y="167004"/>
                  </a:lnTo>
                </a:path>
              </a:pathLst>
            </a:custGeom>
            <a:ln w="12700">
              <a:solidFill>
                <a:srgbClr val="66542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/>
          <p:nvPr/>
        </p:nvSpPr>
        <p:spPr>
          <a:xfrm>
            <a:off x="9146793" y="3385820"/>
            <a:ext cx="2004060" cy="11233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solidFill>
                  <a:srgbClr val="111F35"/>
                </a:solidFill>
                <a:latin typeface="Calibri"/>
                <a:cs typeface="Calibri"/>
              </a:rPr>
              <a:t>Navigating</a:t>
            </a:r>
            <a:r>
              <a:rPr dirty="0" sz="1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1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 spc="-50">
                <a:solidFill>
                  <a:srgbClr val="111F35"/>
                </a:solidFill>
                <a:latin typeface="Calibri"/>
                <a:cs typeface="Calibri"/>
              </a:rPr>
              <a:t>a </a:t>
            </a:r>
            <a:r>
              <a:rPr dirty="0" sz="1800" spc="-10">
                <a:solidFill>
                  <a:srgbClr val="111F35"/>
                </a:solidFill>
                <a:latin typeface="Calibri"/>
                <a:cs typeface="Calibri"/>
              </a:rPr>
              <a:t>different</a:t>
            </a:r>
            <a:r>
              <a:rPr dirty="0" sz="1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page</a:t>
            </a:r>
            <a:r>
              <a:rPr dirty="0" sz="1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111F35"/>
                </a:solidFill>
                <a:latin typeface="Calibri"/>
                <a:cs typeface="Calibri"/>
              </a:rPr>
              <a:t>always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triggers</a:t>
            </a:r>
            <a:r>
              <a:rPr dirty="0" sz="1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1800" spc="-2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111F35"/>
                </a:solidFill>
                <a:latin typeface="Calibri"/>
                <a:cs typeface="Calibri"/>
              </a:rPr>
              <a:t>full-reload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of</a:t>
            </a:r>
            <a:r>
              <a:rPr dirty="0" sz="1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1800" spc="-2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web</a:t>
            </a:r>
            <a:r>
              <a:rPr dirty="0" sz="1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 spc="-20">
                <a:solidFill>
                  <a:srgbClr val="111F35"/>
                </a:solidFill>
                <a:latin typeface="Calibri"/>
                <a:cs typeface="Calibri"/>
              </a:rPr>
              <a:t>page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" name="object 9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30"/>
              <a:t> </a:t>
            </a:r>
            <a:r>
              <a:rPr dirty="0"/>
              <a:t>II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30"/>
              <a:t> </a:t>
            </a:r>
            <a:r>
              <a:rPr dirty="0"/>
              <a:t>Course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30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18</a:t>
            </a:r>
            <a:r>
              <a:rPr dirty="0" spc="-1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Single</a:t>
            </a:r>
            <a:r>
              <a:rPr dirty="0" spc="-40"/>
              <a:t> </a:t>
            </a:r>
            <a:r>
              <a:rPr dirty="0"/>
              <a:t>Page</a:t>
            </a:r>
            <a:r>
              <a:rPr dirty="0" spc="-15"/>
              <a:t> </a:t>
            </a:r>
            <a:r>
              <a:rPr dirty="0" spc="-10"/>
              <a:t>Applications</a:t>
            </a:r>
          </a:p>
        </p:txBody>
      </p:sp>
      <p:sp>
        <p:nvSpPr>
          <p:cNvPr id="10" name="object 10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30"/>
              <a:t> </a:t>
            </a:r>
            <a:r>
              <a:rPr dirty="0"/>
              <a:t>II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30"/>
              <a:t> </a:t>
            </a:r>
            <a:r>
              <a:rPr dirty="0"/>
              <a:t>Course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30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18</a:t>
            </a:r>
            <a:r>
              <a:rPr dirty="0" spc="-1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Single</a:t>
            </a:r>
            <a:r>
              <a:rPr dirty="0" spc="-40"/>
              <a:t> </a:t>
            </a:r>
            <a:r>
              <a:rPr dirty="0"/>
              <a:t>Page</a:t>
            </a:r>
            <a:r>
              <a:rPr dirty="0" spc="-15"/>
              <a:t> </a:t>
            </a:r>
            <a:r>
              <a:rPr dirty="0" spc="-10"/>
              <a:t>Applications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145"/>
              <a:t>SINGLE-</a:t>
            </a:r>
            <a:r>
              <a:rPr dirty="0" spc="50"/>
              <a:t>PAGE</a:t>
            </a:r>
            <a:r>
              <a:rPr dirty="0" spc="-80"/>
              <a:t> </a:t>
            </a:r>
            <a:r>
              <a:rPr dirty="0" spc="-50"/>
              <a:t>WEB</a:t>
            </a:r>
            <a:r>
              <a:rPr dirty="0" spc="-60"/>
              <a:t> </a:t>
            </a:r>
            <a:r>
              <a:rPr dirty="0" spc="-55"/>
              <a:t>APPLICATIONS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1533220"/>
            <a:ext cx="10167620" cy="3522345"/>
          </a:xfrm>
          <a:prstGeom prst="rect">
            <a:avLst/>
          </a:prstGeom>
        </p:spPr>
        <p:txBody>
          <a:bodyPr wrap="square" lIns="0" tIns="55244" rIns="0" bIns="0" rtlCol="0" vert="horz">
            <a:spAutoFit/>
          </a:bodyPr>
          <a:lstStyle/>
          <a:p>
            <a:pPr marL="240029" marR="5080" indent="-227329">
              <a:lnSpc>
                <a:spcPct val="90000"/>
              </a:lnSpc>
              <a:spcBef>
                <a:spcPts val="434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0" b="1">
                <a:solidFill>
                  <a:srgbClr val="111F35"/>
                </a:solidFill>
                <a:latin typeface="Calibri"/>
                <a:cs typeface="Calibri"/>
              </a:rPr>
              <a:t>Single-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Page</a:t>
            </a:r>
            <a:r>
              <a:rPr dirty="0" sz="2800" spc="-5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Application</a:t>
            </a:r>
            <a:r>
              <a:rPr dirty="0" sz="2800" spc="-6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(SPA)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reacts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9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user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input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by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111F35"/>
                </a:solidFill>
                <a:latin typeface="Calibri"/>
                <a:cs typeface="Calibri"/>
              </a:rPr>
              <a:t>dynamically </a:t>
            </a:r>
            <a:r>
              <a:rPr dirty="0" sz="2800" spc="-10" b="1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updating</a:t>
            </a:r>
            <a:r>
              <a:rPr dirty="0" sz="2800" spc="-6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6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111F35"/>
                </a:solidFill>
                <a:latin typeface="Calibri"/>
                <a:cs typeface="Calibri"/>
              </a:rPr>
              <a:t>content</a:t>
            </a:r>
            <a:r>
              <a:rPr dirty="0" sz="2800" spc="-7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of</a:t>
            </a:r>
            <a:r>
              <a:rPr dirty="0" sz="2800" spc="-8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6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current</a:t>
            </a:r>
            <a:r>
              <a:rPr dirty="0" sz="2800" spc="-4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page,</a:t>
            </a:r>
            <a:r>
              <a:rPr dirty="0" sz="2800" spc="-7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rather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than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loading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new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page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from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server.</a:t>
            </a:r>
            <a:endParaRPr sz="2800">
              <a:latin typeface="Calibri"/>
              <a:cs typeface="Calibri"/>
            </a:endParaRPr>
          </a:p>
          <a:p>
            <a:pPr marL="240029" marR="366395" indent="-227329">
              <a:lnSpc>
                <a:spcPts val="3030"/>
              </a:lnSpc>
              <a:spcBef>
                <a:spcPts val="104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entire</a:t>
            </a:r>
            <a:r>
              <a:rPr dirty="0" sz="2800" spc="-4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application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is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loaded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initial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request,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and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then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the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page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is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never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reloaded</a:t>
            </a:r>
            <a:endParaRPr sz="2800">
              <a:latin typeface="Calibri"/>
              <a:cs typeface="Calibri"/>
            </a:endParaRPr>
          </a:p>
          <a:p>
            <a:pPr marL="240029" marR="440690" indent="-227329">
              <a:lnSpc>
                <a:spcPts val="3020"/>
              </a:lnSpc>
              <a:spcBef>
                <a:spcPts val="994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complexity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of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view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rendering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is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shifted</a:t>
            </a:r>
            <a:r>
              <a:rPr dirty="0" sz="2800" spc="-6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from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server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the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client-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side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code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(thin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clients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thick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clients)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2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JavaScript-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intensive</a:t>
            </a:r>
            <a:r>
              <a:rPr dirty="0" sz="2800" spc="1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applications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145"/>
              <a:t>SINGLE-</a:t>
            </a:r>
            <a:r>
              <a:rPr dirty="0" spc="50"/>
              <a:t>PAGE</a:t>
            </a:r>
            <a:r>
              <a:rPr dirty="0" spc="70"/>
              <a:t> </a:t>
            </a:r>
            <a:r>
              <a:rPr dirty="0" spc="-60"/>
              <a:t>APPLICATIONS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7033641" y="1533220"/>
            <a:ext cx="4193540" cy="3395979"/>
          </a:xfrm>
          <a:prstGeom prst="rect">
            <a:avLst/>
          </a:prstGeom>
        </p:spPr>
        <p:txBody>
          <a:bodyPr wrap="square" lIns="0" tIns="55244" rIns="0" bIns="0" rtlCol="0" vert="horz">
            <a:spAutoFit/>
          </a:bodyPr>
          <a:lstStyle/>
          <a:p>
            <a:pPr marL="240029" marR="73025" indent="-227965">
              <a:lnSpc>
                <a:spcPct val="90000"/>
              </a:lnSpc>
              <a:spcBef>
                <a:spcPts val="434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Navigating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different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page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does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not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trigger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full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page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reload.</a:t>
            </a:r>
            <a:endParaRPr sz="2800">
              <a:latin typeface="Calibri"/>
              <a:cs typeface="Calibri"/>
            </a:endParaRPr>
          </a:p>
          <a:p>
            <a:pPr marL="240029" marR="5080" indent="-227965">
              <a:lnSpc>
                <a:spcPts val="3030"/>
              </a:lnSpc>
              <a:spcBef>
                <a:spcPts val="104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Required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data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is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fetched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from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backend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(e.g.: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REST)</a:t>
            </a:r>
            <a:endParaRPr sz="2800">
              <a:latin typeface="Calibri"/>
              <a:cs typeface="Calibri"/>
            </a:endParaRPr>
          </a:p>
          <a:p>
            <a:pPr marL="240029" marR="545465" indent="-227965">
              <a:lnSpc>
                <a:spcPts val="3020"/>
              </a:lnSpc>
              <a:spcBef>
                <a:spcPts val="994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Client-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side</a:t>
            </a:r>
            <a:r>
              <a:rPr dirty="0" sz="2800" spc="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JavaScript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dynamically</a:t>
            </a:r>
            <a:r>
              <a:rPr dirty="0" sz="2800" spc="-1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creates</a:t>
            </a:r>
            <a:r>
              <a:rPr dirty="0" sz="2800" spc="-1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the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new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web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page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2796" y="1449450"/>
            <a:ext cx="5964688" cy="4875002"/>
          </a:xfrm>
          <a:prstGeom prst="rect">
            <a:avLst/>
          </a:prstGeom>
        </p:spPr>
      </p:pic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30"/>
              <a:t> </a:t>
            </a:r>
            <a:r>
              <a:rPr dirty="0"/>
              <a:t>II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30"/>
              <a:t> </a:t>
            </a:r>
            <a:r>
              <a:rPr dirty="0"/>
              <a:t>Course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30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18</a:t>
            </a:r>
            <a:r>
              <a:rPr dirty="0" spc="-1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Single</a:t>
            </a:r>
            <a:r>
              <a:rPr dirty="0" spc="-40"/>
              <a:t> </a:t>
            </a:r>
            <a:r>
              <a:rPr dirty="0"/>
              <a:t>Page</a:t>
            </a:r>
            <a:r>
              <a:rPr dirty="0" spc="-15"/>
              <a:t> </a:t>
            </a:r>
            <a:r>
              <a:rPr dirty="0" spc="-10"/>
              <a:t>Applications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145"/>
              <a:t>SINGLE-</a:t>
            </a:r>
            <a:r>
              <a:rPr dirty="0" spc="50"/>
              <a:t>PAGE</a:t>
            </a:r>
            <a:r>
              <a:rPr dirty="0" spc="-85"/>
              <a:t> </a:t>
            </a:r>
            <a:r>
              <a:rPr dirty="0" spc="-60"/>
              <a:t>APPLICATIONS</a:t>
            </a:r>
            <a:r>
              <a:rPr dirty="0" spc="-75"/>
              <a:t> </a:t>
            </a:r>
            <a:r>
              <a:rPr dirty="0"/>
              <a:t>IN</a:t>
            </a:r>
            <a:r>
              <a:rPr dirty="0" spc="-75"/>
              <a:t> </a:t>
            </a:r>
            <a:r>
              <a:rPr dirty="0" spc="-10"/>
              <a:t>ACTION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1920239" y="1555622"/>
            <a:ext cx="8235950" cy="4629150"/>
            <a:chOff x="1920239" y="1555622"/>
            <a:chExt cx="8235950" cy="4629150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859023" y="1565147"/>
              <a:ext cx="6473952" cy="4610100"/>
            </a:xfrm>
            <a:prstGeom prst="rect">
              <a:avLst/>
            </a:prstGeom>
          </p:spPr>
        </p:pic>
        <p:sp>
          <p:nvSpPr>
            <p:cNvPr id="5" name="object 5" descr=""/>
            <p:cNvSpPr/>
            <p:nvPr/>
          </p:nvSpPr>
          <p:spPr>
            <a:xfrm>
              <a:off x="2854325" y="1560385"/>
              <a:ext cx="6483985" cy="4619625"/>
            </a:xfrm>
            <a:custGeom>
              <a:avLst/>
              <a:gdLst/>
              <a:ahLst/>
              <a:cxnLst/>
              <a:rect l="l" t="t" r="r" b="b"/>
              <a:pathLst>
                <a:path w="6483984" h="4619625">
                  <a:moveTo>
                    <a:pt x="0" y="4619625"/>
                  </a:moveTo>
                  <a:lnTo>
                    <a:pt x="6483477" y="4619625"/>
                  </a:lnTo>
                  <a:lnTo>
                    <a:pt x="6483477" y="0"/>
                  </a:lnTo>
                  <a:lnTo>
                    <a:pt x="0" y="0"/>
                  </a:lnTo>
                  <a:lnTo>
                    <a:pt x="0" y="4619625"/>
                  </a:lnTo>
                  <a:close/>
                </a:path>
              </a:pathLst>
            </a:custGeom>
            <a:ln w="9524">
              <a:solidFill>
                <a:srgbClr val="111F35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20239" y="3762755"/>
              <a:ext cx="1056131" cy="102565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078086" y="4275581"/>
              <a:ext cx="1078039" cy="1025017"/>
            </a:xfrm>
            <a:prstGeom prst="rect">
              <a:avLst/>
            </a:prstGeom>
          </p:spPr>
        </p:pic>
      </p:grpSp>
      <p:sp>
        <p:nvSpPr>
          <p:cNvPr id="8" name="object 8" descr=""/>
          <p:cNvSpPr txBox="1"/>
          <p:nvPr/>
        </p:nvSpPr>
        <p:spPr>
          <a:xfrm>
            <a:off x="9949053" y="3971035"/>
            <a:ext cx="112077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No</a:t>
            </a:r>
            <a:r>
              <a:rPr dirty="0" sz="1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111F35"/>
                </a:solidFill>
                <a:latin typeface="Calibri"/>
                <a:cs typeface="Calibri"/>
              </a:rPr>
              <a:t>network requests!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" name="object 9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30"/>
              <a:t> </a:t>
            </a:r>
            <a:r>
              <a:rPr dirty="0"/>
              <a:t>II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30"/>
              <a:t> </a:t>
            </a:r>
            <a:r>
              <a:rPr dirty="0"/>
              <a:t>Course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30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18</a:t>
            </a:r>
            <a:r>
              <a:rPr dirty="0" spc="-1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Single</a:t>
            </a:r>
            <a:r>
              <a:rPr dirty="0" spc="-40"/>
              <a:t> </a:t>
            </a:r>
            <a:r>
              <a:rPr dirty="0"/>
              <a:t>Page</a:t>
            </a:r>
            <a:r>
              <a:rPr dirty="0" spc="-15"/>
              <a:t> </a:t>
            </a:r>
            <a:r>
              <a:rPr dirty="0" spc="-10"/>
              <a:t>Applications</a:t>
            </a:r>
          </a:p>
        </p:txBody>
      </p:sp>
      <p:sp>
        <p:nvSpPr>
          <p:cNvPr id="10" name="object 10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30"/>
              <a:t> </a:t>
            </a:r>
            <a:r>
              <a:rPr dirty="0"/>
              <a:t>II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30"/>
              <a:t> </a:t>
            </a:r>
            <a:r>
              <a:rPr dirty="0"/>
              <a:t>Course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30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18</a:t>
            </a:r>
            <a:r>
              <a:rPr dirty="0" spc="-1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Single</a:t>
            </a:r>
            <a:r>
              <a:rPr dirty="0" spc="-40"/>
              <a:t> </a:t>
            </a:r>
            <a:r>
              <a:rPr dirty="0"/>
              <a:t>Page</a:t>
            </a:r>
            <a:r>
              <a:rPr dirty="0" spc="-15"/>
              <a:t> </a:t>
            </a:r>
            <a:r>
              <a:rPr dirty="0" spc="-10"/>
              <a:t>Applications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65"/>
              <a:t>CLIENT-</a:t>
            </a:r>
            <a:r>
              <a:rPr dirty="0" spc="-170"/>
              <a:t>SIDE</a:t>
            </a:r>
            <a:r>
              <a:rPr dirty="0" spc="-50"/>
              <a:t> </a:t>
            </a:r>
            <a:r>
              <a:rPr dirty="0" spc="-10"/>
              <a:t>ROUTING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1446872"/>
            <a:ext cx="9772650" cy="3967479"/>
          </a:xfrm>
          <a:prstGeom prst="rect">
            <a:avLst/>
          </a:prstGeom>
        </p:spPr>
        <p:txBody>
          <a:bodyPr wrap="square" lIns="0" tIns="98425" rIns="0" bIns="0" rtlCol="0" vert="horz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77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Different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«pages»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SPA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are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typically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referred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as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111F35"/>
                </a:solidFill>
                <a:latin typeface="Calibri"/>
                <a:cs typeface="Calibri"/>
              </a:rPr>
              <a:t>views</a:t>
            </a:r>
            <a:endParaRPr sz="2800">
              <a:latin typeface="Calibri"/>
              <a:cs typeface="Calibri"/>
            </a:endParaRPr>
          </a:p>
          <a:p>
            <a:pPr marL="240029" marR="54610" indent="-227329">
              <a:lnSpc>
                <a:spcPts val="3020"/>
              </a:lnSpc>
              <a:spcBef>
                <a:spcPts val="106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</a:t>
            </a:r>
            <a:r>
              <a:rPr dirty="0" sz="2800" spc="-9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SPAs,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navigation</a:t>
            </a:r>
            <a:r>
              <a:rPr dirty="0" sz="2800" spc="-9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and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view</a:t>
            </a:r>
            <a:r>
              <a:rPr dirty="0" sz="2800" spc="-9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updates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are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managed</a:t>
            </a:r>
            <a:r>
              <a:rPr dirty="0" sz="2800" spc="-9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entirely</a:t>
            </a:r>
            <a:r>
              <a:rPr dirty="0" sz="2800" spc="-9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on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the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client-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side,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without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reloading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entire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page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from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server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2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This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practice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is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called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 b="1">
                <a:solidFill>
                  <a:srgbClr val="111F35"/>
                </a:solidFill>
                <a:latin typeface="Calibri"/>
                <a:cs typeface="Calibri"/>
              </a:rPr>
              <a:t>client-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side</a:t>
            </a:r>
            <a:r>
              <a:rPr dirty="0" sz="2800" spc="-10" b="1">
                <a:solidFill>
                  <a:srgbClr val="111F35"/>
                </a:solidFill>
                <a:latin typeface="Calibri"/>
                <a:cs typeface="Calibri"/>
              </a:rPr>
              <a:t> routing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6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Client-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side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routing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involves:</a:t>
            </a:r>
            <a:endParaRPr sz="2800">
              <a:latin typeface="Calibri"/>
              <a:cs typeface="Calibri"/>
            </a:endParaRPr>
          </a:p>
          <a:p>
            <a:pPr lvl="1" marL="696595" indent="-227329">
              <a:lnSpc>
                <a:spcPct val="100000"/>
              </a:lnSpc>
              <a:spcBef>
                <a:spcPts val="240"/>
              </a:spcBef>
              <a:buFont typeface="Arial MT"/>
              <a:buChar char="•"/>
              <a:tabLst>
                <a:tab pos="696595" algn="l"/>
              </a:tabLst>
            </a:pP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Updating</a:t>
            </a:r>
            <a:r>
              <a:rPr dirty="0" sz="2400" spc="-9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4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Browser</a:t>
            </a:r>
            <a:r>
              <a:rPr dirty="0" sz="24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25">
                <a:solidFill>
                  <a:srgbClr val="111F35"/>
                </a:solidFill>
                <a:latin typeface="Calibri"/>
                <a:cs typeface="Calibri"/>
              </a:rPr>
              <a:t>url</a:t>
            </a:r>
            <a:endParaRPr sz="2400">
              <a:latin typeface="Calibri"/>
              <a:cs typeface="Calibri"/>
            </a:endParaRPr>
          </a:p>
          <a:p>
            <a:pPr lvl="1" marL="696595" indent="-227329">
              <a:lnSpc>
                <a:spcPct val="100000"/>
              </a:lnSpc>
              <a:spcBef>
                <a:spcPts val="219"/>
              </a:spcBef>
              <a:buFont typeface="Arial MT"/>
              <a:buChar char="•"/>
              <a:tabLst>
                <a:tab pos="696595" algn="l"/>
              </a:tabLst>
            </a:pP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Loading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and</a:t>
            </a:r>
            <a:r>
              <a:rPr dirty="0" sz="24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rendering</a:t>
            </a:r>
            <a:r>
              <a:rPr dirty="0" sz="24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4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appropriate</a:t>
            </a:r>
            <a:r>
              <a:rPr dirty="0" sz="24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content</a:t>
            </a:r>
            <a:r>
              <a:rPr dirty="0" sz="24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(</a:t>
            </a:r>
            <a:r>
              <a:rPr dirty="0" sz="2400" b="1">
                <a:solidFill>
                  <a:srgbClr val="111F35"/>
                </a:solidFill>
                <a:latin typeface="Calibri"/>
                <a:cs typeface="Calibri"/>
              </a:rPr>
              <a:t>view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)</a:t>
            </a:r>
            <a:r>
              <a:rPr dirty="0" sz="24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on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4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web</a:t>
            </a:r>
            <a:r>
              <a:rPr dirty="0" sz="24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20">
                <a:solidFill>
                  <a:srgbClr val="111F35"/>
                </a:solidFill>
                <a:latin typeface="Calibri"/>
                <a:cs typeface="Calibri"/>
              </a:rPr>
              <a:t>page</a:t>
            </a:r>
            <a:endParaRPr sz="2400">
              <a:latin typeface="Calibri"/>
              <a:cs typeface="Calibri"/>
            </a:endParaRPr>
          </a:p>
          <a:p>
            <a:pPr lvl="1" marL="696595" marR="5080" indent="-227329">
              <a:lnSpc>
                <a:spcPts val="2590"/>
              </a:lnSpc>
              <a:spcBef>
                <a:spcPts val="530"/>
              </a:spcBef>
              <a:buFont typeface="Arial MT"/>
              <a:buChar char="•"/>
              <a:tabLst>
                <a:tab pos="697865" algn="l"/>
              </a:tabLst>
            </a:pP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Interact</a:t>
            </a:r>
            <a:r>
              <a:rPr dirty="0" sz="24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with</a:t>
            </a:r>
            <a:r>
              <a:rPr dirty="0" sz="24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4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Browser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History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API</a:t>
            </a:r>
            <a:r>
              <a:rPr dirty="0" sz="24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4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allow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users</a:t>
            </a:r>
            <a:r>
              <a:rPr dirty="0" sz="24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4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seamlessly</a:t>
            </a:r>
            <a:r>
              <a:rPr dirty="0" sz="24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use</a:t>
            </a:r>
            <a:r>
              <a:rPr dirty="0" sz="24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25">
                <a:solidFill>
                  <a:srgbClr val="111F35"/>
                </a:solidFill>
                <a:latin typeface="Calibri"/>
                <a:cs typeface="Calibri"/>
              </a:rPr>
              <a:t>the </a:t>
            </a:r>
            <a:r>
              <a:rPr dirty="0" sz="2400" spc="-25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back</a:t>
            </a:r>
            <a:r>
              <a:rPr dirty="0" sz="24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and</a:t>
            </a:r>
            <a:r>
              <a:rPr dirty="0" sz="24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forward</a:t>
            </a:r>
            <a:r>
              <a:rPr dirty="0" sz="24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buttons</a:t>
            </a:r>
            <a:r>
              <a:rPr dirty="0" sz="24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4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navigate</a:t>
            </a:r>
            <a:r>
              <a:rPr dirty="0" sz="24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between</a:t>
            </a:r>
            <a:r>
              <a:rPr dirty="0" sz="24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20">
                <a:solidFill>
                  <a:srgbClr val="111F35"/>
                </a:solidFill>
                <a:latin typeface="Calibri"/>
                <a:cs typeface="Calibri"/>
              </a:rPr>
              <a:t>different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views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30"/>
              <a:t> </a:t>
            </a:r>
            <a:r>
              <a:rPr dirty="0"/>
              <a:t>II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30"/>
              <a:t> </a:t>
            </a:r>
            <a:r>
              <a:rPr dirty="0"/>
              <a:t>Course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30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18</a:t>
            </a:r>
            <a:r>
              <a:rPr dirty="0" spc="-1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Single</a:t>
            </a:r>
            <a:r>
              <a:rPr dirty="0" spc="-40"/>
              <a:t> </a:t>
            </a:r>
            <a:r>
              <a:rPr dirty="0"/>
              <a:t>Page</a:t>
            </a:r>
            <a:r>
              <a:rPr dirty="0" spc="-15"/>
              <a:t> </a:t>
            </a:r>
            <a:r>
              <a:rPr dirty="0" spc="-10"/>
              <a:t>Applications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65"/>
              <a:t>CLIENT-</a:t>
            </a:r>
            <a:r>
              <a:rPr dirty="0" spc="-170"/>
              <a:t>SIDE</a:t>
            </a:r>
            <a:r>
              <a:rPr dirty="0" spc="-50"/>
              <a:t> </a:t>
            </a:r>
            <a:r>
              <a:rPr dirty="0" spc="-10"/>
              <a:t>ROUTING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1446872"/>
            <a:ext cx="10033635" cy="3182620"/>
          </a:xfrm>
          <a:prstGeom prst="rect">
            <a:avLst/>
          </a:prstGeom>
        </p:spPr>
        <p:txBody>
          <a:bodyPr wrap="square" lIns="0" tIns="984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Key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components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 of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client-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side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routing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include: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 spc="-10" b="1">
                <a:solidFill>
                  <a:srgbClr val="111F35"/>
                </a:solidFill>
                <a:latin typeface="Calibri"/>
                <a:cs typeface="Calibri"/>
              </a:rPr>
              <a:t>Router:</a:t>
            </a:r>
            <a:r>
              <a:rPr dirty="0" sz="2800" spc="-6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module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that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handles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mapping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between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URLs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and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Views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View</a:t>
            </a:r>
            <a:r>
              <a:rPr dirty="0" sz="2800" spc="-10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Rendering:</a:t>
            </a:r>
            <a:r>
              <a:rPr dirty="0" sz="2800" spc="-8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10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mechanism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10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render</a:t>
            </a:r>
            <a:r>
              <a:rPr dirty="0" sz="2800" spc="-114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different</a:t>
            </a:r>
            <a:r>
              <a:rPr dirty="0" sz="2800" spc="-9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Views</a:t>
            </a:r>
            <a:endParaRPr sz="2800">
              <a:latin typeface="Calibri"/>
              <a:cs typeface="Calibri"/>
            </a:endParaRPr>
          </a:p>
          <a:p>
            <a:pPr marL="240029" marR="993775" indent="-227329">
              <a:lnSpc>
                <a:spcPts val="3030"/>
              </a:lnSpc>
              <a:spcBef>
                <a:spcPts val="104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History</a:t>
            </a:r>
            <a:r>
              <a:rPr dirty="0" sz="2800" spc="-7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111F35"/>
                </a:solidFill>
                <a:latin typeface="Calibri"/>
                <a:cs typeface="Calibri"/>
              </a:rPr>
              <a:t>Management:</a:t>
            </a:r>
            <a:r>
              <a:rPr dirty="0" sz="2800" spc="-3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mechanism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use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History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API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to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manipulate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10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browser’s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navigation</a:t>
            </a:r>
            <a:r>
              <a:rPr dirty="0" sz="2800" spc="-10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history.</a:t>
            </a:r>
            <a:endParaRPr sz="2800">
              <a:latin typeface="Calibri"/>
              <a:cs typeface="Calibri"/>
            </a:endParaRPr>
          </a:p>
          <a:p>
            <a:pPr lvl="1" marL="696595" marR="5080" indent="-227329">
              <a:lnSpc>
                <a:spcPts val="2590"/>
              </a:lnSpc>
              <a:spcBef>
                <a:spcPts val="520"/>
              </a:spcBef>
              <a:buFont typeface="Arial MT"/>
              <a:buChar char="•"/>
              <a:tabLst>
                <a:tab pos="697865" algn="l"/>
              </a:tabLst>
            </a:pP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This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is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because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we</a:t>
            </a:r>
            <a:r>
              <a:rPr dirty="0" sz="24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want</a:t>
            </a:r>
            <a:r>
              <a:rPr dirty="0" sz="24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users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4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interact</a:t>
            </a:r>
            <a:r>
              <a:rPr dirty="0" sz="24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with</a:t>
            </a:r>
            <a:r>
              <a:rPr dirty="0" sz="24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25">
                <a:solidFill>
                  <a:srgbClr val="111F35"/>
                </a:solidFill>
                <a:latin typeface="Calibri"/>
                <a:cs typeface="Calibri"/>
              </a:rPr>
              <a:t>SPAs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as</a:t>
            </a:r>
            <a:r>
              <a:rPr dirty="0" sz="24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with</a:t>
            </a:r>
            <a:r>
              <a:rPr dirty="0" sz="24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any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other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Multi-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page</a:t>
            </a:r>
            <a:r>
              <a:rPr dirty="0" sz="24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app,</a:t>
            </a:r>
            <a:r>
              <a:rPr dirty="0" sz="24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and</a:t>
            </a:r>
            <a:r>
              <a:rPr dirty="0" sz="24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4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back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and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forward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buttons</a:t>
            </a:r>
            <a:r>
              <a:rPr dirty="0" sz="24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should</a:t>
            </a:r>
            <a:r>
              <a:rPr dirty="0" sz="24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work</a:t>
            </a:r>
            <a:r>
              <a:rPr dirty="0" sz="24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as</a:t>
            </a:r>
            <a:r>
              <a:rPr dirty="0" sz="24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intended.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OUR</a:t>
            </a:r>
            <a:r>
              <a:rPr dirty="0" spc="80"/>
              <a:t> </a:t>
            </a:r>
            <a:r>
              <a:rPr dirty="0" spc="-270"/>
              <a:t>FIRST</a:t>
            </a:r>
            <a:r>
              <a:rPr dirty="0" spc="75"/>
              <a:t> </a:t>
            </a:r>
            <a:r>
              <a:rPr dirty="0" spc="-25"/>
              <a:t>SINGLE</a:t>
            </a:r>
            <a:r>
              <a:rPr dirty="0" spc="55"/>
              <a:t> </a:t>
            </a:r>
            <a:r>
              <a:rPr dirty="0"/>
              <a:t>PAGE</a:t>
            </a:r>
            <a:r>
              <a:rPr dirty="0" spc="75"/>
              <a:t> </a:t>
            </a:r>
            <a:r>
              <a:rPr dirty="0" spc="-35"/>
              <a:t>APPLICATION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1446872"/>
            <a:ext cx="9635490" cy="1050925"/>
          </a:xfrm>
          <a:prstGeom prst="rect">
            <a:avLst/>
          </a:prstGeom>
        </p:spPr>
        <p:txBody>
          <a:bodyPr wrap="square" lIns="0" tIns="98425" rIns="0" bIns="0" rtlCol="0" vert="horz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77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There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is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single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HTML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document,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shown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below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It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does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not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include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any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content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at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all,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just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empty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«</a:t>
            </a:r>
            <a:r>
              <a:rPr dirty="0" sz="2400">
                <a:solidFill>
                  <a:srgbClr val="0000FF"/>
                </a:solidFill>
                <a:latin typeface="Consolas"/>
                <a:cs typeface="Consolas"/>
              </a:rPr>
              <a:t>app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»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800000"/>
                </a:solidFill>
                <a:latin typeface="Consolas"/>
                <a:cs typeface="Consolas"/>
              </a:rPr>
              <a:t>&lt;div&gt;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!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962050" y="2556510"/>
            <a:ext cx="762952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400" spc="-20">
                <a:solidFill>
                  <a:srgbClr val="0000FF"/>
                </a:solidFill>
                <a:latin typeface="Consolas"/>
                <a:cs typeface="Consolas"/>
              </a:rPr>
              <a:t>main.js</a:t>
            </a:r>
            <a:r>
              <a:rPr dirty="0" sz="2400" spc="-65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is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one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that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does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heavy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lifting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here!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 descr=""/>
          <p:cNvSpPr/>
          <p:nvPr/>
        </p:nvSpPr>
        <p:spPr>
          <a:xfrm>
            <a:off x="882396" y="3204972"/>
            <a:ext cx="7760334" cy="3139440"/>
          </a:xfrm>
          <a:custGeom>
            <a:avLst/>
            <a:gdLst/>
            <a:ahLst/>
            <a:cxnLst/>
            <a:rect l="l" t="t" r="r" b="b"/>
            <a:pathLst>
              <a:path w="7760334" h="3139440">
                <a:moveTo>
                  <a:pt x="0" y="3139440"/>
                </a:moveTo>
                <a:lnTo>
                  <a:pt x="7760208" y="3139440"/>
                </a:lnTo>
                <a:lnTo>
                  <a:pt x="7760208" y="0"/>
                </a:lnTo>
                <a:lnTo>
                  <a:pt x="0" y="0"/>
                </a:lnTo>
                <a:lnTo>
                  <a:pt x="0" y="3139440"/>
                </a:lnTo>
                <a:close/>
              </a:path>
            </a:pathLst>
          </a:custGeom>
          <a:ln w="12700">
            <a:solidFill>
              <a:srgbClr val="111F3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/>
          <p:nvPr/>
        </p:nvSpPr>
        <p:spPr>
          <a:xfrm>
            <a:off x="962050" y="3224910"/>
            <a:ext cx="7296150" cy="30435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800000"/>
                </a:solidFill>
                <a:latin typeface="Consolas"/>
                <a:cs typeface="Consolas"/>
              </a:rPr>
              <a:t>&lt;!DOCTYPE</a:t>
            </a:r>
            <a:r>
              <a:rPr dirty="0" sz="1800" spc="-55">
                <a:solidFill>
                  <a:srgbClr val="800000"/>
                </a:solidFill>
                <a:latin typeface="Consolas"/>
                <a:cs typeface="Consolas"/>
              </a:rPr>
              <a:t> </a:t>
            </a:r>
            <a:r>
              <a:rPr dirty="0" sz="1800" spc="-20">
                <a:solidFill>
                  <a:srgbClr val="E40000"/>
                </a:solidFill>
                <a:latin typeface="Consolas"/>
                <a:cs typeface="Consolas"/>
              </a:rPr>
              <a:t>html</a:t>
            </a:r>
            <a:r>
              <a:rPr dirty="0" sz="1800" spc="-20">
                <a:solidFill>
                  <a:srgbClr val="800000"/>
                </a:solidFill>
                <a:latin typeface="Consolas"/>
                <a:cs typeface="Consolas"/>
              </a:rPr>
              <a:t>&gt;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dirty="0" sz="1800">
                <a:solidFill>
                  <a:srgbClr val="800000"/>
                </a:solidFill>
                <a:latin typeface="Consolas"/>
                <a:cs typeface="Consolas"/>
              </a:rPr>
              <a:t>&lt;html</a:t>
            </a:r>
            <a:r>
              <a:rPr dirty="0" sz="1800" spc="-40">
                <a:solidFill>
                  <a:srgbClr val="800000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E40000"/>
                </a:solidFill>
                <a:latin typeface="Consolas"/>
                <a:cs typeface="Consolas"/>
              </a:rPr>
              <a:t>lang</a:t>
            </a:r>
            <a:r>
              <a:rPr dirty="0" sz="1800" spc="-10">
                <a:latin typeface="Consolas"/>
                <a:cs typeface="Consolas"/>
              </a:rPr>
              <a:t>=</a:t>
            </a:r>
            <a:r>
              <a:rPr dirty="0" sz="1800" spc="-10">
                <a:solidFill>
                  <a:srgbClr val="0000FF"/>
                </a:solidFill>
                <a:latin typeface="Consolas"/>
                <a:cs typeface="Consolas"/>
              </a:rPr>
              <a:t>"en"</a:t>
            </a:r>
            <a:r>
              <a:rPr dirty="0" sz="1800" spc="-10">
                <a:solidFill>
                  <a:srgbClr val="800000"/>
                </a:solidFill>
                <a:latin typeface="Consolas"/>
                <a:cs typeface="Consolas"/>
              </a:rPr>
              <a:t>&gt;</a:t>
            </a:r>
            <a:endParaRPr sz="1800">
              <a:latin typeface="Consolas"/>
              <a:cs typeface="Consolas"/>
            </a:endParaRPr>
          </a:p>
          <a:p>
            <a:pPr marL="262255">
              <a:lnSpc>
                <a:spcPct val="100000"/>
              </a:lnSpc>
            </a:pPr>
            <a:r>
              <a:rPr dirty="0" sz="1800" spc="-10">
                <a:solidFill>
                  <a:srgbClr val="800000"/>
                </a:solidFill>
                <a:latin typeface="Consolas"/>
                <a:cs typeface="Consolas"/>
              </a:rPr>
              <a:t>&lt;head&gt;</a:t>
            </a:r>
            <a:endParaRPr sz="1800">
              <a:latin typeface="Consolas"/>
              <a:cs typeface="Consolas"/>
            </a:endParaRPr>
          </a:p>
          <a:p>
            <a:pPr marL="512445">
              <a:lnSpc>
                <a:spcPct val="100000"/>
              </a:lnSpc>
            </a:pPr>
            <a:r>
              <a:rPr dirty="0" sz="1800">
                <a:solidFill>
                  <a:srgbClr val="800000"/>
                </a:solidFill>
                <a:latin typeface="Consolas"/>
                <a:cs typeface="Consolas"/>
              </a:rPr>
              <a:t>&lt;title&gt;</a:t>
            </a:r>
            <a:r>
              <a:rPr dirty="0" sz="1800">
                <a:latin typeface="Consolas"/>
                <a:cs typeface="Consolas"/>
              </a:rPr>
              <a:t>Single</a:t>
            </a:r>
            <a:r>
              <a:rPr dirty="0" sz="1800" spc="-4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Page</a:t>
            </a:r>
            <a:r>
              <a:rPr dirty="0" sz="1800" spc="-40">
                <a:latin typeface="Consolas"/>
                <a:cs typeface="Consolas"/>
              </a:rPr>
              <a:t> </a:t>
            </a:r>
            <a:r>
              <a:rPr dirty="0" sz="1800" spc="-10">
                <a:latin typeface="Consolas"/>
                <a:cs typeface="Consolas"/>
              </a:rPr>
              <a:t>Application</a:t>
            </a:r>
            <a:r>
              <a:rPr dirty="0" sz="1800" spc="-10">
                <a:solidFill>
                  <a:srgbClr val="800000"/>
                </a:solidFill>
                <a:latin typeface="Consolas"/>
                <a:cs typeface="Consolas"/>
              </a:rPr>
              <a:t>&lt;/title&gt;</a:t>
            </a:r>
            <a:endParaRPr sz="1800">
              <a:latin typeface="Consolas"/>
              <a:cs typeface="Consolas"/>
            </a:endParaRPr>
          </a:p>
          <a:p>
            <a:pPr marL="512445">
              <a:lnSpc>
                <a:spcPct val="100000"/>
              </a:lnSpc>
            </a:pPr>
            <a:r>
              <a:rPr dirty="0" sz="1800">
                <a:solidFill>
                  <a:srgbClr val="800000"/>
                </a:solidFill>
                <a:latin typeface="Consolas"/>
                <a:cs typeface="Consolas"/>
              </a:rPr>
              <a:t>&lt;link</a:t>
            </a:r>
            <a:r>
              <a:rPr dirty="0" sz="1800" spc="-75">
                <a:solidFill>
                  <a:srgbClr val="800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E40000"/>
                </a:solidFill>
                <a:latin typeface="Consolas"/>
                <a:cs typeface="Consolas"/>
              </a:rPr>
              <a:t>rel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"stylesheet"</a:t>
            </a:r>
            <a:r>
              <a:rPr dirty="0" sz="1800" spc="-6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E40000"/>
                </a:solidFill>
                <a:latin typeface="Consolas"/>
                <a:cs typeface="Consolas"/>
              </a:rPr>
              <a:t>href</a:t>
            </a:r>
            <a:r>
              <a:rPr dirty="0" sz="1800" spc="-10">
                <a:latin typeface="Consolas"/>
                <a:cs typeface="Consolas"/>
              </a:rPr>
              <a:t>=</a:t>
            </a:r>
            <a:r>
              <a:rPr dirty="0" sz="1800" spc="-10">
                <a:solidFill>
                  <a:srgbClr val="0000FF"/>
                </a:solidFill>
                <a:latin typeface="Consolas"/>
                <a:cs typeface="Consolas"/>
              </a:rPr>
              <a:t>"src/css/style.scss"</a:t>
            </a:r>
            <a:r>
              <a:rPr dirty="0" sz="1800" spc="-10">
                <a:solidFill>
                  <a:srgbClr val="800000"/>
                </a:solidFill>
                <a:latin typeface="Consolas"/>
                <a:cs typeface="Consolas"/>
              </a:rPr>
              <a:t>/&gt;</a:t>
            </a:r>
            <a:endParaRPr sz="1800">
              <a:latin typeface="Consolas"/>
              <a:cs typeface="Consolas"/>
            </a:endParaRPr>
          </a:p>
          <a:p>
            <a:pPr marL="262255">
              <a:lnSpc>
                <a:spcPct val="100000"/>
              </a:lnSpc>
            </a:pPr>
            <a:r>
              <a:rPr dirty="0" sz="1800" spc="-10">
                <a:solidFill>
                  <a:srgbClr val="800000"/>
                </a:solidFill>
                <a:latin typeface="Consolas"/>
                <a:cs typeface="Consolas"/>
              </a:rPr>
              <a:t>&lt;/head&gt;</a:t>
            </a:r>
            <a:endParaRPr sz="1800">
              <a:latin typeface="Consolas"/>
              <a:cs typeface="Consolas"/>
            </a:endParaRPr>
          </a:p>
          <a:p>
            <a:pPr marL="262255">
              <a:lnSpc>
                <a:spcPct val="100000"/>
              </a:lnSpc>
            </a:pPr>
            <a:r>
              <a:rPr dirty="0" sz="1800" spc="-10">
                <a:solidFill>
                  <a:srgbClr val="800000"/>
                </a:solidFill>
                <a:latin typeface="Consolas"/>
                <a:cs typeface="Consolas"/>
              </a:rPr>
              <a:t>&lt;body&gt;</a:t>
            </a:r>
            <a:endParaRPr sz="1800">
              <a:latin typeface="Consolas"/>
              <a:cs typeface="Consolas"/>
            </a:endParaRPr>
          </a:p>
          <a:p>
            <a:pPr marL="512445">
              <a:lnSpc>
                <a:spcPct val="100000"/>
              </a:lnSpc>
            </a:pPr>
            <a:r>
              <a:rPr dirty="0" sz="1800">
                <a:solidFill>
                  <a:srgbClr val="800000"/>
                </a:solidFill>
                <a:latin typeface="Consolas"/>
                <a:cs typeface="Consolas"/>
              </a:rPr>
              <a:t>&lt;div</a:t>
            </a:r>
            <a:r>
              <a:rPr dirty="0" sz="1800" spc="-10">
                <a:solidFill>
                  <a:srgbClr val="800000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E40000"/>
                </a:solidFill>
                <a:latin typeface="Consolas"/>
                <a:cs typeface="Consolas"/>
              </a:rPr>
              <a:t>id</a:t>
            </a:r>
            <a:r>
              <a:rPr dirty="0" sz="1800" spc="-10">
                <a:latin typeface="Consolas"/>
                <a:cs typeface="Consolas"/>
              </a:rPr>
              <a:t>=</a:t>
            </a:r>
            <a:r>
              <a:rPr dirty="0" sz="1800" spc="-10">
                <a:solidFill>
                  <a:srgbClr val="0000FF"/>
                </a:solidFill>
                <a:latin typeface="Consolas"/>
                <a:cs typeface="Consolas"/>
              </a:rPr>
              <a:t>"app"</a:t>
            </a:r>
            <a:r>
              <a:rPr dirty="0" sz="1800" spc="-10">
                <a:solidFill>
                  <a:srgbClr val="800000"/>
                </a:solidFill>
                <a:latin typeface="Consolas"/>
                <a:cs typeface="Consolas"/>
              </a:rPr>
              <a:t>&gt;&lt;/div&gt;</a:t>
            </a:r>
            <a:endParaRPr sz="1800">
              <a:latin typeface="Consolas"/>
              <a:cs typeface="Consolas"/>
            </a:endParaRPr>
          </a:p>
          <a:p>
            <a:pPr marL="512445">
              <a:lnSpc>
                <a:spcPct val="100000"/>
              </a:lnSpc>
            </a:pPr>
            <a:r>
              <a:rPr dirty="0" sz="1800">
                <a:solidFill>
                  <a:srgbClr val="800000"/>
                </a:solidFill>
                <a:latin typeface="Consolas"/>
                <a:cs typeface="Consolas"/>
              </a:rPr>
              <a:t>&lt;script</a:t>
            </a:r>
            <a:r>
              <a:rPr dirty="0" sz="1800" spc="-50">
                <a:solidFill>
                  <a:srgbClr val="800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E40000"/>
                </a:solidFill>
                <a:latin typeface="Consolas"/>
                <a:cs typeface="Consolas"/>
              </a:rPr>
              <a:t>type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"module"</a:t>
            </a:r>
            <a:r>
              <a:rPr dirty="0" sz="1800" spc="-5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E40000"/>
                </a:solidFill>
                <a:latin typeface="Consolas"/>
                <a:cs typeface="Consolas"/>
              </a:rPr>
              <a:t>src</a:t>
            </a:r>
            <a:r>
              <a:rPr dirty="0" sz="1800" spc="-10">
                <a:latin typeface="Consolas"/>
                <a:cs typeface="Consolas"/>
              </a:rPr>
              <a:t>=</a:t>
            </a:r>
            <a:r>
              <a:rPr dirty="0" sz="1800" spc="-10">
                <a:solidFill>
                  <a:srgbClr val="0000FF"/>
                </a:solidFill>
                <a:latin typeface="Consolas"/>
                <a:cs typeface="Consolas"/>
              </a:rPr>
              <a:t>"./src/js/main.js"</a:t>
            </a:r>
            <a:r>
              <a:rPr dirty="0" sz="1800" spc="-10">
                <a:solidFill>
                  <a:srgbClr val="800000"/>
                </a:solidFill>
                <a:latin typeface="Consolas"/>
                <a:cs typeface="Consolas"/>
              </a:rPr>
              <a:t>&gt;&lt;/script&gt;</a:t>
            </a:r>
            <a:endParaRPr sz="1800">
              <a:latin typeface="Consolas"/>
              <a:cs typeface="Consolas"/>
            </a:endParaRPr>
          </a:p>
          <a:p>
            <a:pPr marL="262255">
              <a:lnSpc>
                <a:spcPct val="100000"/>
              </a:lnSpc>
            </a:pPr>
            <a:r>
              <a:rPr dirty="0" sz="1800" spc="-10">
                <a:solidFill>
                  <a:srgbClr val="800000"/>
                </a:solidFill>
                <a:latin typeface="Consolas"/>
                <a:cs typeface="Consolas"/>
              </a:rPr>
              <a:t>&lt;/body&gt;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800" spc="-10">
                <a:solidFill>
                  <a:srgbClr val="800000"/>
                </a:solidFill>
                <a:latin typeface="Consolas"/>
                <a:cs typeface="Consolas"/>
              </a:rPr>
              <a:t>&lt;/html&gt;</a:t>
            </a:r>
            <a:endParaRPr sz="1800">
              <a:latin typeface="Consolas"/>
              <a:cs typeface="Consolas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61604" y="3493008"/>
            <a:ext cx="3048000" cy="1714500"/>
          </a:xfrm>
          <a:prstGeom prst="rect">
            <a:avLst/>
          </a:prstGeom>
        </p:spPr>
      </p:pic>
      <p:sp>
        <p:nvSpPr>
          <p:cNvPr id="8" name="object 8" descr=""/>
          <p:cNvSpPr txBox="1"/>
          <p:nvPr/>
        </p:nvSpPr>
        <p:spPr>
          <a:xfrm>
            <a:off x="9104756" y="5699252"/>
            <a:ext cx="902969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solidFill>
                  <a:srgbClr val="0000FF"/>
                </a:solidFill>
                <a:latin typeface="Consolas"/>
                <a:cs typeface="Consolas"/>
              </a:rPr>
              <a:t>main.js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10195052" y="2822828"/>
            <a:ext cx="140398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solidFill>
                  <a:srgbClr val="E40000"/>
                </a:solidFill>
                <a:latin typeface="Consolas"/>
                <a:cs typeface="Consolas"/>
              </a:rPr>
              <a:t>server-</a:t>
            </a:r>
            <a:r>
              <a:rPr dirty="0" sz="1800" spc="-20">
                <a:solidFill>
                  <a:srgbClr val="E40000"/>
                </a:solidFill>
                <a:latin typeface="Consolas"/>
                <a:cs typeface="Consolas"/>
              </a:rPr>
              <a:t>side</a:t>
            </a:r>
            <a:endParaRPr sz="1800">
              <a:latin typeface="Consolas"/>
              <a:cs typeface="Consolas"/>
            </a:endParaRPr>
          </a:p>
        </p:txBody>
      </p:sp>
      <p:grpSp>
        <p:nvGrpSpPr>
          <p:cNvPr id="10" name="object 10" descr=""/>
          <p:cNvGrpSpPr/>
          <p:nvPr/>
        </p:nvGrpSpPr>
        <p:grpSpPr>
          <a:xfrm>
            <a:off x="9242425" y="3059938"/>
            <a:ext cx="1993264" cy="2651760"/>
            <a:chOff x="9242425" y="3059938"/>
            <a:chExt cx="1993264" cy="2651760"/>
          </a:xfrm>
        </p:grpSpPr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242425" y="5055997"/>
              <a:ext cx="655312" cy="655256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590822" y="3059938"/>
              <a:ext cx="644613" cy="644626"/>
            </a:xfrm>
            <a:prstGeom prst="rect">
              <a:avLst/>
            </a:prstGeom>
          </p:spPr>
        </p:pic>
      </p:grpSp>
      <p:sp>
        <p:nvSpPr>
          <p:cNvPr id="13" name="object 13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30"/>
              <a:t> </a:t>
            </a:r>
            <a:r>
              <a:rPr dirty="0"/>
              <a:t>II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30"/>
              <a:t> </a:t>
            </a:r>
            <a:r>
              <a:rPr dirty="0"/>
              <a:t>Course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30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18</a:t>
            </a:r>
            <a:r>
              <a:rPr dirty="0" spc="-1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Single</a:t>
            </a:r>
            <a:r>
              <a:rPr dirty="0" spc="-40"/>
              <a:t> </a:t>
            </a:r>
            <a:r>
              <a:rPr dirty="0"/>
              <a:t>Page</a:t>
            </a:r>
            <a:r>
              <a:rPr dirty="0" spc="-15"/>
              <a:t> </a:t>
            </a:r>
            <a:r>
              <a:rPr dirty="0" spc="-10"/>
              <a:t>Applications</a:t>
            </a:r>
          </a:p>
        </p:txBody>
      </p:sp>
      <p:sp>
        <p:nvSpPr>
          <p:cNvPr id="14" name="object 1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30"/>
              <a:t> </a:t>
            </a:r>
            <a:r>
              <a:rPr dirty="0"/>
              <a:t>II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30"/>
              <a:t> </a:t>
            </a:r>
            <a:r>
              <a:rPr dirty="0"/>
              <a:t>Course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30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18</a:t>
            </a:r>
            <a:r>
              <a:rPr dirty="0" spc="-1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Single</a:t>
            </a:r>
            <a:r>
              <a:rPr dirty="0" spc="-40"/>
              <a:t> </a:t>
            </a:r>
            <a:r>
              <a:rPr dirty="0"/>
              <a:t>Page</a:t>
            </a:r>
            <a:r>
              <a:rPr dirty="0" spc="-15"/>
              <a:t> </a:t>
            </a:r>
            <a:r>
              <a:rPr dirty="0" spc="-10"/>
              <a:t>Applications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TAKING</a:t>
            </a:r>
            <a:r>
              <a:rPr dirty="0" spc="55"/>
              <a:t> </a:t>
            </a:r>
            <a:r>
              <a:rPr dirty="0" spc="120"/>
              <a:t>A</a:t>
            </a:r>
            <a:r>
              <a:rPr dirty="0" spc="85"/>
              <a:t> </a:t>
            </a:r>
            <a:r>
              <a:rPr dirty="0" spc="114"/>
              <a:t>LOOK</a:t>
            </a:r>
            <a:r>
              <a:rPr dirty="0" spc="90"/>
              <a:t> </a:t>
            </a:r>
            <a:r>
              <a:rPr dirty="0"/>
              <a:t>AT</a:t>
            </a:r>
            <a:r>
              <a:rPr dirty="0" spc="70"/>
              <a:t> </a:t>
            </a:r>
            <a:r>
              <a:rPr dirty="0" spc="-10"/>
              <a:t>MAIN.JS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1534744"/>
            <a:ext cx="9902190" cy="22421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40029" indent="-227329">
              <a:lnSpc>
                <a:spcPts val="3195"/>
              </a:lnSpc>
              <a:spcBef>
                <a:spcPts val="9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main.js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script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starts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by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creating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three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new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elements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0000FF"/>
                </a:solidFill>
                <a:latin typeface="Consolas"/>
                <a:cs typeface="Consolas"/>
              </a:rPr>
              <a:t>app</a:t>
            </a:r>
            <a:endParaRPr sz="2800">
              <a:latin typeface="Consolas"/>
              <a:cs typeface="Consolas"/>
            </a:endParaRPr>
          </a:p>
          <a:p>
            <a:pPr marL="241300">
              <a:lnSpc>
                <a:spcPts val="3195"/>
              </a:lnSpc>
            </a:pPr>
            <a:r>
              <a:rPr dirty="0" sz="2800" spc="-25">
                <a:solidFill>
                  <a:srgbClr val="800000"/>
                </a:solidFill>
                <a:latin typeface="Consolas"/>
                <a:cs typeface="Consolas"/>
              </a:rPr>
              <a:t>&lt;div&gt;</a:t>
            </a:r>
            <a:r>
              <a:rPr dirty="0" sz="2800" spc="-869">
                <a:solidFill>
                  <a:srgbClr val="800000"/>
                </a:solidFill>
                <a:latin typeface="Consolas"/>
                <a:cs typeface="Consolas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container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navbar,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container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for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main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content,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and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footer</a:t>
            </a:r>
            <a:endParaRPr sz="2800">
              <a:latin typeface="Calibri"/>
              <a:cs typeface="Calibri"/>
            </a:endParaRPr>
          </a:p>
          <a:p>
            <a:pPr marL="240029" marR="170180" indent="-227329">
              <a:lnSpc>
                <a:spcPts val="3030"/>
              </a:lnSpc>
              <a:spcBef>
                <a:spcPts val="104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navbar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and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footer</a:t>
            </a:r>
            <a:r>
              <a:rPr dirty="0" sz="2800" spc="-9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won’t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change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when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switching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between 	different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views,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while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content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will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change.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882396" y="3870959"/>
            <a:ext cx="10427335" cy="2308860"/>
          </a:xfrm>
          <a:prstGeom prst="rect">
            <a:avLst/>
          </a:prstGeom>
          <a:ln w="12700">
            <a:solidFill>
              <a:srgbClr val="111F35"/>
            </a:solidFill>
          </a:ln>
        </p:spPr>
        <p:txBody>
          <a:bodyPr wrap="square" lIns="0" tIns="33020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260"/>
              </a:spcBef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let</a:t>
            </a:r>
            <a:r>
              <a:rPr dirty="0" sz="1800" spc="-2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nav</a:t>
            </a:r>
            <a:r>
              <a:rPr dirty="0" sz="1800" spc="-1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 spc="-15">
                <a:latin typeface="Consolas"/>
                <a:cs typeface="Consolas"/>
              </a:rPr>
              <a:t> </a:t>
            </a:r>
            <a:r>
              <a:rPr dirty="0" sz="1800" spc="-10">
                <a:latin typeface="Consolas"/>
                <a:cs typeface="Consolas"/>
              </a:rPr>
              <a:t>document.createElement(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"nav"</a:t>
            </a:r>
            <a:r>
              <a:rPr dirty="0" sz="1800" spc="-10">
                <a:latin typeface="Consolas"/>
                <a:cs typeface="Consolas"/>
              </a:rPr>
              <a:t>);</a:t>
            </a: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nav.id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"nav"</a:t>
            </a:r>
            <a:r>
              <a:rPr dirty="0" sz="1800" spc="-10">
                <a:latin typeface="Consolas"/>
                <a:cs typeface="Consolas"/>
              </a:rPr>
              <a:t>;</a:t>
            </a:r>
            <a:endParaRPr sz="1800">
              <a:latin typeface="Consolas"/>
              <a:cs typeface="Consolas"/>
            </a:endParaRPr>
          </a:p>
          <a:p>
            <a:pPr marL="92075" marR="4684395">
              <a:lnSpc>
                <a:spcPct val="100000"/>
              </a:lnSpc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let</a:t>
            </a:r>
            <a:r>
              <a:rPr dirty="0" sz="1800" spc="-4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content</a:t>
            </a:r>
            <a:r>
              <a:rPr dirty="0" sz="1800" spc="-2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 spc="-20">
                <a:latin typeface="Consolas"/>
                <a:cs typeface="Consolas"/>
              </a:rPr>
              <a:t> </a:t>
            </a:r>
            <a:r>
              <a:rPr dirty="0" sz="1800" spc="-10">
                <a:latin typeface="Consolas"/>
                <a:cs typeface="Consolas"/>
              </a:rPr>
              <a:t>document.createElement(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"main"</a:t>
            </a:r>
            <a:r>
              <a:rPr dirty="0" sz="1800" spc="-10">
                <a:latin typeface="Consolas"/>
                <a:cs typeface="Consolas"/>
              </a:rPr>
              <a:t>); </a:t>
            </a:r>
            <a:r>
              <a:rPr dirty="0" sz="1800">
                <a:latin typeface="Consolas"/>
                <a:cs typeface="Consolas"/>
              </a:rPr>
              <a:t>content.id</a:t>
            </a:r>
            <a:r>
              <a:rPr dirty="0" sz="1800" spc="-3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 spc="-15"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"content"</a:t>
            </a:r>
            <a:r>
              <a:rPr dirty="0" sz="1800" spc="-10">
                <a:latin typeface="Consolas"/>
                <a:cs typeface="Consolas"/>
              </a:rPr>
              <a:t>;</a:t>
            </a:r>
            <a:endParaRPr sz="1800">
              <a:latin typeface="Consolas"/>
              <a:cs typeface="Consolas"/>
            </a:endParaRPr>
          </a:p>
          <a:p>
            <a:pPr marL="92075" marR="4561205">
              <a:lnSpc>
                <a:spcPct val="100000"/>
              </a:lnSpc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let</a:t>
            </a:r>
            <a:r>
              <a:rPr dirty="0" sz="1800" spc="-4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footer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 spc="-10">
                <a:latin typeface="Consolas"/>
                <a:cs typeface="Consolas"/>
              </a:rPr>
              <a:t> document.createElement(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"footer"</a:t>
            </a:r>
            <a:r>
              <a:rPr dirty="0" sz="1800" spc="-10">
                <a:latin typeface="Consolas"/>
                <a:cs typeface="Consolas"/>
              </a:rPr>
              <a:t>); </a:t>
            </a:r>
            <a:r>
              <a:rPr dirty="0" sz="1800">
                <a:latin typeface="Consolas"/>
                <a:cs typeface="Consolas"/>
              </a:rPr>
              <a:t>footer.id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 spc="-15"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"footer"</a:t>
            </a:r>
            <a:r>
              <a:rPr dirty="0" sz="1800" spc="-10">
                <a:latin typeface="Consolas"/>
                <a:cs typeface="Consolas"/>
              </a:rPr>
              <a:t>;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app.append(nav,</a:t>
            </a:r>
            <a:r>
              <a:rPr dirty="0" sz="1800" spc="-7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content,</a:t>
            </a:r>
            <a:r>
              <a:rPr dirty="0" sz="1800" spc="-45">
                <a:latin typeface="Consolas"/>
                <a:cs typeface="Consolas"/>
              </a:rPr>
              <a:t> </a:t>
            </a:r>
            <a:r>
              <a:rPr dirty="0" sz="1800" spc="-10">
                <a:latin typeface="Consolas"/>
                <a:cs typeface="Consolas"/>
              </a:rPr>
              <a:t>footer);</a:t>
            </a:r>
            <a:endParaRPr sz="18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30"/>
              <a:t> </a:t>
            </a:r>
            <a:r>
              <a:rPr dirty="0"/>
              <a:t>II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30"/>
              <a:t> </a:t>
            </a:r>
            <a:r>
              <a:rPr dirty="0"/>
              <a:t>Course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30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18</a:t>
            </a:r>
            <a:r>
              <a:rPr dirty="0" spc="-1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Single</a:t>
            </a:r>
            <a:r>
              <a:rPr dirty="0" spc="-40"/>
              <a:t> </a:t>
            </a:r>
            <a:r>
              <a:rPr dirty="0"/>
              <a:t>Page</a:t>
            </a:r>
            <a:r>
              <a:rPr dirty="0" spc="-15"/>
              <a:t> </a:t>
            </a:r>
            <a:r>
              <a:rPr dirty="0" spc="-10"/>
              <a:t>Applications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TAKING</a:t>
            </a:r>
            <a:r>
              <a:rPr dirty="0" spc="55"/>
              <a:t> </a:t>
            </a:r>
            <a:r>
              <a:rPr dirty="0" spc="120"/>
              <a:t>A</a:t>
            </a:r>
            <a:r>
              <a:rPr dirty="0" spc="85"/>
              <a:t> </a:t>
            </a:r>
            <a:r>
              <a:rPr dirty="0" spc="114"/>
              <a:t>LOOK</a:t>
            </a:r>
            <a:r>
              <a:rPr dirty="0" spc="90"/>
              <a:t> </a:t>
            </a:r>
            <a:r>
              <a:rPr dirty="0"/>
              <a:t>AT</a:t>
            </a:r>
            <a:r>
              <a:rPr dirty="0" spc="70"/>
              <a:t> </a:t>
            </a:r>
            <a:r>
              <a:rPr dirty="0" spc="-10"/>
              <a:t>MAIN.JS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1446872"/>
            <a:ext cx="8885555" cy="2350135"/>
          </a:xfrm>
          <a:prstGeom prst="rect">
            <a:avLst/>
          </a:prstGeom>
        </p:spPr>
        <p:txBody>
          <a:bodyPr wrap="square" lIns="0" tIns="98425" rIns="0" bIns="0" rtlCol="0" vert="horz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77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Then,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routes</a:t>
            </a:r>
            <a:r>
              <a:rPr dirty="0" sz="2800" spc="-1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app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are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defined.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Each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route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associates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view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given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URL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Each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route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is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indexed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by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its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URL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path,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and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is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associated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with</a:t>
            </a:r>
            <a:endParaRPr sz="2800">
              <a:latin typeface="Calibri"/>
              <a:cs typeface="Calibri"/>
            </a:endParaRPr>
          </a:p>
          <a:p>
            <a:pPr lvl="1" marL="696595" indent="-227329">
              <a:lnSpc>
                <a:spcPct val="100000"/>
              </a:lnSpc>
              <a:spcBef>
                <a:spcPts val="245"/>
              </a:spcBef>
              <a:buFont typeface="Arial MT"/>
              <a:buChar char="•"/>
              <a:tabLst>
                <a:tab pos="696595" algn="l"/>
              </a:tabLst>
            </a:pPr>
            <a:r>
              <a:rPr dirty="0" sz="2400" b="1">
                <a:solidFill>
                  <a:srgbClr val="111F35"/>
                </a:solidFill>
                <a:latin typeface="Calibri"/>
                <a:cs typeface="Calibri"/>
              </a:rPr>
              <a:t>title:</a:t>
            </a:r>
            <a:r>
              <a:rPr dirty="0" sz="2400" spc="-1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will</a:t>
            </a:r>
            <a:r>
              <a:rPr dirty="0" sz="24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be</a:t>
            </a:r>
            <a:r>
              <a:rPr dirty="0" sz="2400" spc="-2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title</a:t>
            </a:r>
            <a:r>
              <a:rPr dirty="0" sz="24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of</a:t>
            </a:r>
            <a:r>
              <a:rPr dirty="0" sz="2400" spc="-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4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page</a:t>
            </a:r>
            <a:r>
              <a:rPr dirty="0" sz="2400" spc="-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when</a:t>
            </a:r>
            <a:r>
              <a:rPr dirty="0" sz="2400" spc="-2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that</a:t>
            </a:r>
            <a:r>
              <a:rPr dirty="0" sz="2400" spc="-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view</a:t>
            </a:r>
            <a:r>
              <a:rPr dirty="0" sz="2400" spc="-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is</a:t>
            </a:r>
            <a:r>
              <a:rPr dirty="0" sz="24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loaded</a:t>
            </a:r>
            <a:endParaRPr sz="2400">
              <a:latin typeface="Calibri"/>
              <a:cs typeface="Calibri"/>
            </a:endParaRPr>
          </a:p>
          <a:p>
            <a:pPr lvl="1" marL="696595" indent="-227329">
              <a:lnSpc>
                <a:spcPct val="100000"/>
              </a:lnSpc>
              <a:spcBef>
                <a:spcPts val="204"/>
              </a:spcBef>
              <a:buFont typeface="Arial MT"/>
              <a:buChar char="•"/>
              <a:tabLst>
                <a:tab pos="696595" algn="l"/>
              </a:tabLst>
            </a:pPr>
            <a:r>
              <a:rPr dirty="0" sz="2400" b="1">
                <a:solidFill>
                  <a:srgbClr val="111F35"/>
                </a:solidFill>
                <a:latin typeface="Calibri"/>
                <a:cs typeface="Calibri"/>
              </a:rPr>
              <a:t>render:</a:t>
            </a:r>
            <a:r>
              <a:rPr dirty="0" sz="2400" spc="-6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4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function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returning</a:t>
            </a:r>
            <a:r>
              <a:rPr dirty="0" sz="24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an</a:t>
            </a:r>
            <a:r>
              <a:rPr dirty="0" sz="24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HTML</a:t>
            </a:r>
            <a:r>
              <a:rPr dirty="0" sz="24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string</a:t>
            </a:r>
            <a:r>
              <a:rPr dirty="0" sz="24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rendering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4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20">
                <a:solidFill>
                  <a:srgbClr val="111F35"/>
                </a:solidFill>
                <a:latin typeface="Calibri"/>
                <a:cs typeface="Calibri"/>
              </a:rPr>
              <a:t>view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882396" y="4145279"/>
            <a:ext cx="10427335" cy="2032000"/>
          </a:xfrm>
          <a:prstGeom prst="rect">
            <a:avLst/>
          </a:prstGeom>
          <a:ln w="12700">
            <a:solidFill>
              <a:srgbClr val="111F35"/>
            </a:solidFill>
          </a:ln>
        </p:spPr>
        <p:txBody>
          <a:bodyPr wrap="square" lIns="0" tIns="33020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260"/>
              </a:spcBef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import</a:t>
            </a:r>
            <a:r>
              <a:rPr dirty="0" sz="1800" spc="-3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about</a:t>
            </a:r>
            <a:r>
              <a:rPr dirty="0" sz="1800" spc="-20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from</a:t>
            </a:r>
            <a:r>
              <a:rPr dirty="0" sz="1800" spc="-2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"./views/about.js"</a:t>
            </a:r>
            <a:r>
              <a:rPr dirty="0" sz="1800">
                <a:latin typeface="Consolas"/>
                <a:cs typeface="Consolas"/>
              </a:rPr>
              <a:t>;</a:t>
            </a:r>
            <a:r>
              <a:rPr dirty="0" sz="1800" spc="-3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/*other</a:t>
            </a:r>
            <a:r>
              <a:rPr dirty="0" sz="1800" spc="-3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imports</a:t>
            </a:r>
            <a:r>
              <a:rPr dirty="0" sz="1800" spc="-2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omitted</a:t>
            </a:r>
            <a:r>
              <a:rPr dirty="0" sz="1800" spc="-2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for</a:t>
            </a:r>
            <a:r>
              <a:rPr dirty="0" sz="1800" spc="-1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8000"/>
                </a:solidFill>
                <a:latin typeface="Consolas"/>
                <a:cs typeface="Consolas"/>
              </a:rPr>
              <a:t>brevity*/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const</a:t>
            </a:r>
            <a:r>
              <a:rPr dirty="0" sz="1800" spc="-2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routes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 spc="-50">
                <a:latin typeface="Consolas"/>
                <a:cs typeface="Consolas"/>
              </a:rPr>
              <a:t>{</a:t>
            </a:r>
            <a:endParaRPr sz="1800">
              <a:latin typeface="Consolas"/>
              <a:cs typeface="Consolas"/>
            </a:endParaRPr>
          </a:p>
          <a:p>
            <a:pPr marL="591820" marR="4311015">
              <a:lnSpc>
                <a:spcPct val="100000"/>
              </a:lnSpc>
            </a:pP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"/"</a:t>
            </a:r>
            <a:r>
              <a:rPr dirty="0" sz="1800">
                <a:latin typeface="Consolas"/>
                <a:cs typeface="Consolas"/>
              </a:rPr>
              <a:t>:</a:t>
            </a:r>
            <a:r>
              <a:rPr dirty="0" sz="1800" spc="-2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{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title:</a:t>
            </a:r>
            <a:r>
              <a:rPr dirty="0" sz="1800" spc="-1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"Home"</a:t>
            </a:r>
            <a:r>
              <a:rPr dirty="0" sz="1800">
                <a:latin typeface="Consolas"/>
                <a:cs typeface="Consolas"/>
              </a:rPr>
              <a:t>,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render: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home</a:t>
            </a:r>
            <a:r>
              <a:rPr dirty="0" sz="1800" spc="-25">
                <a:latin typeface="Consolas"/>
                <a:cs typeface="Consolas"/>
              </a:rPr>
              <a:t> },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"/about"</a:t>
            </a:r>
            <a:r>
              <a:rPr dirty="0" sz="1800">
                <a:latin typeface="Consolas"/>
                <a:cs typeface="Consolas"/>
              </a:rPr>
              <a:t>:</a:t>
            </a:r>
            <a:r>
              <a:rPr dirty="0" sz="1800" spc="-4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{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title: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"About"</a:t>
            </a:r>
            <a:r>
              <a:rPr dirty="0" sz="1800">
                <a:latin typeface="Consolas"/>
                <a:cs typeface="Consolas"/>
              </a:rPr>
              <a:t>,</a:t>
            </a:r>
            <a:r>
              <a:rPr dirty="0" sz="1800" spc="-2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render: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about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 spc="-25">
                <a:latin typeface="Consolas"/>
                <a:cs typeface="Consolas"/>
              </a:rPr>
              <a:t>},</a:t>
            </a:r>
            <a:endParaRPr sz="1800">
              <a:latin typeface="Consolas"/>
              <a:cs typeface="Consolas"/>
            </a:endParaRPr>
          </a:p>
          <a:p>
            <a:pPr marL="591820">
              <a:lnSpc>
                <a:spcPct val="100000"/>
              </a:lnSpc>
            </a:pP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"/webtech"</a:t>
            </a:r>
            <a:r>
              <a:rPr dirty="0" sz="1800">
                <a:latin typeface="Consolas"/>
                <a:cs typeface="Consolas"/>
              </a:rPr>
              <a:t>:</a:t>
            </a:r>
            <a:r>
              <a:rPr dirty="0" sz="1800" spc="-4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{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title: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"Web</a:t>
            </a:r>
            <a:r>
              <a:rPr dirty="0" sz="1800" spc="-3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Technologies"</a:t>
            </a:r>
            <a:r>
              <a:rPr dirty="0" sz="1800">
                <a:latin typeface="Consolas"/>
                <a:cs typeface="Consolas"/>
              </a:rPr>
              <a:t>,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render: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contact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 spc="-25">
                <a:latin typeface="Consolas"/>
                <a:cs typeface="Consolas"/>
              </a:rPr>
              <a:t>},</a:t>
            </a: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dirty="0" sz="1800" spc="-25">
                <a:latin typeface="Consolas"/>
                <a:cs typeface="Consolas"/>
              </a:rPr>
              <a:t>};</a:t>
            </a:r>
            <a:endParaRPr sz="18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30"/>
              <a:t> </a:t>
            </a:r>
            <a:r>
              <a:rPr dirty="0"/>
              <a:t>II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30"/>
              <a:t> </a:t>
            </a:r>
            <a:r>
              <a:rPr dirty="0"/>
              <a:t>Course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30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18</a:t>
            </a:r>
            <a:r>
              <a:rPr dirty="0" spc="-1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Single</a:t>
            </a:r>
            <a:r>
              <a:rPr dirty="0" spc="-40"/>
              <a:t> </a:t>
            </a:r>
            <a:r>
              <a:rPr dirty="0"/>
              <a:t>Page</a:t>
            </a:r>
            <a:r>
              <a:rPr dirty="0" spc="-15"/>
              <a:t> </a:t>
            </a:r>
            <a:r>
              <a:rPr dirty="0" spc="-10"/>
              <a:t>Applications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TAKING</a:t>
            </a:r>
            <a:r>
              <a:rPr dirty="0" spc="55"/>
              <a:t> </a:t>
            </a:r>
            <a:r>
              <a:rPr dirty="0" spc="120"/>
              <a:t>A</a:t>
            </a:r>
            <a:r>
              <a:rPr dirty="0" spc="85"/>
              <a:t> </a:t>
            </a:r>
            <a:r>
              <a:rPr dirty="0" spc="114"/>
              <a:t>LOOK</a:t>
            </a:r>
            <a:r>
              <a:rPr dirty="0" spc="90"/>
              <a:t> </a:t>
            </a:r>
            <a:r>
              <a:rPr dirty="0"/>
              <a:t>AT</a:t>
            </a:r>
            <a:r>
              <a:rPr dirty="0" spc="70"/>
              <a:t> </a:t>
            </a:r>
            <a:r>
              <a:rPr dirty="0" spc="-70"/>
              <a:t>VIEWS/ABOUT.JS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1446872"/>
            <a:ext cx="9595485" cy="2072005"/>
          </a:xfrm>
          <a:prstGeom prst="rect">
            <a:avLst/>
          </a:prstGeom>
        </p:spPr>
        <p:txBody>
          <a:bodyPr wrap="square" lIns="0" tIns="98425" rIns="0" bIns="0" rtlCol="0" vert="horz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77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View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rendering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is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as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simple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as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possible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function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returning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HTML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string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be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rendered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for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that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view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It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may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get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way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more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complex!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For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starter,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we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may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use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111F35"/>
                </a:solidFill>
                <a:latin typeface="Calibri"/>
                <a:cs typeface="Calibri"/>
              </a:rPr>
              <a:t>template</a:t>
            </a:r>
            <a:r>
              <a:rPr dirty="0" sz="2800" spc="-2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111F35"/>
                </a:solidFill>
                <a:latin typeface="Calibri"/>
                <a:cs typeface="Calibri"/>
              </a:rPr>
              <a:t>engine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!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882396" y="4145279"/>
            <a:ext cx="10427335" cy="2032000"/>
          </a:xfrm>
          <a:prstGeom prst="rect">
            <a:avLst/>
          </a:prstGeom>
          <a:ln w="12700">
            <a:solidFill>
              <a:srgbClr val="111F35"/>
            </a:solidFill>
          </a:ln>
        </p:spPr>
        <p:txBody>
          <a:bodyPr wrap="square" lIns="0" tIns="33020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260"/>
              </a:spcBef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export</a:t>
            </a:r>
            <a:r>
              <a:rPr dirty="0" sz="1800" spc="-4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default</a:t>
            </a:r>
            <a:r>
              <a:rPr dirty="0" sz="1800" spc="-2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()</a:t>
            </a:r>
            <a:r>
              <a:rPr dirty="0" sz="1800" spc="-1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=&gt;</a:t>
            </a:r>
            <a:r>
              <a:rPr dirty="0" sz="1800" spc="-1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8000"/>
                </a:solidFill>
                <a:latin typeface="Consolas"/>
                <a:cs typeface="Consolas"/>
              </a:rPr>
              <a:t>/*html*/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`</a:t>
            </a:r>
            <a:endParaRPr sz="1800">
              <a:latin typeface="Consolas"/>
              <a:cs typeface="Consolas"/>
            </a:endParaRPr>
          </a:p>
          <a:p>
            <a:pPr marL="591820">
              <a:lnSpc>
                <a:spcPct val="100000"/>
              </a:lnSpc>
            </a:pP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&lt;h1&gt;About&lt;/h1&gt;</a:t>
            </a:r>
            <a:endParaRPr sz="1800">
              <a:latin typeface="Consolas"/>
              <a:cs typeface="Consolas"/>
            </a:endParaRPr>
          </a:p>
          <a:p>
            <a:pPr marL="591820">
              <a:lnSpc>
                <a:spcPct val="100000"/>
              </a:lnSpc>
              <a:spcBef>
                <a:spcPts val="5"/>
              </a:spcBef>
            </a:pPr>
            <a:r>
              <a:rPr dirty="0" sz="1800" spc="-25">
                <a:solidFill>
                  <a:srgbClr val="A21515"/>
                </a:solidFill>
                <a:latin typeface="Consolas"/>
                <a:cs typeface="Consolas"/>
              </a:rPr>
              <a:t>&lt;p&gt;</a:t>
            </a:r>
            <a:endParaRPr sz="1800">
              <a:latin typeface="Consolas"/>
              <a:cs typeface="Consolas"/>
            </a:endParaRPr>
          </a:p>
          <a:p>
            <a:pPr marL="968375" marR="300990">
              <a:lnSpc>
                <a:spcPct val="100000"/>
              </a:lnSpc>
            </a:pP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This</a:t>
            </a:r>
            <a:r>
              <a:rPr dirty="0" sz="1800" spc="-3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is</a:t>
            </a:r>
            <a:r>
              <a:rPr dirty="0" sz="1800" spc="-3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a</a:t>
            </a:r>
            <a:r>
              <a:rPr dirty="0" sz="1800" spc="-2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single</a:t>
            </a:r>
            <a:r>
              <a:rPr dirty="0" sz="1800" spc="-15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page</a:t>
            </a:r>
            <a:r>
              <a:rPr dirty="0" sz="1800" spc="-2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app.</a:t>
            </a:r>
            <a:r>
              <a:rPr dirty="0" sz="1800" spc="-3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Navigating</a:t>
            </a:r>
            <a:r>
              <a:rPr dirty="0" sz="1800" spc="-2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to</a:t>
            </a:r>
            <a:r>
              <a:rPr dirty="0" sz="1800" spc="-2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different</a:t>
            </a:r>
            <a:r>
              <a:rPr dirty="0" sz="1800" spc="-25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pages</a:t>
            </a:r>
            <a:r>
              <a:rPr dirty="0" sz="1800" spc="-3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does</a:t>
            </a:r>
            <a:r>
              <a:rPr dirty="0" sz="1800" spc="-2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not</a:t>
            </a:r>
            <a:r>
              <a:rPr dirty="0" sz="1800" spc="-15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trigger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a 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full-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page</a:t>
            </a:r>
            <a:r>
              <a:rPr dirty="0" sz="1800" spc="-5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reload!</a:t>
            </a:r>
            <a:endParaRPr sz="1800">
              <a:latin typeface="Consolas"/>
              <a:cs typeface="Consolas"/>
            </a:endParaRPr>
          </a:p>
          <a:p>
            <a:pPr marL="591820">
              <a:lnSpc>
                <a:spcPct val="100000"/>
              </a:lnSpc>
            </a:pPr>
            <a:r>
              <a:rPr dirty="0" sz="1800" spc="-20">
                <a:solidFill>
                  <a:srgbClr val="A21515"/>
                </a:solidFill>
                <a:latin typeface="Consolas"/>
                <a:cs typeface="Consolas"/>
              </a:rPr>
              <a:t>&lt;/p&gt;</a:t>
            </a: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dirty="0" sz="1800" spc="-25">
                <a:solidFill>
                  <a:srgbClr val="A21515"/>
                </a:solidFill>
                <a:latin typeface="Consolas"/>
                <a:cs typeface="Consolas"/>
              </a:rPr>
              <a:t>`</a:t>
            </a:r>
            <a:r>
              <a:rPr dirty="0" sz="1800" spc="-25">
                <a:latin typeface="Consolas"/>
                <a:cs typeface="Consolas"/>
              </a:rPr>
              <a:t>;</a:t>
            </a:r>
            <a:endParaRPr sz="18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TAKING</a:t>
            </a:r>
            <a:r>
              <a:rPr dirty="0" spc="-35"/>
              <a:t> </a:t>
            </a:r>
            <a:r>
              <a:rPr dirty="0" spc="120"/>
              <a:t>A</a:t>
            </a:r>
            <a:r>
              <a:rPr dirty="0" spc="-10"/>
              <a:t> </a:t>
            </a:r>
            <a:r>
              <a:rPr dirty="0" spc="114"/>
              <a:t>LOOK</a:t>
            </a:r>
            <a:r>
              <a:rPr dirty="0" spc="-5"/>
              <a:t> </a:t>
            </a:r>
            <a:r>
              <a:rPr dirty="0"/>
              <a:t>AT</a:t>
            </a:r>
            <a:r>
              <a:rPr dirty="0" spc="-20"/>
              <a:t> </a:t>
            </a:r>
            <a:r>
              <a:rPr dirty="0" spc="-10"/>
              <a:t>MAIN.JS:</a:t>
            </a:r>
            <a:r>
              <a:rPr dirty="0" spc="-30"/>
              <a:t> </a:t>
            </a:r>
            <a:r>
              <a:rPr dirty="0" spc="-65"/>
              <a:t>ROUTER</a:t>
            </a:r>
            <a:r>
              <a:rPr dirty="0" spc="-10"/>
              <a:t> </a:t>
            </a:r>
            <a:r>
              <a:rPr dirty="0" spc="-20"/>
              <a:t>FUNC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1533220"/>
            <a:ext cx="509524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Then,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we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define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router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function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882396" y="2231135"/>
            <a:ext cx="10427335" cy="3693160"/>
          </a:xfrm>
          <a:custGeom>
            <a:avLst/>
            <a:gdLst/>
            <a:ahLst/>
            <a:cxnLst/>
            <a:rect l="l" t="t" r="r" b="b"/>
            <a:pathLst>
              <a:path w="10427335" h="3693160">
                <a:moveTo>
                  <a:pt x="0" y="3692652"/>
                </a:moveTo>
                <a:lnTo>
                  <a:pt x="10427208" y="3692652"/>
                </a:lnTo>
                <a:lnTo>
                  <a:pt x="10427208" y="0"/>
                </a:lnTo>
                <a:lnTo>
                  <a:pt x="0" y="0"/>
                </a:lnTo>
                <a:lnTo>
                  <a:pt x="0" y="3692652"/>
                </a:lnTo>
                <a:close/>
              </a:path>
            </a:pathLst>
          </a:custGeom>
          <a:ln w="12700">
            <a:solidFill>
              <a:srgbClr val="111F3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962050" y="2250440"/>
            <a:ext cx="10179050" cy="35921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function</a:t>
            </a:r>
            <a:r>
              <a:rPr dirty="0" sz="1800" spc="-4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router()</a:t>
            </a:r>
            <a:r>
              <a:rPr dirty="0" sz="1800" spc="-35">
                <a:latin typeface="Consolas"/>
                <a:cs typeface="Consolas"/>
              </a:rPr>
              <a:t> </a:t>
            </a:r>
            <a:r>
              <a:rPr dirty="0" sz="1800" spc="-50">
                <a:latin typeface="Consolas"/>
                <a:cs typeface="Consolas"/>
              </a:rPr>
              <a:t>{</a:t>
            </a:r>
            <a:endParaRPr sz="1800">
              <a:latin typeface="Consolas"/>
              <a:cs typeface="Consolas"/>
            </a:endParaRPr>
          </a:p>
          <a:p>
            <a:pPr marL="262255">
              <a:lnSpc>
                <a:spcPct val="100000"/>
              </a:lnSpc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let</a:t>
            </a:r>
            <a:r>
              <a:rPr dirty="0" sz="1800" spc="-3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view</a:t>
            </a:r>
            <a:r>
              <a:rPr dirty="0" sz="1800" spc="-4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routes[location.pathname];</a:t>
            </a:r>
            <a:r>
              <a:rPr dirty="0" sz="1800" spc="-3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//get</a:t>
            </a:r>
            <a:r>
              <a:rPr dirty="0" sz="1800" spc="-4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route</a:t>
            </a:r>
            <a:r>
              <a:rPr dirty="0" sz="1800" spc="-4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corresponding</a:t>
            </a:r>
            <a:r>
              <a:rPr dirty="0" sz="1800" spc="-3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to</a:t>
            </a:r>
            <a:r>
              <a:rPr dirty="0" sz="1800" spc="-3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current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 spc="-20">
                <a:solidFill>
                  <a:srgbClr val="008000"/>
                </a:solidFill>
                <a:latin typeface="Consolas"/>
                <a:cs typeface="Consolas"/>
              </a:rPr>
              <a:t>path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800">
              <a:latin typeface="Consolas"/>
              <a:cs typeface="Consolas"/>
            </a:endParaRPr>
          </a:p>
          <a:p>
            <a:pPr marL="262255">
              <a:lnSpc>
                <a:spcPct val="100000"/>
              </a:lnSpc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if</a:t>
            </a:r>
            <a:r>
              <a:rPr dirty="0" sz="1800" spc="-1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(view)</a:t>
            </a:r>
            <a:r>
              <a:rPr dirty="0" sz="1800" spc="-1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{</a:t>
            </a:r>
            <a:r>
              <a:rPr dirty="0" sz="1800" spc="-20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//if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a</a:t>
            </a:r>
            <a:r>
              <a:rPr dirty="0" sz="1800" spc="-2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route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matches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the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current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 spc="-20">
                <a:solidFill>
                  <a:srgbClr val="008000"/>
                </a:solidFill>
                <a:latin typeface="Consolas"/>
                <a:cs typeface="Consolas"/>
              </a:rPr>
              <a:t>path</a:t>
            </a:r>
            <a:endParaRPr sz="1800">
              <a:latin typeface="Consolas"/>
              <a:cs typeface="Consolas"/>
            </a:endParaRPr>
          </a:p>
          <a:p>
            <a:pPr marL="512445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document.title</a:t>
            </a:r>
            <a:r>
              <a:rPr dirty="0" sz="1800" spc="-2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 spc="-1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view.title;</a:t>
            </a:r>
            <a:r>
              <a:rPr dirty="0" sz="1800" spc="-1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//update</a:t>
            </a:r>
            <a:r>
              <a:rPr dirty="0" sz="1800" spc="-2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the</a:t>
            </a:r>
            <a:r>
              <a:rPr dirty="0" sz="1800" spc="-3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page</a:t>
            </a:r>
            <a:r>
              <a:rPr dirty="0" sz="1800" spc="-3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title</a:t>
            </a:r>
            <a:r>
              <a:rPr dirty="0" sz="1800" spc="-2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to</a:t>
            </a:r>
            <a:r>
              <a:rPr dirty="0" sz="1800" spc="-2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the</a:t>
            </a:r>
            <a:r>
              <a:rPr dirty="0" sz="1800" spc="-3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one</a:t>
            </a:r>
            <a:r>
              <a:rPr dirty="0" sz="1800" spc="-2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of</a:t>
            </a:r>
            <a:r>
              <a:rPr dirty="0" sz="1800" spc="-3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the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8000"/>
                </a:solidFill>
                <a:latin typeface="Consolas"/>
                <a:cs typeface="Consolas"/>
              </a:rPr>
              <a:t>route</a:t>
            </a:r>
            <a:endParaRPr sz="1800">
              <a:latin typeface="Consolas"/>
              <a:cs typeface="Consolas"/>
            </a:endParaRPr>
          </a:p>
          <a:p>
            <a:pPr marL="512445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content.innerHTML</a:t>
            </a:r>
            <a:r>
              <a:rPr dirty="0" sz="1800" spc="-4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 spc="-4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view.render();</a:t>
            </a:r>
            <a:r>
              <a:rPr dirty="0" sz="1800" spc="-5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//update</a:t>
            </a:r>
            <a:r>
              <a:rPr dirty="0" sz="1800" spc="-4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the</a:t>
            </a:r>
            <a:r>
              <a:rPr dirty="0" sz="1800" spc="-5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content</a:t>
            </a:r>
            <a:r>
              <a:rPr dirty="0" sz="1800" spc="-4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with</a:t>
            </a:r>
            <a:r>
              <a:rPr dirty="0" sz="1800" spc="-5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the</a:t>
            </a:r>
            <a:r>
              <a:rPr dirty="0" sz="1800" spc="-3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result</a:t>
            </a:r>
            <a:r>
              <a:rPr dirty="0" sz="1800" spc="-5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of</a:t>
            </a:r>
            <a:endParaRPr sz="1800">
              <a:latin typeface="Consolas"/>
              <a:cs typeface="Consolas"/>
            </a:endParaRPr>
          </a:p>
          <a:p>
            <a:pPr marL="4900295">
              <a:lnSpc>
                <a:spcPct val="100000"/>
              </a:lnSpc>
              <a:spcBef>
                <a:spcPts val="5"/>
              </a:spcBef>
            </a:pP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//the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render</a:t>
            </a:r>
            <a:r>
              <a:rPr dirty="0" sz="1800" spc="-3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8000"/>
                </a:solidFill>
                <a:latin typeface="Consolas"/>
                <a:cs typeface="Consolas"/>
              </a:rPr>
              <a:t>function</a:t>
            </a:r>
            <a:endParaRPr sz="1800">
              <a:latin typeface="Consolas"/>
              <a:cs typeface="Consolas"/>
            </a:endParaRPr>
          </a:p>
          <a:p>
            <a:pPr marL="262255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}</a:t>
            </a:r>
            <a:r>
              <a:rPr dirty="0" sz="1800" spc="-3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else</a:t>
            </a:r>
            <a:r>
              <a:rPr dirty="0" sz="1800" spc="-1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{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//no</a:t>
            </a:r>
            <a:r>
              <a:rPr dirty="0" sz="1800" spc="-2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route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matches</a:t>
            </a:r>
            <a:r>
              <a:rPr dirty="0" sz="1800" spc="-1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the</a:t>
            </a:r>
            <a:r>
              <a:rPr dirty="0" sz="1800" spc="-20">
                <a:solidFill>
                  <a:srgbClr val="008000"/>
                </a:solidFill>
                <a:latin typeface="Consolas"/>
                <a:cs typeface="Consolas"/>
              </a:rPr>
              <a:t> path</a:t>
            </a:r>
            <a:endParaRPr sz="1800">
              <a:latin typeface="Consolas"/>
              <a:cs typeface="Consolas"/>
            </a:endParaRPr>
          </a:p>
          <a:p>
            <a:pPr marL="512445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history.replaceState(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""</a:t>
            </a:r>
            <a:r>
              <a:rPr dirty="0" sz="1800">
                <a:latin typeface="Consolas"/>
                <a:cs typeface="Consolas"/>
              </a:rPr>
              <a:t>,</a:t>
            </a:r>
            <a:r>
              <a:rPr dirty="0" sz="1800" spc="-3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""</a:t>
            </a:r>
            <a:r>
              <a:rPr dirty="0" sz="1800">
                <a:latin typeface="Consolas"/>
                <a:cs typeface="Consolas"/>
              </a:rPr>
              <a:t>,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"/"</a:t>
            </a:r>
            <a:r>
              <a:rPr dirty="0" sz="1800">
                <a:latin typeface="Consolas"/>
                <a:cs typeface="Consolas"/>
              </a:rPr>
              <a:t>);</a:t>
            </a:r>
            <a:r>
              <a:rPr dirty="0" sz="1800" spc="-40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//replace</a:t>
            </a:r>
            <a:r>
              <a:rPr dirty="0" sz="1800" spc="-3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current</a:t>
            </a:r>
            <a:r>
              <a:rPr dirty="0" sz="1800" spc="-3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history</a:t>
            </a:r>
            <a:r>
              <a:rPr dirty="0" sz="1800" spc="-3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entry</a:t>
            </a:r>
            <a:r>
              <a:rPr dirty="0" sz="1800" spc="-4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with</a:t>
            </a:r>
            <a:r>
              <a:rPr dirty="0" sz="1800" spc="-4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an</a:t>
            </a:r>
            <a:endParaRPr sz="1800">
              <a:latin typeface="Consolas"/>
              <a:cs typeface="Consolas"/>
            </a:endParaRPr>
          </a:p>
          <a:p>
            <a:pPr marL="4900295">
              <a:lnSpc>
                <a:spcPct val="100000"/>
              </a:lnSpc>
            </a:pP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//emtpy</a:t>
            </a:r>
            <a:r>
              <a:rPr dirty="0" sz="1800" spc="-3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state</a:t>
            </a:r>
            <a:r>
              <a:rPr dirty="0" sz="1800" spc="-2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and</a:t>
            </a:r>
            <a:r>
              <a:rPr dirty="0" sz="1800" spc="-1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change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url</a:t>
            </a:r>
            <a:r>
              <a:rPr dirty="0" sz="1800" spc="-1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path</a:t>
            </a:r>
            <a:r>
              <a:rPr dirty="0" sz="1800" spc="-2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to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 spc="-50">
                <a:solidFill>
                  <a:srgbClr val="008000"/>
                </a:solidFill>
                <a:latin typeface="Consolas"/>
                <a:cs typeface="Consolas"/>
              </a:rPr>
              <a:t>/</a:t>
            </a:r>
            <a:endParaRPr sz="1800">
              <a:latin typeface="Consolas"/>
              <a:cs typeface="Consolas"/>
            </a:endParaRPr>
          </a:p>
          <a:p>
            <a:pPr marL="512445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router();</a:t>
            </a:r>
            <a:r>
              <a:rPr dirty="0" sz="1800" spc="-6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//call</a:t>
            </a:r>
            <a:r>
              <a:rPr dirty="0" sz="1800" spc="-4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router()</a:t>
            </a:r>
            <a:r>
              <a:rPr dirty="0" sz="1800" spc="-4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8000"/>
                </a:solidFill>
                <a:latin typeface="Consolas"/>
                <a:cs typeface="Consolas"/>
              </a:rPr>
              <a:t>again</a:t>
            </a:r>
            <a:endParaRPr sz="1800">
              <a:latin typeface="Consolas"/>
              <a:cs typeface="Consolas"/>
            </a:endParaRPr>
          </a:p>
          <a:p>
            <a:pPr marL="262255">
              <a:lnSpc>
                <a:spcPct val="100000"/>
              </a:lnSpc>
            </a:pPr>
            <a:r>
              <a:rPr dirty="0" sz="1800" spc="-5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dirty="0" sz="1800" spc="-25">
                <a:latin typeface="Consolas"/>
                <a:cs typeface="Consolas"/>
              </a:rPr>
              <a:t>};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6" name="object 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30"/>
              <a:t> </a:t>
            </a:r>
            <a:r>
              <a:rPr dirty="0"/>
              <a:t>II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30"/>
              <a:t> </a:t>
            </a:r>
            <a:r>
              <a:rPr dirty="0"/>
              <a:t>Course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30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18</a:t>
            </a:r>
            <a:r>
              <a:rPr dirty="0" spc="-1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Single</a:t>
            </a:r>
            <a:r>
              <a:rPr dirty="0" spc="-40"/>
              <a:t> </a:t>
            </a:r>
            <a:r>
              <a:rPr dirty="0"/>
              <a:t>Page</a:t>
            </a:r>
            <a:r>
              <a:rPr dirty="0" spc="-15"/>
              <a:t> </a:t>
            </a:r>
            <a:r>
              <a:rPr dirty="0" spc="-10"/>
              <a:t>Applications</a:t>
            </a:r>
          </a:p>
        </p:txBody>
      </p:sp>
      <p:sp>
        <p:nvSpPr>
          <p:cNvPr id="7" name="object 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30"/>
              <a:t> </a:t>
            </a:r>
            <a:r>
              <a:rPr dirty="0"/>
              <a:t>II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30"/>
              <a:t> </a:t>
            </a:r>
            <a:r>
              <a:rPr dirty="0"/>
              <a:t>Course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30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18</a:t>
            </a:r>
            <a:r>
              <a:rPr dirty="0" spc="-1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Single</a:t>
            </a:r>
            <a:r>
              <a:rPr dirty="0" spc="-40"/>
              <a:t> </a:t>
            </a:r>
            <a:r>
              <a:rPr dirty="0"/>
              <a:t>Page</a:t>
            </a:r>
            <a:r>
              <a:rPr dirty="0" spc="-15"/>
              <a:t> </a:t>
            </a:r>
            <a:r>
              <a:rPr dirty="0" spc="-10"/>
              <a:t>Applications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TAKING</a:t>
            </a:r>
            <a:r>
              <a:rPr dirty="0" spc="55"/>
              <a:t> </a:t>
            </a:r>
            <a:r>
              <a:rPr dirty="0" spc="120"/>
              <a:t>A</a:t>
            </a:r>
            <a:r>
              <a:rPr dirty="0" spc="85"/>
              <a:t> </a:t>
            </a:r>
            <a:r>
              <a:rPr dirty="0" spc="114"/>
              <a:t>LOOK</a:t>
            </a:r>
            <a:r>
              <a:rPr dirty="0" spc="90"/>
              <a:t> </a:t>
            </a:r>
            <a:r>
              <a:rPr dirty="0"/>
              <a:t>AT</a:t>
            </a:r>
            <a:r>
              <a:rPr dirty="0" spc="70"/>
              <a:t> </a:t>
            </a:r>
            <a:r>
              <a:rPr dirty="0" spc="-10"/>
              <a:t>MAIN.JS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1446872"/>
            <a:ext cx="9640570" cy="1050925"/>
          </a:xfrm>
          <a:prstGeom prst="rect">
            <a:avLst/>
          </a:prstGeom>
        </p:spPr>
        <p:txBody>
          <a:bodyPr wrap="square" lIns="0" tIns="98425" rIns="0" bIns="0" rtlCol="0" vert="horz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77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Then,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we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populate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nav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and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footer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elements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router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function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 spc="-10" b="1">
                <a:solidFill>
                  <a:srgbClr val="111F35"/>
                </a:solidFill>
                <a:latin typeface="Calibri"/>
                <a:cs typeface="Calibri"/>
              </a:rPr>
              <a:t>renderFooter()</a:t>
            </a:r>
            <a:r>
              <a:rPr dirty="0" sz="2800" spc="-3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is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function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returning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HTML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string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882396" y="3037332"/>
            <a:ext cx="10427335" cy="3139440"/>
          </a:xfrm>
          <a:prstGeom prst="rect">
            <a:avLst/>
          </a:prstGeom>
          <a:ln w="12700">
            <a:solidFill>
              <a:srgbClr val="111F35"/>
            </a:solidFill>
          </a:ln>
        </p:spPr>
        <p:txBody>
          <a:bodyPr wrap="square" lIns="0" tIns="32384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254"/>
              </a:spcBef>
            </a:pP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//</a:t>
            </a:r>
            <a:r>
              <a:rPr dirty="0" sz="1800" spc="-3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Add</a:t>
            </a:r>
            <a:r>
              <a:rPr dirty="0" sz="1800" spc="-3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Navigation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links</a:t>
            </a:r>
            <a:r>
              <a:rPr dirty="0" sz="1800" spc="-3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to</a:t>
            </a:r>
            <a:r>
              <a:rPr dirty="0" sz="1800" spc="-3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the</a:t>
            </a:r>
            <a:r>
              <a:rPr dirty="0" sz="1800" spc="-3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 spc="-20">
                <a:solidFill>
                  <a:srgbClr val="008000"/>
                </a:solidFill>
                <a:latin typeface="Consolas"/>
                <a:cs typeface="Consolas"/>
              </a:rPr>
              <a:t>page</a:t>
            </a: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  <a:spcBef>
                <a:spcPts val="5"/>
              </a:spcBef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for</a:t>
            </a:r>
            <a:r>
              <a:rPr dirty="0" sz="1800">
                <a:latin typeface="Consolas"/>
                <a:cs typeface="Consolas"/>
              </a:rPr>
              <a:t>(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let</a:t>
            </a:r>
            <a:r>
              <a:rPr dirty="0" sz="1800" spc="-2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route</a:t>
            </a:r>
            <a:r>
              <a:rPr dirty="0" sz="1800" spc="-40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in</a:t>
            </a:r>
            <a:r>
              <a:rPr dirty="0" sz="1800" spc="-2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latin typeface="Consolas"/>
                <a:cs typeface="Consolas"/>
              </a:rPr>
              <a:t>routes){</a:t>
            </a:r>
            <a:endParaRPr sz="1800">
              <a:latin typeface="Consolas"/>
              <a:cs typeface="Consolas"/>
            </a:endParaRPr>
          </a:p>
          <a:p>
            <a:pPr marL="591820" marR="4938395">
              <a:lnSpc>
                <a:spcPct val="100000"/>
              </a:lnSpc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let</a:t>
            </a:r>
            <a:r>
              <a:rPr dirty="0" sz="1800" spc="-2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link</a:t>
            </a:r>
            <a:r>
              <a:rPr dirty="0" sz="1800" spc="-1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 spc="-20">
                <a:latin typeface="Consolas"/>
                <a:cs typeface="Consolas"/>
              </a:rPr>
              <a:t> </a:t>
            </a:r>
            <a:r>
              <a:rPr dirty="0" sz="1800" spc="-10">
                <a:latin typeface="Consolas"/>
                <a:cs typeface="Consolas"/>
              </a:rPr>
              <a:t>document.createElement(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"a"</a:t>
            </a:r>
            <a:r>
              <a:rPr dirty="0" sz="1800" spc="-10">
                <a:latin typeface="Consolas"/>
                <a:cs typeface="Consolas"/>
              </a:rPr>
              <a:t>); </a:t>
            </a:r>
            <a:r>
              <a:rPr dirty="0" sz="1800">
                <a:latin typeface="Consolas"/>
                <a:cs typeface="Consolas"/>
              </a:rPr>
              <a:t>link.href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 spc="-10">
                <a:latin typeface="Consolas"/>
                <a:cs typeface="Consolas"/>
              </a:rPr>
              <a:t>route;</a:t>
            </a:r>
            <a:endParaRPr sz="1800">
              <a:latin typeface="Consolas"/>
              <a:cs typeface="Consolas"/>
            </a:endParaRPr>
          </a:p>
          <a:p>
            <a:pPr marL="591820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link.innerText</a:t>
            </a:r>
            <a:r>
              <a:rPr dirty="0" sz="1800" spc="-4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 spc="-10">
                <a:latin typeface="Consolas"/>
                <a:cs typeface="Consolas"/>
              </a:rPr>
              <a:t>routes[route].title;</a:t>
            </a:r>
            <a:endParaRPr sz="1800">
              <a:latin typeface="Consolas"/>
              <a:cs typeface="Consolas"/>
            </a:endParaRPr>
          </a:p>
          <a:p>
            <a:pPr marL="591820">
              <a:lnSpc>
                <a:spcPct val="100000"/>
              </a:lnSpc>
            </a:pPr>
            <a:r>
              <a:rPr dirty="0" sz="1800" spc="-10">
                <a:latin typeface="Consolas"/>
                <a:cs typeface="Consolas"/>
              </a:rPr>
              <a:t>link.setAttribute(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"data-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link"</a:t>
            </a:r>
            <a:r>
              <a:rPr dirty="0" sz="1800">
                <a:latin typeface="Consolas"/>
                <a:cs typeface="Consolas"/>
              </a:rPr>
              <a:t>,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""</a:t>
            </a:r>
            <a:r>
              <a:rPr dirty="0" sz="1800">
                <a:latin typeface="Consolas"/>
                <a:cs typeface="Consolas"/>
              </a:rPr>
              <a:t>);</a:t>
            </a:r>
            <a:r>
              <a:rPr dirty="0" sz="1800" spc="-1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// notice we're</a:t>
            </a:r>
            <a:r>
              <a:rPr dirty="0" sz="1800" spc="-1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adding</a:t>
            </a:r>
            <a:r>
              <a:rPr dirty="0" sz="1800" spc="-1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a</a:t>
            </a:r>
            <a:r>
              <a:rPr dirty="0" sz="1800" spc="-1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custom</a:t>
            </a:r>
            <a:r>
              <a:rPr dirty="0" sz="1800" spc="-10">
                <a:solidFill>
                  <a:srgbClr val="008000"/>
                </a:solidFill>
                <a:latin typeface="Consolas"/>
                <a:cs typeface="Consolas"/>
              </a:rPr>
              <a:t> attribute!</a:t>
            </a:r>
            <a:endParaRPr sz="1800">
              <a:latin typeface="Consolas"/>
              <a:cs typeface="Consolas"/>
            </a:endParaRPr>
          </a:p>
          <a:p>
            <a:pPr marL="591820">
              <a:lnSpc>
                <a:spcPct val="100000"/>
              </a:lnSpc>
            </a:pPr>
            <a:r>
              <a:rPr dirty="0" sz="1800" spc="-10">
                <a:latin typeface="Consolas"/>
                <a:cs typeface="Consolas"/>
              </a:rPr>
              <a:t>nav.append(link);</a:t>
            </a: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dirty="0" sz="1800" spc="-5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//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Render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8000"/>
                </a:solidFill>
                <a:latin typeface="Consolas"/>
                <a:cs typeface="Consolas"/>
              </a:rPr>
              <a:t>footer</a:t>
            </a: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footer.innerHTML</a:t>
            </a:r>
            <a:r>
              <a:rPr dirty="0" sz="1800" spc="-4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 spc="-35">
                <a:latin typeface="Consolas"/>
                <a:cs typeface="Consolas"/>
              </a:rPr>
              <a:t> </a:t>
            </a:r>
            <a:r>
              <a:rPr dirty="0" sz="1800" spc="-10">
                <a:latin typeface="Consolas"/>
                <a:cs typeface="Consolas"/>
              </a:rPr>
              <a:t>renderFooter();</a:t>
            </a:r>
            <a:endParaRPr sz="18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30"/>
              <a:t> </a:t>
            </a:r>
            <a:r>
              <a:rPr dirty="0"/>
              <a:t>II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30"/>
              <a:t> </a:t>
            </a:r>
            <a:r>
              <a:rPr dirty="0"/>
              <a:t>Course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30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18</a:t>
            </a:r>
            <a:r>
              <a:rPr dirty="0" spc="-1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Single</a:t>
            </a:r>
            <a:r>
              <a:rPr dirty="0" spc="-40"/>
              <a:t> </a:t>
            </a:r>
            <a:r>
              <a:rPr dirty="0"/>
              <a:t>Page</a:t>
            </a:r>
            <a:r>
              <a:rPr dirty="0" spc="-15"/>
              <a:t> </a:t>
            </a:r>
            <a:r>
              <a:rPr dirty="0" spc="-10"/>
              <a:t>Applications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TAKING</a:t>
            </a:r>
            <a:r>
              <a:rPr dirty="0" spc="-5"/>
              <a:t> </a:t>
            </a:r>
            <a:r>
              <a:rPr dirty="0" spc="120"/>
              <a:t>A</a:t>
            </a:r>
            <a:r>
              <a:rPr dirty="0" spc="25"/>
              <a:t> </a:t>
            </a:r>
            <a:r>
              <a:rPr dirty="0" spc="114"/>
              <a:t>LOOK</a:t>
            </a:r>
            <a:r>
              <a:rPr dirty="0" spc="25"/>
              <a:t> </a:t>
            </a:r>
            <a:r>
              <a:rPr dirty="0"/>
              <a:t>AT</a:t>
            </a:r>
            <a:r>
              <a:rPr dirty="0" spc="10"/>
              <a:t> </a:t>
            </a:r>
            <a:r>
              <a:rPr dirty="0" spc="-10"/>
              <a:t>MAIN.JS:</a:t>
            </a:r>
            <a:r>
              <a:rPr dirty="0" spc="5"/>
              <a:t> </a:t>
            </a:r>
            <a:r>
              <a:rPr dirty="0" spc="-10"/>
              <a:t>NAVIGATION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1533220"/>
            <a:ext cx="10186670" cy="1348740"/>
          </a:xfrm>
          <a:prstGeom prst="rect">
            <a:avLst/>
          </a:prstGeom>
        </p:spPr>
        <p:txBody>
          <a:bodyPr wrap="square" lIns="0" tIns="60325" rIns="0" bIns="0" rtlCol="0" vert="horz">
            <a:spAutoFit/>
          </a:bodyPr>
          <a:lstStyle/>
          <a:p>
            <a:pPr marL="240029" marR="5080" indent="-227329">
              <a:lnSpc>
                <a:spcPts val="3030"/>
              </a:lnSpc>
              <a:spcBef>
                <a:spcPts val="47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SPA,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we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might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have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links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that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should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behave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normally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(e.g.: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links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external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websites),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and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links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that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should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just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trigger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view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update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2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</a:t>
            </a:r>
            <a:r>
              <a:rPr dirty="0" sz="2800" spc="-10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our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example,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we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identify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latters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with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20">
                <a:solidFill>
                  <a:srgbClr val="A21515"/>
                </a:solidFill>
                <a:latin typeface="Consolas"/>
                <a:cs typeface="Consolas"/>
              </a:rPr>
              <a:t>data-link</a:t>
            </a:r>
            <a:r>
              <a:rPr dirty="0" sz="2400" spc="-64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attribute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882396" y="3867911"/>
            <a:ext cx="10427335" cy="2308860"/>
          </a:xfrm>
          <a:prstGeom prst="rect">
            <a:avLst/>
          </a:prstGeom>
          <a:ln w="12700">
            <a:solidFill>
              <a:srgbClr val="111F35"/>
            </a:solidFill>
          </a:ln>
        </p:spPr>
        <p:txBody>
          <a:bodyPr wrap="square" lIns="0" tIns="33020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260"/>
              </a:spcBef>
            </a:pP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//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Handle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8000"/>
                </a:solidFill>
                <a:latin typeface="Consolas"/>
                <a:cs typeface="Consolas"/>
              </a:rPr>
              <a:t>navigation</a:t>
            </a: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  <a:spcBef>
                <a:spcPts val="5"/>
              </a:spcBef>
            </a:pPr>
            <a:r>
              <a:rPr dirty="0" sz="1800">
                <a:latin typeface="Consolas"/>
                <a:cs typeface="Consolas"/>
              </a:rPr>
              <a:t>window.addEventListener(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"click"</a:t>
            </a:r>
            <a:r>
              <a:rPr dirty="0" sz="1800">
                <a:latin typeface="Consolas"/>
                <a:cs typeface="Consolas"/>
              </a:rPr>
              <a:t>,</a:t>
            </a:r>
            <a:r>
              <a:rPr dirty="0" sz="1800" spc="-6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e</a:t>
            </a:r>
            <a:r>
              <a:rPr dirty="0" sz="1800" spc="-8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=&gt;</a:t>
            </a:r>
            <a:r>
              <a:rPr dirty="0" sz="1800" spc="-7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 spc="-50">
                <a:latin typeface="Consolas"/>
                <a:cs typeface="Consolas"/>
              </a:rPr>
              <a:t>{</a:t>
            </a:r>
            <a:endParaRPr sz="1800">
              <a:latin typeface="Consolas"/>
              <a:cs typeface="Consolas"/>
            </a:endParaRPr>
          </a:p>
          <a:p>
            <a:pPr marL="591820" marR="3684270" indent="-250190">
              <a:lnSpc>
                <a:spcPct val="100000"/>
              </a:lnSpc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if</a:t>
            </a:r>
            <a:r>
              <a:rPr dirty="0" sz="1800" spc="4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latin typeface="Consolas"/>
                <a:cs typeface="Consolas"/>
              </a:rPr>
              <a:t>(e.target.matches(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"[data-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link]"</a:t>
            </a:r>
            <a:r>
              <a:rPr dirty="0" sz="1800">
                <a:latin typeface="Consolas"/>
                <a:cs typeface="Consolas"/>
              </a:rPr>
              <a:t>))</a:t>
            </a:r>
            <a:r>
              <a:rPr dirty="0" sz="1800" spc="45">
                <a:latin typeface="Consolas"/>
                <a:cs typeface="Consolas"/>
              </a:rPr>
              <a:t> </a:t>
            </a:r>
            <a:r>
              <a:rPr dirty="0" sz="1800" spc="-50">
                <a:latin typeface="Consolas"/>
                <a:cs typeface="Consolas"/>
              </a:rPr>
              <a:t>{ </a:t>
            </a:r>
            <a:r>
              <a:rPr dirty="0" sz="1800">
                <a:latin typeface="Consolas"/>
                <a:cs typeface="Consolas"/>
              </a:rPr>
              <a:t>e.preventDefault();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//</a:t>
            </a:r>
            <a:r>
              <a:rPr dirty="0" sz="1800" spc="-3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do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not</a:t>
            </a:r>
            <a:r>
              <a:rPr dirty="0" sz="1800" spc="-3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trigger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page</a:t>
            </a:r>
            <a:r>
              <a:rPr dirty="0" sz="1800" spc="-3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8000"/>
                </a:solidFill>
                <a:latin typeface="Consolas"/>
                <a:cs typeface="Consolas"/>
              </a:rPr>
              <a:t>reload</a:t>
            </a:r>
            <a:endParaRPr sz="1800">
              <a:latin typeface="Consolas"/>
              <a:cs typeface="Consolas"/>
            </a:endParaRPr>
          </a:p>
          <a:p>
            <a:pPr marL="591820" marR="424815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history.pushState(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""</a:t>
            </a:r>
            <a:r>
              <a:rPr dirty="0" sz="1800">
                <a:latin typeface="Consolas"/>
                <a:cs typeface="Consolas"/>
              </a:rPr>
              <a:t>,</a:t>
            </a:r>
            <a:r>
              <a:rPr dirty="0" sz="1800" spc="-40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""</a:t>
            </a:r>
            <a:r>
              <a:rPr dirty="0" sz="1800">
                <a:latin typeface="Consolas"/>
                <a:cs typeface="Consolas"/>
              </a:rPr>
              <a:t>,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e.target.href);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//</a:t>
            </a:r>
            <a:r>
              <a:rPr dirty="0" sz="1800" spc="-3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add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new</a:t>
            </a:r>
            <a:r>
              <a:rPr dirty="0" sz="1800" spc="-3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state</a:t>
            </a:r>
            <a:r>
              <a:rPr dirty="0" sz="1800" spc="-3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on</a:t>
            </a:r>
            <a:r>
              <a:rPr dirty="0" sz="1800" spc="-3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history</a:t>
            </a:r>
            <a:r>
              <a:rPr dirty="0" sz="1800" spc="-3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8000"/>
                </a:solidFill>
                <a:latin typeface="Consolas"/>
                <a:cs typeface="Consolas"/>
              </a:rPr>
              <a:t>stack </a:t>
            </a:r>
            <a:r>
              <a:rPr dirty="0" sz="1800">
                <a:latin typeface="Consolas"/>
                <a:cs typeface="Consolas"/>
              </a:rPr>
              <a:t>router();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//</a:t>
            </a:r>
            <a:r>
              <a:rPr dirty="0" sz="1800" spc="-2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call</a:t>
            </a:r>
            <a:r>
              <a:rPr dirty="0" sz="1800" spc="-3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router</a:t>
            </a:r>
            <a:r>
              <a:rPr dirty="0" sz="1800" spc="-2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to</a:t>
            </a:r>
            <a:r>
              <a:rPr dirty="0" sz="1800" spc="-2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update</a:t>
            </a:r>
            <a:r>
              <a:rPr dirty="0" sz="1800" spc="-3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the</a:t>
            </a:r>
            <a:r>
              <a:rPr dirty="0" sz="1800" spc="-3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view</a:t>
            </a:r>
            <a:r>
              <a:rPr dirty="0" sz="1800" spc="-2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according</a:t>
            </a:r>
            <a:r>
              <a:rPr dirty="0" sz="1800" spc="-3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to</a:t>
            </a:r>
            <a:r>
              <a:rPr dirty="0" sz="1800" spc="-2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current</a:t>
            </a:r>
            <a:r>
              <a:rPr dirty="0" sz="1800" spc="-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url</a:t>
            </a:r>
            <a:r>
              <a:rPr dirty="0" sz="1800" spc="-1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 spc="-20">
                <a:solidFill>
                  <a:srgbClr val="008000"/>
                </a:solidFill>
                <a:latin typeface="Consolas"/>
                <a:cs typeface="Consolas"/>
              </a:rPr>
              <a:t>path</a:t>
            </a:r>
            <a:endParaRPr sz="1800">
              <a:latin typeface="Consolas"/>
              <a:cs typeface="Consolas"/>
            </a:endParaRPr>
          </a:p>
          <a:p>
            <a:pPr algn="r" marR="9951085">
              <a:lnSpc>
                <a:spcPct val="100000"/>
              </a:lnSpc>
            </a:pPr>
            <a:r>
              <a:rPr dirty="0" sz="1800" spc="-5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  <a:p>
            <a:pPr algn="r" marR="9951720">
              <a:lnSpc>
                <a:spcPct val="100000"/>
              </a:lnSpc>
            </a:pPr>
            <a:r>
              <a:rPr dirty="0" sz="1800" spc="-25">
                <a:latin typeface="Consolas"/>
                <a:cs typeface="Consolas"/>
              </a:rPr>
              <a:t>});</a:t>
            </a:r>
            <a:endParaRPr sz="18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30"/>
              <a:t> </a:t>
            </a:r>
            <a:r>
              <a:rPr dirty="0"/>
              <a:t>II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30"/>
              <a:t> </a:t>
            </a:r>
            <a:r>
              <a:rPr dirty="0"/>
              <a:t>Course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30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18</a:t>
            </a:r>
            <a:r>
              <a:rPr dirty="0" spc="-1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Single</a:t>
            </a:r>
            <a:r>
              <a:rPr dirty="0" spc="-40"/>
              <a:t> </a:t>
            </a:r>
            <a:r>
              <a:rPr dirty="0"/>
              <a:t>Page</a:t>
            </a:r>
            <a:r>
              <a:rPr dirty="0" spc="-15"/>
              <a:t> </a:t>
            </a:r>
            <a:r>
              <a:rPr dirty="0" spc="-10"/>
              <a:t>Applications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TAKING</a:t>
            </a:r>
            <a:r>
              <a:rPr dirty="0" spc="-5"/>
              <a:t> </a:t>
            </a:r>
            <a:r>
              <a:rPr dirty="0" spc="120"/>
              <a:t>A</a:t>
            </a:r>
            <a:r>
              <a:rPr dirty="0" spc="25"/>
              <a:t> </a:t>
            </a:r>
            <a:r>
              <a:rPr dirty="0" spc="114"/>
              <a:t>LOOK</a:t>
            </a:r>
            <a:r>
              <a:rPr dirty="0" spc="25"/>
              <a:t> </a:t>
            </a:r>
            <a:r>
              <a:rPr dirty="0"/>
              <a:t>AT</a:t>
            </a:r>
            <a:r>
              <a:rPr dirty="0" spc="10"/>
              <a:t> </a:t>
            </a:r>
            <a:r>
              <a:rPr dirty="0" spc="-10"/>
              <a:t>MAIN.JS:</a:t>
            </a:r>
            <a:r>
              <a:rPr dirty="0" spc="5"/>
              <a:t> </a:t>
            </a:r>
            <a:r>
              <a:rPr dirty="0" spc="-10"/>
              <a:t>NAVIGATION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1533220"/>
            <a:ext cx="9558655" cy="3032125"/>
          </a:xfrm>
          <a:prstGeom prst="rect">
            <a:avLst/>
          </a:prstGeom>
        </p:spPr>
        <p:txBody>
          <a:bodyPr wrap="square" lIns="0" tIns="60325" rIns="0" bIns="0" rtlCol="0" vert="horz">
            <a:spAutoFit/>
          </a:bodyPr>
          <a:lstStyle/>
          <a:p>
            <a:pPr marL="12700" marR="5080">
              <a:lnSpc>
                <a:spcPts val="3030"/>
              </a:lnSpc>
              <a:spcBef>
                <a:spcPts val="475"/>
              </a:spcBef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Last,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we</a:t>
            </a:r>
            <a:r>
              <a:rPr dirty="0" sz="2800" spc="-9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take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care</a:t>
            </a:r>
            <a:r>
              <a:rPr dirty="0" sz="2800" spc="-9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of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executing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router()</a:t>
            </a:r>
            <a:r>
              <a:rPr dirty="0" sz="2800" spc="-6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function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update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the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view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match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current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URL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path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2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Every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time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user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clicks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on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«back»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button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browser</a:t>
            </a:r>
            <a:endParaRPr sz="2800">
              <a:latin typeface="Calibri"/>
              <a:cs typeface="Calibri"/>
            </a:endParaRPr>
          </a:p>
          <a:p>
            <a:pPr lvl="1" marL="696595" indent="-227329">
              <a:lnSpc>
                <a:spcPct val="100000"/>
              </a:lnSpc>
              <a:spcBef>
                <a:spcPts val="234"/>
              </a:spcBef>
              <a:buClr>
                <a:srgbClr val="111F35"/>
              </a:buClr>
              <a:buFont typeface="Arial MT"/>
              <a:buChar char="•"/>
              <a:tabLst>
                <a:tab pos="696595" algn="l"/>
              </a:tabLst>
            </a:pPr>
            <a:r>
              <a:rPr dirty="0" u="sng" sz="2400" spc="-1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2"/>
              </a:rPr>
              <a:t>popstate</a:t>
            </a:r>
            <a:r>
              <a:rPr dirty="0" sz="2400" spc="-80">
                <a:solidFill>
                  <a:srgbClr val="006379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event</a:t>
            </a:r>
            <a:r>
              <a:rPr dirty="0" sz="24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on</a:t>
            </a:r>
            <a:r>
              <a:rPr dirty="0" sz="24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4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Window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interface</a:t>
            </a:r>
            <a:endParaRPr sz="2400">
              <a:latin typeface="Calibri"/>
              <a:cs typeface="Calibri"/>
            </a:endParaRPr>
          </a:p>
          <a:p>
            <a:pPr marL="240029" marR="225425" indent="-227329">
              <a:lnSpc>
                <a:spcPts val="3020"/>
              </a:lnSpc>
              <a:spcBef>
                <a:spcPts val="103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Every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time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main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web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page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is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fully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reloaded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(e.g.: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if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user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presses</a:t>
            </a:r>
            <a:r>
              <a:rPr dirty="0" sz="2800" spc="-10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11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refresh</a:t>
            </a:r>
            <a:r>
              <a:rPr dirty="0" sz="2800" spc="-11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button)</a:t>
            </a:r>
            <a:endParaRPr sz="2800">
              <a:latin typeface="Calibri"/>
              <a:cs typeface="Calibri"/>
            </a:endParaRPr>
          </a:p>
          <a:p>
            <a:pPr lvl="1" marL="696595" indent="-227329">
              <a:lnSpc>
                <a:spcPct val="100000"/>
              </a:lnSpc>
              <a:spcBef>
                <a:spcPts val="190"/>
              </a:spcBef>
              <a:buClr>
                <a:srgbClr val="111F35"/>
              </a:buClr>
              <a:buFont typeface="Arial MT"/>
              <a:buChar char="•"/>
              <a:tabLst>
                <a:tab pos="696595" algn="l"/>
              </a:tabLst>
            </a:pPr>
            <a:r>
              <a:rPr dirty="0" u="sng" sz="2400" spc="-1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3"/>
              </a:rPr>
              <a:t>DOMContentLoaded</a:t>
            </a:r>
            <a:r>
              <a:rPr dirty="0" sz="2400" spc="-75">
                <a:solidFill>
                  <a:srgbClr val="006379"/>
                </a:solidFill>
                <a:latin typeface="Calibri"/>
                <a:cs typeface="Calibri"/>
              </a:rPr>
              <a:t> </a:t>
            </a:r>
            <a:r>
              <a:rPr dirty="0" sz="2400" spc="-20">
                <a:solidFill>
                  <a:srgbClr val="111F35"/>
                </a:solidFill>
                <a:latin typeface="Calibri"/>
                <a:cs typeface="Calibri"/>
              </a:rPr>
              <a:t>event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882396" y="5253228"/>
            <a:ext cx="10427335" cy="923925"/>
          </a:xfrm>
          <a:prstGeom prst="rect">
            <a:avLst/>
          </a:prstGeom>
          <a:ln w="12700">
            <a:solidFill>
              <a:srgbClr val="111F35"/>
            </a:solidFill>
          </a:ln>
        </p:spPr>
        <p:txBody>
          <a:bodyPr wrap="square" lIns="0" tIns="33020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260"/>
              </a:spcBef>
            </a:pP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//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Update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8000"/>
                </a:solidFill>
                <a:latin typeface="Consolas"/>
                <a:cs typeface="Consolas"/>
              </a:rPr>
              <a:t>router</a:t>
            </a: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window.addEventListener(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"popstate"</a:t>
            </a:r>
            <a:r>
              <a:rPr dirty="0" sz="1800">
                <a:latin typeface="Consolas"/>
                <a:cs typeface="Consolas"/>
              </a:rPr>
              <a:t>,</a:t>
            </a:r>
            <a:r>
              <a:rPr dirty="0" sz="1800" spc="-235">
                <a:latin typeface="Consolas"/>
                <a:cs typeface="Consolas"/>
              </a:rPr>
              <a:t> </a:t>
            </a:r>
            <a:r>
              <a:rPr dirty="0" sz="1800" spc="-10">
                <a:latin typeface="Consolas"/>
                <a:cs typeface="Consolas"/>
              </a:rPr>
              <a:t>router);</a:t>
            </a: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  <a:spcBef>
                <a:spcPts val="5"/>
              </a:spcBef>
            </a:pPr>
            <a:r>
              <a:rPr dirty="0" sz="1800">
                <a:latin typeface="Consolas"/>
                <a:cs typeface="Consolas"/>
              </a:rPr>
              <a:t>window.addEventListener(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"DOMContentLoaded"</a:t>
            </a:r>
            <a:r>
              <a:rPr dirty="0" sz="1800">
                <a:latin typeface="Consolas"/>
                <a:cs typeface="Consolas"/>
              </a:rPr>
              <a:t>,</a:t>
            </a:r>
            <a:r>
              <a:rPr dirty="0" sz="1800" spc="-175">
                <a:latin typeface="Consolas"/>
                <a:cs typeface="Consolas"/>
              </a:rPr>
              <a:t> </a:t>
            </a:r>
            <a:r>
              <a:rPr dirty="0" sz="1800" spc="-10">
                <a:latin typeface="Consolas"/>
                <a:cs typeface="Consolas"/>
              </a:rPr>
              <a:t>router);</a:t>
            </a:r>
            <a:endParaRPr sz="18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30"/>
              <a:t> </a:t>
            </a:r>
            <a:r>
              <a:rPr dirty="0"/>
              <a:t>II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30"/>
              <a:t> </a:t>
            </a:r>
            <a:r>
              <a:rPr dirty="0"/>
              <a:t>Course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30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18</a:t>
            </a:r>
            <a:r>
              <a:rPr dirty="0" spc="-1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Single</a:t>
            </a:r>
            <a:r>
              <a:rPr dirty="0" spc="-40"/>
              <a:t> </a:t>
            </a:r>
            <a:r>
              <a:rPr dirty="0"/>
              <a:t>Page</a:t>
            </a:r>
            <a:r>
              <a:rPr dirty="0" spc="-15"/>
              <a:t> </a:t>
            </a:r>
            <a:r>
              <a:rPr dirty="0" spc="-10"/>
              <a:t>Applications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INTRODUCING</a:t>
            </a:r>
            <a:r>
              <a:rPr dirty="0" spc="-135"/>
              <a:t> </a:t>
            </a:r>
            <a:r>
              <a:rPr dirty="0" spc="-10"/>
              <a:t>COMPONENTS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1533220"/>
            <a:ext cx="10175875" cy="427037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40029" indent="-227329">
              <a:lnSpc>
                <a:spcPts val="3195"/>
              </a:lnSpc>
              <a:spcBef>
                <a:spcPts val="9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As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complexity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of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front-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ends</a:t>
            </a:r>
            <a:r>
              <a:rPr dirty="0" sz="2800" spc="-1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grows,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managing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entire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views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as</a:t>
            </a:r>
            <a:endParaRPr sz="2800">
              <a:latin typeface="Calibri"/>
              <a:cs typeface="Calibri"/>
            </a:endParaRPr>
          </a:p>
          <a:p>
            <a:pPr marL="241300">
              <a:lnSpc>
                <a:spcPts val="3195"/>
              </a:lnSpc>
            </a:pP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monoliths</a:t>
            </a:r>
            <a:r>
              <a:rPr dirty="0" sz="2800" spc="-114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becomes</a:t>
            </a:r>
            <a:r>
              <a:rPr dirty="0" sz="2800" spc="-9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rapidly</a:t>
            </a:r>
            <a:r>
              <a:rPr dirty="0" sz="2800" spc="-10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unfeasible</a:t>
            </a:r>
            <a:endParaRPr sz="2800">
              <a:latin typeface="Calibri"/>
              <a:cs typeface="Calibri"/>
            </a:endParaRPr>
          </a:p>
          <a:p>
            <a:pPr lvl="1" marL="696595" indent="-227329">
              <a:lnSpc>
                <a:spcPct val="100000"/>
              </a:lnSpc>
              <a:spcBef>
                <a:spcPts val="245"/>
              </a:spcBef>
              <a:buFont typeface="Arial MT"/>
              <a:buChar char="•"/>
              <a:tabLst>
                <a:tab pos="696595" algn="l"/>
              </a:tabLst>
            </a:pP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Codebase</a:t>
            </a:r>
            <a:r>
              <a:rPr dirty="0" sz="24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gets</a:t>
            </a:r>
            <a:r>
              <a:rPr dirty="0" sz="2400" spc="-9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hard</a:t>
            </a:r>
            <a:r>
              <a:rPr dirty="0" sz="24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4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maintain</a:t>
            </a:r>
            <a:endParaRPr sz="2400">
              <a:latin typeface="Calibri"/>
              <a:cs typeface="Calibri"/>
            </a:endParaRPr>
          </a:p>
          <a:p>
            <a:pPr lvl="1" marL="696595" indent="-227329">
              <a:lnSpc>
                <a:spcPct val="100000"/>
              </a:lnSpc>
              <a:spcBef>
                <a:spcPts val="215"/>
              </a:spcBef>
              <a:buFont typeface="Arial MT"/>
              <a:buChar char="•"/>
              <a:tabLst>
                <a:tab pos="696595" algn="l"/>
              </a:tabLst>
            </a:pP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It’s</a:t>
            </a:r>
            <a:r>
              <a:rPr dirty="0" sz="24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difficult</a:t>
            </a:r>
            <a:r>
              <a:rPr dirty="0" sz="24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4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25" b="1">
                <a:solidFill>
                  <a:srgbClr val="111F35"/>
                </a:solidFill>
                <a:latin typeface="Calibri"/>
                <a:cs typeface="Calibri"/>
              </a:rPr>
              <a:t>re-</a:t>
            </a:r>
            <a:r>
              <a:rPr dirty="0" sz="2400" b="1">
                <a:solidFill>
                  <a:srgbClr val="111F35"/>
                </a:solidFill>
                <a:latin typeface="Calibri"/>
                <a:cs typeface="Calibri"/>
              </a:rPr>
              <a:t>use</a:t>
            </a:r>
            <a:r>
              <a:rPr dirty="0" sz="2400" spc="-4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pieces</a:t>
            </a:r>
            <a:r>
              <a:rPr dirty="0" sz="24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of</a:t>
            </a:r>
            <a:r>
              <a:rPr dirty="0" sz="24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functionalities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in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20">
                <a:solidFill>
                  <a:srgbClr val="111F35"/>
                </a:solidFill>
                <a:latin typeface="Calibri"/>
                <a:cs typeface="Calibri"/>
              </a:rPr>
              <a:t>different</a:t>
            </a:r>
            <a:r>
              <a:rPr dirty="0" sz="24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views</a:t>
            </a: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3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Decomposing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UI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into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modular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components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is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way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go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Each</a:t>
            </a:r>
            <a:r>
              <a:rPr dirty="0" sz="2800" spc="-9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component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encapsulates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9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specific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functionality</a:t>
            </a:r>
            <a:endParaRPr sz="2800">
              <a:latin typeface="Calibri"/>
              <a:cs typeface="Calibri"/>
            </a:endParaRPr>
          </a:p>
          <a:p>
            <a:pPr lvl="1" marL="696595" marR="5080" indent="-227329">
              <a:lnSpc>
                <a:spcPts val="2590"/>
              </a:lnSpc>
              <a:spcBef>
                <a:spcPts val="575"/>
              </a:spcBef>
              <a:buFont typeface="Arial MT"/>
              <a:buChar char="•"/>
              <a:tabLst>
                <a:tab pos="697865" algn="l"/>
              </a:tabLst>
            </a:pP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4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component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should</a:t>
            </a:r>
            <a:r>
              <a:rPr dirty="0" sz="24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be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4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sole</a:t>
            </a:r>
            <a:r>
              <a:rPr dirty="0" sz="24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responsible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for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111F35"/>
                </a:solidFill>
                <a:latin typeface="Calibri"/>
                <a:cs typeface="Calibri"/>
              </a:rPr>
              <a:t>rendering</a:t>
            </a:r>
            <a:r>
              <a:rPr dirty="0" sz="2400" spc="-5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111F35"/>
                </a:solidFill>
                <a:latin typeface="Calibri"/>
                <a:cs typeface="Calibri"/>
              </a:rPr>
              <a:t>its</a:t>
            </a:r>
            <a:r>
              <a:rPr dirty="0" sz="2400" spc="-4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111F35"/>
                </a:solidFill>
                <a:latin typeface="Calibri"/>
                <a:cs typeface="Calibri"/>
              </a:rPr>
              <a:t>UI</a:t>
            </a:r>
            <a:r>
              <a:rPr dirty="0" sz="2400" spc="-6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111F35"/>
                </a:solidFill>
                <a:latin typeface="Calibri"/>
                <a:cs typeface="Calibri"/>
              </a:rPr>
              <a:t>(HTML)</a:t>
            </a:r>
            <a:r>
              <a:rPr dirty="0" sz="2400" spc="-5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25">
                <a:solidFill>
                  <a:srgbClr val="111F35"/>
                </a:solidFill>
                <a:latin typeface="Calibri"/>
                <a:cs typeface="Calibri"/>
              </a:rPr>
              <a:t>and </a:t>
            </a:r>
            <a:r>
              <a:rPr dirty="0" sz="2400" spc="-25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managing</a:t>
            </a:r>
            <a:r>
              <a:rPr dirty="0" sz="24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its</a:t>
            </a:r>
            <a:r>
              <a:rPr dirty="0" sz="24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111F35"/>
                </a:solidFill>
                <a:latin typeface="Calibri"/>
                <a:cs typeface="Calibri"/>
              </a:rPr>
              <a:t>internal</a:t>
            </a:r>
            <a:r>
              <a:rPr dirty="0" sz="2400" spc="-3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111F35"/>
                </a:solidFill>
                <a:latin typeface="Calibri"/>
                <a:cs typeface="Calibri"/>
              </a:rPr>
              <a:t>state</a:t>
            </a:r>
            <a:endParaRPr sz="2400">
              <a:latin typeface="Calibri"/>
              <a:cs typeface="Calibri"/>
            </a:endParaRPr>
          </a:p>
          <a:p>
            <a:pPr lvl="1" marL="696595" indent="-227329">
              <a:lnSpc>
                <a:spcPct val="100000"/>
              </a:lnSpc>
              <a:spcBef>
                <a:spcPts val="180"/>
              </a:spcBef>
              <a:buFont typeface="Arial MT"/>
              <a:buChar char="•"/>
              <a:tabLst>
                <a:tab pos="696595" algn="l"/>
              </a:tabLst>
            </a:pP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Views</a:t>
            </a:r>
            <a:r>
              <a:rPr dirty="0" sz="24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using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4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component</a:t>
            </a:r>
            <a:r>
              <a:rPr dirty="0" sz="24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should</a:t>
            </a:r>
            <a:r>
              <a:rPr dirty="0" sz="24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not</a:t>
            </a:r>
            <a:r>
              <a:rPr dirty="0" sz="24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bother</a:t>
            </a:r>
            <a:r>
              <a:rPr dirty="0" sz="24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about</a:t>
            </a:r>
            <a:r>
              <a:rPr dirty="0" sz="24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these</a:t>
            </a:r>
            <a:r>
              <a:rPr dirty="0" sz="24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details</a:t>
            </a: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3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Components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can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then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be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easily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re-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used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multiple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views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30"/>
              <a:t> </a:t>
            </a:r>
            <a:r>
              <a:rPr dirty="0"/>
              <a:t>II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30"/>
              <a:t> </a:t>
            </a:r>
            <a:r>
              <a:rPr dirty="0"/>
              <a:t>Course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30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18</a:t>
            </a:r>
            <a:r>
              <a:rPr dirty="0" spc="-1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Single</a:t>
            </a:r>
            <a:r>
              <a:rPr dirty="0" spc="-40"/>
              <a:t> </a:t>
            </a:r>
            <a:r>
              <a:rPr dirty="0"/>
              <a:t>Page</a:t>
            </a:r>
            <a:r>
              <a:rPr dirty="0" spc="-15"/>
              <a:t> </a:t>
            </a:r>
            <a:r>
              <a:rPr dirty="0" spc="-10"/>
              <a:t>Applications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COMPONENTS</a:t>
            </a:r>
          </a:p>
        </p:txBody>
      </p:sp>
      <p:sp>
        <p:nvSpPr>
          <p:cNvPr id="3" name="object 3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984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dirty="0" spc="-10"/>
              <a:t>Components</a:t>
            </a:r>
            <a:r>
              <a:rPr dirty="0" spc="-30"/>
              <a:t> </a:t>
            </a:r>
            <a:r>
              <a:rPr dirty="0"/>
              <a:t>play</a:t>
            </a:r>
            <a:r>
              <a:rPr dirty="0" spc="-55"/>
              <a:t> </a:t>
            </a:r>
            <a:r>
              <a:rPr dirty="0"/>
              <a:t>a</a:t>
            </a:r>
            <a:r>
              <a:rPr dirty="0" spc="-45"/>
              <a:t> </a:t>
            </a:r>
            <a:r>
              <a:rPr dirty="0"/>
              <a:t>central</a:t>
            </a:r>
            <a:r>
              <a:rPr dirty="0" spc="-40"/>
              <a:t> </a:t>
            </a:r>
            <a:r>
              <a:rPr dirty="0"/>
              <a:t>role</a:t>
            </a:r>
            <a:r>
              <a:rPr dirty="0" spc="-65"/>
              <a:t> </a:t>
            </a:r>
            <a:r>
              <a:rPr dirty="0"/>
              <a:t>in</a:t>
            </a:r>
            <a:r>
              <a:rPr dirty="0" spc="-40"/>
              <a:t> </a:t>
            </a:r>
            <a:r>
              <a:rPr dirty="0"/>
              <a:t>all</a:t>
            </a:r>
            <a:r>
              <a:rPr dirty="0" spc="-75"/>
              <a:t> </a:t>
            </a:r>
            <a:r>
              <a:rPr dirty="0" spc="-30"/>
              <a:t>front-</a:t>
            </a:r>
            <a:r>
              <a:rPr dirty="0"/>
              <a:t>end</a:t>
            </a:r>
            <a:r>
              <a:rPr dirty="0" spc="-30"/>
              <a:t> </a:t>
            </a:r>
            <a:r>
              <a:rPr dirty="0" spc="-10"/>
              <a:t>frameworks</a:t>
            </a:r>
            <a:r>
              <a:rPr dirty="0" spc="-55"/>
              <a:t> </a:t>
            </a:r>
            <a:r>
              <a:rPr dirty="0"/>
              <a:t>(we’ll</a:t>
            </a:r>
            <a:r>
              <a:rPr dirty="0" spc="-60"/>
              <a:t> </a:t>
            </a:r>
            <a:r>
              <a:rPr dirty="0" spc="-10"/>
              <a:t>see!)</a:t>
            </a:r>
          </a:p>
          <a:p>
            <a:pPr marL="240029" indent="-227329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/>
              <a:t>Key</a:t>
            </a:r>
            <a:r>
              <a:rPr dirty="0" spc="-100"/>
              <a:t> </a:t>
            </a:r>
            <a:r>
              <a:rPr dirty="0" spc="-10"/>
              <a:t>characteristics</a:t>
            </a:r>
            <a:r>
              <a:rPr dirty="0" spc="-60"/>
              <a:t> </a:t>
            </a:r>
            <a:r>
              <a:rPr dirty="0"/>
              <a:t>of</a:t>
            </a:r>
            <a:r>
              <a:rPr dirty="0" spc="-80"/>
              <a:t> </a:t>
            </a:r>
            <a:r>
              <a:rPr dirty="0" spc="-10"/>
              <a:t>components</a:t>
            </a:r>
            <a:r>
              <a:rPr dirty="0" spc="-50"/>
              <a:t> </a:t>
            </a:r>
            <a:r>
              <a:rPr dirty="0" spc="-10"/>
              <a:t>include:</a:t>
            </a:r>
          </a:p>
          <a:p>
            <a:pPr lvl="1" marL="696595" marR="146685" indent="-227329">
              <a:lnSpc>
                <a:spcPts val="2590"/>
              </a:lnSpc>
              <a:spcBef>
                <a:spcPts val="560"/>
              </a:spcBef>
              <a:buFont typeface="Arial MT"/>
              <a:buChar char="•"/>
              <a:tabLst>
                <a:tab pos="697865" algn="l"/>
              </a:tabLst>
            </a:pPr>
            <a:r>
              <a:rPr dirty="0" sz="2400" b="1">
                <a:solidFill>
                  <a:srgbClr val="111F35"/>
                </a:solidFill>
                <a:latin typeface="Calibri"/>
                <a:cs typeface="Calibri"/>
              </a:rPr>
              <a:t>Modularity:</a:t>
            </a:r>
            <a:r>
              <a:rPr dirty="0" sz="2400" spc="-5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they</a:t>
            </a:r>
            <a:r>
              <a:rPr dirty="0" sz="24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should</a:t>
            </a:r>
            <a:r>
              <a:rPr dirty="0" sz="24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be</a:t>
            </a:r>
            <a:r>
              <a:rPr dirty="0" sz="24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20">
                <a:solidFill>
                  <a:srgbClr val="111F35"/>
                </a:solidFill>
                <a:latin typeface="Calibri"/>
                <a:cs typeface="Calibri"/>
              </a:rPr>
              <a:t>self-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contained,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and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111F35"/>
                </a:solidFill>
                <a:latin typeface="Calibri"/>
                <a:cs typeface="Calibri"/>
              </a:rPr>
              <a:t>encapsulate</a:t>
            </a:r>
            <a:r>
              <a:rPr dirty="0" sz="2400" spc="-3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4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specific</a:t>
            </a:r>
            <a:r>
              <a:rPr dirty="0" sz="24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piece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of</a:t>
            </a:r>
            <a:r>
              <a:rPr dirty="0" sz="24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functionality</a:t>
            </a:r>
            <a:endParaRPr sz="2400">
              <a:latin typeface="Calibri"/>
              <a:cs typeface="Calibri"/>
            </a:endParaRPr>
          </a:p>
          <a:p>
            <a:pPr lvl="1" marL="696595" indent="-227329">
              <a:lnSpc>
                <a:spcPts val="2735"/>
              </a:lnSpc>
              <a:spcBef>
                <a:spcPts val="180"/>
              </a:spcBef>
              <a:buFont typeface="Arial MT"/>
              <a:buChar char="•"/>
              <a:tabLst>
                <a:tab pos="696595" algn="l"/>
              </a:tabLst>
            </a:pPr>
            <a:r>
              <a:rPr dirty="0" sz="2400" b="1">
                <a:solidFill>
                  <a:srgbClr val="111F35"/>
                </a:solidFill>
                <a:latin typeface="Calibri"/>
                <a:cs typeface="Calibri"/>
              </a:rPr>
              <a:t>Encapsulation:</a:t>
            </a:r>
            <a:r>
              <a:rPr dirty="0" sz="2400" spc="-3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they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should</a:t>
            </a:r>
            <a:r>
              <a:rPr dirty="0" sz="24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encapsulate</a:t>
            </a:r>
            <a:r>
              <a:rPr dirty="0" sz="24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their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own</a:t>
            </a:r>
            <a:r>
              <a:rPr dirty="0" sz="24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business</a:t>
            </a:r>
            <a:r>
              <a:rPr dirty="0" sz="24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logic,</a:t>
            </a:r>
            <a:r>
              <a:rPr dirty="0" sz="24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state,</a:t>
            </a:r>
            <a:endParaRPr sz="2400">
              <a:latin typeface="Calibri"/>
              <a:cs typeface="Calibri"/>
            </a:endParaRPr>
          </a:p>
          <a:p>
            <a:pPr marL="697865">
              <a:lnSpc>
                <a:spcPts val="2735"/>
              </a:lnSpc>
            </a:pPr>
            <a:r>
              <a:rPr dirty="0" sz="2400"/>
              <a:t>layout</a:t>
            </a:r>
            <a:r>
              <a:rPr dirty="0" sz="2400" spc="-85"/>
              <a:t> </a:t>
            </a:r>
            <a:r>
              <a:rPr dirty="0" sz="2400"/>
              <a:t>and</a:t>
            </a:r>
            <a:r>
              <a:rPr dirty="0" sz="2400" spc="-70"/>
              <a:t> </a:t>
            </a:r>
            <a:r>
              <a:rPr dirty="0" sz="2400" spc="-10"/>
              <a:t>styles</a:t>
            </a:r>
            <a:endParaRPr sz="2400"/>
          </a:p>
          <a:p>
            <a:pPr lvl="1" marL="696595" marR="5080" indent="-227329">
              <a:lnSpc>
                <a:spcPts val="2590"/>
              </a:lnSpc>
              <a:spcBef>
                <a:spcPts val="545"/>
              </a:spcBef>
              <a:buFont typeface="Arial MT"/>
              <a:buChar char="•"/>
              <a:tabLst>
                <a:tab pos="697865" algn="l"/>
              </a:tabLst>
            </a:pPr>
            <a:r>
              <a:rPr dirty="0" sz="2400" spc="-10" b="1">
                <a:solidFill>
                  <a:srgbClr val="111F35"/>
                </a:solidFill>
                <a:latin typeface="Calibri"/>
                <a:cs typeface="Calibri"/>
              </a:rPr>
              <a:t>Reusability:</a:t>
            </a:r>
            <a:r>
              <a:rPr dirty="0" sz="2400" spc="-4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they</a:t>
            </a:r>
            <a:r>
              <a:rPr dirty="0" sz="24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should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be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designed</a:t>
            </a:r>
            <a:r>
              <a:rPr dirty="0" sz="2400" spc="-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4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be</a:t>
            </a:r>
            <a:r>
              <a:rPr dirty="0" sz="24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30">
                <a:solidFill>
                  <a:srgbClr val="111F35"/>
                </a:solidFill>
                <a:latin typeface="Calibri"/>
                <a:cs typeface="Calibri"/>
              </a:rPr>
              <a:t>re-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usable</a:t>
            </a:r>
            <a:r>
              <a:rPr dirty="0" sz="24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across</a:t>
            </a:r>
            <a:r>
              <a:rPr dirty="0" sz="24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20">
                <a:solidFill>
                  <a:srgbClr val="111F35"/>
                </a:solidFill>
                <a:latin typeface="Calibri"/>
                <a:cs typeface="Calibri"/>
              </a:rPr>
              <a:t>different</a:t>
            </a:r>
            <a:r>
              <a:rPr dirty="0" sz="24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parts</a:t>
            </a:r>
            <a:r>
              <a:rPr dirty="0" sz="24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25">
                <a:solidFill>
                  <a:srgbClr val="111F35"/>
                </a:solidFill>
                <a:latin typeface="Calibri"/>
                <a:cs typeface="Calibri"/>
              </a:rPr>
              <a:t>of </a:t>
            </a:r>
            <a:r>
              <a:rPr dirty="0" sz="2400" spc="-25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4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25">
                <a:solidFill>
                  <a:srgbClr val="111F35"/>
                </a:solidFill>
                <a:latin typeface="Calibri"/>
                <a:cs typeface="Calibri"/>
              </a:rPr>
              <a:t>app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62050" y="557529"/>
            <a:ext cx="9802495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40"/>
              <a:t>CREATING</a:t>
            </a:r>
            <a:r>
              <a:rPr dirty="0" spc="-20"/>
              <a:t> </a:t>
            </a:r>
            <a:r>
              <a:rPr dirty="0" spc="120"/>
              <a:t>A</a:t>
            </a:r>
            <a:r>
              <a:rPr dirty="0" spc="-30"/>
              <a:t> </a:t>
            </a:r>
            <a:r>
              <a:rPr dirty="0" spc="55"/>
              <a:t>COMPONENT</a:t>
            </a:r>
            <a:r>
              <a:rPr dirty="0" spc="-15"/>
              <a:t> </a:t>
            </a:r>
            <a:r>
              <a:rPr dirty="0"/>
              <a:t>FROM</a:t>
            </a:r>
            <a:r>
              <a:rPr dirty="0" spc="-20"/>
              <a:t> </a:t>
            </a:r>
            <a:r>
              <a:rPr dirty="0" spc="-35"/>
              <a:t>SCRATCH</a:t>
            </a:r>
          </a:p>
        </p:txBody>
      </p:sp>
      <p:sp>
        <p:nvSpPr>
          <p:cNvPr id="3" name="object 3" descr=""/>
          <p:cNvSpPr/>
          <p:nvPr/>
        </p:nvSpPr>
        <p:spPr>
          <a:xfrm>
            <a:off x="882396" y="1609344"/>
            <a:ext cx="10427335" cy="4525010"/>
          </a:xfrm>
          <a:custGeom>
            <a:avLst/>
            <a:gdLst/>
            <a:ahLst/>
            <a:cxnLst/>
            <a:rect l="l" t="t" r="r" b="b"/>
            <a:pathLst>
              <a:path w="10427335" h="4525010">
                <a:moveTo>
                  <a:pt x="0" y="4524756"/>
                </a:moveTo>
                <a:lnTo>
                  <a:pt x="10427208" y="4524756"/>
                </a:lnTo>
                <a:lnTo>
                  <a:pt x="10427208" y="0"/>
                </a:lnTo>
                <a:lnTo>
                  <a:pt x="0" y="0"/>
                </a:lnTo>
                <a:lnTo>
                  <a:pt x="0" y="4524756"/>
                </a:lnTo>
                <a:close/>
              </a:path>
            </a:pathLst>
          </a:custGeom>
          <a:ln w="12700">
            <a:solidFill>
              <a:srgbClr val="111F3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962050" y="1628902"/>
            <a:ext cx="7296784" cy="19462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//</a:t>
            </a:r>
            <a:r>
              <a:rPr dirty="0" sz="1800" spc="-2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New</a:t>
            </a:r>
            <a:r>
              <a:rPr dirty="0" sz="1800" spc="-2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8000"/>
                </a:solidFill>
                <a:latin typeface="Consolas"/>
                <a:cs typeface="Consolas"/>
              </a:rPr>
              <a:t>component</a:t>
            </a:r>
            <a:endParaRPr sz="1800">
              <a:latin typeface="Consolas"/>
              <a:cs typeface="Consolas"/>
            </a:endParaRPr>
          </a:p>
          <a:p>
            <a:pPr marL="262255" marR="2888615" indent="-250190">
              <a:lnSpc>
                <a:spcPct val="100000"/>
              </a:lnSpc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class</a:t>
            </a:r>
            <a:r>
              <a:rPr dirty="0" sz="1800" spc="-3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Counter</a:t>
            </a:r>
            <a:r>
              <a:rPr dirty="0" sz="1800" spc="-40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extends</a:t>
            </a:r>
            <a:r>
              <a:rPr dirty="0" sz="1800" spc="-4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HTMLElement</a:t>
            </a:r>
            <a:r>
              <a:rPr dirty="0" sz="1800" spc="-35">
                <a:latin typeface="Consolas"/>
                <a:cs typeface="Consolas"/>
              </a:rPr>
              <a:t> </a:t>
            </a:r>
            <a:r>
              <a:rPr dirty="0" sz="1800" spc="-50">
                <a:latin typeface="Consolas"/>
                <a:cs typeface="Consolas"/>
              </a:rPr>
              <a:t>{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constructor</a:t>
            </a:r>
            <a:r>
              <a:rPr dirty="0" sz="1800">
                <a:latin typeface="Consolas"/>
                <a:cs typeface="Consolas"/>
              </a:rPr>
              <a:t>()</a:t>
            </a:r>
            <a:r>
              <a:rPr dirty="0" sz="1800" spc="-65">
                <a:latin typeface="Consolas"/>
                <a:cs typeface="Consolas"/>
              </a:rPr>
              <a:t> </a:t>
            </a:r>
            <a:r>
              <a:rPr dirty="0" sz="1800" spc="-50">
                <a:latin typeface="Consolas"/>
                <a:cs typeface="Consolas"/>
              </a:rPr>
              <a:t>{</a:t>
            </a:r>
            <a:endParaRPr sz="1800">
              <a:latin typeface="Consolas"/>
              <a:cs typeface="Consolas"/>
            </a:endParaRPr>
          </a:p>
          <a:p>
            <a:pPr marL="512445">
              <a:lnSpc>
                <a:spcPct val="100000"/>
              </a:lnSpc>
            </a:pPr>
            <a:r>
              <a:rPr dirty="0" sz="1800" spc="-10">
                <a:solidFill>
                  <a:srgbClr val="0000FF"/>
                </a:solidFill>
                <a:latin typeface="Consolas"/>
                <a:cs typeface="Consolas"/>
              </a:rPr>
              <a:t>super</a:t>
            </a:r>
            <a:r>
              <a:rPr dirty="0" sz="1800" spc="-10">
                <a:latin typeface="Consolas"/>
                <a:cs typeface="Consolas"/>
              </a:rPr>
              <a:t>();</a:t>
            </a:r>
            <a:endParaRPr sz="1800">
              <a:latin typeface="Consolas"/>
              <a:cs typeface="Consolas"/>
            </a:endParaRPr>
          </a:p>
          <a:p>
            <a:pPr marL="512445" marR="5080">
              <a:lnSpc>
                <a:spcPct val="100000"/>
              </a:lnSpc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this</a:t>
            </a:r>
            <a:r>
              <a:rPr dirty="0" sz="1800">
                <a:latin typeface="Consolas"/>
                <a:cs typeface="Consolas"/>
              </a:rPr>
              <a:t>.innerHTML</a:t>
            </a:r>
            <a:r>
              <a:rPr dirty="0" sz="1800" spc="-4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`&lt;button&gt;Clicks</a:t>
            </a:r>
            <a:r>
              <a:rPr dirty="0" sz="1800" spc="-3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:</a:t>
            </a:r>
            <a:r>
              <a:rPr dirty="0" sz="1800" spc="-3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00FF"/>
                </a:solidFill>
                <a:latin typeface="Consolas"/>
                <a:cs typeface="Consolas"/>
              </a:rPr>
              <a:t>${</a:t>
            </a:r>
            <a:r>
              <a:rPr dirty="0" sz="1800" spc="-10">
                <a:latin typeface="Consolas"/>
                <a:cs typeface="Consolas"/>
              </a:rPr>
              <a:t>count</a:t>
            </a:r>
            <a:r>
              <a:rPr dirty="0" sz="1800" spc="-10">
                <a:solidFill>
                  <a:srgbClr val="0000FF"/>
                </a:solidFill>
                <a:latin typeface="Consolas"/>
                <a:cs typeface="Consolas"/>
              </a:rPr>
              <a:t>}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&lt;/button&gt;`</a:t>
            </a:r>
            <a:r>
              <a:rPr dirty="0" sz="1800" spc="-10">
                <a:latin typeface="Consolas"/>
                <a:cs typeface="Consolas"/>
              </a:rPr>
              <a:t>;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let</a:t>
            </a:r>
            <a:r>
              <a:rPr dirty="0" sz="1800" spc="-2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btn</a:t>
            </a:r>
            <a:r>
              <a:rPr dirty="0" sz="1800" spc="-1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 spc="-20"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00FF"/>
                </a:solidFill>
                <a:latin typeface="Consolas"/>
                <a:cs typeface="Consolas"/>
              </a:rPr>
              <a:t>this</a:t>
            </a:r>
            <a:r>
              <a:rPr dirty="0" sz="1800" spc="-10">
                <a:latin typeface="Consolas"/>
                <a:cs typeface="Consolas"/>
              </a:rPr>
              <a:t>.querySelector(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"button"</a:t>
            </a:r>
            <a:r>
              <a:rPr dirty="0" sz="1800" spc="-10">
                <a:latin typeface="Consolas"/>
                <a:cs typeface="Consolas"/>
              </a:rPr>
              <a:t>);</a:t>
            </a:r>
            <a:endParaRPr sz="1800">
              <a:latin typeface="Consolas"/>
              <a:cs typeface="Consolas"/>
            </a:endParaRPr>
          </a:p>
          <a:p>
            <a:pPr marL="512445">
              <a:lnSpc>
                <a:spcPct val="100000"/>
              </a:lnSpc>
            </a:pP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//</a:t>
            </a:r>
            <a:r>
              <a:rPr dirty="0" sz="1800" spc="-1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8000"/>
                </a:solidFill>
                <a:latin typeface="Consolas"/>
                <a:cs typeface="Consolas"/>
              </a:rPr>
              <a:t>State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461897" y="3549522"/>
            <a:ext cx="5040630" cy="84899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onsolas"/>
                <a:cs typeface="Consolas"/>
              </a:rPr>
              <a:t>btn.onclick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 spc="-1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()</a:t>
            </a:r>
            <a:r>
              <a:rPr dirty="0" sz="1800" spc="-1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=&gt;</a:t>
            </a:r>
            <a:r>
              <a:rPr dirty="0" sz="1800" spc="-1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 spc="-50">
                <a:latin typeface="Consolas"/>
                <a:cs typeface="Consolas"/>
              </a:rPr>
              <a:t>{</a:t>
            </a:r>
            <a:endParaRPr sz="1800">
              <a:latin typeface="Consolas"/>
              <a:cs typeface="Consolas"/>
            </a:endParaRPr>
          </a:p>
          <a:p>
            <a:pPr marL="263525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btn.innerHTML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 spc="-3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"Clicks</a:t>
            </a:r>
            <a:r>
              <a:rPr dirty="0" sz="1800" spc="-2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:</a:t>
            </a:r>
            <a:r>
              <a:rPr dirty="0" sz="1800" spc="-3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"</a:t>
            </a:r>
            <a:r>
              <a:rPr dirty="0" sz="1800" spc="-3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+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 spc="-10">
                <a:latin typeface="Consolas"/>
                <a:cs typeface="Consolas"/>
              </a:rPr>
              <a:t>++count;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dirty="0" sz="1800" spc="-25">
                <a:latin typeface="Consolas"/>
                <a:cs typeface="Consolas"/>
              </a:rPr>
              <a:t>};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211986" y="4372736"/>
            <a:ext cx="15113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962050" y="4647057"/>
            <a:ext cx="15113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962050" y="5195392"/>
            <a:ext cx="1780539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let</a:t>
            </a:r>
            <a:r>
              <a:rPr dirty="0" sz="1800" spc="-3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count</a:t>
            </a:r>
            <a:r>
              <a:rPr dirty="0" sz="1800" spc="-2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 spc="-10">
                <a:latin typeface="Consolas"/>
                <a:cs typeface="Consolas"/>
              </a:rPr>
              <a:t> </a:t>
            </a:r>
            <a:r>
              <a:rPr dirty="0" sz="1800" spc="-25">
                <a:solidFill>
                  <a:srgbClr val="098557"/>
                </a:solidFill>
                <a:latin typeface="Consolas"/>
                <a:cs typeface="Consolas"/>
              </a:rPr>
              <a:t>0</a:t>
            </a:r>
            <a:r>
              <a:rPr dirty="0" sz="1800" spc="-25">
                <a:latin typeface="Consolas"/>
                <a:cs typeface="Consolas"/>
              </a:rPr>
              <a:t>;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962050" y="5744667"/>
            <a:ext cx="604202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latin typeface="Consolas"/>
                <a:cs typeface="Consolas"/>
              </a:rPr>
              <a:t>customElements.define(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"click-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counter"</a:t>
            </a:r>
            <a:r>
              <a:rPr dirty="0" sz="1800">
                <a:latin typeface="Consolas"/>
                <a:cs typeface="Consolas"/>
              </a:rPr>
              <a:t>,</a:t>
            </a:r>
            <a:r>
              <a:rPr dirty="0" sz="1800" spc="125">
                <a:latin typeface="Consolas"/>
                <a:cs typeface="Consolas"/>
              </a:rPr>
              <a:t> </a:t>
            </a:r>
            <a:r>
              <a:rPr dirty="0" sz="1800" spc="-10">
                <a:latin typeface="Consolas"/>
                <a:cs typeface="Consolas"/>
              </a:rPr>
              <a:t>Counter);</a:t>
            </a:r>
            <a:endParaRPr sz="1800">
              <a:latin typeface="Consolas"/>
              <a:cs typeface="Consolas"/>
            </a:endParaRPr>
          </a:p>
        </p:txBody>
      </p:sp>
      <p:grpSp>
        <p:nvGrpSpPr>
          <p:cNvPr id="10" name="object 10" descr=""/>
          <p:cNvGrpSpPr/>
          <p:nvPr/>
        </p:nvGrpSpPr>
        <p:grpSpPr>
          <a:xfrm>
            <a:off x="7613713" y="3652837"/>
            <a:ext cx="3552825" cy="2318385"/>
            <a:chOff x="7613713" y="3652837"/>
            <a:chExt cx="3552825" cy="2318385"/>
          </a:xfrm>
        </p:grpSpPr>
        <p:sp>
          <p:nvSpPr>
            <p:cNvPr id="11" name="object 11" descr=""/>
            <p:cNvSpPr/>
            <p:nvPr/>
          </p:nvSpPr>
          <p:spPr>
            <a:xfrm>
              <a:off x="7618476" y="3657600"/>
              <a:ext cx="3543300" cy="2308860"/>
            </a:xfrm>
            <a:custGeom>
              <a:avLst/>
              <a:gdLst/>
              <a:ahLst/>
              <a:cxnLst/>
              <a:rect l="l" t="t" r="r" b="b"/>
              <a:pathLst>
                <a:path w="3543300" h="2308860">
                  <a:moveTo>
                    <a:pt x="3543300" y="0"/>
                  </a:moveTo>
                  <a:lnTo>
                    <a:pt x="0" y="0"/>
                  </a:lnTo>
                  <a:lnTo>
                    <a:pt x="0" y="2308860"/>
                  </a:lnTo>
                  <a:lnTo>
                    <a:pt x="3543300" y="2308860"/>
                  </a:lnTo>
                  <a:lnTo>
                    <a:pt x="3543300" y="0"/>
                  </a:lnTo>
                  <a:close/>
                </a:path>
              </a:pathLst>
            </a:custGeom>
            <a:solidFill>
              <a:srgbClr val="FBF5D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7618476" y="3657600"/>
              <a:ext cx="3543300" cy="2308860"/>
            </a:xfrm>
            <a:custGeom>
              <a:avLst/>
              <a:gdLst/>
              <a:ahLst/>
              <a:cxnLst/>
              <a:rect l="l" t="t" r="r" b="b"/>
              <a:pathLst>
                <a:path w="3543300" h="2308860">
                  <a:moveTo>
                    <a:pt x="0" y="2308860"/>
                  </a:moveTo>
                  <a:lnTo>
                    <a:pt x="3543300" y="2308860"/>
                  </a:lnTo>
                  <a:lnTo>
                    <a:pt x="3543300" y="0"/>
                  </a:lnTo>
                  <a:lnTo>
                    <a:pt x="0" y="0"/>
                  </a:lnTo>
                  <a:lnTo>
                    <a:pt x="0" y="2308860"/>
                  </a:lnTo>
                  <a:close/>
                </a:path>
              </a:pathLst>
            </a:custGeom>
            <a:ln w="9525">
              <a:solidFill>
                <a:srgbClr val="F1CD5D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 descr=""/>
          <p:cNvSpPr txBox="1"/>
          <p:nvPr/>
        </p:nvSpPr>
        <p:spPr>
          <a:xfrm>
            <a:off x="7697469" y="3676269"/>
            <a:ext cx="3386454" cy="11233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800" spc="-20">
                <a:solidFill>
                  <a:srgbClr val="111F35"/>
                </a:solidFill>
                <a:latin typeface="Calibri"/>
                <a:cs typeface="Calibri"/>
              </a:rPr>
              <a:t>We’re</a:t>
            </a:r>
            <a:r>
              <a:rPr dirty="0" sz="1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defining</a:t>
            </a:r>
            <a:r>
              <a:rPr dirty="0" sz="1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1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new</a:t>
            </a:r>
            <a:r>
              <a:rPr dirty="0" sz="1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111F35"/>
                </a:solidFill>
                <a:latin typeface="Calibri"/>
                <a:cs typeface="Calibri"/>
              </a:rPr>
              <a:t>HTMLElement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called</a:t>
            </a:r>
            <a:r>
              <a:rPr dirty="0" sz="1800" spc="-1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A21515"/>
                </a:solidFill>
                <a:latin typeface="Consolas"/>
                <a:cs typeface="Consolas"/>
              </a:rPr>
              <a:t>&lt;click-</a:t>
            </a:r>
            <a:r>
              <a:rPr dirty="0" sz="1600">
                <a:solidFill>
                  <a:srgbClr val="A21515"/>
                </a:solidFill>
                <a:latin typeface="Consolas"/>
                <a:cs typeface="Consolas"/>
              </a:rPr>
              <a:t>counter&gt;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,</a:t>
            </a:r>
            <a:r>
              <a:rPr dirty="0" sz="1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111F35"/>
                </a:solidFill>
                <a:latin typeface="Calibri"/>
                <a:cs typeface="Calibri"/>
              </a:rPr>
              <a:t>associated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with</a:t>
            </a:r>
            <a:r>
              <a:rPr dirty="0" sz="1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1800" spc="-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111F35"/>
                </a:solidFill>
                <a:latin typeface="Consolas"/>
                <a:cs typeface="Consolas"/>
              </a:rPr>
              <a:t>Counter</a:t>
            </a:r>
            <a:r>
              <a:rPr dirty="0" sz="1600" spc="-475">
                <a:solidFill>
                  <a:srgbClr val="111F3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class,</a:t>
            </a:r>
            <a:r>
              <a:rPr dirty="0" sz="1800" spc="-2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using</a:t>
            </a:r>
            <a:r>
              <a:rPr dirty="0" sz="1800" spc="-1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 spc="-25">
                <a:solidFill>
                  <a:srgbClr val="111F35"/>
                </a:solidFill>
                <a:latin typeface="Calibri"/>
                <a:cs typeface="Calibri"/>
              </a:rPr>
              <a:t>the </a:t>
            </a:r>
            <a:r>
              <a:rPr dirty="0" u="sng" sz="180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2"/>
              </a:rPr>
              <a:t>Web</a:t>
            </a:r>
            <a:r>
              <a:rPr dirty="0" u="sng" sz="1800" spc="-105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2"/>
              </a:rPr>
              <a:t> </a:t>
            </a:r>
            <a:r>
              <a:rPr dirty="0" u="sng" sz="180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2"/>
              </a:rPr>
              <a:t>Components</a:t>
            </a:r>
            <a:r>
              <a:rPr dirty="0" u="sng" sz="1800" spc="-85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2"/>
              </a:rPr>
              <a:t> </a:t>
            </a:r>
            <a:r>
              <a:rPr dirty="0" u="sng" sz="1800" spc="-2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2"/>
              </a:rPr>
              <a:t>API</a:t>
            </a:r>
            <a:r>
              <a:rPr dirty="0" sz="1800" spc="-20">
                <a:solidFill>
                  <a:srgbClr val="111F35"/>
                </a:solidFill>
                <a:latin typeface="Calibri"/>
                <a:cs typeface="Calibri"/>
              </a:rPr>
              <a:t>!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7697469" y="5048250"/>
            <a:ext cx="3098165" cy="8483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1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browser</a:t>
            </a:r>
            <a:r>
              <a:rPr dirty="0" sz="1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will</a:t>
            </a:r>
            <a:r>
              <a:rPr dirty="0" sz="1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use</a:t>
            </a:r>
            <a:r>
              <a:rPr dirty="0" sz="1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1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111F35"/>
                </a:solidFill>
                <a:latin typeface="Calibri"/>
                <a:cs typeface="Calibri"/>
              </a:rPr>
              <a:t>Counter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class</a:t>
            </a:r>
            <a:r>
              <a:rPr dirty="0" sz="1800" spc="-1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when a</a:t>
            </a:r>
            <a:r>
              <a:rPr dirty="0" sz="1800" spc="-1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A21515"/>
                </a:solidFill>
                <a:latin typeface="Consolas"/>
                <a:cs typeface="Consolas"/>
              </a:rPr>
              <a:t>&lt;click-counter&gt;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element</a:t>
            </a:r>
            <a:r>
              <a:rPr dirty="0" sz="1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is</a:t>
            </a:r>
            <a:r>
              <a:rPr dirty="0" sz="1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found</a:t>
            </a:r>
            <a:r>
              <a:rPr dirty="0" sz="1800" spc="-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in</a:t>
            </a:r>
            <a:r>
              <a:rPr dirty="0" sz="1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1800" spc="-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 spc="-20">
                <a:solidFill>
                  <a:srgbClr val="111F35"/>
                </a:solidFill>
                <a:latin typeface="Calibri"/>
                <a:cs typeface="Calibri"/>
              </a:rPr>
              <a:t>DOM!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15" name="object 1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561393" y="3871379"/>
            <a:ext cx="2466911" cy="2795612"/>
          </a:xfrm>
          <a:prstGeom prst="rect">
            <a:avLst/>
          </a:prstGeom>
        </p:spPr>
      </p:pic>
      <p:sp>
        <p:nvSpPr>
          <p:cNvPr id="16" name="object 1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30"/>
              <a:t> </a:t>
            </a:r>
            <a:r>
              <a:rPr dirty="0"/>
              <a:t>II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30"/>
              <a:t> </a:t>
            </a:r>
            <a:r>
              <a:rPr dirty="0"/>
              <a:t>Course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30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18</a:t>
            </a:r>
            <a:r>
              <a:rPr dirty="0" spc="-1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Single</a:t>
            </a:r>
            <a:r>
              <a:rPr dirty="0" spc="-40"/>
              <a:t> </a:t>
            </a:r>
            <a:r>
              <a:rPr dirty="0"/>
              <a:t>Page</a:t>
            </a:r>
            <a:r>
              <a:rPr dirty="0" spc="-15"/>
              <a:t> </a:t>
            </a:r>
            <a:r>
              <a:rPr dirty="0" spc="-10"/>
              <a:t>Applications</a:t>
            </a:r>
          </a:p>
        </p:txBody>
      </p:sp>
      <p:sp>
        <p:nvSpPr>
          <p:cNvPr id="17" name="object 1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USING</a:t>
            </a:r>
            <a:r>
              <a:rPr dirty="0" spc="130"/>
              <a:t> </a:t>
            </a:r>
            <a:r>
              <a:rPr dirty="0" spc="120"/>
              <a:t>A </a:t>
            </a:r>
            <a:r>
              <a:rPr dirty="0" spc="45"/>
              <a:t>COMPONENT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882396" y="1347216"/>
            <a:ext cx="4697095" cy="2032000"/>
          </a:xfrm>
          <a:prstGeom prst="rect">
            <a:avLst/>
          </a:prstGeom>
          <a:ln w="12700">
            <a:solidFill>
              <a:srgbClr val="111F35"/>
            </a:solidFill>
          </a:ln>
        </p:spPr>
        <p:txBody>
          <a:bodyPr wrap="square" lIns="0" tIns="31750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250"/>
              </a:spcBef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import</a:t>
            </a:r>
            <a:r>
              <a:rPr dirty="0" sz="1800" spc="-4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"../components/counter.js"</a:t>
            </a:r>
            <a:r>
              <a:rPr dirty="0" sz="1800" spc="-10">
                <a:latin typeface="Consolas"/>
                <a:cs typeface="Consolas"/>
              </a:rPr>
              <a:t>;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  <a:spcBef>
                <a:spcPts val="5"/>
              </a:spcBef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export</a:t>
            </a:r>
            <a:r>
              <a:rPr dirty="0" sz="1800" spc="-4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default</a:t>
            </a:r>
            <a:r>
              <a:rPr dirty="0" sz="1800" spc="-2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()</a:t>
            </a:r>
            <a:r>
              <a:rPr dirty="0" sz="1800" spc="-1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=&gt;</a:t>
            </a:r>
            <a:r>
              <a:rPr dirty="0" sz="1800" spc="-1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8000"/>
                </a:solidFill>
                <a:latin typeface="Consolas"/>
                <a:cs typeface="Consolas"/>
              </a:rPr>
              <a:t>/*html*/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`</a:t>
            </a:r>
            <a:endParaRPr sz="1800">
              <a:latin typeface="Consolas"/>
              <a:cs typeface="Consolas"/>
            </a:endParaRPr>
          </a:p>
          <a:p>
            <a:pPr marL="591820">
              <a:lnSpc>
                <a:spcPct val="100000"/>
              </a:lnSpc>
            </a:pP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&lt;h1&gt;Home&lt;/h1&gt;</a:t>
            </a:r>
            <a:endParaRPr sz="1800">
              <a:latin typeface="Consolas"/>
              <a:cs typeface="Consolas"/>
            </a:endParaRPr>
          </a:p>
          <a:p>
            <a:pPr marL="591820">
              <a:lnSpc>
                <a:spcPct val="100000"/>
              </a:lnSpc>
            </a:pP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&lt;p&gt;Simple</a:t>
            </a:r>
            <a:r>
              <a:rPr dirty="0" sz="1800" spc="-45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click</a:t>
            </a:r>
            <a:r>
              <a:rPr dirty="0" sz="1800" spc="-25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counter&lt;/p&gt;</a:t>
            </a:r>
            <a:endParaRPr sz="1800">
              <a:latin typeface="Consolas"/>
              <a:cs typeface="Consolas"/>
            </a:endParaRPr>
          </a:p>
          <a:p>
            <a:pPr marL="591820">
              <a:lnSpc>
                <a:spcPct val="100000"/>
              </a:lnSpc>
            </a:pP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&lt;click-counter&gt;&lt;/click-counter&gt;</a:t>
            </a: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dirty="0" sz="1800" spc="-25">
                <a:solidFill>
                  <a:srgbClr val="A21515"/>
                </a:solidFill>
                <a:latin typeface="Consolas"/>
                <a:cs typeface="Consolas"/>
              </a:rPr>
              <a:t>`</a:t>
            </a:r>
            <a:r>
              <a:rPr dirty="0" sz="1800" spc="-25">
                <a:latin typeface="Consolas"/>
                <a:cs typeface="Consolas"/>
              </a:rPr>
              <a:t>;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882396" y="3445764"/>
            <a:ext cx="7459980" cy="2862580"/>
          </a:xfrm>
          <a:prstGeom prst="rect">
            <a:avLst/>
          </a:prstGeom>
          <a:ln w="12700">
            <a:solidFill>
              <a:srgbClr val="111F35"/>
            </a:solidFill>
          </a:ln>
        </p:spPr>
        <p:txBody>
          <a:bodyPr wrap="square" lIns="0" tIns="33020" rIns="0" bIns="0" rtlCol="0" vert="horz">
            <a:spAutoFit/>
          </a:bodyPr>
          <a:lstStyle/>
          <a:p>
            <a:pPr marL="342265" marR="2972435" indent="-250190">
              <a:lnSpc>
                <a:spcPct val="100000"/>
              </a:lnSpc>
              <a:spcBef>
                <a:spcPts val="260"/>
              </a:spcBef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class</a:t>
            </a:r>
            <a:r>
              <a:rPr dirty="0" sz="1800" spc="-3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Counter</a:t>
            </a:r>
            <a:r>
              <a:rPr dirty="0" sz="1800" spc="-40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extends</a:t>
            </a:r>
            <a:r>
              <a:rPr dirty="0" sz="1800" spc="-4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HTMLElement</a:t>
            </a:r>
            <a:r>
              <a:rPr dirty="0" sz="1800" spc="-35">
                <a:latin typeface="Consolas"/>
                <a:cs typeface="Consolas"/>
              </a:rPr>
              <a:t> </a:t>
            </a:r>
            <a:r>
              <a:rPr dirty="0" sz="1800" spc="-50">
                <a:latin typeface="Consolas"/>
                <a:cs typeface="Consolas"/>
              </a:rPr>
              <a:t>{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constructor</a:t>
            </a:r>
            <a:r>
              <a:rPr dirty="0" sz="1800">
                <a:latin typeface="Consolas"/>
                <a:cs typeface="Consolas"/>
              </a:rPr>
              <a:t>()</a:t>
            </a:r>
            <a:r>
              <a:rPr dirty="0" sz="1800" spc="-65">
                <a:latin typeface="Consolas"/>
                <a:cs typeface="Consolas"/>
              </a:rPr>
              <a:t> </a:t>
            </a:r>
            <a:r>
              <a:rPr dirty="0" sz="1800" spc="-50">
                <a:latin typeface="Consolas"/>
                <a:cs typeface="Consolas"/>
              </a:rPr>
              <a:t>{</a:t>
            </a:r>
            <a:endParaRPr sz="1800">
              <a:latin typeface="Consolas"/>
              <a:cs typeface="Consolas"/>
            </a:endParaRPr>
          </a:p>
          <a:p>
            <a:pPr marL="591820">
              <a:lnSpc>
                <a:spcPct val="100000"/>
              </a:lnSpc>
            </a:pPr>
            <a:r>
              <a:rPr dirty="0" sz="1800" spc="-10">
                <a:solidFill>
                  <a:srgbClr val="0000FF"/>
                </a:solidFill>
                <a:latin typeface="Consolas"/>
                <a:cs typeface="Consolas"/>
              </a:rPr>
              <a:t>super</a:t>
            </a:r>
            <a:r>
              <a:rPr dirty="0" sz="1800" spc="-10">
                <a:latin typeface="Consolas"/>
                <a:cs typeface="Consolas"/>
              </a:rPr>
              <a:t>();</a:t>
            </a:r>
            <a:endParaRPr sz="1800">
              <a:latin typeface="Consolas"/>
              <a:cs typeface="Consolas"/>
            </a:endParaRPr>
          </a:p>
          <a:p>
            <a:pPr marL="591820">
              <a:lnSpc>
                <a:spcPct val="100000"/>
              </a:lnSpc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this</a:t>
            </a:r>
            <a:r>
              <a:rPr dirty="0" sz="1800">
                <a:latin typeface="Consolas"/>
                <a:cs typeface="Consolas"/>
              </a:rPr>
              <a:t>.innerHTML</a:t>
            </a:r>
            <a:r>
              <a:rPr dirty="0" sz="1800" spc="-4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`&lt;button&gt;Clicks</a:t>
            </a:r>
            <a:r>
              <a:rPr dirty="0" sz="1800" spc="-3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:</a:t>
            </a:r>
            <a:r>
              <a:rPr dirty="0" sz="1800" spc="-3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00FF"/>
                </a:solidFill>
                <a:latin typeface="Consolas"/>
                <a:cs typeface="Consolas"/>
              </a:rPr>
              <a:t>${</a:t>
            </a:r>
            <a:r>
              <a:rPr dirty="0" sz="1800" spc="-10">
                <a:latin typeface="Consolas"/>
                <a:cs typeface="Consolas"/>
              </a:rPr>
              <a:t>count</a:t>
            </a:r>
            <a:r>
              <a:rPr dirty="0" sz="1800" spc="-10">
                <a:solidFill>
                  <a:srgbClr val="0000FF"/>
                </a:solidFill>
                <a:latin typeface="Consolas"/>
                <a:cs typeface="Consolas"/>
              </a:rPr>
              <a:t>}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&lt;/button&gt;`</a:t>
            </a:r>
            <a:r>
              <a:rPr dirty="0" sz="1800" spc="-10">
                <a:latin typeface="Consolas"/>
                <a:cs typeface="Consolas"/>
              </a:rPr>
              <a:t>;</a:t>
            </a:r>
            <a:endParaRPr sz="1800">
              <a:latin typeface="Consolas"/>
              <a:cs typeface="Consolas"/>
            </a:endParaRPr>
          </a:p>
          <a:p>
            <a:pPr marL="591820">
              <a:lnSpc>
                <a:spcPct val="100000"/>
              </a:lnSpc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let</a:t>
            </a:r>
            <a:r>
              <a:rPr dirty="0" sz="1800" spc="-2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btn</a:t>
            </a:r>
            <a:r>
              <a:rPr dirty="0" sz="1800" spc="-1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 spc="-20"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00FF"/>
                </a:solidFill>
                <a:latin typeface="Consolas"/>
                <a:cs typeface="Consolas"/>
              </a:rPr>
              <a:t>this</a:t>
            </a:r>
            <a:r>
              <a:rPr dirty="0" sz="1800" spc="-10">
                <a:latin typeface="Consolas"/>
                <a:cs typeface="Consolas"/>
              </a:rPr>
              <a:t>.querySelector(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"button"</a:t>
            </a:r>
            <a:r>
              <a:rPr dirty="0" sz="1800" spc="-10">
                <a:latin typeface="Consolas"/>
                <a:cs typeface="Consolas"/>
              </a:rPr>
              <a:t>);</a:t>
            </a:r>
            <a:endParaRPr sz="1800">
              <a:latin typeface="Consolas"/>
              <a:cs typeface="Consolas"/>
            </a:endParaRPr>
          </a:p>
          <a:p>
            <a:pPr marL="591820">
              <a:lnSpc>
                <a:spcPct val="100000"/>
              </a:lnSpc>
              <a:spcBef>
                <a:spcPts val="5"/>
              </a:spcBef>
            </a:pPr>
            <a:r>
              <a:rPr dirty="0" sz="1800">
                <a:latin typeface="Consolas"/>
                <a:cs typeface="Consolas"/>
              </a:rPr>
              <a:t>btn.onclick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 spc="-1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()</a:t>
            </a:r>
            <a:r>
              <a:rPr dirty="0" sz="1800" spc="-1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=&gt;</a:t>
            </a:r>
            <a:r>
              <a:rPr dirty="0" sz="1800" spc="-1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 spc="-50">
                <a:latin typeface="Consolas"/>
                <a:cs typeface="Consolas"/>
              </a:rPr>
              <a:t>{</a:t>
            </a:r>
            <a:endParaRPr sz="1800">
              <a:latin typeface="Consolas"/>
              <a:cs typeface="Consolas"/>
            </a:endParaRPr>
          </a:p>
          <a:p>
            <a:pPr marL="843280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btn.innerHTML</a:t>
            </a:r>
            <a:r>
              <a:rPr dirty="0" sz="1800" spc="-2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"Clicks</a:t>
            </a:r>
            <a:r>
              <a:rPr dirty="0" sz="1800" spc="-15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:</a:t>
            </a:r>
            <a:r>
              <a:rPr dirty="0" sz="1800" spc="-2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"</a:t>
            </a:r>
            <a:r>
              <a:rPr dirty="0" sz="1800" spc="-20">
                <a:solidFill>
                  <a:srgbClr val="A21515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+</a:t>
            </a:r>
            <a:r>
              <a:rPr dirty="0" sz="1800" spc="-15">
                <a:latin typeface="Consolas"/>
                <a:cs typeface="Consolas"/>
              </a:rPr>
              <a:t> </a:t>
            </a:r>
            <a:r>
              <a:rPr dirty="0" sz="1800" spc="-10">
                <a:latin typeface="Consolas"/>
                <a:cs typeface="Consolas"/>
              </a:rPr>
              <a:t>++count;</a:t>
            </a:r>
            <a:endParaRPr sz="1800">
              <a:latin typeface="Consolas"/>
              <a:cs typeface="Consolas"/>
            </a:endParaRPr>
          </a:p>
          <a:p>
            <a:pPr marL="591820">
              <a:lnSpc>
                <a:spcPct val="100000"/>
              </a:lnSpc>
            </a:pPr>
            <a:r>
              <a:rPr dirty="0" sz="1800" spc="-25">
                <a:latin typeface="Consolas"/>
                <a:cs typeface="Consolas"/>
              </a:rPr>
              <a:t>};</a:t>
            </a:r>
            <a:endParaRPr sz="1800">
              <a:latin typeface="Consolas"/>
              <a:cs typeface="Consolas"/>
            </a:endParaRPr>
          </a:p>
          <a:p>
            <a:pPr marL="342265">
              <a:lnSpc>
                <a:spcPct val="100000"/>
              </a:lnSpc>
            </a:pPr>
            <a:r>
              <a:rPr dirty="0" sz="1800" spc="-5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dirty="0" sz="1800" spc="-5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8433371" y="2319147"/>
            <a:ext cx="2886075" cy="3348990"/>
            <a:chOff x="8433371" y="2319147"/>
            <a:chExt cx="2886075" cy="3348990"/>
          </a:xfrm>
        </p:grpSpPr>
        <p:pic>
          <p:nvPicPr>
            <p:cNvPr id="6" name="object 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442959" y="2515981"/>
              <a:ext cx="2866644" cy="3142630"/>
            </a:xfrm>
            <a:prstGeom prst="rect">
              <a:avLst/>
            </a:prstGeom>
          </p:spPr>
        </p:pic>
        <p:sp>
          <p:nvSpPr>
            <p:cNvPr id="7" name="object 7" descr=""/>
            <p:cNvSpPr/>
            <p:nvPr/>
          </p:nvSpPr>
          <p:spPr>
            <a:xfrm>
              <a:off x="8438133" y="2323909"/>
              <a:ext cx="2876550" cy="3339465"/>
            </a:xfrm>
            <a:custGeom>
              <a:avLst/>
              <a:gdLst/>
              <a:ahLst/>
              <a:cxnLst/>
              <a:rect l="l" t="t" r="r" b="b"/>
              <a:pathLst>
                <a:path w="2876550" h="3339465">
                  <a:moveTo>
                    <a:pt x="0" y="3339465"/>
                  </a:moveTo>
                  <a:lnTo>
                    <a:pt x="2876169" y="3339465"/>
                  </a:lnTo>
                  <a:lnTo>
                    <a:pt x="2876169" y="0"/>
                  </a:lnTo>
                  <a:lnTo>
                    <a:pt x="0" y="0"/>
                  </a:lnTo>
                  <a:lnTo>
                    <a:pt x="0" y="3339465"/>
                  </a:lnTo>
                  <a:close/>
                </a:path>
              </a:pathLst>
            </a:custGeom>
            <a:ln w="9525">
              <a:solidFill>
                <a:srgbClr val="111F3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30"/>
              <a:t> </a:t>
            </a:r>
            <a:r>
              <a:rPr dirty="0"/>
              <a:t>II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30"/>
              <a:t> </a:t>
            </a:r>
            <a:r>
              <a:rPr dirty="0"/>
              <a:t>Course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30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18</a:t>
            </a:r>
            <a:r>
              <a:rPr dirty="0" spc="-1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Single</a:t>
            </a:r>
            <a:r>
              <a:rPr dirty="0" spc="-40"/>
              <a:t> </a:t>
            </a:r>
            <a:r>
              <a:rPr dirty="0"/>
              <a:t>Page</a:t>
            </a:r>
            <a:r>
              <a:rPr dirty="0" spc="-15"/>
              <a:t> </a:t>
            </a:r>
            <a:r>
              <a:rPr dirty="0" spc="-10"/>
              <a:t>Applications</a:t>
            </a:r>
          </a:p>
        </p:txBody>
      </p:sp>
      <p:sp>
        <p:nvSpPr>
          <p:cNvPr id="9" name="object 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30"/>
              <a:t> </a:t>
            </a:r>
            <a:r>
              <a:rPr dirty="0"/>
              <a:t>II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30"/>
              <a:t> </a:t>
            </a:r>
            <a:r>
              <a:rPr dirty="0"/>
              <a:t>Course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30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18</a:t>
            </a:r>
            <a:r>
              <a:rPr dirty="0" spc="-1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Single</a:t>
            </a:r>
            <a:r>
              <a:rPr dirty="0" spc="-40"/>
              <a:t> </a:t>
            </a:r>
            <a:r>
              <a:rPr dirty="0"/>
              <a:t>Page</a:t>
            </a:r>
            <a:r>
              <a:rPr dirty="0" spc="-15"/>
              <a:t> </a:t>
            </a:r>
            <a:r>
              <a:rPr dirty="0" spc="-10"/>
              <a:t>Applications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0"/>
              <a:t>WHY</a:t>
            </a:r>
            <a:r>
              <a:rPr dirty="0" spc="45"/>
              <a:t> </a:t>
            </a:r>
            <a:r>
              <a:rPr dirty="0" spc="140"/>
              <a:t>SINGLE-</a:t>
            </a:r>
            <a:r>
              <a:rPr dirty="0"/>
              <a:t>PAGE</a:t>
            </a:r>
            <a:r>
              <a:rPr dirty="0" spc="30"/>
              <a:t> </a:t>
            </a:r>
            <a:r>
              <a:rPr dirty="0" spc="-45"/>
              <a:t>APPLICATIONS?</a:t>
            </a:r>
          </a:p>
        </p:txBody>
      </p:sp>
      <p:sp>
        <p:nvSpPr>
          <p:cNvPr id="3" name="object 3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984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dirty="0" spc="-40"/>
              <a:t>SPAs</a:t>
            </a:r>
            <a:r>
              <a:rPr dirty="0" spc="-55"/>
              <a:t> </a:t>
            </a:r>
            <a:r>
              <a:rPr dirty="0"/>
              <a:t>offer</a:t>
            </a:r>
            <a:r>
              <a:rPr dirty="0" spc="-75"/>
              <a:t> </a:t>
            </a:r>
            <a:r>
              <a:rPr dirty="0"/>
              <a:t>some</a:t>
            </a:r>
            <a:r>
              <a:rPr dirty="0" spc="-75"/>
              <a:t> </a:t>
            </a:r>
            <a:r>
              <a:rPr dirty="0" spc="-10"/>
              <a:t>advantages</a:t>
            </a:r>
            <a:r>
              <a:rPr dirty="0" spc="-75"/>
              <a:t> </a:t>
            </a:r>
            <a:r>
              <a:rPr dirty="0"/>
              <a:t>over</a:t>
            </a:r>
            <a:r>
              <a:rPr dirty="0" spc="-75"/>
              <a:t> </a:t>
            </a:r>
            <a:r>
              <a:rPr dirty="0"/>
              <a:t>traditional</a:t>
            </a:r>
            <a:r>
              <a:rPr dirty="0" spc="-75"/>
              <a:t> </a:t>
            </a:r>
            <a:r>
              <a:rPr dirty="0" spc="-20"/>
              <a:t>multi-</a:t>
            </a:r>
            <a:r>
              <a:rPr dirty="0"/>
              <a:t>page</a:t>
            </a:r>
            <a:r>
              <a:rPr dirty="0" spc="-50"/>
              <a:t> </a:t>
            </a:r>
            <a:r>
              <a:rPr dirty="0" spc="-10"/>
              <a:t>apps:</a:t>
            </a:r>
          </a:p>
          <a:p>
            <a:pPr marL="240029" indent="-227329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/>
              <a:t>More</a:t>
            </a:r>
            <a:r>
              <a:rPr dirty="0" spc="-85"/>
              <a:t> </a:t>
            </a:r>
            <a:r>
              <a:rPr dirty="0" b="1">
                <a:latin typeface="Calibri"/>
                <a:cs typeface="Calibri"/>
              </a:rPr>
              <a:t>dynamic</a:t>
            </a:r>
            <a:r>
              <a:rPr dirty="0" spc="-70" b="1">
                <a:latin typeface="Calibri"/>
                <a:cs typeface="Calibri"/>
              </a:rPr>
              <a:t> </a:t>
            </a:r>
            <a:r>
              <a:rPr dirty="0" b="1">
                <a:latin typeface="Calibri"/>
                <a:cs typeface="Calibri"/>
              </a:rPr>
              <a:t>user</a:t>
            </a:r>
            <a:r>
              <a:rPr dirty="0" spc="-75" b="1">
                <a:latin typeface="Calibri"/>
                <a:cs typeface="Calibri"/>
              </a:rPr>
              <a:t> </a:t>
            </a:r>
            <a:r>
              <a:rPr dirty="0" spc="-10" b="1">
                <a:latin typeface="Calibri"/>
                <a:cs typeface="Calibri"/>
              </a:rPr>
              <a:t>experience</a:t>
            </a:r>
            <a:r>
              <a:rPr dirty="0" spc="-10"/>
              <a:t>,</a:t>
            </a:r>
            <a:r>
              <a:rPr dirty="0" spc="-50"/>
              <a:t> </a:t>
            </a:r>
            <a:r>
              <a:rPr dirty="0"/>
              <a:t>similar</a:t>
            </a:r>
            <a:r>
              <a:rPr dirty="0" spc="-75"/>
              <a:t> </a:t>
            </a:r>
            <a:r>
              <a:rPr dirty="0"/>
              <a:t>to</a:t>
            </a:r>
            <a:r>
              <a:rPr dirty="0" spc="-95"/>
              <a:t> </a:t>
            </a:r>
            <a:r>
              <a:rPr dirty="0"/>
              <a:t>desktop</a:t>
            </a:r>
            <a:r>
              <a:rPr dirty="0" spc="-75"/>
              <a:t> </a:t>
            </a:r>
            <a:r>
              <a:rPr dirty="0" spc="-20"/>
              <a:t>apps</a:t>
            </a:r>
          </a:p>
          <a:p>
            <a:pPr marL="240029" marR="5080" indent="-227329">
              <a:lnSpc>
                <a:spcPts val="3020"/>
              </a:lnSpc>
              <a:spcBef>
                <a:spcPts val="104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/>
              <a:t>The</a:t>
            </a:r>
            <a:r>
              <a:rPr dirty="0" spc="-70"/>
              <a:t> </a:t>
            </a:r>
            <a:r>
              <a:rPr dirty="0"/>
              <a:t>initial</a:t>
            </a:r>
            <a:r>
              <a:rPr dirty="0" spc="-60"/>
              <a:t> </a:t>
            </a:r>
            <a:r>
              <a:rPr dirty="0"/>
              <a:t>page</a:t>
            </a:r>
            <a:r>
              <a:rPr dirty="0" spc="-70"/>
              <a:t> </a:t>
            </a:r>
            <a:r>
              <a:rPr dirty="0"/>
              <a:t>load</a:t>
            </a:r>
            <a:r>
              <a:rPr dirty="0" spc="-65"/>
              <a:t> </a:t>
            </a:r>
            <a:r>
              <a:rPr dirty="0"/>
              <a:t>is</a:t>
            </a:r>
            <a:r>
              <a:rPr dirty="0" spc="-55"/>
              <a:t> </a:t>
            </a:r>
            <a:r>
              <a:rPr dirty="0"/>
              <a:t>slower</a:t>
            </a:r>
            <a:r>
              <a:rPr dirty="0" spc="-60"/>
              <a:t> </a:t>
            </a:r>
            <a:r>
              <a:rPr dirty="0"/>
              <a:t>(need</a:t>
            </a:r>
            <a:r>
              <a:rPr dirty="0" spc="-60"/>
              <a:t> </a:t>
            </a:r>
            <a:r>
              <a:rPr dirty="0"/>
              <a:t>to</a:t>
            </a:r>
            <a:r>
              <a:rPr dirty="0" spc="-75"/>
              <a:t> </a:t>
            </a:r>
            <a:r>
              <a:rPr dirty="0"/>
              <a:t>download</a:t>
            </a:r>
            <a:r>
              <a:rPr dirty="0" spc="-45"/>
              <a:t> </a:t>
            </a:r>
            <a:r>
              <a:rPr dirty="0"/>
              <a:t>the</a:t>
            </a:r>
            <a:r>
              <a:rPr dirty="0" spc="-65"/>
              <a:t> </a:t>
            </a:r>
            <a:r>
              <a:rPr dirty="0"/>
              <a:t>entire</a:t>
            </a:r>
            <a:r>
              <a:rPr dirty="0" spc="-65"/>
              <a:t> </a:t>
            </a:r>
            <a:r>
              <a:rPr dirty="0"/>
              <a:t>app),</a:t>
            </a:r>
            <a:r>
              <a:rPr dirty="0" spc="-55"/>
              <a:t> </a:t>
            </a:r>
            <a:r>
              <a:rPr dirty="0" spc="-25"/>
              <a:t>but </a:t>
            </a:r>
            <a:r>
              <a:rPr dirty="0" spc="-25"/>
              <a:t>	</a:t>
            </a:r>
            <a:r>
              <a:rPr dirty="0" spc="-10"/>
              <a:t>subsequent</a:t>
            </a:r>
            <a:r>
              <a:rPr dirty="0" spc="-25"/>
              <a:t> </a:t>
            </a:r>
            <a:r>
              <a:rPr dirty="0"/>
              <a:t>ones</a:t>
            </a:r>
            <a:r>
              <a:rPr dirty="0" spc="-75"/>
              <a:t> </a:t>
            </a:r>
            <a:r>
              <a:rPr dirty="0"/>
              <a:t>are</a:t>
            </a:r>
            <a:r>
              <a:rPr dirty="0" spc="-80"/>
              <a:t> </a:t>
            </a:r>
            <a:r>
              <a:rPr dirty="0"/>
              <a:t>way</a:t>
            </a:r>
            <a:r>
              <a:rPr dirty="0" spc="-100"/>
              <a:t> </a:t>
            </a:r>
            <a:r>
              <a:rPr dirty="0" spc="-10"/>
              <a:t>faster</a:t>
            </a:r>
          </a:p>
          <a:p>
            <a:pPr marL="240029" indent="-227329">
              <a:lnSpc>
                <a:spcPct val="100000"/>
              </a:lnSpc>
              <a:spcBef>
                <a:spcPts val="62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b="1">
                <a:latin typeface="Calibri"/>
                <a:cs typeface="Calibri"/>
              </a:rPr>
              <a:t>Reduced</a:t>
            </a:r>
            <a:r>
              <a:rPr dirty="0" spc="-114" b="1">
                <a:latin typeface="Calibri"/>
                <a:cs typeface="Calibri"/>
              </a:rPr>
              <a:t> </a:t>
            </a:r>
            <a:r>
              <a:rPr dirty="0" b="1">
                <a:latin typeface="Calibri"/>
                <a:cs typeface="Calibri"/>
              </a:rPr>
              <a:t>server</a:t>
            </a:r>
            <a:r>
              <a:rPr dirty="0" spc="-85" b="1">
                <a:latin typeface="Calibri"/>
                <a:cs typeface="Calibri"/>
              </a:rPr>
              <a:t> </a:t>
            </a:r>
            <a:r>
              <a:rPr dirty="0" spc="-20" b="1">
                <a:latin typeface="Calibri"/>
                <a:cs typeface="Calibri"/>
              </a:rPr>
              <a:t>load</a:t>
            </a:r>
          </a:p>
          <a:p>
            <a:pPr lvl="1" marL="696595" indent="-227329">
              <a:lnSpc>
                <a:spcPct val="100000"/>
              </a:lnSpc>
              <a:spcBef>
                <a:spcPts val="240"/>
              </a:spcBef>
              <a:buFont typeface="Arial MT"/>
              <a:buChar char="•"/>
              <a:tabLst>
                <a:tab pos="696595" algn="l"/>
              </a:tabLst>
            </a:pP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Only</a:t>
            </a:r>
            <a:r>
              <a:rPr dirty="0" sz="24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required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data</a:t>
            </a:r>
            <a:r>
              <a:rPr dirty="0" sz="24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is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fetched</a:t>
            </a:r>
            <a:r>
              <a:rPr dirty="0" sz="24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from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4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25">
                <a:solidFill>
                  <a:srgbClr val="111F35"/>
                </a:solidFill>
                <a:latin typeface="Calibri"/>
                <a:cs typeface="Calibri"/>
              </a:rPr>
              <a:t>server,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and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only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when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needed.</a:t>
            </a:r>
            <a:endParaRPr sz="2400">
              <a:latin typeface="Calibri"/>
              <a:cs typeface="Calibri"/>
            </a:endParaRPr>
          </a:p>
          <a:p>
            <a:pPr lvl="1" marL="696595" indent="-227329">
              <a:lnSpc>
                <a:spcPct val="100000"/>
              </a:lnSpc>
              <a:spcBef>
                <a:spcPts val="219"/>
              </a:spcBef>
              <a:buFont typeface="Arial MT"/>
              <a:buChar char="•"/>
              <a:tabLst>
                <a:tab pos="696595" algn="l"/>
              </a:tabLst>
            </a:pP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No</a:t>
            </a:r>
            <a:r>
              <a:rPr dirty="0" sz="24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need</a:t>
            </a:r>
            <a:r>
              <a:rPr dirty="0" sz="24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4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transfer</a:t>
            </a:r>
            <a:r>
              <a:rPr dirty="0" sz="24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entire</a:t>
            </a:r>
            <a:r>
              <a:rPr dirty="0" sz="24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HTML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documents</a:t>
            </a:r>
            <a:r>
              <a:rPr dirty="0" sz="2400" spc="-10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over</a:t>
            </a:r>
            <a:r>
              <a:rPr dirty="0" sz="24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and</a:t>
            </a:r>
            <a:r>
              <a:rPr dirty="0" sz="24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20">
                <a:solidFill>
                  <a:srgbClr val="111F35"/>
                </a:solidFill>
                <a:latin typeface="Calibri"/>
                <a:cs typeface="Calibri"/>
              </a:rPr>
              <a:t>over</a:t>
            </a:r>
            <a:endParaRPr sz="2400">
              <a:latin typeface="Calibri"/>
              <a:cs typeface="Calibri"/>
            </a:endParaRPr>
          </a:p>
          <a:p>
            <a:pPr lvl="1" marL="696595" indent="-227329">
              <a:lnSpc>
                <a:spcPct val="100000"/>
              </a:lnSpc>
              <a:spcBef>
                <a:spcPts val="204"/>
              </a:spcBef>
              <a:buFont typeface="Arial MT"/>
              <a:buChar char="•"/>
              <a:tabLst>
                <a:tab pos="696595" algn="l"/>
              </a:tabLst>
            </a:pP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This</a:t>
            </a:r>
            <a:r>
              <a:rPr dirty="0" sz="24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can</a:t>
            </a:r>
            <a:r>
              <a:rPr dirty="0" sz="24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help</a:t>
            </a:r>
            <a:r>
              <a:rPr dirty="0" sz="24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reduce</a:t>
            </a:r>
            <a:r>
              <a:rPr dirty="0" sz="24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server</a:t>
            </a:r>
            <a:r>
              <a:rPr dirty="0" sz="24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loads</a:t>
            </a:r>
            <a:r>
              <a:rPr dirty="0" sz="24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and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bandwidth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30"/>
              <a:t> </a:t>
            </a:r>
            <a:r>
              <a:rPr dirty="0"/>
              <a:t>II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30"/>
              <a:t> </a:t>
            </a:r>
            <a:r>
              <a:rPr dirty="0"/>
              <a:t>Course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30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18</a:t>
            </a:r>
            <a:r>
              <a:rPr dirty="0" spc="-1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Single</a:t>
            </a:r>
            <a:r>
              <a:rPr dirty="0" spc="-40"/>
              <a:t> </a:t>
            </a:r>
            <a:r>
              <a:rPr dirty="0"/>
              <a:t>Page</a:t>
            </a:r>
            <a:r>
              <a:rPr dirty="0" spc="-15"/>
              <a:t> </a:t>
            </a:r>
            <a:r>
              <a:rPr dirty="0" spc="-10"/>
              <a:t>Applications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120"/>
              <a:t>A</a:t>
            </a:r>
            <a:r>
              <a:rPr dirty="0" spc="45"/>
              <a:t> </a:t>
            </a:r>
            <a:r>
              <a:rPr dirty="0"/>
              <a:t>NOTE</a:t>
            </a:r>
            <a:r>
              <a:rPr dirty="0" spc="45"/>
              <a:t> </a:t>
            </a:r>
            <a:r>
              <a:rPr dirty="0" spc="275"/>
              <a:t>ON</a:t>
            </a:r>
            <a:r>
              <a:rPr dirty="0" spc="30"/>
              <a:t> </a:t>
            </a:r>
            <a:r>
              <a:rPr dirty="0" spc="-10"/>
              <a:t>FETCHING</a:t>
            </a:r>
            <a:r>
              <a:rPr dirty="0" spc="50"/>
              <a:t> </a:t>
            </a:r>
            <a:r>
              <a:rPr dirty="0" spc="-20"/>
              <a:t>DATA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1533220"/>
            <a:ext cx="10163810" cy="2753995"/>
          </a:xfrm>
          <a:prstGeom prst="rect">
            <a:avLst/>
          </a:prstGeom>
        </p:spPr>
        <p:txBody>
          <a:bodyPr wrap="square" lIns="0" tIns="60325" rIns="0" bIns="0" rtlCol="0" vert="horz">
            <a:spAutoFit/>
          </a:bodyPr>
          <a:lstStyle/>
          <a:p>
            <a:pPr marL="240029" marR="227965" indent="-227329">
              <a:lnSpc>
                <a:spcPts val="3030"/>
              </a:lnSpc>
              <a:spcBef>
                <a:spcPts val="47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Before</a:t>
            </a:r>
            <a:r>
              <a:rPr dirty="0" sz="2800" spc="-9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Fetch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API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was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introduced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ES6,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network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requests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were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sent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using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AJAX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2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AJAX</a:t>
            </a:r>
            <a:r>
              <a:rPr dirty="0" sz="2800" spc="-9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stands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for</a:t>
            </a:r>
            <a:r>
              <a:rPr dirty="0" sz="2800" spc="-11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synchronous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111F35"/>
                </a:solidFill>
                <a:latin typeface="Calibri"/>
                <a:cs typeface="Calibri"/>
              </a:rPr>
              <a:t>J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avaScript</a:t>
            </a:r>
            <a:r>
              <a:rPr dirty="0" sz="2800" spc="-10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nd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 b="1">
                <a:solidFill>
                  <a:srgbClr val="111F35"/>
                </a:solidFill>
                <a:latin typeface="Calibri"/>
                <a:cs typeface="Calibri"/>
              </a:rPr>
              <a:t>X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ML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AJAX</a:t>
            </a:r>
            <a:r>
              <a:rPr dirty="0" sz="2800" spc="-9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was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implemented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using</a:t>
            </a:r>
            <a:r>
              <a:rPr dirty="0" sz="2800" spc="-9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9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u="sng" sz="2800" spc="-10" b="1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2"/>
              </a:rPr>
              <a:t>XMLHttpRequest</a:t>
            </a:r>
            <a:r>
              <a:rPr dirty="0" sz="2800" spc="-65" b="1">
                <a:solidFill>
                  <a:srgbClr val="006379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interface</a:t>
            </a:r>
            <a:endParaRPr sz="2800">
              <a:latin typeface="Calibri"/>
              <a:cs typeface="Calibri"/>
            </a:endParaRPr>
          </a:p>
          <a:p>
            <a:pPr marL="240029" marR="5080" indent="-227329">
              <a:lnSpc>
                <a:spcPts val="3020"/>
              </a:lnSpc>
              <a:spcBef>
                <a:spcPts val="104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While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XMLHttpRequest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is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nowadays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being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replaced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by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Fetch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API,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it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is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still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quite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common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and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you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may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find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it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some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packages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30"/>
              <a:t> </a:t>
            </a:r>
            <a:r>
              <a:rPr dirty="0"/>
              <a:t>II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30"/>
              <a:t> </a:t>
            </a:r>
            <a:r>
              <a:rPr dirty="0"/>
              <a:t>Course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30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18</a:t>
            </a:r>
            <a:r>
              <a:rPr dirty="0" spc="-1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Single</a:t>
            </a:r>
            <a:r>
              <a:rPr dirty="0" spc="-40"/>
              <a:t> </a:t>
            </a:r>
            <a:r>
              <a:rPr dirty="0"/>
              <a:t>Page</a:t>
            </a:r>
            <a:r>
              <a:rPr dirty="0" spc="-15"/>
              <a:t> </a:t>
            </a:r>
            <a:r>
              <a:rPr dirty="0" spc="-10"/>
              <a:t>Applications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EXAMPLE</a:t>
            </a:r>
            <a:r>
              <a:rPr dirty="0" spc="-30"/>
              <a:t> </a:t>
            </a:r>
            <a:r>
              <a:rPr dirty="0"/>
              <a:t>USING</a:t>
            </a:r>
            <a:r>
              <a:rPr dirty="0" spc="-45"/>
              <a:t> </a:t>
            </a:r>
            <a:r>
              <a:rPr dirty="0" spc="-55"/>
              <a:t>XMLHTTPREQUEST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1446872"/>
            <a:ext cx="10057130" cy="2072005"/>
          </a:xfrm>
          <a:prstGeom prst="rect">
            <a:avLst/>
          </a:prstGeom>
        </p:spPr>
        <p:txBody>
          <a:bodyPr wrap="square" lIns="0" tIns="98425" rIns="0" bIns="0" rtlCol="0" vert="horz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77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Typical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workflow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consisted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creating</a:t>
            </a:r>
            <a:r>
              <a:rPr dirty="0" sz="2800" spc="-9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and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XMLHttpRequest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object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Setting</a:t>
            </a:r>
            <a:r>
              <a:rPr dirty="0" sz="2800" spc="-9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callback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execute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when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request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completes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Initialize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request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(set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HTTP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method,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url,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whether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it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is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async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or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not)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Send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request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server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882396" y="3592067"/>
            <a:ext cx="10427335" cy="2585085"/>
          </a:xfrm>
          <a:prstGeom prst="rect">
            <a:avLst/>
          </a:prstGeom>
          <a:ln w="12700">
            <a:solidFill>
              <a:srgbClr val="111F35"/>
            </a:solidFill>
          </a:ln>
        </p:spPr>
        <p:txBody>
          <a:bodyPr wrap="square" lIns="0" tIns="32384" rIns="0" bIns="0" rtlCol="0" vert="horz">
            <a:spAutoFit/>
          </a:bodyPr>
          <a:lstStyle/>
          <a:p>
            <a:pPr marL="92075" marR="5438775">
              <a:lnSpc>
                <a:spcPct val="100000"/>
              </a:lnSpc>
              <a:spcBef>
                <a:spcPts val="254"/>
              </a:spcBef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let</a:t>
            </a:r>
            <a:r>
              <a:rPr dirty="0" sz="1800" spc="-4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xhttp</a:t>
            </a:r>
            <a:r>
              <a:rPr dirty="0" sz="1800" spc="-2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 spc="-1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new</a:t>
            </a:r>
            <a:r>
              <a:rPr dirty="0" sz="1800" spc="-2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latin typeface="Consolas"/>
                <a:cs typeface="Consolas"/>
              </a:rPr>
              <a:t>XMLHttpRequest(); </a:t>
            </a:r>
            <a:r>
              <a:rPr dirty="0" sz="1800">
                <a:latin typeface="Consolas"/>
                <a:cs typeface="Consolas"/>
              </a:rPr>
              <a:t>xhttp.onreadystatechange</a:t>
            </a:r>
            <a:r>
              <a:rPr dirty="0" sz="1800" spc="-4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 spc="-5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function</a:t>
            </a:r>
            <a:r>
              <a:rPr dirty="0" sz="1800">
                <a:latin typeface="Consolas"/>
                <a:cs typeface="Consolas"/>
              </a:rPr>
              <a:t>()</a:t>
            </a:r>
            <a:r>
              <a:rPr dirty="0" sz="1800" spc="-50">
                <a:latin typeface="Consolas"/>
                <a:cs typeface="Consolas"/>
              </a:rPr>
              <a:t> {</a:t>
            </a:r>
            <a:endParaRPr sz="1800">
              <a:latin typeface="Consolas"/>
              <a:cs typeface="Consolas"/>
            </a:endParaRPr>
          </a:p>
          <a:p>
            <a:pPr marL="591820">
              <a:lnSpc>
                <a:spcPct val="100000"/>
              </a:lnSpc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if</a:t>
            </a:r>
            <a:r>
              <a:rPr dirty="0" sz="1800" spc="-3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(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this</a:t>
            </a:r>
            <a:r>
              <a:rPr dirty="0" sz="1800">
                <a:latin typeface="Consolas"/>
                <a:cs typeface="Consolas"/>
              </a:rPr>
              <a:t>.readyState</a:t>
            </a:r>
            <a:r>
              <a:rPr dirty="0" sz="1800" spc="-2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==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98557"/>
                </a:solidFill>
                <a:latin typeface="Consolas"/>
                <a:cs typeface="Consolas"/>
              </a:rPr>
              <a:t>4</a:t>
            </a:r>
            <a:r>
              <a:rPr dirty="0" sz="1800" spc="-20">
                <a:solidFill>
                  <a:srgbClr val="098557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&amp;&amp;</a:t>
            </a:r>
            <a:r>
              <a:rPr dirty="0" sz="1800" spc="-20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this</a:t>
            </a:r>
            <a:r>
              <a:rPr dirty="0" sz="1800">
                <a:latin typeface="Consolas"/>
                <a:cs typeface="Consolas"/>
              </a:rPr>
              <a:t>.status</a:t>
            </a:r>
            <a:r>
              <a:rPr dirty="0" sz="1800" spc="-1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==</a:t>
            </a:r>
            <a:r>
              <a:rPr dirty="0" sz="1800" spc="-3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98557"/>
                </a:solidFill>
                <a:latin typeface="Consolas"/>
                <a:cs typeface="Consolas"/>
              </a:rPr>
              <a:t>200</a:t>
            </a:r>
            <a:r>
              <a:rPr dirty="0" sz="1800">
                <a:latin typeface="Consolas"/>
                <a:cs typeface="Consolas"/>
              </a:rPr>
              <a:t>)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 spc="-50">
                <a:latin typeface="Consolas"/>
                <a:cs typeface="Consolas"/>
              </a:rPr>
              <a:t>{</a:t>
            </a:r>
            <a:endParaRPr sz="1800">
              <a:latin typeface="Consolas"/>
              <a:cs typeface="Consolas"/>
            </a:endParaRPr>
          </a:p>
          <a:p>
            <a:pPr marL="968375" marR="1551940">
              <a:lnSpc>
                <a:spcPct val="100000"/>
              </a:lnSpc>
            </a:pP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//</a:t>
            </a:r>
            <a:r>
              <a:rPr dirty="0" sz="1800" spc="-4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Typical</a:t>
            </a:r>
            <a:r>
              <a:rPr dirty="0" sz="1800" spc="-1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action</a:t>
            </a:r>
            <a:r>
              <a:rPr dirty="0" sz="1800" spc="-1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to</a:t>
            </a:r>
            <a:r>
              <a:rPr dirty="0" sz="1800" spc="-3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be</a:t>
            </a:r>
            <a:r>
              <a:rPr dirty="0" sz="1800" spc="-2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performed</a:t>
            </a:r>
            <a:r>
              <a:rPr dirty="0" sz="1800" spc="-15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when</a:t>
            </a:r>
            <a:r>
              <a:rPr dirty="0" sz="1800" spc="-3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the</a:t>
            </a:r>
            <a:r>
              <a:rPr dirty="0" sz="1800" spc="-1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response</a:t>
            </a:r>
            <a:r>
              <a:rPr dirty="0" sz="1800" spc="-2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is</a:t>
            </a:r>
            <a:r>
              <a:rPr dirty="0" sz="1800" spc="-2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8000"/>
                </a:solidFill>
                <a:latin typeface="Consolas"/>
                <a:cs typeface="Consolas"/>
              </a:rPr>
              <a:t>ready: </a:t>
            </a:r>
            <a:r>
              <a:rPr dirty="0" sz="1800">
                <a:latin typeface="Consolas"/>
                <a:cs typeface="Consolas"/>
              </a:rPr>
              <a:t>document.getElementById(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"demo"</a:t>
            </a:r>
            <a:r>
              <a:rPr dirty="0" sz="1800">
                <a:latin typeface="Consolas"/>
                <a:cs typeface="Consolas"/>
              </a:rPr>
              <a:t>).innerHTML</a:t>
            </a:r>
            <a:r>
              <a:rPr dirty="0" sz="1800" spc="-9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 spc="-90">
                <a:latin typeface="Consolas"/>
                <a:cs typeface="Consolas"/>
              </a:rPr>
              <a:t> </a:t>
            </a:r>
            <a:r>
              <a:rPr dirty="0" sz="1800" spc="-10">
                <a:latin typeface="Consolas"/>
                <a:cs typeface="Consolas"/>
              </a:rPr>
              <a:t>xhttp.responseText;</a:t>
            </a:r>
            <a:endParaRPr sz="1800">
              <a:latin typeface="Consolas"/>
              <a:cs typeface="Consolas"/>
            </a:endParaRPr>
          </a:p>
          <a:p>
            <a:pPr marL="591820">
              <a:lnSpc>
                <a:spcPct val="100000"/>
              </a:lnSpc>
            </a:pPr>
            <a:r>
              <a:rPr dirty="0" sz="1800" spc="-5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</a:pPr>
            <a:r>
              <a:rPr dirty="0" sz="1800" spc="-25">
                <a:latin typeface="Consolas"/>
                <a:cs typeface="Consolas"/>
              </a:rPr>
              <a:t>};</a:t>
            </a:r>
            <a:endParaRPr sz="1800">
              <a:latin typeface="Consolas"/>
              <a:cs typeface="Consolas"/>
            </a:endParaRPr>
          </a:p>
          <a:p>
            <a:pPr marL="92075" marR="5189855">
              <a:lnSpc>
                <a:spcPct val="100000"/>
              </a:lnSpc>
              <a:spcBef>
                <a:spcPts val="5"/>
              </a:spcBef>
            </a:pPr>
            <a:r>
              <a:rPr dirty="0" sz="1800">
                <a:latin typeface="Consolas"/>
                <a:cs typeface="Consolas"/>
              </a:rPr>
              <a:t>xhttp.open(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"GET"</a:t>
            </a:r>
            <a:r>
              <a:rPr dirty="0" sz="1800">
                <a:latin typeface="Consolas"/>
                <a:cs typeface="Consolas"/>
              </a:rPr>
              <a:t>,</a:t>
            </a:r>
            <a:r>
              <a:rPr dirty="0" sz="1800" spc="-7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A21515"/>
                </a:solidFill>
                <a:latin typeface="Consolas"/>
                <a:cs typeface="Consolas"/>
              </a:rPr>
              <a:t>"/url/to/fetch"</a:t>
            </a:r>
            <a:r>
              <a:rPr dirty="0" sz="1800">
                <a:latin typeface="Consolas"/>
                <a:cs typeface="Consolas"/>
              </a:rPr>
              <a:t>,</a:t>
            </a:r>
            <a:r>
              <a:rPr dirty="0" sz="1800" spc="-85"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00FF"/>
                </a:solidFill>
                <a:latin typeface="Consolas"/>
                <a:cs typeface="Consolas"/>
              </a:rPr>
              <a:t>true</a:t>
            </a:r>
            <a:r>
              <a:rPr dirty="0" sz="1800" spc="-10">
                <a:latin typeface="Consolas"/>
                <a:cs typeface="Consolas"/>
              </a:rPr>
              <a:t>); xhttp.send();</a:t>
            </a:r>
            <a:endParaRPr sz="18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62050" y="2675966"/>
            <a:ext cx="5583555" cy="1416050"/>
          </a:xfrm>
          <a:prstGeom prst="rect">
            <a:avLst/>
          </a:prstGeom>
        </p:spPr>
        <p:txBody>
          <a:bodyPr wrap="square" lIns="0" tIns="95250" rIns="0" bIns="0" rtlCol="0" vert="horz">
            <a:spAutoFit/>
          </a:bodyPr>
          <a:lstStyle/>
          <a:p>
            <a:pPr marL="12700" marR="5080">
              <a:lnSpc>
                <a:spcPts val="5190"/>
              </a:lnSpc>
              <a:spcBef>
                <a:spcPts val="750"/>
              </a:spcBef>
            </a:pPr>
            <a:r>
              <a:rPr dirty="0" sz="4800" b="1">
                <a:solidFill>
                  <a:srgbClr val="111F35"/>
                </a:solidFill>
                <a:latin typeface="Tahoma"/>
                <a:cs typeface="Tahoma"/>
              </a:rPr>
              <a:t>THE</a:t>
            </a:r>
            <a:r>
              <a:rPr dirty="0" sz="4800" spc="-100" b="1">
                <a:solidFill>
                  <a:srgbClr val="111F35"/>
                </a:solidFill>
                <a:latin typeface="Tahoma"/>
                <a:cs typeface="Tahoma"/>
              </a:rPr>
              <a:t> </a:t>
            </a:r>
            <a:r>
              <a:rPr dirty="0" sz="4800" spc="650" b="1">
                <a:solidFill>
                  <a:srgbClr val="111F35"/>
                </a:solidFill>
                <a:latin typeface="Tahoma"/>
                <a:cs typeface="Tahoma"/>
              </a:rPr>
              <a:t>TO-</a:t>
            </a:r>
            <a:r>
              <a:rPr dirty="0" sz="4800" spc="220" b="1">
                <a:solidFill>
                  <a:srgbClr val="111F35"/>
                </a:solidFill>
                <a:latin typeface="Tahoma"/>
                <a:cs typeface="Tahoma"/>
              </a:rPr>
              <a:t>DO</a:t>
            </a:r>
            <a:r>
              <a:rPr dirty="0" sz="4800" spc="-95" b="1">
                <a:solidFill>
                  <a:srgbClr val="111F35"/>
                </a:solidFill>
                <a:latin typeface="Tahoma"/>
                <a:cs typeface="Tahoma"/>
              </a:rPr>
              <a:t> </a:t>
            </a:r>
            <a:r>
              <a:rPr dirty="0" sz="4800" spc="-360" b="1">
                <a:solidFill>
                  <a:srgbClr val="111F35"/>
                </a:solidFill>
                <a:latin typeface="Tahoma"/>
                <a:cs typeface="Tahoma"/>
              </a:rPr>
              <a:t>LIST </a:t>
            </a:r>
            <a:r>
              <a:rPr dirty="0" sz="4800" spc="-25" b="1">
                <a:solidFill>
                  <a:srgbClr val="111F35"/>
                </a:solidFill>
                <a:latin typeface="Tahoma"/>
                <a:cs typeface="Tahoma"/>
              </a:rPr>
              <a:t>SINGLE</a:t>
            </a:r>
            <a:r>
              <a:rPr dirty="0" sz="4800" spc="-100" b="1">
                <a:solidFill>
                  <a:srgbClr val="111F35"/>
                </a:solidFill>
                <a:latin typeface="Tahoma"/>
                <a:cs typeface="Tahoma"/>
              </a:rPr>
              <a:t> </a:t>
            </a:r>
            <a:r>
              <a:rPr dirty="0" sz="4800" spc="60" b="1">
                <a:solidFill>
                  <a:srgbClr val="111F35"/>
                </a:solidFill>
                <a:latin typeface="Tahoma"/>
                <a:cs typeface="Tahoma"/>
              </a:rPr>
              <a:t>PAGE</a:t>
            </a:r>
            <a:r>
              <a:rPr dirty="0" sz="4800" spc="-95" b="1">
                <a:solidFill>
                  <a:srgbClr val="111F35"/>
                </a:solidFill>
                <a:latin typeface="Tahoma"/>
                <a:cs typeface="Tahoma"/>
              </a:rPr>
              <a:t> </a:t>
            </a:r>
            <a:r>
              <a:rPr dirty="0" sz="4800" spc="-25" b="1">
                <a:solidFill>
                  <a:srgbClr val="111F35"/>
                </a:solidFill>
                <a:latin typeface="Tahoma"/>
                <a:cs typeface="Tahoma"/>
              </a:rPr>
              <a:t>APP</a:t>
            </a:r>
            <a:endParaRPr sz="4800">
              <a:latin typeface="Tahoma"/>
              <a:cs typeface="Tahoma"/>
            </a:endParaRPr>
          </a:p>
        </p:txBody>
      </p:sp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30"/>
              <a:t> </a:t>
            </a:r>
            <a:r>
              <a:rPr dirty="0"/>
              <a:t>II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30"/>
              <a:t> </a:t>
            </a:r>
            <a:r>
              <a:rPr dirty="0"/>
              <a:t>Course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30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18</a:t>
            </a:r>
            <a:r>
              <a:rPr dirty="0" spc="-1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Single</a:t>
            </a:r>
            <a:r>
              <a:rPr dirty="0" spc="-40"/>
              <a:t> </a:t>
            </a:r>
            <a:r>
              <a:rPr dirty="0"/>
              <a:t>Page</a:t>
            </a:r>
            <a:r>
              <a:rPr dirty="0" spc="-15"/>
              <a:t> </a:t>
            </a:r>
            <a:r>
              <a:rPr dirty="0" spc="-10"/>
              <a:t>Applications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4235272"/>
            <a:ext cx="577024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i="1">
                <a:solidFill>
                  <a:srgbClr val="006379"/>
                </a:solidFill>
                <a:latin typeface="Calibri"/>
                <a:cs typeface="Calibri"/>
              </a:rPr>
              <a:t>Developed</a:t>
            </a:r>
            <a:r>
              <a:rPr dirty="0" sz="2400" spc="-80" i="1">
                <a:solidFill>
                  <a:srgbClr val="006379"/>
                </a:solidFill>
                <a:latin typeface="Calibri"/>
                <a:cs typeface="Calibri"/>
              </a:rPr>
              <a:t> </a:t>
            </a:r>
            <a:r>
              <a:rPr dirty="0" sz="2400" i="1">
                <a:solidFill>
                  <a:srgbClr val="006379"/>
                </a:solidFill>
                <a:latin typeface="Calibri"/>
                <a:cs typeface="Calibri"/>
              </a:rPr>
              <a:t>from</a:t>
            </a:r>
            <a:r>
              <a:rPr dirty="0" sz="2400" spc="-75" i="1">
                <a:solidFill>
                  <a:srgbClr val="006379"/>
                </a:solidFill>
                <a:latin typeface="Calibri"/>
                <a:cs typeface="Calibri"/>
              </a:rPr>
              <a:t> </a:t>
            </a:r>
            <a:r>
              <a:rPr dirty="0" sz="2400" i="1">
                <a:solidFill>
                  <a:srgbClr val="006379"/>
                </a:solidFill>
                <a:latin typeface="Calibri"/>
                <a:cs typeface="Calibri"/>
              </a:rPr>
              <a:t>scratch</a:t>
            </a:r>
            <a:r>
              <a:rPr dirty="0" sz="2400" spc="-80" i="1">
                <a:solidFill>
                  <a:srgbClr val="006379"/>
                </a:solidFill>
                <a:latin typeface="Calibri"/>
                <a:cs typeface="Calibri"/>
              </a:rPr>
              <a:t> </a:t>
            </a:r>
            <a:r>
              <a:rPr dirty="0" sz="2400" i="1">
                <a:solidFill>
                  <a:srgbClr val="006379"/>
                </a:solidFill>
                <a:latin typeface="Calibri"/>
                <a:cs typeface="Calibri"/>
              </a:rPr>
              <a:t>using</a:t>
            </a:r>
            <a:r>
              <a:rPr dirty="0" sz="2400" spc="-70" i="1">
                <a:solidFill>
                  <a:srgbClr val="006379"/>
                </a:solidFill>
                <a:latin typeface="Calibri"/>
                <a:cs typeface="Calibri"/>
              </a:rPr>
              <a:t> </a:t>
            </a:r>
            <a:r>
              <a:rPr dirty="0" sz="2400" i="1">
                <a:solidFill>
                  <a:srgbClr val="006379"/>
                </a:solidFill>
                <a:latin typeface="Calibri"/>
                <a:cs typeface="Calibri"/>
              </a:rPr>
              <a:t>plain</a:t>
            </a:r>
            <a:r>
              <a:rPr dirty="0" sz="2400" spc="-75" i="1">
                <a:solidFill>
                  <a:srgbClr val="006379"/>
                </a:solidFill>
                <a:latin typeface="Calibri"/>
                <a:cs typeface="Calibri"/>
              </a:rPr>
              <a:t> </a:t>
            </a:r>
            <a:r>
              <a:rPr dirty="0" sz="2400" spc="-10" i="1">
                <a:solidFill>
                  <a:srgbClr val="006379"/>
                </a:solidFill>
                <a:latin typeface="Calibri"/>
                <a:cs typeface="Calibri"/>
              </a:rPr>
              <a:t>JavaScript!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THE</a:t>
            </a:r>
            <a:r>
              <a:rPr dirty="0" spc="-20"/>
              <a:t> </a:t>
            </a:r>
            <a:r>
              <a:rPr dirty="0" spc="495"/>
              <a:t>TO-</a:t>
            </a:r>
            <a:r>
              <a:rPr dirty="0" spc="165"/>
              <a:t>DO</a:t>
            </a:r>
            <a:r>
              <a:rPr dirty="0" spc="10"/>
              <a:t> </a:t>
            </a:r>
            <a:r>
              <a:rPr dirty="0" spc="-254"/>
              <a:t>LIST</a:t>
            </a:r>
            <a:r>
              <a:rPr dirty="0" spc="-5"/>
              <a:t> </a:t>
            </a:r>
            <a:r>
              <a:rPr dirty="0" spc="-25"/>
              <a:t>SINGLE </a:t>
            </a:r>
            <a:r>
              <a:rPr dirty="0"/>
              <a:t>PAGE</a:t>
            </a:r>
            <a:r>
              <a:rPr dirty="0" spc="5"/>
              <a:t> </a:t>
            </a:r>
            <a:r>
              <a:rPr dirty="0" spc="-25"/>
              <a:t>APP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1446872"/>
            <a:ext cx="6636384" cy="2840355"/>
          </a:xfrm>
          <a:prstGeom prst="rect">
            <a:avLst/>
          </a:prstGeom>
        </p:spPr>
        <p:txBody>
          <a:bodyPr wrap="square" lIns="0" tIns="98425" rIns="0" bIns="0" rtlCol="0" vert="horz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77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Let’s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implement</a:t>
            </a:r>
            <a:r>
              <a:rPr dirty="0" sz="2800" spc="-1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our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95">
                <a:solidFill>
                  <a:srgbClr val="111F35"/>
                </a:solidFill>
                <a:latin typeface="Calibri"/>
                <a:cs typeface="Calibri"/>
              </a:rPr>
              <a:t>To-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do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List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App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as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SPA!</a:t>
            </a:r>
            <a:endParaRPr sz="2800">
              <a:latin typeface="Calibri"/>
              <a:cs typeface="Calibri"/>
            </a:endParaRPr>
          </a:p>
          <a:p>
            <a:pPr marL="240029" marR="154305" indent="-227329">
              <a:lnSpc>
                <a:spcPts val="3020"/>
              </a:lnSpc>
              <a:spcBef>
                <a:spcPts val="106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We’ll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use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REST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API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we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developed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the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earlier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lectures</a:t>
            </a:r>
            <a:endParaRPr sz="2800">
              <a:latin typeface="Calibri"/>
              <a:cs typeface="Calibri"/>
            </a:endParaRPr>
          </a:p>
          <a:p>
            <a:pPr marL="240029" marR="177800" indent="-227329">
              <a:lnSpc>
                <a:spcPts val="3030"/>
              </a:lnSpc>
              <a:spcBef>
                <a:spcPts val="994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And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we’ll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add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sleek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SPA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frontend,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written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plain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JavaScript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1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Live</a:t>
            </a:r>
            <a:r>
              <a:rPr dirty="0" sz="2800" spc="-7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demo</a:t>
            </a:r>
            <a:r>
              <a:rPr dirty="0" sz="2800" spc="-6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111F35"/>
                </a:solidFill>
                <a:latin typeface="Calibri"/>
                <a:cs typeface="Calibri"/>
              </a:rPr>
              <a:t>time!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50885" y="2110739"/>
            <a:ext cx="3458718" cy="3521964"/>
          </a:xfrm>
          <a:prstGeom prst="rect">
            <a:avLst/>
          </a:prstGeom>
        </p:spPr>
      </p:pic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30"/>
              <a:t> </a:t>
            </a:r>
            <a:r>
              <a:rPr dirty="0"/>
              <a:t>II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30"/>
              <a:t> </a:t>
            </a:r>
            <a:r>
              <a:rPr dirty="0"/>
              <a:t>Course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30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18</a:t>
            </a:r>
            <a:r>
              <a:rPr dirty="0" spc="-1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Single</a:t>
            </a:r>
            <a:r>
              <a:rPr dirty="0" spc="-40"/>
              <a:t> </a:t>
            </a:r>
            <a:r>
              <a:rPr dirty="0"/>
              <a:t>Page</a:t>
            </a:r>
            <a:r>
              <a:rPr dirty="0" spc="-15"/>
              <a:t> </a:t>
            </a:r>
            <a:r>
              <a:rPr dirty="0" spc="-10"/>
              <a:t>Applications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THE</a:t>
            </a:r>
            <a:r>
              <a:rPr dirty="0" spc="-55"/>
              <a:t> </a:t>
            </a:r>
            <a:r>
              <a:rPr dirty="0" spc="495"/>
              <a:t>TO-</a:t>
            </a:r>
            <a:r>
              <a:rPr dirty="0" spc="165"/>
              <a:t>DO</a:t>
            </a:r>
            <a:r>
              <a:rPr dirty="0" spc="-10"/>
              <a:t> </a:t>
            </a:r>
            <a:r>
              <a:rPr dirty="0" spc="-254"/>
              <a:t>LIST</a:t>
            </a:r>
            <a:r>
              <a:rPr dirty="0" spc="-10"/>
              <a:t> </a:t>
            </a:r>
            <a:r>
              <a:rPr dirty="0" spc="40"/>
              <a:t>COMPONENT</a:t>
            </a:r>
          </a:p>
        </p:txBody>
      </p:sp>
      <p:sp>
        <p:nvSpPr>
          <p:cNvPr id="3" name="object 3" descr=""/>
          <p:cNvSpPr/>
          <p:nvPr/>
        </p:nvSpPr>
        <p:spPr>
          <a:xfrm>
            <a:off x="882396" y="1470660"/>
            <a:ext cx="10427335" cy="4800600"/>
          </a:xfrm>
          <a:custGeom>
            <a:avLst/>
            <a:gdLst/>
            <a:ahLst/>
            <a:cxnLst/>
            <a:rect l="l" t="t" r="r" b="b"/>
            <a:pathLst>
              <a:path w="10427335" h="4800600">
                <a:moveTo>
                  <a:pt x="0" y="4800600"/>
                </a:moveTo>
                <a:lnTo>
                  <a:pt x="10427208" y="4800600"/>
                </a:lnTo>
                <a:lnTo>
                  <a:pt x="10427208" y="0"/>
                </a:lnTo>
                <a:lnTo>
                  <a:pt x="0" y="0"/>
                </a:lnTo>
                <a:lnTo>
                  <a:pt x="0" y="4800600"/>
                </a:lnTo>
                <a:close/>
              </a:path>
            </a:pathLst>
          </a:custGeom>
          <a:ln w="12700">
            <a:solidFill>
              <a:srgbClr val="111F3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962050" y="1489913"/>
            <a:ext cx="6795134" cy="46907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class</a:t>
            </a:r>
            <a:r>
              <a:rPr dirty="0" sz="1800" spc="-4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TodoList</a:t>
            </a:r>
            <a:r>
              <a:rPr dirty="0" sz="1800" spc="-55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extends</a:t>
            </a:r>
            <a:r>
              <a:rPr dirty="0" sz="1800" spc="-5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HTMLElement</a:t>
            </a:r>
            <a:r>
              <a:rPr dirty="0" sz="1800" spc="-50">
                <a:latin typeface="Consolas"/>
                <a:cs typeface="Consolas"/>
              </a:rPr>
              <a:t> {</a:t>
            </a:r>
            <a:endParaRPr sz="1800">
              <a:latin typeface="Consolas"/>
              <a:cs typeface="Consolas"/>
            </a:endParaRPr>
          </a:p>
          <a:p>
            <a:pPr marL="262255" marR="4644390">
              <a:lnSpc>
                <a:spcPct val="100000"/>
              </a:lnSpc>
              <a:spcBef>
                <a:spcPts val="5"/>
              </a:spcBef>
            </a:pPr>
            <a:r>
              <a:rPr dirty="0" sz="1800">
                <a:latin typeface="Consolas"/>
                <a:cs typeface="Consolas"/>
              </a:rPr>
              <a:t>list</a:t>
            </a:r>
            <a:r>
              <a:rPr dirty="0" sz="1800" spc="-2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 spc="-10">
                <a:latin typeface="Consolas"/>
                <a:cs typeface="Consolas"/>
              </a:rPr>
              <a:t> </a:t>
            </a:r>
            <a:r>
              <a:rPr dirty="0" sz="1800" spc="-25">
                <a:latin typeface="Consolas"/>
                <a:cs typeface="Consolas"/>
              </a:rPr>
              <a:t>[];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constructor</a:t>
            </a:r>
            <a:r>
              <a:rPr dirty="0" sz="1800">
                <a:latin typeface="Consolas"/>
                <a:cs typeface="Consolas"/>
              </a:rPr>
              <a:t>()</a:t>
            </a:r>
            <a:r>
              <a:rPr dirty="0" sz="1800" spc="-65">
                <a:latin typeface="Consolas"/>
                <a:cs typeface="Consolas"/>
              </a:rPr>
              <a:t> </a:t>
            </a:r>
            <a:r>
              <a:rPr dirty="0" sz="1800" spc="-50">
                <a:latin typeface="Consolas"/>
                <a:cs typeface="Consolas"/>
              </a:rPr>
              <a:t>{</a:t>
            </a:r>
            <a:endParaRPr sz="1800">
              <a:latin typeface="Consolas"/>
              <a:cs typeface="Consolas"/>
            </a:endParaRPr>
          </a:p>
          <a:p>
            <a:pPr marL="512445">
              <a:lnSpc>
                <a:spcPct val="100000"/>
              </a:lnSpc>
            </a:pPr>
            <a:r>
              <a:rPr dirty="0" sz="1800" spc="-10">
                <a:solidFill>
                  <a:srgbClr val="0000FF"/>
                </a:solidFill>
                <a:latin typeface="Consolas"/>
                <a:cs typeface="Consolas"/>
              </a:rPr>
              <a:t>super</a:t>
            </a:r>
            <a:r>
              <a:rPr dirty="0" sz="1800" spc="-10">
                <a:latin typeface="Consolas"/>
                <a:cs typeface="Consolas"/>
              </a:rPr>
              <a:t>();</a:t>
            </a:r>
            <a:endParaRPr sz="1800">
              <a:latin typeface="Consolas"/>
              <a:cs typeface="Consolas"/>
            </a:endParaRPr>
          </a:p>
          <a:p>
            <a:pPr marL="512445">
              <a:lnSpc>
                <a:spcPct val="100000"/>
              </a:lnSpc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this</a:t>
            </a:r>
            <a:r>
              <a:rPr dirty="0" sz="1800">
                <a:latin typeface="Consolas"/>
                <a:cs typeface="Consolas"/>
              </a:rPr>
              <a:t>.innerHTML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 spc="-20"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8000"/>
                </a:solidFill>
                <a:latin typeface="Consolas"/>
                <a:cs typeface="Consolas"/>
              </a:rPr>
              <a:t>/*html*/</a:t>
            </a:r>
            <a:r>
              <a:rPr dirty="0" sz="1800" spc="-10">
                <a:latin typeface="Consolas"/>
                <a:cs typeface="Consolas"/>
              </a:rPr>
              <a:t>;</a:t>
            </a:r>
            <a:endParaRPr sz="1800">
              <a:latin typeface="Consolas"/>
              <a:cs typeface="Consolas"/>
            </a:endParaRPr>
          </a:p>
          <a:p>
            <a:pPr marL="512445">
              <a:lnSpc>
                <a:spcPct val="100000"/>
              </a:lnSpc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this</a:t>
            </a:r>
            <a:r>
              <a:rPr dirty="0" sz="1800">
                <a:latin typeface="Consolas"/>
                <a:cs typeface="Consolas"/>
              </a:rPr>
              <a:t>.list</a:t>
            </a:r>
            <a:r>
              <a:rPr dirty="0" sz="1800" spc="-5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 spc="-60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this</a:t>
            </a:r>
            <a:r>
              <a:rPr dirty="0" sz="1800">
                <a:latin typeface="Consolas"/>
                <a:cs typeface="Consolas"/>
              </a:rPr>
              <a:t>.fetchTodoItems().then(</a:t>
            </a:r>
            <a:r>
              <a:rPr dirty="0" sz="1800" spc="-5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(res)</a:t>
            </a:r>
            <a:r>
              <a:rPr dirty="0" sz="1800" spc="-50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=&gt;</a:t>
            </a:r>
            <a:r>
              <a:rPr dirty="0" sz="1800" spc="-4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 spc="-50">
                <a:latin typeface="Consolas"/>
                <a:cs typeface="Consolas"/>
              </a:rPr>
              <a:t>{</a:t>
            </a:r>
            <a:endParaRPr sz="1800">
              <a:latin typeface="Consolas"/>
              <a:cs typeface="Consolas"/>
            </a:endParaRPr>
          </a:p>
          <a:p>
            <a:pPr marL="763905">
              <a:lnSpc>
                <a:spcPct val="100000"/>
              </a:lnSpc>
            </a:pPr>
            <a:r>
              <a:rPr dirty="0" sz="1800" spc="-10">
                <a:solidFill>
                  <a:srgbClr val="0000FF"/>
                </a:solidFill>
                <a:latin typeface="Consolas"/>
                <a:cs typeface="Consolas"/>
              </a:rPr>
              <a:t>this</a:t>
            </a:r>
            <a:r>
              <a:rPr dirty="0" sz="1800" spc="-10">
                <a:latin typeface="Consolas"/>
                <a:cs typeface="Consolas"/>
              </a:rPr>
              <a:t>.updateTodoList(res);</a:t>
            </a:r>
            <a:endParaRPr sz="1800">
              <a:latin typeface="Consolas"/>
              <a:cs typeface="Consolas"/>
            </a:endParaRPr>
          </a:p>
          <a:p>
            <a:pPr marL="512445">
              <a:lnSpc>
                <a:spcPct val="100000"/>
              </a:lnSpc>
            </a:pPr>
            <a:r>
              <a:rPr dirty="0" sz="1800" spc="-25">
                <a:latin typeface="Consolas"/>
                <a:cs typeface="Consolas"/>
              </a:rPr>
              <a:t>});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800">
              <a:latin typeface="Consolas"/>
              <a:cs typeface="Consolas"/>
            </a:endParaRPr>
          </a:p>
          <a:p>
            <a:pPr marL="512445" marR="508000">
              <a:lnSpc>
                <a:spcPct val="100000"/>
              </a:lnSpc>
              <a:spcBef>
                <a:spcPts val="5"/>
              </a:spcBef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let</a:t>
            </a:r>
            <a:r>
              <a:rPr dirty="0" sz="1800" spc="3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btn</a:t>
            </a:r>
            <a:r>
              <a:rPr dirty="0" sz="1800" spc="4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 spc="30"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00FF"/>
                </a:solidFill>
                <a:latin typeface="Consolas"/>
                <a:cs typeface="Consolas"/>
              </a:rPr>
              <a:t>this</a:t>
            </a:r>
            <a:r>
              <a:rPr dirty="0" sz="1800" spc="-10">
                <a:latin typeface="Consolas"/>
                <a:cs typeface="Consolas"/>
              </a:rPr>
              <a:t>.querySelector(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"#save-todo"</a:t>
            </a:r>
            <a:r>
              <a:rPr dirty="0" sz="1800" spc="-10">
                <a:latin typeface="Consolas"/>
                <a:cs typeface="Consolas"/>
              </a:rPr>
              <a:t>);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let</a:t>
            </a:r>
            <a:r>
              <a:rPr dirty="0" sz="1800" spc="3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input</a:t>
            </a:r>
            <a:r>
              <a:rPr dirty="0" sz="1800" spc="3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 spc="30">
                <a:latin typeface="Consolas"/>
                <a:cs typeface="Consolas"/>
              </a:rPr>
              <a:t> </a:t>
            </a:r>
            <a:r>
              <a:rPr dirty="0" sz="1800" spc="-10">
                <a:solidFill>
                  <a:srgbClr val="0000FF"/>
                </a:solidFill>
                <a:latin typeface="Consolas"/>
                <a:cs typeface="Consolas"/>
              </a:rPr>
              <a:t>this</a:t>
            </a:r>
            <a:r>
              <a:rPr dirty="0" sz="1800" spc="-10">
                <a:latin typeface="Consolas"/>
                <a:cs typeface="Consolas"/>
              </a:rPr>
              <a:t>.querySelector(</a:t>
            </a:r>
            <a:r>
              <a:rPr dirty="0" sz="1800" spc="-10">
                <a:solidFill>
                  <a:srgbClr val="A21515"/>
                </a:solidFill>
                <a:latin typeface="Consolas"/>
                <a:cs typeface="Consolas"/>
              </a:rPr>
              <a:t>"#todo-input"</a:t>
            </a:r>
            <a:r>
              <a:rPr dirty="0" sz="1800" spc="-10">
                <a:latin typeface="Consolas"/>
                <a:cs typeface="Consolas"/>
              </a:rPr>
              <a:t>); </a:t>
            </a:r>
            <a:r>
              <a:rPr dirty="0" sz="1800">
                <a:latin typeface="Consolas"/>
                <a:cs typeface="Consolas"/>
              </a:rPr>
              <a:t>btn.onclick</a:t>
            </a:r>
            <a:r>
              <a:rPr dirty="0" sz="1800" spc="-4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=</a:t>
            </a:r>
            <a:r>
              <a:rPr dirty="0" sz="1800" spc="-2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()</a:t>
            </a:r>
            <a:r>
              <a:rPr dirty="0" sz="1800" spc="-20">
                <a:latin typeface="Consolas"/>
                <a:cs typeface="Consolas"/>
              </a:rPr>
              <a:t>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=&gt;</a:t>
            </a:r>
            <a:r>
              <a:rPr dirty="0" sz="1800" spc="-2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latin typeface="Consolas"/>
                <a:cs typeface="Consolas"/>
              </a:rPr>
              <a:t>{</a:t>
            </a:r>
            <a:r>
              <a:rPr dirty="0" sz="1800" spc="-10">
                <a:solidFill>
                  <a:srgbClr val="008000"/>
                </a:solidFill>
                <a:latin typeface="Consolas"/>
                <a:cs typeface="Consolas"/>
              </a:rPr>
              <a:t>/*...*/</a:t>
            </a:r>
            <a:r>
              <a:rPr dirty="0" sz="1800" spc="-10">
                <a:latin typeface="Consolas"/>
                <a:cs typeface="Consolas"/>
              </a:rPr>
              <a:t>};</a:t>
            </a:r>
            <a:endParaRPr sz="1800">
              <a:latin typeface="Consolas"/>
              <a:cs typeface="Consolas"/>
            </a:endParaRPr>
          </a:p>
          <a:p>
            <a:pPr marL="262255">
              <a:lnSpc>
                <a:spcPct val="100000"/>
              </a:lnSpc>
            </a:pPr>
            <a:r>
              <a:rPr dirty="0" sz="1800" spc="-5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  <a:p>
            <a:pPr algn="just" marL="262255" marR="2637155">
              <a:lnSpc>
                <a:spcPct val="100000"/>
              </a:lnSpc>
            </a:pP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async</a:t>
            </a:r>
            <a:r>
              <a:rPr dirty="0" sz="1800" spc="-1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latin typeface="Consolas"/>
                <a:cs typeface="Consolas"/>
              </a:rPr>
              <a:t>fetchTodoItems(){</a:t>
            </a:r>
            <a:r>
              <a:rPr dirty="0" sz="1800" spc="-10">
                <a:solidFill>
                  <a:srgbClr val="008000"/>
                </a:solidFill>
                <a:latin typeface="Consolas"/>
                <a:cs typeface="Consolas"/>
              </a:rPr>
              <a:t>/*...*/</a:t>
            </a:r>
            <a:r>
              <a:rPr dirty="0" sz="1800" spc="-10">
                <a:latin typeface="Consolas"/>
                <a:cs typeface="Consolas"/>
              </a:rPr>
              <a:t>} </a:t>
            </a:r>
            <a:r>
              <a:rPr dirty="0" sz="1800">
                <a:latin typeface="Consolas"/>
                <a:cs typeface="Consolas"/>
              </a:rPr>
              <a:t>updateTodoList(list){</a:t>
            </a:r>
            <a:r>
              <a:rPr dirty="0" sz="1800">
                <a:solidFill>
                  <a:srgbClr val="008000"/>
                </a:solidFill>
                <a:latin typeface="Consolas"/>
                <a:cs typeface="Consolas"/>
              </a:rPr>
              <a:t>/*...*/</a:t>
            </a:r>
            <a:r>
              <a:rPr dirty="0" sz="1800" spc="-55">
                <a:solidFill>
                  <a:srgbClr val="008000"/>
                </a:solidFill>
                <a:latin typeface="Consolas"/>
                <a:cs typeface="Consolas"/>
              </a:rPr>
              <a:t>  </a:t>
            </a:r>
            <a:r>
              <a:rPr dirty="0" sz="1800" spc="-50">
                <a:latin typeface="Consolas"/>
                <a:cs typeface="Consolas"/>
              </a:rPr>
              <a:t>} </a:t>
            </a:r>
            <a:r>
              <a:rPr dirty="0" sz="1800">
                <a:solidFill>
                  <a:srgbClr val="0000FF"/>
                </a:solidFill>
                <a:latin typeface="Consolas"/>
                <a:cs typeface="Consolas"/>
              </a:rPr>
              <a:t>async</a:t>
            </a:r>
            <a:r>
              <a:rPr dirty="0" sz="1800" spc="-25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dirty="0" sz="1800" spc="-10">
                <a:latin typeface="Consolas"/>
                <a:cs typeface="Consolas"/>
              </a:rPr>
              <a:t>saveTodo(toSave){</a:t>
            </a:r>
            <a:r>
              <a:rPr dirty="0" sz="1800" spc="-10">
                <a:solidFill>
                  <a:srgbClr val="008000"/>
                </a:solidFill>
                <a:latin typeface="Consolas"/>
                <a:cs typeface="Consolas"/>
              </a:rPr>
              <a:t>/*...*/</a:t>
            </a:r>
            <a:r>
              <a:rPr dirty="0" sz="1800" spc="-1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dirty="0" sz="1800" spc="-50">
                <a:latin typeface="Consolas"/>
                <a:cs typeface="Consolas"/>
              </a:rPr>
              <a:t>}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30"/>
              <a:t> </a:t>
            </a:r>
            <a:r>
              <a:rPr dirty="0"/>
              <a:t>II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30"/>
              <a:t> </a:t>
            </a:r>
            <a:r>
              <a:rPr dirty="0"/>
              <a:t>Course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30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18</a:t>
            </a:r>
            <a:r>
              <a:rPr dirty="0" spc="-1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Single</a:t>
            </a:r>
            <a:r>
              <a:rPr dirty="0" spc="-40"/>
              <a:t> </a:t>
            </a:r>
            <a:r>
              <a:rPr dirty="0"/>
              <a:t>Page</a:t>
            </a:r>
            <a:r>
              <a:rPr dirty="0" spc="-15"/>
              <a:t> </a:t>
            </a:r>
            <a:r>
              <a:rPr dirty="0" spc="-10"/>
              <a:t>Applications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THE</a:t>
            </a:r>
            <a:r>
              <a:rPr dirty="0" spc="-55"/>
              <a:t> </a:t>
            </a:r>
            <a:r>
              <a:rPr dirty="0" spc="495"/>
              <a:t>TO-</a:t>
            </a:r>
            <a:r>
              <a:rPr dirty="0" spc="165"/>
              <a:t>DO</a:t>
            </a:r>
            <a:r>
              <a:rPr dirty="0" spc="-10"/>
              <a:t> </a:t>
            </a:r>
            <a:r>
              <a:rPr dirty="0" spc="-254"/>
              <a:t>LIST</a:t>
            </a:r>
            <a:r>
              <a:rPr dirty="0" spc="-10"/>
              <a:t> </a:t>
            </a:r>
            <a:r>
              <a:rPr dirty="0" spc="40"/>
              <a:t>COMPONENT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64652" y="2907792"/>
            <a:ext cx="3201924" cy="3435096"/>
          </a:xfrm>
          <a:prstGeom prst="rect">
            <a:avLst/>
          </a:prstGeom>
        </p:spPr>
      </p:pic>
      <p:graphicFrame>
        <p:nvGraphicFramePr>
          <p:cNvPr id="4" name="object 4" descr=""/>
          <p:cNvGraphicFramePr>
            <a:graphicFrameLocks noGrp="1"/>
          </p:cNvGraphicFramePr>
          <p:nvPr/>
        </p:nvGraphicFramePr>
        <p:xfrm>
          <a:off x="876046" y="1741677"/>
          <a:ext cx="10678160" cy="45980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377430"/>
                <a:gridCol w="3049904"/>
                <a:gridCol w="161925"/>
              </a:tblGrid>
              <a:tr h="1154430">
                <a:tc gridSpan="2"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80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constructor</a:t>
                      </a:r>
                      <a:r>
                        <a:rPr dirty="0" sz="1800">
                          <a:latin typeface="Consolas"/>
                          <a:cs typeface="Consolas"/>
                        </a:rPr>
                        <a:t>()</a:t>
                      </a:r>
                      <a:r>
                        <a:rPr dirty="0" sz="1800" spc="-90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 spc="-50">
                          <a:latin typeface="Consolas"/>
                          <a:cs typeface="Consolas"/>
                        </a:rPr>
                        <a:t>{</a:t>
                      </a:r>
                      <a:endParaRPr sz="1800">
                        <a:latin typeface="Consolas"/>
                        <a:cs typeface="Consolas"/>
                      </a:endParaRPr>
                    </a:p>
                    <a:p>
                      <a:pPr marL="591820">
                        <a:lnSpc>
                          <a:spcPct val="100000"/>
                        </a:lnSpc>
                      </a:pPr>
                      <a:r>
                        <a:rPr dirty="0" sz="1800" spc="-1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super</a:t>
                      </a:r>
                      <a:r>
                        <a:rPr dirty="0" sz="1800" spc="-10">
                          <a:latin typeface="Consolas"/>
                          <a:cs typeface="Consolas"/>
                        </a:rPr>
                        <a:t>();</a:t>
                      </a:r>
                      <a:endParaRPr sz="1800">
                        <a:latin typeface="Consolas"/>
                        <a:cs typeface="Consolas"/>
                      </a:endParaRPr>
                    </a:p>
                    <a:p>
                      <a:pPr marL="59182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80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this</a:t>
                      </a:r>
                      <a:r>
                        <a:rPr dirty="0" sz="1800">
                          <a:latin typeface="Consolas"/>
                          <a:cs typeface="Consolas"/>
                        </a:rPr>
                        <a:t>.innerHTML</a:t>
                      </a:r>
                      <a:r>
                        <a:rPr dirty="0" sz="1800" spc="-30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latin typeface="Consolas"/>
                          <a:cs typeface="Consolas"/>
                        </a:rPr>
                        <a:t>=</a:t>
                      </a:r>
                      <a:r>
                        <a:rPr dirty="0" sz="1800" spc="-20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 spc="-1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/*html*/</a:t>
                      </a:r>
                      <a:r>
                        <a:rPr dirty="0" sz="1800" spc="-10">
                          <a:solidFill>
                            <a:srgbClr val="A21515"/>
                          </a:solidFill>
                          <a:latin typeface="Consolas"/>
                          <a:cs typeface="Consolas"/>
                        </a:rPr>
                        <a:t>`</a:t>
                      </a:r>
                      <a:endParaRPr sz="1800">
                        <a:latin typeface="Consolas"/>
                        <a:cs typeface="Consolas"/>
                      </a:endParaRPr>
                    </a:p>
                    <a:p>
                      <a:pPr marL="843280">
                        <a:lnSpc>
                          <a:spcPct val="100000"/>
                        </a:lnSpc>
                      </a:pPr>
                      <a:r>
                        <a:rPr dirty="0" sz="1800">
                          <a:solidFill>
                            <a:srgbClr val="A21515"/>
                          </a:solidFill>
                          <a:latin typeface="Consolas"/>
                          <a:cs typeface="Consolas"/>
                        </a:rPr>
                        <a:t>&lt;input</a:t>
                      </a:r>
                      <a:r>
                        <a:rPr dirty="0" sz="1800" spc="-30">
                          <a:solidFill>
                            <a:srgbClr val="A21515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 spc="-10">
                          <a:solidFill>
                            <a:srgbClr val="A21515"/>
                          </a:solidFill>
                          <a:latin typeface="Consolas"/>
                          <a:cs typeface="Consolas"/>
                        </a:rPr>
                        <a:t>id="todo-</a:t>
                      </a:r>
                      <a:r>
                        <a:rPr dirty="0" sz="1800">
                          <a:solidFill>
                            <a:srgbClr val="A21515"/>
                          </a:solidFill>
                          <a:latin typeface="Consolas"/>
                          <a:cs typeface="Consolas"/>
                        </a:rPr>
                        <a:t>input"</a:t>
                      </a:r>
                      <a:r>
                        <a:rPr dirty="0" sz="1800" spc="-20">
                          <a:solidFill>
                            <a:srgbClr val="A21515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solidFill>
                            <a:srgbClr val="A21515"/>
                          </a:solidFill>
                          <a:latin typeface="Consolas"/>
                          <a:cs typeface="Consolas"/>
                        </a:rPr>
                        <a:t>placeholder="Write</a:t>
                      </a:r>
                      <a:r>
                        <a:rPr dirty="0" sz="1800" spc="-20">
                          <a:solidFill>
                            <a:srgbClr val="A21515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solidFill>
                            <a:srgbClr val="A21515"/>
                          </a:solidFill>
                          <a:latin typeface="Consolas"/>
                          <a:cs typeface="Consolas"/>
                        </a:rPr>
                        <a:t>your</a:t>
                      </a:r>
                      <a:r>
                        <a:rPr dirty="0" sz="1800" spc="-20">
                          <a:solidFill>
                            <a:srgbClr val="A21515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solidFill>
                            <a:srgbClr val="A21515"/>
                          </a:solidFill>
                          <a:latin typeface="Consolas"/>
                          <a:cs typeface="Consolas"/>
                        </a:rPr>
                        <a:t>To-dos</a:t>
                      </a:r>
                      <a:r>
                        <a:rPr dirty="0" sz="1800" spc="-20">
                          <a:solidFill>
                            <a:srgbClr val="A21515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 spc="-10">
                          <a:solidFill>
                            <a:srgbClr val="A21515"/>
                          </a:solidFill>
                          <a:latin typeface="Consolas"/>
                          <a:cs typeface="Consolas"/>
                        </a:rPr>
                        <a:t>here"&gt;&lt;/input&gt;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31750">
                    <a:lnL w="12700">
                      <a:solidFill>
                        <a:srgbClr val="111F35"/>
                      </a:solidFill>
                      <a:prstDash val="solid"/>
                    </a:lnL>
                    <a:lnR w="12700">
                      <a:solidFill>
                        <a:srgbClr val="111F35"/>
                      </a:solidFill>
                      <a:prstDash val="solid"/>
                    </a:lnR>
                    <a:lnT w="12700">
                      <a:solidFill>
                        <a:srgbClr val="111F35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111F35"/>
                      </a:solidFill>
                      <a:prstDash val="solid"/>
                    </a:lnL>
                    <a:lnB w="9525">
                      <a:solidFill>
                        <a:srgbClr val="111F35"/>
                      </a:solidFill>
                      <a:prstDash val="solid"/>
                    </a:lnB>
                  </a:tcPr>
                </a:tc>
              </a:tr>
              <a:tr h="3091815">
                <a:tc>
                  <a:txBody>
                    <a:bodyPr/>
                    <a:lstStyle/>
                    <a:p>
                      <a:pPr marL="843280">
                        <a:lnSpc>
                          <a:spcPts val="1960"/>
                        </a:lnSpc>
                      </a:pPr>
                      <a:r>
                        <a:rPr dirty="0" sz="1800">
                          <a:solidFill>
                            <a:srgbClr val="A21515"/>
                          </a:solidFill>
                          <a:latin typeface="Consolas"/>
                          <a:cs typeface="Consolas"/>
                        </a:rPr>
                        <a:t>&lt;button</a:t>
                      </a:r>
                      <a:r>
                        <a:rPr dirty="0" sz="1800" spc="-20">
                          <a:solidFill>
                            <a:srgbClr val="A21515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 spc="-10">
                          <a:solidFill>
                            <a:srgbClr val="A21515"/>
                          </a:solidFill>
                          <a:latin typeface="Consolas"/>
                          <a:cs typeface="Consolas"/>
                        </a:rPr>
                        <a:t>id="save-</a:t>
                      </a:r>
                      <a:r>
                        <a:rPr dirty="0" sz="1800">
                          <a:solidFill>
                            <a:srgbClr val="A21515"/>
                          </a:solidFill>
                          <a:latin typeface="Consolas"/>
                          <a:cs typeface="Consolas"/>
                        </a:rPr>
                        <a:t>todo"&gt;Save</a:t>
                      </a:r>
                      <a:r>
                        <a:rPr dirty="0" sz="1800" spc="-10">
                          <a:solidFill>
                            <a:srgbClr val="A21515"/>
                          </a:solidFill>
                          <a:latin typeface="Consolas"/>
                          <a:cs typeface="Consolas"/>
                        </a:rPr>
                        <a:t> To-</a:t>
                      </a:r>
                      <a:r>
                        <a:rPr dirty="0" sz="1800">
                          <a:solidFill>
                            <a:srgbClr val="A21515"/>
                          </a:solidFill>
                          <a:latin typeface="Consolas"/>
                          <a:cs typeface="Consolas"/>
                        </a:rPr>
                        <a:t>do</a:t>
                      </a:r>
                      <a:r>
                        <a:rPr dirty="0" sz="1800" spc="-5">
                          <a:solidFill>
                            <a:srgbClr val="A21515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 spc="-10">
                          <a:solidFill>
                            <a:srgbClr val="A21515"/>
                          </a:solidFill>
                          <a:latin typeface="Consolas"/>
                          <a:cs typeface="Consolas"/>
                        </a:rPr>
                        <a:t>Item&lt;/button&gt;</a:t>
                      </a:r>
                      <a:endParaRPr sz="1800">
                        <a:latin typeface="Consolas"/>
                        <a:cs typeface="Consolas"/>
                      </a:endParaRPr>
                    </a:p>
                    <a:p>
                      <a:pPr marL="843280">
                        <a:lnSpc>
                          <a:spcPct val="100000"/>
                        </a:lnSpc>
                      </a:pPr>
                      <a:r>
                        <a:rPr dirty="0" sz="1800" spc="-10">
                          <a:solidFill>
                            <a:srgbClr val="A21515"/>
                          </a:solidFill>
                          <a:latin typeface="Consolas"/>
                          <a:cs typeface="Consolas"/>
                        </a:rPr>
                        <a:t>&lt;h3&gt;To-</a:t>
                      </a:r>
                      <a:r>
                        <a:rPr dirty="0" sz="1800">
                          <a:solidFill>
                            <a:srgbClr val="A21515"/>
                          </a:solidFill>
                          <a:latin typeface="Consolas"/>
                          <a:cs typeface="Consolas"/>
                        </a:rPr>
                        <a:t>do</a:t>
                      </a:r>
                      <a:r>
                        <a:rPr dirty="0" sz="1800" spc="25">
                          <a:solidFill>
                            <a:srgbClr val="A21515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 spc="-10">
                          <a:solidFill>
                            <a:srgbClr val="A21515"/>
                          </a:solidFill>
                          <a:latin typeface="Consolas"/>
                          <a:cs typeface="Consolas"/>
                        </a:rPr>
                        <a:t>List&lt;/h3&gt;</a:t>
                      </a:r>
                      <a:endParaRPr sz="1800">
                        <a:latin typeface="Consolas"/>
                        <a:cs typeface="Consolas"/>
                      </a:endParaRPr>
                    </a:p>
                    <a:p>
                      <a:pPr marL="843280">
                        <a:lnSpc>
                          <a:spcPct val="100000"/>
                        </a:lnSpc>
                      </a:pPr>
                      <a:r>
                        <a:rPr dirty="0" sz="1800">
                          <a:solidFill>
                            <a:srgbClr val="A21515"/>
                          </a:solidFill>
                          <a:latin typeface="Consolas"/>
                          <a:cs typeface="Consolas"/>
                        </a:rPr>
                        <a:t>&lt;ul</a:t>
                      </a:r>
                      <a:r>
                        <a:rPr dirty="0" sz="1800" spc="15">
                          <a:solidFill>
                            <a:srgbClr val="A21515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 spc="-10">
                          <a:solidFill>
                            <a:srgbClr val="A21515"/>
                          </a:solidFill>
                          <a:latin typeface="Consolas"/>
                          <a:cs typeface="Consolas"/>
                        </a:rPr>
                        <a:t>id="the-list"&gt;&lt;/ul&gt;</a:t>
                      </a:r>
                      <a:endParaRPr sz="1800">
                        <a:latin typeface="Consolas"/>
                        <a:cs typeface="Consolas"/>
                      </a:endParaRPr>
                    </a:p>
                    <a:p>
                      <a:pPr marL="591820">
                        <a:lnSpc>
                          <a:spcPct val="100000"/>
                        </a:lnSpc>
                      </a:pPr>
                      <a:r>
                        <a:rPr dirty="0" sz="1800" spc="-25">
                          <a:solidFill>
                            <a:srgbClr val="A21515"/>
                          </a:solidFill>
                          <a:latin typeface="Consolas"/>
                          <a:cs typeface="Consolas"/>
                        </a:rPr>
                        <a:t>`</a:t>
                      </a:r>
                      <a:r>
                        <a:rPr dirty="0" sz="1800" spc="-25">
                          <a:latin typeface="Consolas"/>
                          <a:cs typeface="Consolas"/>
                        </a:rPr>
                        <a:t>;</a:t>
                      </a:r>
                      <a:endParaRPr sz="1800">
                        <a:latin typeface="Consolas"/>
                        <a:cs typeface="Consolas"/>
                      </a:endParaRPr>
                    </a:p>
                    <a:p>
                      <a:pPr marL="843280" marR="508000" indent="-251460">
                        <a:lnSpc>
                          <a:spcPct val="100000"/>
                        </a:lnSpc>
                      </a:pPr>
                      <a:r>
                        <a:rPr dirty="0" sz="180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this</a:t>
                      </a:r>
                      <a:r>
                        <a:rPr dirty="0" sz="1800">
                          <a:latin typeface="Consolas"/>
                          <a:cs typeface="Consolas"/>
                        </a:rPr>
                        <a:t>.list</a:t>
                      </a:r>
                      <a:r>
                        <a:rPr dirty="0" sz="1800" spc="-45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latin typeface="Consolas"/>
                          <a:cs typeface="Consolas"/>
                        </a:rPr>
                        <a:t>=</a:t>
                      </a:r>
                      <a:r>
                        <a:rPr dirty="0" sz="1800" spc="-40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this</a:t>
                      </a:r>
                      <a:r>
                        <a:rPr dirty="0" sz="1800">
                          <a:latin typeface="Consolas"/>
                          <a:cs typeface="Consolas"/>
                        </a:rPr>
                        <a:t>.fetchTodoItems().then(</a:t>
                      </a:r>
                      <a:r>
                        <a:rPr dirty="0" sz="1800" spc="-30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latin typeface="Consolas"/>
                          <a:cs typeface="Consolas"/>
                        </a:rPr>
                        <a:t>(res)</a:t>
                      </a:r>
                      <a:r>
                        <a:rPr dirty="0" sz="1800" spc="-35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=&gt;</a:t>
                      </a:r>
                      <a:r>
                        <a:rPr dirty="0" sz="1800" spc="-25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 spc="-50">
                          <a:latin typeface="Consolas"/>
                          <a:cs typeface="Consolas"/>
                        </a:rPr>
                        <a:t>{ </a:t>
                      </a:r>
                      <a:r>
                        <a:rPr dirty="0" sz="1800" spc="-1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this</a:t>
                      </a:r>
                      <a:r>
                        <a:rPr dirty="0" sz="1800" spc="-10">
                          <a:latin typeface="Consolas"/>
                          <a:cs typeface="Consolas"/>
                        </a:rPr>
                        <a:t>.updateTodoList(res);</a:t>
                      </a:r>
                      <a:endParaRPr sz="1800">
                        <a:latin typeface="Consolas"/>
                        <a:cs typeface="Consolas"/>
                      </a:endParaRPr>
                    </a:p>
                    <a:p>
                      <a:pPr marL="591820">
                        <a:lnSpc>
                          <a:spcPct val="100000"/>
                        </a:lnSpc>
                      </a:pPr>
                      <a:r>
                        <a:rPr dirty="0" sz="1800" spc="-25">
                          <a:latin typeface="Consolas"/>
                          <a:cs typeface="Consolas"/>
                        </a:rPr>
                        <a:t>});</a:t>
                      </a:r>
                      <a:endParaRPr sz="1800">
                        <a:latin typeface="Consolas"/>
                        <a:cs typeface="Consolas"/>
                      </a:endParaRPr>
                    </a:p>
                    <a:p>
                      <a:pPr marL="591820">
                        <a:lnSpc>
                          <a:spcPct val="100000"/>
                        </a:lnSpc>
                      </a:pPr>
                      <a:r>
                        <a:rPr dirty="0" sz="180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let</a:t>
                      </a:r>
                      <a:r>
                        <a:rPr dirty="0" sz="1800" spc="1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latin typeface="Consolas"/>
                          <a:cs typeface="Consolas"/>
                        </a:rPr>
                        <a:t>btn</a:t>
                      </a:r>
                      <a:r>
                        <a:rPr dirty="0" sz="1800" spc="20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latin typeface="Consolas"/>
                          <a:cs typeface="Consolas"/>
                        </a:rPr>
                        <a:t>=</a:t>
                      </a:r>
                      <a:r>
                        <a:rPr dirty="0" sz="1800" spc="15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 spc="-1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this</a:t>
                      </a:r>
                      <a:r>
                        <a:rPr dirty="0" sz="1800" spc="-10">
                          <a:latin typeface="Consolas"/>
                          <a:cs typeface="Consolas"/>
                        </a:rPr>
                        <a:t>.querySelector(</a:t>
                      </a:r>
                      <a:r>
                        <a:rPr dirty="0" sz="1800" spc="-10">
                          <a:solidFill>
                            <a:srgbClr val="A21515"/>
                          </a:solidFill>
                          <a:latin typeface="Consolas"/>
                          <a:cs typeface="Consolas"/>
                        </a:rPr>
                        <a:t>"#save-todo"</a:t>
                      </a:r>
                      <a:r>
                        <a:rPr dirty="0" sz="1800" spc="-10">
                          <a:latin typeface="Consolas"/>
                          <a:cs typeface="Consolas"/>
                        </a:rPr>
                        <a:t>);</a:t>
                      </a:r>
                      <a:endParaRPr sz="1800">
                        <a:latin typeface="Consolas"/>
                        <a:cs typeface="Consolas"/>
                      </a:endParaRPr>
                    </a:p>
                    <a:p>
                      <a:pPr marL="591820" marR="63500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80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let</a:t>
                      </a:r>
                      <a:r>
                        <a:rPr dirty="0" sz="1800" spc="35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latin typeface="Consolas"/>
                          <a:cs typeface="Consolas"/>
                        </a:rPr>
                        <a:t>input</a:t>
                      </a:r>
                      <a:r>
                        <a:rPr dirty="0" sz="1800" spc="30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latin typeface="Consolas"/>
                          <a:cs typeface="Consolas"/>
                        </a:rPr>
                        <a:t>=</a:t>
                      </a:r>
                      <a:r>
                        <a:rPr dirty="0" sz="1800" spc="30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 spc="-1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this</a:t>
                      </a:r>
                      <a:r>
                        <a:rPr dirty="0" sz="1800" spc="-10">
                          <a:latin typeface="Consolas"/>
                          <a:cs typeface="Consolas"/>
                        </a:rPr>
                        <a:t>.querySelector(</a:t>
                      </a:r>
                      <a:r>
                        <a:rPr dirty="0" sz="1800" spc="-10">
                          <a:solidFill>
                            <a:srgbClr val="A21515"/>
                          </a:solidFill>
                          <a:latin typeface="Consolas"/>
                          <a:cs typeface="Consolas"/>
                        </a:rPr>
                        <a:t>"#todo-input"</a:t>
                      </a:r>
                      <a:r>
                        <a:rPr dirty="0" sz="1800" spc="-10">
                          <a:latin typeface="Consolas"/>
                          <a:cs typeface="Consolas"/>
                        </a:rPr>
                        <a:t>); </a:t>
                      </a:r>
                      <a:r>
                        <a:rPr dirty="0" sz="1800">
                          <a:latin typeface="Consolas"/>
                          <a:cs typeface="Consolas"/>
                        </a:rPr>
                        <a:t>btn.onclick</a:t>
                      </a:r>
                      <a:r>
                        <a:rPr dirty="0" sz="1800" spc="-30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latin typeface="Consolas"/>
                          <a:cs typeface="Consolas"/>
                        </a:rPr>
                        <a:t>=</a:t>
                      </a:r>
                      <a:r>
                        <a:rPr dirty="0" sz="1800" spc="-25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latin typeface="Consolas"/>
                          <a:cs typeface="Consolas"/>
                        </a:rPr>
                        <a:t>()</a:t>
                      </a:r>
                      <a:r>
                        <a:rPr dirty="0" sz="1800" spc="-20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=&gt;</a:t>
                      </a:r>
                      <a:r>
                        <a:rPr dirty="0" sz="1800" spc="-15">
                          <a:solidFill>
                            <a:srgbClr val="0000FF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latin typeface="Consolas"/>
                          <a:cs typeface="Consolas"/>
                        </a:rPr>
                        <a:t>{</a:t>
                      </a:r>
                      <a:r>
                        <a:rPr dirty="0" sz="180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/*...*/</a:t>
                      </a:r>
                      <a:r>
                        <a:rPr dirty="0" sz="1800">
                          <a:latin typeface="Consolas"/>
                          <a:cs typeface="Consolas"/>
                        </a:rPr>
                        <a:t>};</a:t>
                      </a:r>
                      <a:r>
                        <a:rPr dirty="0" sz="1800" spc="-35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//handle</a:t>
                      </a:r>
                      <a:r>
                        <a:rPr dirty="0" sz="1800" spc="-25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save</a:t>
                      </a:r>
                      <a:r>
                        <a:rPr dirty="0" sz="1800" spc="-15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1800" spc="-20">
                          <a:solidFill>
                            <a:srgbClr val="008000"/>
                          </a:solidFill>
                          <a:latin typeface="Consolas"/>
                          <a:cs typeface="Consolas"/>
                        </a:rPr>
                        <a:t>todo</a:t>
                      </a:r>
                      <a:endParaRPr sz="1800">
                        <a:latin typeface="Consolas"/>
                        <a:cs typeface="Consolas"/>
                      </a:endParaRPr>
                    </a:p>
                    <a:p>
                      <a:pPr marL="342265">
                        <a:lnSpc>
                          <a:spcPct val="100000"/>
                        </a:lnSpc>
                      </a:pPr>
                      <a:r>
                        <a:rPr dirty="0" sz="1800" spc="-50">
                          <a:latin typeface="Consolas"/>
                          <a:cs typeface="Consolas"/>
                        </a:rPr>
                        <a:t>}</a:t>
                      </a:r>
                      <a:endParaRPr sz="1800">
                        <a:latin typeface="Consolas"/>
                        <a:cs typeface="Consolas"/>
                      </a:endParaRPr>
                    </a:p>
                  </a:txBody>
                  <a:tcPr marL="0" marR="0" marB="0" marT="0">
                    <a:lnL w="12700">
                      <a:solidFill>
                        <a:srgbClr val="111F35"/>
                      </a:solidFill>
                      <a:prstDash val="solid"/>
                    </a:lnL>
                    <a:lnR w="9525">
                      <a:solidFill>
                        <a:srgbClr val="111F35"/>
                      </a:solidFill>
                      <a:prstDash val="solid"/>
                    </a:lnR>
                    <a:lnB w="12700">
                      <a:solidFill>
                        <a:srgbClr val="111F3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111F35"/>
                      </a:solidFill>
                      <a:prstDash val="solid"/>
                    </a:lnL>
                    <a:lnR w="12700">
                      <a:solidFill>
                        <a:srgbClr val="111F35"/>
                      </a:solidFill>
                      <a:prstDash val="solid"/>
                    </a:lnR>
                    <a:lnT w="9525">
                      <a:solidFill>
                        <a:srgbClr val="111F35"/>
                      </a:solidFill>
                      <a:prstDash val="solid"/>
                    </a:lnT>
                    <a:lnB w="12700">
                      <a:solidFill>
                        <a:srgbClr val="111F3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111F35"/>
                      </a:solidFill>
                      <a:prstDash val="solid"/>
                    </a:lnL>
                    <a:lnR w="9525">
                      <a:solidFill>
                        <a:srgbClr val="111F35"/>
                      </a:solidFill>
                      <a:prstDash val="solid"/>
                    </a:lnR>
                    <a:lnT w="9525">
                      <a:solidFill>
                        <a:srgbClr val="111F35"/>
                      </a:solidFill>
                      <a:prstDash val="solid"/>
                    </a:lnT>
                  </a:tcPr>
                </a:tc>
              </a:tr>
              <a:tr h="3517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9525">
                      <a:solidFill>
                        <a:srgbClr val="111F35"/>
                      </a:solidFill>
                      <a:prstDash val="solid"/>
                    </a:lnR>
                    <a:lnT w="12700">
                      <a:solidFill>
                        <a:srgbClr val="111F35"/>
                      </a:solidFill>
                      <a:prstDash val="solid"/>
                    </a:lnT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111F35"/>
                      </a:solidFill>
                      <a:prstDash val="solid"/>
                    </a:lnL>
                    <a:lnR w="9525">
                      <a:solidFill>
                        <a:srgbClr val="111F35"/>
                      </a:solidFill>
                      <a:prstDash val="solid"/>
                    </a:lnR>
                    <a:lnB w="9525">
                      <a:solidFill>
                        <a:srgbClr val="111F35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30"/>
              <a:t> </a:t>
            </a:r>
            <a:r>
              <a:rPr dirty="0"/>
              <a:t>II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30"/>
              <a:t> </a:t>
            </a:r>
            <a:r>
              <a:rPr dirty="0"/>
              <a:t>Course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30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18</a:t>
            </a:r>
            <a:r>
              <a:rPr dirty="0" spc="-1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Single</a:t>
            </a:r>
            <a:r>
              <a:rPr dirty="0" spc="-40"/>
              <a:t> </a:t>
            </a:r>
            <a:r>
              <a:rPr dirty="0"/>
              <a:t>Page</a:t>
            </a:r>
            <a:r>
              <a:rPr dirty="0" spc="-15"/>
              <a:t> </a:t>
            </a:r>
            <a:r>
              <a:rPr dirty="0" spc="-10"/>
              <a:t>Applications</a:t>
            </a: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30"/>
              <a:t> </a:t>
            </a:r>
            <a:r>
              <a:rPr dirty="0"/>
              <a:t>II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30"/>
              <a:t> </a:t>
            </a:r>
            <a:r>
              <a:rPr dirty="0"/>
              <a:t>Course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30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18</a:t>
            </a:r>
            <a:r>
              <a:rPr dirty="0" spc="-1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Single</a:t>
            </a:r>
            <a:r>
              <a:rPr dirty="0" spc="-40"/>
              <a:t> </a:t>
            </a:r>
            <a:r>
              <a:rPr dirty="0"/>
              <a:t>Page</a:t>
            </a:r>
            <a:r>
              <a:rPr dirty="0" spc="-15"/>
              <a:t> </a:t>
            </a:r>
            <a:r>
              <a:rPr dirty="0" spc="-10"/>
              <a:t>Applications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CHALLENGES</a:t>
            </a:r>
            <a:r>
              <a:rPr dirty="0" spc="-60"/>
              <a:t> </a:t>
            </a:r>
            <a:r>
              <a:rPr dirty="0"/>
              <a:t>WHEN</a:t>
            </a:r>
            <a:r>
              <a:rPr dirty="0" spc="-35"/>
              <a:t> </a:t>
            </a:r>
            <a:r>
              <a:rPr dirty="0"/>
              <a:t>DEVELOPING</a:t>
            </a:r>
            <a:r>
              <a:rPr dirty="0" spc="-15"/>
              <a:t> </a:t>
            </a:r>
            <a:r>
              <a:rPr dirty="0" spc="-20"/>
              <a:t>SPAs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1533220"/>
            <a:ext cx="10276205" cy="4418330"/>
          </a:xfrm>
          <a:prstGeom prst="rect">
            <a:avLst/>
          </a:prstGeom>
        </p:spPr>
        <p:txBody>
          <a:bodyPr wrap="square" lIns="0" tIns="60325" rIns="0" bIns="0" rtlCol="0" vert="horz">
            <a:spAutoFit/>
          </a:bodyPr>
          <a:lstStyle/>
          <a:p>
            <a:pPr marL="12700" marR="5080">
              <a:lnSpc>
                <a:spcPts val="3030"/>
              </a:lnSpc>
              <a:spcBef>
                <a:spcPts val="475"/>
              </a:spcBef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Implementing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0">
                <a:solidFill>
                  <a:srgbClr val="111F35"/>
                </a:solidFill>
                <a:latin typeface="Calibri"/>
                <a:cs typeface="Calibri"/>
              </a:rPr>
              <a:t>To-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do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List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App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as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SPA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from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scratch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was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educational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Despite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its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simplicity,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we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started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experience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some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challenges</a:t>
            </a:r>
            <a:endParaRPr sz="2800">
              <a:latin typeface="Calibri"/>
              <a:cs typeface="Calibri"/>
            </a:endParaRPr>
          </a:p>
          <a:p>
            <a:pPr marL="240029" marR="111760" indent="-227329">
              <a:lnSpc>
                <a:spcPts val="302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State</a:t>
            </a:r>
            <a:r>
              <a:rPr dirty="0" sz="2800" spc="-7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111F35"/>
                </a:solidFill>
                <a:latin typeface="Calibri"/>
                <a:cs typeface="Calibri"/>
              </a:rPr>
              <a:t>management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.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We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needed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keep</a:t>
            </a:r>
            <a:r>
              <a:rPr dirty="0" sz="2800" spc="-9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state</a:t>
            </a:r>
            <a:r>
              <a:rPr dirty="0" sz="2800" spc="-9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and</a:t>
            </a:r>
            <a:r>
              <a:rPr dirty="0" sz="2800" spc="-9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UI</a:t>
            </a:r>
            <a:r>
              <a:rPr dirty="0" sz="2800" spc="-9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always</a:t>
            </a:r>
            <a:r>
              <a:rPr dirty="0" sz="2800" spc="-9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updated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and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make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sure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properly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update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views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after</a:t>
            </a:r>
            <a:r>
              <a:rPr dirty="0" sz="2800" spc="-9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any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state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change</a:t>
            </a:r>
            <a:endParaRPr sz="2800">
              <a:latin typeface="Calibri"/>
              <a:cs typeface="Calibri"/>
            </a:endParaRPr>
          </a:p>
          <a:p>
            <a:pPr marL="240029" marR="296545" indent="-227329">
              <a:lnSpc>
                <a:spcPts val="302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DOM</a:t>
            </a:r>
            <a:r>
              <a:rPr dirty="0" sz="2800" spc="-7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111F35"/>
                </a:solidFill>
                <a:latin typeface="Calibri"/>
                <a:cs typeface="Calibri"/>
              </a:rPr>
              <a:t>manipulation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.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Manipulating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DOM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with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document</a:t>
            </a:r>
            <a:r>
              <a:rPr dirty="0" sz="2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API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requires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lots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of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boilerplate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code</a:t>
            </a:r>
            <a:endParaRPr sz="2800">
              <a:latin typeface="Calibri"/>
              <a:cs typeface="Calibri"/>
            </a:endParaRPr>
          </a:p>
          <a:p>
            <a:pPr marL="240029" marR="196215" indent="-227329">
              <a:lnSpc>
                <a:spcPts val="302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 spc="-25" b="1">
                <a:solidFill>
                  <a:srgbClr val="111F35"/>
                </a:solidFill>
                <a:latin typeface="Calibri"/>
                <a:cs typeface="Calibri"/>
              </a:rPr>
              <a:t>Client-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side</a:t>
            </a:r>
            <a:r>
              <a:rPr dirty="0" sz="2800" spc="-5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Routing.</a:t>
            </a:r>
            <a:r>
              <a:rPr dirty="0" sz="2800" spc="-5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Our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router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was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pretty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basic.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What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if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we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were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to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support</a:t>
            </a:r>
            <a:r>
              <a:rPr dirty="0" sz="2800" spc="-10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parametric</a:t>
            </a:r>
            <a:r>
              <a:rPr dirty="0" sz="2800" spc="-12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routes,</a:t>
            </a:r>
            <a:r>
              <a:rPr dirty="0" sz="2800" spc="-1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redirects,</a:t>
            </a:r>
            <a:r>
              <a:rPr dirty="0" sz="2800" spc="-114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etc.?</a:t>
            </a:r>
            <a:endParaRPr sz="2800">
              <a:latin typeface="Calibri"/>
              <a:cs typeface="Calibri"/>
            </a:endParaRPr>
          </a:p>
          <a:p>
            <a:pPr marL="240029" marR="243840" indent="-227329">
              <a:lnSpc>
                <a:spcPts val="3020"/>
              </a:lnSpc>
              <a:spcBef>
                <a:spcPts val="102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 spc="-10" b="1">
                <a:solidFill>
                  <a:srgbClr val="111F35"/>
                </a:solidFill>
                <a:latin typeface="Calibri"/>
                <a:cs typeface="Calibri"/>
              </a:rPr>
              <a:t>Efficient</a:t>
            </a:r>
            <a:r>
              <a:rPr dirty="0" sz="2800" spc="-7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rendering.</a:t>
            </a:r>
            <a:r>
              <a:rPr dirty="0" sz="2800" spc="-6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We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just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re-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draw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our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entire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30">
                <a:solidFill>
                  <a:srgbClr val="111F35"/>
                </a:solidFill>
                <a:latin typeface="Calibri"/>
                <a:cs typeface="Calibri"/>
              </a:rPr>
              <a:t>to-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do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list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every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time.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What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if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we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wanted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be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more</a:t>
            </a:r>
            <a:r>
              <a:rPr dirty="0" sz="28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efficient?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30"/>
              <a:t> </a:t>
            </a:r>
            <a:r>
              <a:rPr dirty="0"/>
              <a:t>II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30"/>
              <a:t> </a:t>
            </a:r>
            <a:r>
              <a:rPr dirty="0"/>
              <a:t>Course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30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18</a:t>
            </a:r>
            <a:r>
              <a:rPr dirty="0" spc="-1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Single</a:t>
            </a:r>
            <a:r>
              <a:rPr dirty="0" spc="-40"/>
              <a:t> </a:t>
            </a:r>
            <a:r>
              <a:rPr dirty="0"/>
              <a:t>Page</a:t>
            </a:r>
            <a:r>
              <a:rPr dirty="0" spc="-15"/>
              <a:t> </a:t>
            </a:r>
            <a:r>
              <a:rPr dirty="0" spc="-10"/>
              <a:t>Applications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62050" y="557529"/>
            <a:ext cx="602107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FRONTEND</a:t>
            </a:r>
            <a:r>
              <a:rPr dirty="0" spc="25"/>
              <a:t> </a:t>
            </a:r>
            <a:r>
              <a:rPr dirty="0" spc="-45"/>
              <a:t>FRAMEWORKS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2050" y="1533220"/>
            <a:ext cx="10033635" cy="4261485"/>
          </a:xfrm>
          <a:prstGeom prst="rect">
            <a:avLst/>
          </a:prstGeom>
        </p:spPr>
        <p:txBody>
          <a:bodyPr wrap="square" lIns="0" tIns="60325" rIns="0" bIns="0" rtlCol="0" vert="horz">
            <a:spAutoFit/>
          </a:bodyPr>
          <a:lstStyle/>
          <a:p>
            <a:pPr marL="240029" marR="5080" indent="-227329">
              <a:lnSpc>
                <a:spcPts val="3030"/>
              </a:lnSpc>
              <a:spcBef>
                <a:spcPts val="47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Frontend</a:t>
            </a:r>
            <a:r>
              <a:rPr dirty="0" sz="2800" spc="-10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frameworks</a:t>
            </a:r>
            <a:r>
              <a:rPr dirty="0" sz="2800" spc="-114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like</a:t>
            </a:r>
            <a:r>
              <a:rPr dirty="0" sz="2800" spc="-12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Angular,</a:t>
            </a:r>
            <a:r>
              <a:rPr dirty="0" sz="2800" spc="-10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React,</a:t>
            </a:r>
            <a:r>
              <a:rPr dirty="0" sz="2800" spc="-1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Vue.js,</a:t>
            </a:r>
            <a:r>
              <a:rPr dirty="0" sz="2800" spc="-10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Ember,</a:t>
            </a:r>
            <a:r>
              <a:rPr dirty="0" sz="2800" spc="-11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Svelte,</a:t>
            </a:r>
            <a:r>
              <a:rPr dirty="0" sz="2800" spc="-114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etc.,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provide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some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ready-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made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solutions</a:t>
            </a:r>
            <a:r>
              <a:rPr dirty="0" sz="2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tackle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these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challenges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2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Frameworks</a:t>
            </a:r>
            <a:r>
              <a:rPr dirty="0" sz="2800" spc="-9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also</a:t>
            </a:r>
            <a:r>
              <a:rPr dirty="0" sz="2800" spc="-9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typically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include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tooling</a:t>
            </a:r>
            <a:r>
              <a:rPr dirty="0" sz="2800" spc="-9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support</a:t>
            </a:r>
            <a:endParaRPr sz="2800">
              <a:latin typeface="Calibri"/>
              <a:cs typeface="Calibri"/>
            </a:endParaRPr>
          </a:p>
          <a:p>
            <a:pPr lvl="1" marL="696595" indent="-227329">
              <a:lnSpc>
                <a:spcPct val="100000"/>
              </a:lnSpc>
              <a:spcBef>
                <a:spcPts val="234"/>
              </a:spcBef>
              <a:buFont typeface="Arial MT"/>
              <a:buChar char="•"/>
              <a:tabLst>
                <a:tab pos="696595" algn="l"/>
              </a:tabLst>
            </a:pP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Generation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of</a:t>
            </a:r>
            <a:r>
              <a:rPr dirty="0" sz="24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boilerplate</a:t>
            </a:r>
            <a:r>
              <a:rPr dirty="0" sz="24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20">
                <a:solidFill>
                  <a:srgbClr val="111F35"/>
                </a:solidFill>
                <a:latin typeface="Calibri"/>
                <a:cs typeface="Calibri"/>
              </a:rPr>
              <a:t>code</a:t>
            </a:r>
            <a:endParaRPr sz="2400">
              <a:latin typeface="Calibri"/>
              <a:cs typeface="Calibri"/>
            </a:endParaRPr>
          </a:p>
          <a:p>
            <a:pPr lvl="1" marL="696595" indent="-227329">
              <a:lnSpc>
                <a:spcPct val="100000"/>
              </a:lnSpc>
              <a:spcBef>
                <a:spcPts val="215"/>
              </a:spcBef>
              <a:buFont typeface="Arial MT"/>
              <a:buChar char="•"/>
              <a:tabLst>
                <a:tab pos="696595" algn="l"/>
              </a:tabLst>
            </a:pP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Automate</a:t>
            </a:r>
            <a:r>
              <a:rPr dirty="0" sz="2400" spc="-9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build</a:t>
            </a:r>
            <a:r>
              <a:rPr dirty="0" sz="24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and</a:t>
            </a:r>
            <a:r>
              <a:rPr dirty="0" sz="24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deployment</a:t>
            </a:r>
            <a:endParaRPr sz="2400">
              <a:latin typeface="Calibri"/>
              <a:cs typeface="Calibri"/>
            </a:endParaRPr>
          </a:p>
          <a:p>
            <a:pPr marL="240029" marR="304800" indent="-227329">
              <a:lnSpc>
                <a:spcPts val="3020"/>
              </a:lnSpc>
              <a:spcBef>
                <a:spcPts val="101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Each</a:t>
            </a:r>
            <a:r>
              <a:rPr dirty="0" sz="2800" spc="-9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framework</a:t>
            </a:r>
            <a:r>
              <a:rPr dirty="0" sz="2800" spc="-10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also</a:t>
            </a:r>
            <a:r>
              <a:rPr dirty="0" sz="2800" spc="-9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provides</a:t>
            </a:r>
            <a:r>
              <a:rPr dirty="0" sz="2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somewhat</a:t>
            </a:r>
            <a:r>
              <a:rPr dirty="0" sz="2800" spc="-9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0">
                <a:solidFill>
                  <a:srgbClr val="111F35"/>
                </a:solidFill>
                <a:latin typeface="Calibri"/>
                <a:cs typeface="Calibri"/>
              </a:rPr>
              <a:t>«standardized»</a:t>
            </a:r>
            <a:r>
              <a:rPr dirty="0" sz="2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way</a:t>
            </a:r>
            <a:r>
              <a:rPr dirty="0" sz="2800" spc="-9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of 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	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building</a:t>
            </a:r>
            <a:r>
              <a:rPr dirty="0" sz="2800" spc="-8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111F35"/>
                </a:solidFill>
                <a:latin typeface="Calibri"/>
                <a:cs typeface="Calibri"/>
              </a:rPr>
              <a:t>frontends</a:t>
            </a:r>
            <a:endParaRPr sz="2800">
              <a:latin typeface="Calibri"/>
              <a:cs typeface="Calibri"/>
            </a:endParaRPr>
          </a:p>
          <a:p>
            <a:pPr lvl="1" marL="696595" indent="-227329">
              <a:lnSpc>
                <a:spcPts val="2735"/>
              </a:lnSpc>
              <a:spcBef>
                <a:spcPts val="204"/>
              </a:spcBef>
              <a:buFont typeface="Arial MT"/>
              <a:buChar char="•"/>
              <a:tabLst>
                <a:tab pos="696595" algn="l"/>
              </a:tabLst>
            </a:pP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4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developer</a:t>
            </a:r>
            <a:r>
              <a:rPr dirty="0" sz="24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who</a:t>
            </a:r>
            <a:r>
              <a:rPr dirty="0" sz="24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is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used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4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working</a:t>
            </a:r>
            <a:r>
              <a:rPr dirty="0" sz="24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with</a:t>
            </a:r>
            <a:r>
              <a:rPr dirty="0" sz="24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4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given</a:t>
            </a:r>
            <a:r>
              <a:rPr dirty="0" sz="24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framework</a:t>
            </a:r>
            <a:r>
              <a:rPr dirty="0" sz="24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will</a:t>
            </a:r>
            <a:r>
              <a:rPr dirty="0" sz="24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have</a:t>
            </a:r>
            <a:r>
              <a:rPr dirty="0" sz="24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20">
                <a:solidFill>
                  <a:srgbClr val="111F35"/>
                </a:solidFill>
                <a:latin typeface="Calibri"/>
                <a:cs typeface="Calibri"/>
              </a:rPr>
              <a:t>less</a:t>
            </a:r>
            <a:endParaRPr sz="2400">
              <a:latin typeface="Calibri"/>
              <a:cs typeface="Calibri"/>
            </a:endParaRPr>
          </a:p>
          <a:p>
            <a:pPr marL="697865">
              <a:lnSpc>
                <a:spcPts val="2735"/>
              </a:lnSpc>
            </a:pP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issues</a:t>
            </a:r>
            <a:r>
              <a:rPr dirty="0" sz="24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moving</a:t>
            </a:r>
            <a:r>
              <a:rPr dirty="0" sz="24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4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a</a:t>
            </a:r>
            <a:r>
              <a:rPr dirty="0" sz="24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20">
                <a:solidFill>
                  <a:srgbClr val="111F35"/>
                </a:solidFill>
                <a:latin typeface="Calibri"/>
                <a:cs typeface="Calibri"/>
              </a:rPr>
              <a:t>different</a:t>
            </a:r>
            <a:r>
              <a:rPr dirty="0" sz="2400" spc="-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project</a:t>
            </a:r>
            <a:r>
              <a:rPr dirty="0" sz="24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using</a:t>
            </a:r>
            <a:r>
              <a:rPr dirty="0" sz="2400" spc="-5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4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11F35"/>
                </a:solidFill>
                <a:latin typeface="Calibri"/>
                <a:cs typeface="Calibri"/>
              </a:rPr>
              <a:t>same</a:t>
            </a:r>
            <a:r>
              <a:rPr dirty="0" sz="24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11F35"/>
                </a:solidFill>
                <a:latin typeface="Calibri"/>
                <a:cs typeface="Calibri"/>
              </a:rPr>
              <a:t>framework!</a:t>
            </a: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3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In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the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next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lecture,</a:t>
            </a:r>
            <a:r>
              <a:rPr dirty="0" sz="2800" spc="-5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we’ll</a:t>
            </a:r>
            <a:r>
              <a:rPr dirty="0" sz="2800" spc="-7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get</a:t>
            </a:r>
            <a:r>
              <a:rPr dirty="0" sz="2800" spc="-8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to</a:t>
            </a:r>
            <a:r>
              <a:rPr dirty="0" sz="2800" spc="-7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>
                <a:solidFill>
                  <a:srgbClr val="111F35"/>
                </a:solidFill>
                <a:latin typeface="Calibri"/>
                <a:cs typeface="Calibri"/>
              </a:rPr>
              <a:t>know</a:t>
            </a:r>
            <a:r>
              <a:rPr dirty="0" sz="2800" spc="-6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Angular</a:t>
            </a:r>
            <a:r>
              <a:rPr dirty="0" sz="2800" spc="-4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 b="1">
                <a:solidFill>
                  <a:srgbClr val="111F35"/>
                </a:solidFill>
                <a:latin typeface="Calibri"/>
                <a:cs typeface="Calibri"/>
              </a:rPr>
              <a:t>17</a:t>
            </a:r>
            <a:r>
              <a:rPr dirty="0" sz="2800" spc="-25">
                <a:solidFill>
                  <a:srgbClr val="111F35"/>
                </a:solidFill>
                <a:latin typeface="Calibri"/>
                <a:cs typeface="Calibri"/>
              </a:rPr>
              <a:t>!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8606028" y="710691"/>
            <a:ext cx="2734310" cy="2474595"/>
          </a:xfrm>
          <a:custGeom>
            <a:avLst/>
            <a:gdLst/>
            <a:ahLst/>
            <a:cxnLst/>
            <a:rect l="l" t="t" r="r" b="b"/>
            <a:pathLst>
              <a:path w="2734309" h="2474595">
                <a:moveTo>
                  <a:pt x="371856" y="2255774"/>
                </a:moveTo>
                <a:lnTo>
                  <a:pt x="328142" y="2238514"/>
                </a:lnTo>
                <a:lnTo>
                  <a:pt x="290258" y="2206929"/>
                </a:lnTo>
                <a:lnTo>
                  <a:pt x="257644" y="2166010"/>
                </a:lnTo>
                <a:lnTo>
                  <a:pt x="229755" y="2120735"/>
                </a:lnTo>
                <a:lnTo>
                  <a:pt x="206032" y="2076107"/>
                </a:lnTo>
                <a:lnTo>
                  <a:pt x="185928" y="2037080"/>
                </a:lnTo>
                <a:lnTo>
                  <a:pt x="170675" y="2078062"/>
                </a:lnTo>
                <a:lnTo>
                  <a:pt x="147231" y="2117179"/>
                </a:lnTo>
                <a:lnTo>
                  <a:pt x="117005" y="2154478"/>
                </a:lnTo>
                <a:lnTo>
                  <a:pt x="81445" y="2189988"/>
                </a:lnTo>
                <a:lnTo>
                  <a:pt x="41960" y="2223744"/>
                </a:lnTo>
                <a:lnTo>
                  <a:pt x="0" y="2255774"/>
                </a:lnTo>
                <a:lnTo>
                  <a:pt x="45173" y="2279789"/>
                </a:lnTo>
                <a:lnTo>
                  <a:pt x="85877" y="2308021"/>
                </a:lnTo>
                <a:lnTo>
                  <a:pt x="121196" y="2341029"/>
                </a:lnTo>
                <a:lnTo>
                  <a:pt x="150253" y="2379395"/>
                </a:lnTo>
                <a:lnTo>
                  <a:pt x="172123" y="2423680"/>
                </a:lnTo>
                <a:lnTo>
                  <a:pt x="185928" y="2474468"/>
                </a:lnTo>
                <a:lnTo>
                  <a:pt x="202577" y="2429141"/>
                </a:lnTo>
                <a:lnTo>
                  <a:pt x="227939" y="2383294"/>
                </a:lnTo>
                <a:lnTo>
                  <a:pt x="259791" y="2339987"/>
                </a:lnTo>
                <a:lnTo>
                  <a:pt x="295871" y="2302256"/>
                </a:lnTo>
                <a:lnTo>
                  <a:pt x="333971" y="2273173"/>
                </a:lnTo>
                <a:lnTo>
                  <a:pt x="371856" y="2255774"/>
                </a:lnTo>
                <a:close/>
              </a:path>
              <a:path w="2734309" h="2474595">
                <a:moveTo>
                  <a:pt x="2734056" y="393700"/>
                </a:moveTo>
                <a:lnTo>
                  <a:pt x="2698051" y="381000"/>
                </a:lnTo>
                <a:lnTo>
                  <a:pt x="2660510" y="381000"/>
                </a:lnTo>
                <a:lnTo>
                  <a:pt x="2621305" y="368300"/>
                </a:lnTo>
                <a:lnTo>
                  <a:pt x="2580360" y="342900"/>
                </a:lnTo>
                <a:lnTo>
                  <a:pt x="2537536" y="330200"/>
                </a:lnTo>
                <a:lnTo>
                  <a:pt x="2492756" y="304800"/>
                </a:lnTo>
                <a:lnTo>
                  <a:pt x="2466695" y="290677"/>
                </a:lnTo>
                <a:lnTo>
                  <a:pt x="2466695" y="1524000"/>
                </a:lnTo>
                <a:lnTo>
                  <a:pt x="2462606" y="1574800"/>
                </a:lnTo>
                <a:lnTo>
                  <a:pt x="2456904" y="1625600"/>
                </a:lnTo>
                <a:lnTo>
                  <a:pt x="2452903" y="1663700"/>
                </a:lnTo>
                <a:lnTo>
                  <a:pt x="2453894" y="1701800"/>
                </a:lnTo>
                <a:lnTo>
                  <a:pt x="2391003" y="1727200"/>
                </a:lnTo>
                <a:lnTo>
                  <a:pt x="2334247" y="1752600"/>
                </a:lnTo>
                <a:lnTo>
                  <a:pt x="2282660" y="1765300"/>
                </a:lnTo>
                <a:lnTo>
                  <a:pt x="2235301" y="1790700"/>
                </a:lnTo>
                <a:lnTo>
                  <a:pt x="2191245" y="1803400"/>
                </a:lnTo>
                <a:lnTo>
                  <a:pt x="2149551" y="1816100"/>
                </a:lnTo>
                <a:lnTo>
                  <a:pt x="2109266" y="1828800"/>
                </a:lnTo>
                <a:lnTo>
                  <a:pt x="1988794" y="1905000"/>
                </a:lnTo>
                <a:lnTo>
                  <a:pt x="1907755" y="1930400"/>
                </a:lnTo>
                <a:lnTo>
                  <a:pt x="1865503" y="1943100"/>
                </a:lnTo>
                <a:lnTo>
                  <a:pt x="1821014" y="1955800"/>
                </a:lnTo>
                <a:lnTo>
                  <a:pt x="1773491" y="1968500"/>
                </a:lnTo>
                <a:lnTo>
                  <a:pt x="1722132" y="1993900"/>
                </a:lnTo>
                <a:lnTo>
                  <a:pt x="1666113" y="2019300"/>
                </a:lnTo>
                <a:lnTo>
                  <a:pt x="1604645" y="2057400"/>
                </a:lnTo>
                <a:lnTo>
                  <a:pt x="1538236" y="2082800"/>
                </a:lnTo>
                <a:lnTo>
                  <a:pt x="1482686" y="2120900"/>
                </a:lnTo>
                <a:lnTo>
                  <a:pt x="1435760" y="2133600"/>
                </a:lnTo>
                <a:lnTo>
                  <a:pt x="1395222" y="2146300"/>
                </a:lnTo>
                <a:lnTo>
                  <a:pt x="1358811" y="2159000"/>
                </a:lnTo>
                <a:lnTo>
                  <a:pt x="1289494" y="2184400"/>
                </a:lnTo>
                <a:lnTo>
                  <a:pt x="1252093" y="2197100"/>
                </a:lnTo>
                <a:lnTo>
                  <a:pt x="1213586" y="2184400"/>
                </a:lnTo>
                <a:lnTo>
                  <a:pt x="1168273" y="2171700"/>
                </a:lnTo>
                <a:lnTo>
                  <a:pt x="1118184" y="2146300"/>
                </a:lnTo>
                <a:lnTo>
                  <a:pt x="959739" y="2070100"/>
                </a:lnTo>
                <a:lnTo>
                  <a:pt x="910983" y="2057400"/>
                </a:lnTo>
                <a:lnTo>
                  <a:pt x="867676" y="2044700"/>
                </a:lnTo>
                <a:lnTo>
                  <a:pt x="831850" y="2032000"/>
                </a:lnTo>
                <a:lnTo>
                  <a:pt x="798512" y="2019300"/>
                </a:lnTo>
                <a:lnTo>
                  <a:pt x="761441" y="2006600"/>
                </a:lnTo>
                <a:lnTo>
                  <a:pt x="720801" y="1993900"/>
                </a:lnTo>
                <a:lnTo>
                  <a:pt x="676770" y="1968500"/>
                </a:lnTo>
                <a:lnTo>
                  <a:pt x="629513" y="1943100"/>
                </a:lnTo>
                <a:lnTo>
                  <a:pt x="579196" y="1917700"/>
                </a:lnTo>
                <a:lnTo>
                  <a:pt x="525995" y="1892300"/>
                </a:lnTo>
                <a:lnTo>
                  <a:pt x="411607" y="1866900"/>
                </a:lnTo>
                <a:lnTo>
                  <a:pt x="409181" y="1816100"/>
                </a:lnTo>
                <a:lnTo>
                  <a:pt x="409295" y="1765300"/>
                </a:lnTo>
                <a:lnTo>
                  <a:pt x="410616" y="1727200"/>
                </a:lnTo>
                <a:lnTo>
                  <a:pt x="411822" y="1689100"/>
                </a:lnTo>
                <a:lnTo>
                  <a:pt x="411734" y="1663700"/>
                </a:lnTo>
                <a:lnTo>
                  <a:pt x="411645" y="1638300"/>
                </a:lnTo>
                <a:lnTo>
                  <a:pt x="411607" y="1625600"/>
                </a:lnTo>
                <a:lnTo>
                  <a:pt x="452335" y="1651000"/>
                </a:lnTo>
                <a:lnTo>
                  <a:pt x="499732" y="1663700"/>
                </a:lnTo>
                <a:lnTo>
                  <a:pt x="551472" y="1689100"/>
                </a:lnTo>
                <a:lnTo>
                  <a:pt x="658710" y="1739900"/>
                </a:lnTo>
                <a:lnTo>
                  <a:pt x="709561" y="1752600"/>
                </a:lnTo>
                <a:lnTo>
                  <a:pt x="755472" y="1778000"/>
                </a:lnTo>
                <a:lnTo>
                  <a:pt x="794131" y="1790700"/>
                </a:lnTo>
                <a:lnTo>
                  <a:pt x="829818" y="1803400"/>
                </a:lnTo>
                <a:lnTo>
                  <a:pt x="868426" y="1816100"/>
                </a:lnTo>
                <a:lnTo>
                  <a:pt x="909955" y="1841500"/>
                </a:lnTo>
                <a:lnTo>
                  <a:pt x="954417" y="1854200"/>
                </a:lnTo>
                <a:lnTo>
                  <a:pt x="1001801" y="1879600"/>
                </a:lnTo>
                <a:lnTo>
                  <a:pt x="1052144" y="1892300"/>
                </a:lnTo>
                <a:lnTo>
                  <a:pt x="1105420" y="1917700"/>
                </a:lnTo>
                <a:lnTo>
                  <a:pt x="1161669" y="1943100"/>
                </a:lnTo>
                <a:lnTo>
                  <a:pt x="1218158" y="1905000"/>
                </a:lnTo>
                <a:lnTo>
                  <a:pt x="1288796" y="1879600"/>
                </a:lnTo>
                <a:lnTo>
                  <a:pt x="1328813" y="1866900"/>
                </a:lnTo>
                <a:lnTo>
                  <a:pt x="1371638" y="1866900"/>
                </a:lnTo>
                <a:lnTo>
                  <a:pt x="1417027" y="1854200"/>
                </a:lnTo>
                <a:lnTo>
                  <a:pt x="1464741" y="1841500"/>
                </a:lnTo>
                <a:lnTo>
                  <a:pt x="1514538" y="1816100"/>
                </a:lnTo>
                <a:lnTo>
                  <a:pt x="1566151" y="1790700"/>
                </a:lnTo>
                <a:lnTo>
                  <a:pt x="1619377" y="1752600"/>
                </a:lnTo>
                <a:lnTo>
                  <a:pt x="1647698" y="1739900"/>
                </a:lnTo>
                <a:lnTo>
                  <a:pt x="1676031" y="1727200"/>
                </a:lnTo>
                <a:lnTo>
                  <a:pt x="1727847" y="1701800"/>
                </a:lnTo>
                <a:lnTo>
                  <a:pt x="1775498" y="1676400"/>
                </a:lnTo>
                <a:lnTo>
                  <a:pt x="1819694" y="1663700"/>
                </a:lnTo>
                <a:lnTo>
                  <a:pt x="1861121" y="1663700"/>
                </a:lnTo>
                <a:lnTo>
                  <a:pt x="1900466" y="1651000"/>
                </a:lnTo>
                <a:lnTo>
                  <a:pt x="2013038" y="1612900"/>
                </a:lnTo>
                <a:lnTo>
                  <a:pt x="2051050" y="1587500"/>
                </a:lnTo>
                <a:lnTo>
                  <a:pt x="2136521" y="1536700"/>
                </a:lnTo>
                <a:lnTo>
                  <a:pt x="2267051" y="1498600"/>
                </a:lnTo>
                <a:lnTo>
                  <a:pt x="2358821" y="1473200"/>
                </a:lnTo>
                <a:lnTo>
                  <a:pt x="2406942" y="1447800"/>
                </a:lnTo>
                <a:lnTo>
                  <a:pt x="2456942" y="1422400"/>
                </a:lnTo>
                <a:lnTo>
                  <a:pt x="2465908" y="1473200"/>
                </a:lnTo>
                <a:lnTo>
                  <a:pt x="2466695" y="1524000"/>
                </a:lnTo>
                <a:lnTo>
                  <a:pt x="2466695" y="290677"/>
                </a:lnTo>
                <a:lnTo>
                  <a:pt x="2460904" y="287540"/>
                </a:lnTo>
                <a:lnTo>
                  <a:pt x="2460904" y="558800"/>
                </a:lnTo>
                <a:lnTo>
                  <a:pt x="2455634" y="596900"/>
                </a:lnTo>
                <a:lnTo>
                  <a:pt x="2449893" y="647700"/>
                </a:lnTo>
                <a:lnTo>
                  <a:pt x="2449792" y="660400"/>
                </a:lnTo>
                <a:lnTo>
                  <a:pt x="2449703" y="673100"/>
                </a:lnTo>
                <a:lnTo>
                  <a:pt x="2449614" y="685800"/>
                </a:lnTo>
                <a:lnTo>
                  <a:pt x="2449512" y="698500"/>
                </a:lnTo>
                <a:lnTo>
                  <a:pt x="2449423" y="711200"/>
                </a:lnTo>
                <a:lnTo>
                  <a:pt x="2459990" y="762000"/>
                </a:lnTo>
                <a:lnTo>
                  <a:pt x="2409482" y="787400"/>
                </a:lnTo>
                <a:lnTo>
                  <a:pt x="2382342" y="794016"/>
                </a:lnTo>
                <a:lnTo>
                  <a:pt x="2382342" y="1041400"/>
                </a:lnTo>
                <a:lnTo>
                  <a:pt x="2382266" y="1054100"/>
                </a:lnTo>
                <a:lnTo>
                  <a:pt x="2382189" y="1066800"/>
                </a:lnTo>
                <a:lnTo>
                  <a:pt x="2382113" y="1079500"/>
                </a:lnTo>
                <a:lnTo>
                  <a:pt x="2382050" y="1092200"/>
                </a:lnTo>
                <a:lnTo>
                  <a:pt x="2376881" y="1130300"/>
                </a:lnTo>
                <a:lnTo>
                  <a:pt x="2372017" y="1181100"/>
                </a:lnTo>
                <a:lnTo>
                  <a:pt x="2372144" y="1193800"/>
                </a:lnTo>
                <a:lnTo>
                  <a:pt x="2372258" y="1206500"/>
                </a:lnTo>
                <a:lnTo>
                  <a:pt x="2372372" y="1219200"/>
                </a:lnTo>
                <a:lnTo>
                  <a:pt x="2372487" y="1231900"/>
                </a:lnTo>
                <a:lnTo>
                  <a:pt x="2372614" y="1244600"/>
                </a:lnTo>
                <a:lnTo>
                  <a:pt x="2369566" y="1244600"/>
                </a:lnTo>
                <a:lnTo>
                  <a:pt x="2325395" y="1270000"/>
                </a:lnTo>
                <a:lnTo>
                  <a:pt x="2282342" y="1295400"/>
                </a:lnTo>
                <a:lnTo>
                  <a:pt x="2154644" y="1333500"/>
                </a:lnTo>
                <a:lnTo>
                  <a:pt x="2065705" y="1358900"/>
                </a:lnTo>
                <a:lnTo>
                  <a:pt x="2018576" y="1384300"/>
                </a:lnTo>
                <a:lnTo>
                  <a:pt x="1969008" y="1409700"/>
                </a:lnTo>
                <a:lnTo>
                  <a:pt x="1924989" y="1447800"/>
                </a:lnTo>
                <a:lnTo>
                  <a:pt x="1884095" y="1460500"/>
                </a:lnTo>
                <a:lnTo>
                  <a:pt x="1845284" y="1485900"/>
                </a:lnTo>
                <a:lnTo>
                  <a:pt x="1730870" y="1524000"/>
                </a:lnTo>
                <a:lnTo>
                  <a:pt x="1689950" y="1536700"/>
                </a:lnTo>
                <a:lnTo>
                  <a:pt x="1645920" y="1549400"/>
                </a:lnTo>
                <a:lnTo>
                  <a:pt x="1597710" y="1562100"/>
                </a:lnTo>
                <a:lnTo>
                  <a:pt x="1544320" y="1587500"/>
                </a:lnTo>
                <a:lnTo>
                  <a:pt x="1478978" y="1625600"/>
                </a:lnTo>
                <a:lnTo>
                  <a:pt x="1422679" y="1651000"/>
                </a:lnTo>
                <a:lnTo>
                  <a:pt x="1373505" y="1663700"/>
                </a:lnTo>
                <a:lnTo>
                  <a:pt x="1329537" y="1676400"/>
                </a:lnTo>
                <a:lnTo>
                  <a:pt x="1288884" y="1701800"/>
                </a:lnTo>
                <a:lnTo>
                  <a:pt x="1209840" y="1727200"/>
                </a:lnTo>
                <a:lnTo>
                  <a:pt x="1167638" y="1739900"/>
                </a:lnTo>
                <a:lnTo>
                  <a:pt x="1105052" y="1739900"/>
                </a:lnTo>
                <a:lnTo>
                  <a:pt x="1054709" y="1727200"/>
                </a:lnTo>
                <a:lnTo>
                  <a:pt x="1013269" y="1701800"/>
                </a:lnTo>
                <a:lnTo>
                  <a:pt x="977430" y="1689100"/>
                </a:lnTo>
                <a:lnTo>
                  <a:pt x="943864" y="1676400"/>
                </a:lnTo>
                <a:lnTo>
                  <a:pt x="909243" y="1651000"/>
                </a:lnTo>
                <a:lnTo>
                  <a:pt x="870229" y="1625600"/>
                </a:lnTo>
                <a:lnTo>
                  <a:pt x="823531" y="1612900"/>
                </a:lnTo>
                <a:lnTo>
                  <a:pt x="765810" y="1587500"/>
                </a:lnTo>
                <a:lnTo>
                  <a:pt x="704037" y="1562100"/>
                </a:lnTo>
                <a:lnTo>
                  <a:pt x="647090" y="1549400"/>
                </a:lnTo>
                <a:lnTo>
                  <a:pt x="594334" y="1524000"/>
                </a:lnTo>
                <a:lnTo>
                  <a:pt x="545147" y="1498600"/>
                </a:lnTo>
                <a:lnTo>
                  <a:pt x="498868" y="1485900"/>
                </a:lnTo>
                <a:lnTo>
                  <a:pt x="454875" y="1460500"/>
                </a:lnTo>
                <a:lnTo>
                  <a:pt x="371246" y="1435100"/>
                </a:lnTo>
                <a:lnTo>
                  <a:pt x="330327" y="1409700"/>
                </a:lnTo>
                <a:lnTo>
                  <a:pt x="327685" y="1371600"/>
                </a:lnTo>
                <a:lnTo>
                  <a:pt x="330263" y="1320800"/>
                </a:lnTo>
                <a:lnTo>
                  <a:pt x="334937" y="1270000"/>
                </a:lnTo>
                <a:lnTo>
                  <a:pt x="338594" y="1219200"/>
                </a:lnTo>
                <a:lnTo>
                  <a:pt x="338086" y="1181100"/>
                </a:lnTo>
                <a:lnTo>
                  <a:pt x="330327" y="1143000"/>
                </a:lnTo>
                <a:lnTo>
                  <a:pt x="394131" y="1168400"/>
                </a:lnTo>
                <a:lnTo>
                  <a:pt x="451319" y="1193800"/>
                </a:lnTo>
                <a:lnTo>
                  <a:pt x="502805" y="1219200"/>
                </a:lnTo>
                <a:lnTo>
                  <a:pt x="549516" y="1231900"/>
                </a:lnTo>
                <a:lnTo>
                  <a:pt x="592378" y="1257300"/>
                </a:lnTo>
                <a:lnTo>
                  <a:pt x="632307" y="1270000"/>
                </a:lnTo>
                <a:lnTo>
                  <a:pt x="670242" y="1295400"/>
                </a:lnTo>
                <a:lnTo>
                  <a:pt x="707110" y="1295400"/>
                </a:lnTo>
                <a:lnTo>
                  <a:pt x="780275" y="1320800"/>
                </a:lnTo>
                <a:lnTo>
                  <a:pt x="822159" y="1333500"/>
                </a:lnTo>
                <a:lnTo>
                  <a:pt x="868159" y="1346200"/>
                </a:lnTo>
                <a:lnTo>
                  <a:pt x="916914" y="1371600"/>
                </a:lnTo>
                <a:lnTo>
                  <a:pt x="1017308" y="1422400"/>
                </a:lnTo>
                <a:lnTo>
                  <a:pt x="1066228" y="1435100"/>
                </a:lnTo>
                <a:lnTo>
                  <a:pt x="1112520" y="1460500"/>
                </a:lnTo>
                <a:lnTo>
                  <a:pt x="1154811" y="1473200"/>
                </a:lnTo>
                <a:lnTo>
                  <a:pt x="1191768" y="1485900"/>
                </a:lnTo>
                <a:lnTo>
                  <a:pt x="1245527" y="1460500"/>
                </a:lnTo>
                <a:lnTo>
                  <a:pt x="1294053" y="1435100"/>
                </a:lnTo>
                <a:lnTo>
                  <a:pt x="1338656" y="1422400"/>
                </a:lnTo>
                <a:lnTo>
                  <a:pt x="1380655" y="1397000"/>
                </a:lnTo>
                <a:lnTo>
                  <a:pt x="1504010" y="1358900"/>
                </a:lnTo>
                <a:lnTo>
                  <a:pt x="1548612" y="1333500"/>
                </a:lnTo>
                <a:lnTo>
                  <a:pt x="1652879" y="1295400"/>
                </a:lnTo>
                <a:lnTo>
                  <a:pt x="1705546" y="1270000"/>
                </a:lnTo>
                <a:lnTo>
                  <a:pt x="1755317" y="1257300"/>
                </a:lnTo>
                <a:lnTo>
                  <a:pt x="1802384" y="1244600"/>
                </a:lnTo>
                <a:lnTo>
                  <a:pt x="1846910" y="1219200"/>
                </a:lnTo>
                <a:lnTo>
                  <a:pt x="1889112" y="1206500"/>
                </a:lnTo>
                <a:lnTo>
                  <a:pt x="1929155" y="1181100"/>
                </a:lnTo>
                <a:lnTo>
                  <a:pt x="1967230" y="1168400"/>
                </a:lnTo>
                <a:lnTo>
                  <a:pt x="2004529" y="1143000"/>
                </a:lnTo>
                <a:lnTo>
                  <a:pt x="2048941" y="1130300"/>
                </a:lnTo>
                <a:lnTo>
                  <a:pt x="2098230" y="1104900"/>
                </a:lnTo>
                <a:lnTo>
                  <a:pt x="2202611" y="1079500"/>
                </a:lnTo>
                <a:lnTo>
                  <a:pt x="2253284" y="1054100"/>
                </a:lnTo>
                <a:lnTo>
                  <a:pt x="2299982" y="1041400"/>
                </a:lnTo>
                <a:lnTo>
                  <a:pt x="2340495" y="1016000"/>
                </a:lnTo>
                <a:lnTo>
                  <a:pt x="2372614" y="990600"/>
                </a:lnTo>
                <a:lnTo>
                  <a:pt x="2382342" y="1041400"/>
                </a:lnTo>
                <a:lnTo>
                  <a:pt x="2382342" y="794016"/>
                </a:lnTo>
                <a:lnTo>
                  <a:pt x="2305113" y="812800"/>
                </a:lnTo>
                <a:lnTo>
                  <a:pt x="2253196" y="838200"/>
                </a:lnTo>
                <a:lnTo>
                  <a:pt x="2202751" y="850900"/>
                </a:lnTo>
                <a:lnTo>
                  <a:pt x="2154771" y="863600"/>
                </a:lnTo>
                <a:lnTo>
                  <a:pt x="2110206" y="889000"/>
                </a:lnTo>
                <a:lnTo>
                  <a:pt x="2070061" y="914400"/>
                </a:lnTo>
                <a:lnTo>
                  <a:pt x="2035302" y="939800"/>
                </a:lnTo>
                <a:lnTo>
                  <a:pt x="1995373" y="977900"/>
                </a:lnTo>
                <a:lnTo>
                  <a:pt x="1948611" y="1003300"/>
                </a:lnTo>
                <a:lnTo>
                  <a:pt x="1897430" y="1016000"/>
                </a:lnTo>
                <a:lnTo>
                  <a:pt x="1844205" y="1041400"/>
                </a:lnTo>
                <a:lnTo>
                  <a:pt x="1791335" y="1054100"/>
                </a:lnTo>
                <a:lnTo>
                  <a:pt x="1741208" y="1066800"/>
                </a:lnTo>
                <a:lnTo>
                  <a:pt x="1696212" y="1079500"/>
                </a:lnTo>
                <a:lnTo>
                  <a:pt x="1658747" y="1092200"/>
                </a:lnTo>
                <a:lnTo>
                  <a:pt x="1624723" y="1117600"/>
                </a:lnTo>
                <a:lnTo>
                  <a:pt x="1582788" y="1130300"/>
                </a:lnTo>
                <a:lnTo>
                  <a:pt x="1535188" y="1143000"/>
                </a:lnTo>
                <a:lnTo>
                  <a:pt x="1484210" y="1168400"/>
                </a:lnTo>
                <a:lnTo>
                  <a:pt x="1432115" y="1181100"/>
                </a:lnTo>
                <a:lnTo>
                  <a:pt x="1381188" y="1206500"/>
                </a:lnTo>
                <a:lnTo>
                  <a:pt x="1333677" y="1219200"/>
                </a:lnTo>
                <a:lnTo>
                  <a:pt x="1291882" y="1244600"/>
                </a:lnTo>
                <a:lnTo>
                  <a:pt x="1258062" y="1270000"/>
                </a:lnTo>
                <a:lnTo>
                  <a:pt x="1216863" y="1244600"/>
                </a:lnTo>
                <a:lnTo>
                  <a:pt x="1172552" y="1231900"/>
                </a:lnTo>
                <a:lnTo>
                  <a:pt x="1126185" y="1206500"/>
                </a:lnTo>
                <a:lnTo>
                  <a:pt x="1078839" y="1181100"/>
                </a:lnTo>
                <a:lnTo>
                  <a:pt x="1031570" y="1168400"/>
                </a:lnTo>
                <a:lnTo>
                  <a:pt x="985431" y="1143000"/>
                </a:lnTo>
                <a:lnTo>
                  <a:pt x="941489" y="1130300"/>
                </a:lnTo>
                <a:lnTo>
                  <a:pt x="900823" y="1117600"/>
                </a:lnTo>
                <a:lnTo>
                  <a:pt x="864489" y="1104900"/>
                </a:lnTo>
                <a:lnTo>
                  <a:pt x="833285" y="1104900"/>
                </a:lnTo>
                <a:lnTo>
                  <a:pt x="800290" y="1092200"/>
                </a:lnTo>
                <a:lnTo>
                  <a:pt x="765073" y="1079500"/>
                </a:lnTo>
                <a:lnTo>
                  <a:pt x="727202" y="1066800"/>
                </a:lnTo>
                <a:lnTo>
                  <a:pt x="686269" y="1041400"/>
                </a:lnTo>
                <a:lnTo>
                  <a:pt x="641832" y="1028700"/>
                </a:lnTo>
                <a:lnTo>
                  <a:pt x="593483" y="1003300"/>
                </a:lnTo>
                <a:lnTo>
                  <a:pt x="540778" y="977900"/>
                </a:lnTo>
                <a:lnTo>
                  <a:pt x="483298" y="952500"/>
                </a:lnTo>
                <a:lnTo>
                  <a:pt x="420624" y="927100"/>
                </a:lnTo>
                <a:lnTo>
                  <a:pt x="415404" y="876300"/>
                </a:lnTo>
                <a:lnTo>
                  <a:pt x="415302" y="863600"/>
                </a:lnTo>
                <a:lnTo>
                  <a:pt x="415213" y="850900"/>
                </a:lnTo>
                <a:lnTo>
                  <a:pt x="415112" y="838200"/>
                </a:lnTo>
                <a:lnTo>
                  <a:pt x="417614" y="800100"/>
                </a:lnTo>
                <a:lnTo>
                  <a:pt x="420789" y="762000"/>
                </a:lnTo>
                <a:lnTo>
                  <a:pt x="422490" y="711200"/>
                </a:lnTo>
                <a:lnTo>
                  <a:pt x="420624" y="660400"/>
                </a:lnTo>
                <a:lnTo>
                  <a:pt x="463423" y="673100"/>
                </a:lnTo>
                <a:lnTo>
                  <a:pt x="502818" y="685800"/>
                </a:lnTo>
                <a:lnTo>
                  <a:pt x="540664" y="698500"/>
                </a:lnTo>
                <a:lnTo>
                  <a:pt x="578815" y="723900"/>
                </a:lnTo>
                <a:lnTo>
                  <a:pt x="619137" y="749300"/>
                </a:lnTo>
                <a:lnTo>
                  <a:pt x="663498" y="762000"/>
                </a:lnTo>
                <a:lnTo>
                  <a:pt x="713740" y="787400"/>
                </a:lnTo>
                <a:lnTo>
                  <a:pt x="771740" y="812800"/>
                </a:lnTo>
                <a:lnTo>
                  <a:pt x="839343" y="825500"/>
                </a:lnTo>
                <a:lnTo>
                  <a:pt x="899134" y="838200"/>
                </a:lnTo>
                <a:lnTo>
                  <a:pt x="948601" y="863600"/>
                </a:lnTo>
                <a:lnTo>
                  <a:pt x="990104" y="876300"/>
                </a:lnTo>
                <a:lnTo>
                  <a:pt x="1026045" y="889000"/>
                </a:lnTo>
                <a:lnTo>
                  <a:pt x="1090726" y="927100"/>
                </a:lnTo>
                <a:lnTo>
                  <a:pt x="1124242" y="952500"/>
                </a:lnTo>
                <a:lnTo>
                  <a:pt x="1161719" y="965200"/>
                </a:lnTo>
                <a:lnTo>
                  <a:pt x="1205522" y="977900"/>
                </a:lnTo>
                <a:lnTo>
                  <a:pt x="1258062" y="990600"/>
                </a:lnTo>
                <a:lnTo>
                  <a:pt x="1297228" y="965200"/>
                </a:lnTo>
                <a:lnTo>
                  <a:pt x="1377784" y="939800"/>
                </a:lnTo>
                <a:lnTo>
                  <a:pt x="1420431" y="914400"/>
                </a:lnTo>
                <a:lnTo>
                  <a:pt x="1465516" y="901700"/>
                </a:lnTo>
                <a:lnTo>
                  <a:pt x="1513649" y="889000"/>
                </a:lnTo>
                <a:lnTo>
                  <a:pt x="1565478" y="863600"/>
                </a:lnTo>
                <a:lnTo>
                  <a:pt x="1621637" y="838200"/>
                </a:lnTo>
                <a:lnTo>
                  <a:pt x="1682750" y="812800"/>
                </a:lnTo>
                <a:lnTo>
                  <a:pt x="1750364" y="787400"/>
                </a:lnTo>
                <a:lnTo>
                  <a:pt x="1810461" y="774700"/>
                </a:lnTo>
                <a:lnTo>
                  <a:pt x="1864067" y="749300"/>
                </a:lnTo>
                <a:lnTo>
                  <a:pt x="1912251" y="736600"/>
                </a:lnTo>
                <a:lnTo>
                  <a:pt x="1956028" y="723900"/>
                </a:lnTo>
                <a:lnTo>
                  <a:pt x="1996440" y="711200"/>
                </a:lnTo>
                <a:lnTo>
                  <a:pt x="2034540" y="685800"/>
                </a:lnTo>
                <a:lnTo>
                  <a:pt x="2071370" y="660400"/>
                </a:lnTo>
                <a:lnTo>
                  <a:pt x="2110714" y="635000"/>
                </a:lnTo>
                <a:lnTo>
                  <a:pt x="2155037" y="609600"/>
                </a:lnTo>
                <a:lnTo>
                  <a:pt x="2203158" y="596900"/>
                </a:lnTo>
                <a:lnTo>
                  <a:pt x="2253907" y="584200"/>
                </a:lnTo>
                <a:lnTo>
                  <a:pt x="2306142" y="558800"/>
                </a:lnTo>
                <a:lnTo>
                  <a:pt x="2410333" y="533400"/>
                </a:lnTo>
                <a:lnTo>
                  <a:pt x="2459990" y="508000"/>
                </a:lnTo>
                <a:lnTo>
                  <a:pt x="2460904" y="558800"/>
                </a:lnTo>
                <a:lnTo>
                  <a:pt x="2460904" y="287540"/>
                </a:lnTo>
                <a:lnTo>
                  <a:pt x="2445905" y="279400"/>
                </a:lnTo>
                <a:lnTo>
                  <a:pt x="2396883" y="266700"/>
                </a:lnTo>
                <a:lnTo>
                  <a:pt x="2345575" y="241300"/>
                </a:lnTo>
                <a:lnTo>
                  <a:pt x="2291880" y="228600"/>
                </a:lnTo>
                <a:lnTo>
                  <a:pt x="2235708" y="203200"/>
                </a:lnTo>
                <a:lnTo>
                  <a:pt x="2183790" y="190500"/>
                </a:lnTo>
                <a:lnTo>
                  <a:pt x="2133295" y="165100"/>
                </a:lnTo>
                <a:lnTo>
                  <a:pt x="2084070" y="152400"/>
                </a:lnTo>
                <a:lnTo>
                  <a:pt x="2035962" y="127000"/>
                </a:lnTo>
                <a:lnTo>
                  <a:pt x="1942528" y="76200"/>
                </a:lnTo>
                <a:lnTo>
                  <a:pt x="1896897" y="63500"/>
                </a:lnTo>
                <a:lnTo>
                  <a:pt x="1851799" y="38100"/>
                </a:lnTo>
                <a:lnTo>
                  <a:pt x="1718195" y="0"/>
                </a:lnTo>
                <a:lnTo>
                  <a:pt x="1673733" y="0"/>
                </a:lnTo>
                <a:lnTo>
                  <a:pt x="1637220" y="25400"/>
                </a:lnTo>
                <a:lnTo>
                  <a:pt x="1594637" y="50800"/>
                </a:lnTo>
                <a:lnTo>
                  <a:pt x="1547495" y="63500"/>
                </a:lnTo>
                <a:lnTo>
                  <a:pt x="1343926" y="114300"/>
                </a:lnTo>
                <a:lnTo>
                  <a:pt x="1296898" y="127000"/>
                </a:lnTo>
                <a:lnTo>
                  <a:pt x="1254480" y="139700"/>
                </a:lnTo>
                <a:lnTo>
                  <a:pt x="1218184" y="152400"/>
                </a:lnTo>
                <a:lnTo>
                  <a:pt x="1181176" y="177800"/>
                </a:lnTo>
                <a:lnTo>
                  <a:pt x="1142682" y="190500"/>
                </a:lnTo>
                <a:lnTo>
                  <a:pt x="1102321" y="190500"/>
                </a:lnTo>
                <a:lnTo>
                  <a:pt x="1059764" y="203200"/>
                </a:lnTo>
                <a:lnTo>
                  <a:pt x="1014628" y="215900"/>
                </a:lnTo>
                <a:lnTo>
                  <a:pt x="966571" y="228600"/>
                </a:lnTo>
                <a:lnTo>
                  <a:pt x="915250" y="241300"/>
                </a:lnTo>
                <a:lnTo>
                  <a:pt x="860298" y="266700"/>
                </a:lnTo>
                <a:lnTo>
                  <a:pt x="742276" y="342900"/>
                </a:lnTo>
                <a:lnTo>
                  <a:pt x="686943" y="368300"/>
                </a:lnTo>
                <a:lnTo>
                  <a:pt x="635139" y="381000"/>
                </a:lnTo>
                <a:lnTo>
                  <a:pt x="586600" y="406400"/>
                </a:lnTo>
                <a:lnTo>
                  <a:pt x="541083" y="406400"/>
                </a:lnTo>
                <a:lnTo>
                  <a:pt x="498373" y="419100"/>
                </a:lnTo>
                <a:lnTo>
                  <a:pt x="458203" y="431800"/>
                </a:lnTo>
                <a:lnTo>
                  <a:pt x="420344" y="444500"/>
                </a:lnTo>
                <a:lnTo>
                  <a:pt x="384556" y="444500"/>
                </a:lnTo>
                <a:lnTo>
                  <a:pt x="347726" y="469900"/>
                </a:lnTo>
                <a:lnTo>
                  <a:pt x="316763" y="508000"/>
                </a:lnTo>
                <a:lnTo>
                  <a:pt x="291617" y="546100"/>
                </a:lnTo>
                <a:lnTo>
                  <a:pt x="272173" y="584200"/>
                </a:lnTo>
                <a:lnTo>
                  <a:pt x="258381" y="622300"/>
                </a:lnTo>
                <a:lnTo>
                  <a:pt x="250151" y="673100"/>
                </a:lnTo>
                <a:lnTo>
                  <a:pt x="247408" y="723900"/>
                </a:lnTo>
                <a:lnTo>
                  <a:pt x="250075" y="762000"/>
                </a:lnTo>
                <a:lnTo>
                  <a:pt x="258064" y="812800"/>
                </a:lnTo>
                <a:lnTo>
                  <a:pt x="258127" y="825500"/>
                </a:lnTo>
                <a:lnTo>
                  <a:pt x="258203" y="838200"/>
                </a:lnTo>
                <a:lnTo>
                  <a:pt x="258279" y="850900"/>
                </a:lnTo>
                <a:lnTo>
                  <a:pt x="259981" y="876300"/>
                </a:lnTo>
                <a:lnTo>
                  <a:pt x="264464" y="914400"/>
                </a:lnTo>
                <a:lnTo>
                  <a:pt x="273050" y="939800"/>
                </a:lnTo>
                <a:lnTo>
                  <a:pt x="244233" y="977900"/>
                </a:lnTo>
                <a:lnTo>
                  <a:pt x="219100" y="1016000"/>
                </a:lnTo>
                <a:lnTo>
                  <a:pt x="198056" y="1054100"/>
                </a:lnTo>
                <a:lnTo>
                  <a:pt x="181483" y="1104900"/>
                </a:lnTo>
                <a:lnTo>
                  <a:pt x="169748" y="1143000"/>
                </a:lnTo>
                <a:lnTo>
                  <a:pt x="163283" y="1193800"/>
                </a:lnTo>
                <a:lnTo>
                  <a:pt x="162445" y="1244600"/>
                </a:lnTo>
                <a:lnTo>
                  <a:pt x="167640" y="1295400"/>
                </a:lnTo>
                <a:lnTo>
                  <a:pt x="166903" y="1346200"/>
                </a:lnTo>
                <a:lnTo>
                  <a:pt x="174345" y="1384300"/>
                </a:lnTo>
                <a:lnTo>
                  <a:pt x="188556" y="1435100"/>
                </a:lnTo>
                <a:lnTo>
                  <a:pt x="208165" y="1473200"/>
                </a:lnTo>
                <a:lnTo>
                  <a:pt x="231800" y="1524000"/>
                </a:lnTo>
                <a:lnTo>
                  <a:pt x="258064" y="1562100"/>
                </a:lnTo>
                <a:lnTo>
                  <a:pt x="252552" y="1600200"/>
                </a:lnTo>
                <a:lnTo>
                  <a:pt x="252501" y="1612900"/>
                </a:lnTo>
                <a:lnTo>
                  <a:pt x="252387" y="1638300"/>
                </a:lnTo>
                <a:lnTo>
                  <a:pt x="253542" y="1689100"/>
                </a:lnTo>
                <a:lnTo>
                  <a:pt x="251968" y="1739900"/>
                </a:lnTo>
                <a:lnTo>
                  <a:pt x="250177" y="1803400"/>
                </a:lnTo>
                <a:lnTo>
                  <a:pt x="252742" y="1854200"/>
                </a:lnTo>
                <a:lnTo>
                  <a:pt x="260540" y="1892300"/>
                </a:lnTo>
                <a:lnTo>
                  <a:pt x="274434" y="1943100"/>
                </a:lnTo>
                <a:lnTo>
                  <a:pt x="295313" y="1981200"/>
                </a:lnTo>
                <a:lnTo>
                  <a:pt x="324040" y="2006600"/>
                </a:lnTo>
                <a:lnTo>
                  <a:pt x="361492" y="2032000"/>
                </a:lnTo>
                <a:lnTo>
                  <a:pt x="408559" y="2044700"/>
                </a:lnTo>
                <a:lnTo>
                  <a:pt x="469341" y="2057400"/>
                </a:lnTo>
                <a:lnTo>
                  <a:pt x="519252" y="2082800"/>
                </a:lnTo>
                <a:lnTo>
                  <a:pt x="560832" y="2095500"/>
                </a:lnTo>
                <a:lnTo>
                  <a:pt x="596696" y="2120900"/>
                </a:lnTo>
                <a:lnTo>
                  <a:pt x="629386" y="2133600"/>
                </a:lnTo>
                <a:lnTo>
                  <a:pt x="661504" y="2159000"/>
                </a:lnTo>
                <a:lnTo>
                  <a:pt x="695604" y="2171700"/>
                </a:lnTo>
                <a:lnTo>
                  <a:pt x="734288" y="2197100"/>
                </a:lnTo>
                <a:lnTo>
                  <a:pt x="780110" y="2209800"/>
                </a:lnTo>
                <a:lnTo>
                  <a:pt x="835660" y="2222500"/>
                </a:lnTo>
                <a:lnTo>
                  <a:pt x="900087" y="2247900"/>
                </a:lnTo>
                <a:lnTo>
                  <a:pt x="957757" y="2260600"/>
                </a:lnTo>
                <a:lnTo>
                  <a:pt x="1009548" y="2286000"/>
                </a:lnTo>
                <a:lnTo>
                  <a:pt x="1056322" y="2324100"/>
                </a:lnTo>
                <a:lnTo>
                  <a:pt x="1098981" y="2349500"/>
                </a:lnTo>
                <a:lnTo>
                  <a:pt x="1138389" y="2362200"/>
                </a:lnTo>
                <a:lnTo>
                  <a:pt x="1175448" y="2387600"/>
                </a:lnTo>
                <a:lnTo>
                  <a:pt x="1245997" y="2387600"/>
                </a:lnTo>
                <a:lnTo>
                  <a:pt x="1406906" y="2336800"/>
                </a:lnTo>
                <a:lnTo>
                  <a:pt x="1449133" y="2324100"/>
                </a:lnTo>
                <a:lnTo>
                  <a:pt x="1493075" y="2298700"/>
                </a:lnTo>
                <a:lnTo>
                  <a:pt x="1539214" y="2286000"/>
                </a:lnTo>
                <a:lnTo>
                  <a:pt x="1587995" y="2273300"/>
                </a:lnTo>
                <a:lnTo>
                  <a:pt x="1639887" y="2247900"/>
                </a:lnTo>
                <a:lnTo>
                  <a:pt x="1695361" y="2222500"/>
                </a:lnTo>
                <a:lnTo>
                  <a:pt x="1735035" y="2197100"/>
                </a:lnTo>
                <a:lnTo>
                  <a:pt x="1754886" y="2184400"/>
                </a:lnTo>
                <a:lnTo>
                  <a:pt x="1815680" y="2146300"/>
                </a:lnTo>
                <a:lnTo>
                  <a:pt x="1874583" y="2120900"/>
                </a:lnTo>
                <a:lnTo>
                  <a:pt x="1931225" y="2095500"/>
                </a:lnTo>
                <a:lnTo>
                  <a:pt x="1985302" y="2070100"/>
                </a:lnTo>
                <a:lnTo>
                  <a:pt x="2036457" y="2057400"/>
                </a:lnTo>
                <a:lnTo>
                  <a:pt x="2084374" y="2044700"/>
                </a:lnTo>
                <a:lnTo>
                  <a:pt x="2128710" y="2032000"/>
                </a:lnTo>
                <a:lnTo>
                  <a:pt x="2169134" y="2019300"/>
                </a:lnTo>
                <a:lnTo>
                  <a:pt x="2205317" y="2006600"/>
                </a:lnTo>
                <a:lnTo>
                  <a:pt x="2263648" y="1968500"/>
                </a:lnTo>
                <a:lnTo>
                  <a:pt x="2293150" y="1955800"/>
                </a:lnTo>
                <a:lnTo>
                  <a:pt x="2328151" y="1930400"/>
                </a:lnTo>
                <a:lnTo>
                  <a:pt x="2367978" y="1917700"/>
                </a:lnTo>
                <a:lnTo>
                  <a:pt x="2411996" y="1905000"/>
                </a:lnTo>
                <a:lnTo>
                  <a:pt x="2459571" y="1892300"/>
                </a:lnTo>
                <a:lnTo>
                  <a:pt x="2510040" y="1879600"/>
                </a:lnTo>
                <a:lnTo>
                  <a:pt x="2562783" y="1854200"/>
                </a:lnTo>
                <a:lnTo>
                  <a:pt x="2617127" y="1841500"/>
                </a:lnTo>
                <a:lnTo>
                  <a:pt x="2672435" y="1816100"/>
                </a:lnTo>
                <a:lnTo>
                  <a:pt x="2728087" y="1778000"/>
                </a:lnTo>
                <a:lnTo>
                  <a:pt x="2689999" y="1778000"/>
                </a:lnTo>
                <a:lnTo>
                  <a:pt x="2651772" y="1752600"/>
                </a:lnTo>
                <a:lnTo>
                  <a:pt x="2612517" y="1739900"/>
                </a:lnTo>
                <a:lnTo>
                  <a:pt x="2571369" y="1727200"/>
                </a:lnTo>
                <a:lnTo>
                  <a:pt x="2570022" y="1676400"/>
                </a:lnTo>
                <a:lnTo>
                  <a:pt x="2570708" y="1625600"/>
                </a:lnTo>
                <a:lnTo>
                  <a:pt x="2572474" y="1574800"/>
                </a:lnTo>
                <a:lnTo>
                  <a:pt x="2574366" y="1524000"/>
                </a:lnTo>
                <a:lnTo>
                  <a:pt x="2575433" y="1473200"/>
                </a:lnTo>
                <a:lnTo>
                  <a:pt x="2574760" y="1435100"/>
                </a:lnTo>
                <a:lnTo>
                  <a:pt x="2573909" y="1422400"/>
                </a:lnTo>
                <a:lnTo>
                  <a:pt x="2571369" y="1384300"/>
                </a:lnTo>
                <a:lnTo>
                  <a:pt x="2616911" y="1371600"/>
                </a:lnTo>
                <a:lnTo>
                  <a:pt x="2684322" y="1346200"/>
                </a:lnTo>
                <a:lnTo>
                  <a:pt x="2728087" y="1320800"/>
                </a:lnTo>
                <a:lnTo>
                  <a:pt x="2680347" y="1308100"/>
                </a:lnTo>
                <a:lnTo>
                  <a:pt x="2585656" y="1257300"/>
                </a:lnTo>
                <a:lnTo>
                  <a:pt x="2487041" y="1231900"/>
                </a:lnTo>
                <a:lnTo>
                  <a:pt x="2484526" y="1193800"/>
                </a:lnTo>
                <a:lnTo>
                  <a:pt x="2485288" y="1155700"/>
                </a:lnTo>
                <a:lnTo>
                  <a:pt x="2487612" y="1117600"/>
                </a:lnTo>
                <a:lnTo>
                  <a:pt x="2489797" y="1066800"/>
                </a:lnTo>
                <a:lnTo>
                  <a:pt x="2489898" y="1054100"/>
                </a:lnTo>
                <a:lnTo>
                  <a:pt x="2489987" y="1041400"/>
                </a:lnTo>
                <a:lnTo>
                  <a:pt x="2490076" y="1028700"/>
                </a:lnTo>
                <a:lnTo>
                  <a:pt x="2490178" y="1016000"/>
                </a:lnTo>
                <a:lnTo>
                  <a:pt x="2489123" y="990600"/>
                </a:lnTo>
                <a:lnTo>
                  <a:pt x="2487041" y="939800"/>
                </a:lnTo>
                <a:lnTo>
                  <a:pt x="2533497" y="914400"/>
                </a:lnTo>
                <a:lnTo>
                  <a:pt x="2576030" y="901700"/>
                </a:lnTo>
                <a:lnTo>
                  <a:pt x="2693619" y="863600"/>
                </a:lnTo>
                <a:lnTo>
                  <a:pt x="2734056" y="838200"/>
                </a:lnTo>
                <a:lnTo>
                  <a:pt x="2701950" y="825500"/>
                </a:lnTo>
                <a:lnTo>
                  <a:pt x="2666187" y="812800"/>
                </a:lnTo>
                <a:lnTo>
                  <a:pt x="2625191" y="800100"/>
                </a:lnTo>
                <a:lnTo>
                  <a:pt x="2577465" y="787400"/>
                </a:lnTo>
                <a:lnTo>
                  <a:pt x="2572410" y="723900"/>
                </a:lnTo>
                <a:lnTo>
                  <a:pt x="2571292" y="673100"/>
                </a:lnTo>
                <a:lnTo>
                  <a:pt x="2572753" y="622300"/>
                </a:lnTo>
                <a:lnTo>
                  <a:pt x="2575445" y="571500"/>
                </a:lnTo>
                <a:lnTo>
                  <a:pt x="2578023" y="533400"/>
                </a:lnTo>
                <a:lnTo>
                  <a:pt x="2578773" y="508000"/>
                </a:lnTo>
                <a:lnTo>
                  <a:pt x="2579141" y="495300"/>
                </a:lnTo>
                <a:lnTo>
                  <a:pt x="2577465" y="457200"/>
                </a:lnTo>
                <a:lnTo>
                  <a:pt x="2617851" y="431800"/>
                </a:lnTo>
                <a:lnTo>
                  <a:pt x="2653563" y="431800"/>
                </a:lnTo>
                <a:lnTo>
                  <a:pt x="2690368" y="419100"/>
                </a:lnTo>
                <a:lnTo>
                  <a:pt x="2734056" y="393700"/>
                </a:lnTo>
                <a:close/>
              </a:path>
            </a:pathLst>
          </a:custGeom>
          <a:solidFill>
            <a:srgbClr val="006379">
              <a:alpha val="1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6271259" y="3549396"/>
            <a:ext cx="372110" cy="439420"/>
          </a:xfrm>
          <a:custGeom>
            <a:avLst/>
            <a:gdLst/>
            <a:ahLst/>
            <a:cxnLst/>
            <a:rect l="l" t="t" r="r" b="b"/>
            <a:pathLst>
              <a:path w="372109" h="439420">
                <a:moveTo>
                  <a:pt x="185927" y="0"/>
                </a:moveTo>
                <a:lnTo>
                  <a:pt x="161730" y="38869"/>
                </a:lnTo>
                <a:lnTo>
                  <a:pt x="134168" y="79050"/>
                </a:lnTo>
                <a:lnTo>
                  <a:pt x="103727" y="118871"/>
                </a:lnTo>
                <a:lnTo>
                  <a:pt x="70894" y="156661"/>
                </a:lnTo>
                <a:lnTo>
                  <a:pt x="36156" y="190746"/>
                </a:lnTo>
                <a:lnTo>
                  <a:pt x="0" y="219455"/>
                </a:lnTo>
                <a:lnTo>
                  <a:pt x="46986" y="253289"/>
                </a:lnTo>
                <a:lnTo>
                  <a:pt x="87601" y="286032"/>
                </a:lnTo>
                <a:lnTo>
                  <a:pt x="121824" y="319325"/>
                </a:lnTo>
                <a:lnTo>
                  <a:pt x="149634" y="354809"/>
                </a:lnTo>
                <a:lnTo>
                  <a:pt x="171009" y="394125"/>
                </a:lnTo>
                <a:lnTo>
                  <a:pt x="185927" y="438911"/>
                </a:lnTo>
                <a:lnTo>
                  <a:pt x="206597" y="392731"/>
                </a:lnTo>
                <a:lnTo>
                  <a:pt x="232748" y="349588"/>
                </a:lnTo>
                <a:lnTo>
                  <a:pt x="263366" y="310086"/>
                </a:lnTo>
                <a:lnTo>
                  <a:pt x="297433" y="274827"/>
                </a:lnTo>
                <a:lnTo>
                  <a:pt x="333935" y="244416"/>
                </a:lnTo>
                <a:lnTo>
                  <a:pt x="371856" y="219455"/>
                </a:lnTo>
                <a:lnTo>
                  <a:pt x="329861" y="187439"/>
                </a:lnTo>
                <a:lnTo>
                  <a:pt x="291676" y="154798"/>
                </a:lnTo>
                <a:lnTo>
                  <a:pt x="257746" y="120634"/>
                </a:lnTo>
                <a:lnTo>
                  <a:pt x="228515" y="84045"/>
                </a:lnTo>
                <a:lnTo>
                  <a:pt x="204427" y="44134"/>
                </a:lnTo>
                <a:lnTo>
                  <a:pt x="185927" y="0"/>
                </a:lnTo>
                <a:close/>
              </a:path>
            </a:pathLst>
          </a:custGeom>
          <a:solidFill>
            <a:srgbClr val="006379">
              <a:alpha val="1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6664452" y="2820923"/>
            <a:ext cx="307975" cy="364490"/>
          </a:xfrm>
          <a:custGeom>
            <a:avLst/>
            <a:gdLst/>
            <a:ahLst/>
            <a:cxnLst/>
            <a:rect l="l" t="t" r="r" b="b"/>
            <a:pathLst>
              <a:path w="307975" h="364489">
                <a:moveTo>
                  <a:pt x="153924" y="0"/>
                </a:moveTo>
                <a:lnTo>
                  <a:pt x="137233" y="52785"/>
                </a:lnTo>
                <a:lnTo>
                  <a:pt x="111959" y="95963"/>
                </a:lnTo>
                <a:lnTo>
                  <a:pt x="79638" y="130960"/>
                </a:lnTo>
                <a:lnTo>
                  <a:pt x="41806" y="159203"/>
                </a:lnTo>
                <a:lnTo>
                  <a:pt x="0" y="182117"/>
                </a:lnTo>
                <a:lnTo>
                  <a:pt x="43866" y="212165"/>
                </a:lnTo>
                <a:lnTo>
                  <a:pt x="79784" y="240773"/>
                </a:lnTo>
                <a:lnTo>
                  <a:pt x="109161" y="272570"/>
                </a:lnTo>
                <a:lnTo>
                  <a:pt x="133404" y="312182"/>
                </a:lnTo>
                <a:lnTo>
                  <a:pt x="153924" y="364236"/>
                </a:lnTo>
                <a:lnTo>
                  <a:pt x="168639" y="313657"/>
                </a:lnTo>
                <a:lnTo>
                  <a:pt x="190146" y="272149"/>
                </a:lnTo>
                <a:lnTo>
                  <a:pt x="219687" y="237719"/>
                </a:lnTo>
                <a:lnTo>
                  <a:pt x="258506" y="208373"/>
                </a:lnTo>
                <a:lnTo>
                  <a:pt x="307848" y="182117"/>
                </a:lnTo>
                <a:lnTo>
                  <a:pt x="263993" y="155472"/>
                </a:lnTo>
                <a:lnTo>
                  <a:pt x="226545" y="120225"/>
                </a:lnTo>
                <a:lnTo>
                  <a:pt x="195632" y="80089"/>
                </a:lnTo>
                <a:lnTo>
                  <a:pt x="171382" y="38776"/>
                </a:lnTo>
                <a:lnTo>
                  <a:pt x="153924" y="0"/>
                </a:lnTo>
                <a:close/>
              </a:path>
            </a:pathLst>
          </a:custGeom>
          <a:solidFill>
            <a:srgbClr val="006379">
              <a:alpha val="1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9073895" y="3404615"/>
            <a:ext cx="306705" cy="364490"/>
          </a:xfrm>
          <a:custGeom>
            <a:avLst/>
            <a:gdLst/>
            <a:ahLst/>
            <a:cxnLst/>
            <a:rect l="l" t="t" r="r" b="b"/>
            <a:pathLst>
              <a:path w="306704" h="364489">
                <a:moveTo>
                  <a:pt x="153161" y="0"/>
                </a:moveTo>
                <a:lnTo>
                  <a:pt x="126577" y="50651"/>
                </a:lnTo>
                <a:lnTo>
                  <a:pt x="98554" y="92762"/>
                </a:lnTo>
                <a:lnTo>
                  <a:pt x="68506" y="127759"/>
                </a:lnTo>
                <a:lnTo>
                  <a:pt x="35850" y="157069"/>
                </a:lnTo>
                <a:lnTo>
                  <a:pt x="0" y="182118"/>
                </a:lnTo>
                <a:lnTo>
                  <a:pt x="49981" y="205337"/>
                </a:lnTo>
                <a:lnTo>
                  <a:pt x="87032" y="238030"/>
                </a:lnTo>
                <a:lnTo>
                  <a:pt x="114409" y="277325"/>
                </a:lnTo>
                <a:lnTo>
                  <a:pt x="135367" y="320350"/>
                </a:lnTo>
                <a:lnTo>
                  <a:pt x="153161" y="364236"/>
                </a:lnTo>
                <a:lnTo>
                  <a:pt x="171248" y="315388"/>
                </a:lnTo>
                <a:lnTo>
                  <a:pt x="191786" y="274966"/>
                </a:lnTo>
                <a:lnTo>
                  <a:pt x="218596" y="240755"/>
                </a:lnTo>
                <a:lnTo>
                  <a:pt x="255501" y="210543"/>
                </a:lnTo>
                <a:lnTo>
                  <a:pt x="306324" y="182118"/>
                </a:lnTo>
                <a:lnTo>
                  <a:pt x="258878" y="160117"/>
                </a:lnTo>
                <a:lnTo>
                  <a:pt x="217480" y="131600"/>
                </a:lnTo>
                <a:lnTo>
                  <a:pt x="184489" y="95871"/>
                </a:lnTo>
                <a:lnTo>
                  <a:pt x="162263" y="52236"/>
                </a:lnTo>
                <a:lnTo>
                  <a:pt x="153161" y="0"/>
                </a:lnTo>
                <a:close/>
              </a:path>
            </a:pathLst>
          </a:custGeom>
          <a:solidFill>
            <a:srgbClr val="006379">
              <a:alpha val="1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7787568" y="3640835"/>
            <a:ext cx="118110" cy="474345"/>
          </a:xfrm>
          <a:custGeom>
            <a:avLst/>
            <a:gdLst/>
            <a:ahLst/>
            <a:cxnLst/>
            <a:rect l="l" t="t" r="r" b="b"/>
            <a:pathLst>
              <a:path w="118109" h="474345">
                <a:moveTo>
                  <a:pt x="59507" y="0"/>
                </a:moveTo>
                <a:lnTo>
                  <a:pt x="39879" y="2998"/>
                </a:lnTo>
                <a:lnTo>
                  <a:pt x="21549" y="16367"/>
                </a:lnTo>
                <a:lnTo>
                  <a:pt x="8482" y="35236"/>
                </a:lnTo>
                <a:lnTo>
                  <a:pt x="4643" y="54737"/>
                </a:lnTo>
                <a:lnTo>
                  <a:pt x="5429" y="116628"/>
                </a:lnTo>
                <a:lnTo>
                  <a:pt x="4465" y="167952"/>
                </a:lnTo>
                <a:lnTo>
                  <a:pt x="857" y="256401"/>
                </a:lnTo>
                <a:lnTo>
                  <a:pt x="0" y="302279"/>
                </a:lnTo>
                <a:lnTo>
                  <a:pt x="964" y="355096"/>
                </a:lnTo>
                <a:lnTo>
                  <a:pt x="4643" y="419226"/>
                </a:lnTo>
                <a:lnTo>
                  <a:pt x="21883" y="460216"/>
                </a:lnTo>
                <a:lnTo>
                  <a:pt x="59507" y="473963"/>
                </a:lnTo>
                <a:lnTo>
                  <a:pt x="81366" y="466143"/>
                </a:lnTo>
                <a:lnTo>
                  <a:pt x="98654" y="454739"/>
                </a:lnTo>
                <a:lnTo>
                  <a:pt x="110084" y="439263"/>
                </a:lnTo>
                <a:lnTo>
                  <a:pt x="114371" y="419226"/>
                </a:lnTo>
                <a:lnTo>
                  <a:pt x="108346" y="354136"/>
                </a:lnTo>
                <a:lnTo>
                  <a:pt x="107506" y="300246"/>
                </a:lnTo>
                <a:lnTo>
                  <a:pt x="109945" y="253442"/>
                </a:lnTo>
                <a:lnTo>
                  <a:pt x="113757" y="209605"/>
                </a:lnTo>
                <a:lnTo>
                  <a:pt x="117036" y="164619"/>
                </a:lnTo>
                <a:lnTo>
                  <a:pt x="117876" y="114369"/>
                </a:lnTo>
                <a:lnTo>
                  <a:pt x="114371" y="54737"/>
                </a:lnTo>
                <a:lnTo>
                  <a:pt x="98607" y="18605"/>
                </a:lnTo>
                <a:lnTo>
                  <a:pt x="81206" y="6731"/>
                </a:lnTo>
                <a:lnTo>
                  <a:pt x="59507" y="0"/>
                </a:lnTo>
                <a:close/>
              </a:path>
            </a:pathLst>
          </a:custGeom>
          <a:solidFill>
            <a:srgbClr val="006379">
              <a:alpha val="1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7788208" y="3130295"/>
            <a:ext cx="114300" cy="401320"/>
          </a:xfrm>
          <a:custGeom>
            <a:avLst/>
            <a:gdLst/>
            <a:ahLst/>
            <a:cxnLst/>
            <a:rect l="l" t="t" r="r" b="b"/>
            <a:pathLst>
              <a:path w="114300" h="401320">
                <a:moveTo>
                  <a:pt x="58868" y="0"/>
                </a:moveTo>
                <a:lnTo>
                  <a:pt x="37401" y="5925"/>
                </a:lnTo>
                <a:lnTo>
                  <a:pt x="20958" y="19018"/>
                </a:lnTo>
                <a:lnTo>
                  <a:pt x="9754" y="36254"/>
                </a:lnTo>
                <a:lnTo>
                  <a:pt x="4004" y="54609"/>
                </a:lnTo>
                <a:lnTo>
                  <a:pt x="9807" y="105198"/>
                </a:lnTo>
                <a:lnTo>
                  <a:pt x="9366" y="152531"/>
                </a:lnTo>
                <a:lnTo>
                  <a:pt x="5623" y="198453"/>
                </a:lnTo>
                <a:lnTo>
                  <a:pt x="1520" y="244808"/>
                </a:lnTo>
                <a:lnTo>
                  <a:pt x="0" y="293443"/>
                </a:lnTo>
                <a:lnTo>
                  <a:pt x="4004" y="346201"/>
                </a:lnTo>
                <a:lnTo>
                  <a:pt x="20101" y="384651"/>
                </a:lnTo>
                <a:lnTo>
                  <a:pt x="58868" y="400812"/>
                </a:lnTo>
                <a:lnTo>
                  <a:pt x="76477" y="395547"/>
                </a:lnTo>
                <a:lnTo>
                  <a:pt x="94586" y="382127"/>
                </a:lnTo>
                <a:lnTo>
                  <a:pt x="108552" y="364396"/>
                </a:lnTo>
                <a:lnTo>
                  <a:pt x="113732" y="346201"/>
                </a:lnTo>
                <a:lnTo>
                  <a:pt x="106085" y="286811"/>
                </a:lnTo>
                <a:lnTo>
                  <a:pt x="104757" y="238995"/>
                </a:lnTo>
                <a:lnTo>
                  <a:pt x="107302" y="197310"/>
                </a:lnTo>
                <a:lnTo>
                  <a:pt x="111276" y="156313"/>
                </a:lnTo>
                <a:lnTo>
                  <a:pt x="114234" y="110561"/>
                </a:lnTo>
                <a:lnTo>
                  <a:pt x="113732" y="54609"/>
                </a:lnTo>
                <a:lnTo>
                  <a:pt x="112499" y="35254"/>
                </a:lnTo>
                <a:lnTo>
                  <a:pt x="100539" y="18446"/>
                </a:lnTo>
                <a:lnTo>
                  <a:pt x="81460" y="6068"/>
                </a:lnTo>
                <a:lnTo>
                  <a:pt x="58868" y="0"/>
                </a:lnTo>
                <a:close/>
              </a:path>
            </a:pathLst>
          </a:custGeom>
          <a:solidFill>
            <a:srgbClr val="006379">
              <a:alpha val="1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7791140" y="2766060"/>
            <a:ext cx="115570" cy="254635"/>
          </a:xfrm>
          <a:custGeom>
            <a:avLst/>
            <a:gdLst/>
            <a:ahLst/>
            <a:cxnLst/>
            <a:rect l="l" t="t" r="r" b="b"/>
            <a:pathLst>
              <a:path w="115570" h="254635">
                <a:moveTo>
                  <a:pt x="55935" y="0"/>
                </a:moveTo>
                <a:lnTo>
                  <a:pt x="33397" y="2905"/>
                </a:lnTo>
                <a:lnTo>
                  <a:pt x="15835" y="15430"/>
                </a:lnTo>
                <a:lnTo>
                  <a:pt x="4607" y="33861"/>
                </a:lnTo>
                <a:lnTo>
                  <a:pt x="1071" y="54482"/>
                </a:lnTo>
                <a:lnTo>
                  <a:pt x="1714" y="95190"/>
                </a:lnTo>
                <a:lnTo>
                  <a:pt x="0" y="158317"/>
                </a:lnTo>
                <a:lnTo>
                  <a:pt x="1071" y="200025"/>
                </a:lnTo>
                <a:lnTo>
                  <a:pt x="15882" y="237553"/>
                </a:lnTo>
                <a:lnTo>
                  <a:pt x="55935" y="254507"/>
                </a:lnTo>
                <a:lnTo>
                  <a:pt x="75241" y="248281"/>
                </a:lnTo>
                <a:lnTo>
                  <a:pt x="92178" y="237077"/>
                </a:lnTo>
                <a:lnTo>
                  <a:pt x="104709" y="220968"/>
                </a:lnTo>
                <a:lnTo>
                  <a:pt x="110799" y="200025"/>
                </a:lnTo>
                <a:lnTo>
                  <a:pt x="110085" y="153906"/>
                </a:lnTo>
                <a:lnTo>
                  <a:pt x="113085" y="117109"/>
                </a:lnTo>
                <a:lnTo>
                  <a:pt x="110799" y="54482"/>
                </a:lnTo>
                <a:lnTo>
                  <a:pt x="96273" y="18192"/>
                </a:lnTo>
                <a:lnTo>
                  <a:pt x="79063" y="4548"/>
                </a:lnTo>
                <a:lnTo>
                  <a:pt x="55935" y="0"/>
                </a:lnTo>
                <a:close/>
              </a:path>
            </a:pathLst>
          </a:custGeom>
          <a:solidFill>
            <a:srgbClr val="006379">
              <a:alpha val="1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8196276" y="3469489"/>
            <a:ext cx="170180" cy="391160"/>
          </a:xfrm>
          <a:custGeom>
            <a:avLst/>
            <a:gdLst/>
            <a:ahLst/>
            <a:cxnLst/>
            <a:rect l="l" t="t" r="r" b="b"/>
            <a:pathLst>
              <a:path w="170179" h="391160">
                <a:moveTo>
                  <a:pt x="107801" y="0"/>
                </a:moveTo>
                <a:lnTo>
                  <a:pt x="88917" y="7929"/>
                </a:lnTo>
                <a:lnTo>
                  <a:pt x="73606" y="22288"/>
                </a:lnTo>
                <a:lnTo>
                  <a:pt x="63295" y="40790"/>
                </a:lnTo>
                <a:lnTo>
                  <a:pt x="57505" y="101550"/>
                </a:lnTo>
                <a:lnTo>
                  <a:pt x="44240" y="151200"/>
                </a:lnTo>
                <a:lnTo>
                  <a:pt x="12288" y="234461"/>
                </a:lnTo>
                <a:lnTo>
                  <a:pt x="2103" y="276713"/>
                </a:lnTo>
                <a:lnTo>
                  <a:pt x="1446" y="325143"/>
                </a:lnTo>
                <a:lnTo>
                  <a:pt x="0" y="346225"/>
                </a:lnTo>
                <a:lnTo>
                  <a:pt x="7209" y="365593"/>
                </a:lnTo>
                <a:lnTo>
                  <a:pt x="21538" y="381150"/>
                </a:lnTo>
                <a:lnTo>
                  <a:pt x="41451" y="390802"/>
                </a:lnTo>
                <a:lnTo>
                  <a:pt x="44499" y="389786"/>
                </a:lnTo>
                <a:lnTo>
                  <a:pt x="47928" y="390929"/>
                </a:lnTo>
                <a:lnTo>
                  <a:pt x="52373" y="390802"/>
                </a:lnTo>
                <a:lnTo>
                  <a:pt x="69300" y="390425"/>
                </a:lnTo>
                <a:lnTo>
                  <a:pt x="83774" y="382357"/>
                </a:lnTo>
                <a:lnTo>
                  <a:pt x="96200" y="368478"/>
                </a:lnTo>
                <a:lnTo>
                  <a:pt x="106983" y="350670"/>
                </a:lnTo>
                <a:lnTo>
                  <a:pt x="115542" y="299004"/>
                </a:lnTo>
                <a:lnTo>
                  <a:pt x="127110" y="252255"/>
                </a:lnTo>
                <a:lnTo>
                  <a:pt x="139955" y="208018"/>
                </a:lnTo>
                <a:lnTo>
                  <a:pt x="152346" y="163886"/>
                </a:lnTo>
                <a:lnTo>
                  <a:pt x="162549" y="117455"/>
                </a:lnTo>
                <a:lnTo>
                  <a:pt x="168832" y="66317"/>
                </a:lnTo>
                <a:lnTo>
                  <a:pt x="170082" y="41344"/>
                </a:lnTo>
                <a:lnTo>
                  <a:pt x="162831" y="21121"/>
                </a:lnTo>
                <a:lnTo>
                  <a:pt x="148580" y="7113"/>
                </a:lnTo>
                <a:lnTo>
                  <a:pt x="128827" y="785"/>
                </a:lnTo>
                <a:lnTo>
                  <a:pt x="107801" y="0"/>
                </a:lnTo>
                <a:close/>
              </a:path>
            </a:pathLst>
          </a:custGeom>
          <a:solidFill>
            <a:srgbClr val="006379">
              <a:alpha val="1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/>
          <p:nvPr/>
        </p:nvSpPr>
        <p:spPr>
          <a:xfrm>
            <a:off x="8307451" y="3034815"/>
            <a:ext cx="156845" cy="327025"/>
          </a:xfrm>
          <a:custGeom>
            <a:avLst/>
            <a:gdLst/>
            <a:ahLst/>
            <a:cxnLst/>
            <a:rect l="l" t="t" r="r" b="b"/>
            <a:pathLst>
              <a:path w="156845" h="327025">
                <a:moveTo>
                  <a:pt x="53909" y="325096"/>
                </a:moveTo>
                <a:lnTo>
                  <a:pt x="45084" y="325096"/>
                </a:lnTo>
                <a:lnTo>
                  <a:pt x="47117" y="326874"/>
                </a:lnTo>
                <a:lnTo>
                  <a:pt x="50926" y="325604"/>
                </a:lnTo>
                <a:lnTo>
                  <a:pt x="53909" y="325096"/>
                </a:lnTo>
                <a:close/>
              </a:path>
              <a:path w="156845" h="327025">
                <a:moveTo>
                  <a:pt x="112826" y="0"/>
                </a:moveTo>
                <a:lnTo>
                  <a:pt x="89927" y="0"/>
                </a:lnTo>
                <a:lnTo>
                  <a:pt x="70865" y="8643"/>
                </a:lnTo>
                <a:lnTo>
                  <a:pt x="56372" y="23915"/>
                </a:lnTo>
                <a:lnTo>
                  <a:pt x="47244" y="43791"/>
                </a:lnTo>
                <a:lnTo>
                  <a:pt x="42915" y="90945"/>
                </a:lnTo>
                <a:lnTo>
                  <a:pt x="30815" y="128694"/>
                </a:lnTo>
                <a:lnTo>
                  <a:pt x="16154" y="164455"/>
                </a:lnTo>
                <a:lnTo>
                  <a:pt x="4145" y="205648"/>
                </a:lnTo>
                <a:lnTo>
                  <a:pt x="0" y="259691"/>
                </a:lnTo>
                <a:lnTo>
                  <a:pt x="1875" y="283920"/>
                </a:lnTo>
                <a:lnTo>
                  <a:pt x="10048" y="303791"/>
                </a:lnTo>
                <a:lnTo>
                  <a:pt x="23199" y="318091"/>
                </a:lnTo>
                <a:lnTo>
                  <a:pt x="40004" y="325604"/>
                </a:lnTo>
                <a:lnTo>
                  <a:pt x="45084" y="325096"/>
                </a:lnTo>
                <a:lnTo>
                  <a:pt x="53909" y="325096"/>
                </a:lnTo>
                <a:lnTo>
                  <a:pt x="100451" y="302315"/>
                </a:lnTo>
                <a:lnTo>
                  <a:pt x="114811" y="239921"/>
                </a:lnTo>
                <a:lnTo>
                  <a:pt x="127771" y="199783"/>
                </a:lnTo>
                <a:lnTo>
                  <a:pt x="142596" y="160767"/>
                </a:lnTo>
                <a:lnTo>
                  <a:pt x="153910" y="118708"/>
                </a:lnTo>
                <a:lnTo>
                  <a:pt x="156337" y="69445"/>
                </a:lnTo>
                <a:lnTo>
                  <a:pt x="156082" y="68556"/>
                </a:lnTo>
                <a:lnTo>
                  <a:pt x="156718" y="67413"/>
                </a:lnTo>
                <a:lnTo>
                  <a:pt x="156337" y="65762"/>
                </a:lnTo>
                <a:lnTo>
                  <a:pt x="151602" y="43981"/>
                </a:lnTo>
                <a:lnTo>
                  <a:pt x="143224" y="23915"/>
                </a:lnTo>
                <a:lnTo>
                  <a:pt x="130512" y="8326"/>
                </a:lnTo>
                <a:lnTo>
                  <a:pt x="112826" y="0"/>
                </a:lnTo>
                <a:close/>
              </a:path>
            </a:pathLst>
          </a:custGeom>
          <a:solidFill>
            <a:srgbClr val="006379">
              <a:alpha val="1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/>
          <p:nvPr/>
        </p:nvSpPr>
        <p:spPr>
          <a:xfrm>
            <a:off x="8558783" y="3312588"/>
            <a:ext cx="355600" cy="474980"/>
          </a:xfrm>
          <a:custGeom>
            <a:avLst/>
            <a:gdLst/>
            <a:ahLst/>
            <a:cxnLst/>
            <a:rect l="l" t="t" r="r" b="b"/>
            <a:pathLst>
              <a:path w="355600" h="474979">
                <a:moveTo>
                  <a:pt x="295513" y="0"/>
                </a:moveTo>
                <a:lnTo>
                  <a:pt x="276461" y="7439"/>
                </a:lnTo>
                <a:lnTo>
                  <a:pt x="259207" y="25987"/>
                </a:lnTo>
                <a:lnTo>
                  <a:pt x="240641" y="72231"/>
                </a:lnTo>
                <a:lnTo>
                  <a:pt x="213437" y="116120"/>
                </a:lnTo>
                <a:lnTo>
                  <a:pt x="180330" y="158006"/>
                </a:lnTo>
                <a:lnTo>
                  <a:pt x="144056" y="198242"/>
                </a:lnTo>
                <a:lnTo>
                  <a:pt x="107351" y="237182"/>
                </a:lnTo>
                <a:lnTo>
                  <a:pt x="72949" y="275180"/>
                </a:lnTo>
                <a:lnTo>
                  <a:pt x="43587" y="312588"/>
                </a:lnTo>
                <a:lnTo>
                  <a:pt x="21999" y="349759"/>
                </a:lnTo>
                <a:lnTo>
                  <a:pt x="10922" y="387048"/>
                </a:lnTo>
                <a:lnTo>
                  <a:pt x="6322" y="395918"/>
                </a:lnTo>
                <a:lnTo>
                  <a:pt x="3175" y="403336"/>
                </a:lnTo>
                <a:lnTo>
                  <a:pt x="1170" y="410801"/>
                </a:lnTo>
                <a:lnTo>
                  <a:pt x="0" y="419814"/>
                </a:lnTo>
                <a:lnTo>
                  <a:pt x="480" y="439600"/>
                </a:lnTo>
                <a:lnTo>
                  <a:pt x="12223" y="455136"/>
                </a:lnTo>
                <a:lnTo>
                  <a:pt x="31539" y="466695"/>
                </a:lnTo>
                <a:lnTo>
                  <a:pt x="54737" y="474551"/>
                </a:lnTo>
                <a:lnTo>
                  <a:pt x="67730" y="473170"/>
                </a:lnTo>
                <a:lnTo>
                  <a:pt x="80105" y="468741"/>
                </a:lnTo>
                <a:lnTo>
                  <a:pt x="91670" y="460835"/>
                </a:lnTo>
                <a:lnTo>
                  <a:pt x="102235" y="449024"/>
                </a:lnTo>
                <a:lnTo>
                  <a:pt x="124743" y="392925"/>
                </a:lnTo>
                <a:lnTo>
                  <a:pt x="149753" y="346262"/>
                </a:lnTo>
                <a:lnTo>
                  <a:pt x="176736" y="306704"/>
                </a:lnTo>
                <a:lnTo>
                  <a:pt x="205165" y="271919"/>
                </a:lnTo>
                <a:lnTo>
                  <a:pt x="234512" y="239574"/>
                </a:lnTo>
                <a:lnTo>
                  <a:pt x="264249" y="207338"/>
                </a:lnTo>
                <a:lnTo>
                  <a:pt x="293848" y="172879"/>
                </a:lnTo>
                <a:lnTo>
                  <a:pt x="322780" y="133865"/>
                </a:lnTo>
                <a:lnTo>
                  <a:pt x="350520" y="87963"/>
                </a:lnTo>
                <a:lnTo>
                  <a:pt x="355274" y="67107"/>
                </a:lnTo>
                <a:lnTo>
                  <a:pt x="354933" y="47037"/>
                </a:lnTo>
                <a:lnTo>
                  <a:pt x="348734" y="29206"/>
                </a:lnTo>
                <a:lnTo>
                  <a:pt x="335915" y="15065"/>
                </a:lnTo>
                <a:lnTo>
                  <a:pt x="315589" y="2823"/>
                </a:lnTo>
                <a:lnTo>
                  <a:pt x="295513" y="0"/>
                </a:lnTo>
                <a:close/>
              </a:path>
            </a:pathLst>
          </a:custGeom>
          <a:solidFill>
            <a:srgbClr val="006379">
              <a:alpha val="1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/>
          <p:nvPr/>
        </p:nvSpPr>
        <p:spPr>
          <a:xfrm>
            <a:off x="7315072" y="3389927"/>
            <a:ext cx="183515" cy="470534"/>
          </a:xfrm>
          <a:custGeom>
            <a:avLst/>
            <a:gdLst/>
            <a:ahLst/>
            <a:cxnLst/>
            <a:rect l="l" t="t" r="r" b="b"/>
            <a:pathLst>
              <a:path w="183515" h="470535">
                <a:moveTo>
                  <a:pt x="63563" y="0"/>
                </a:moveTo>
                <a:lnTo>
                  <a:pt x="25288" y="11437"/>
                </a:lnTo>
                <a:lnTo>
                  <a:pt x="126" y="45021"/>
                </a:lnTo>
                <a:lnTo>
                  <a:pt x="0" y="68409"/>
                </a:lnTo>
                <a:lnTo>
                  <a:pt x="19116" y="123697"/>
                </a:lnTo>
                <a:lnTo>
                  <a:pt x="31324" y="176322"/>
                </a:lnTo>
                <a:lnTo>
                  <a:pt x="39121" y="227056"/>
                </a:lnTo>
                <a:lnTo>
                  <a:pt x="45009" y="276673"/>
                </a:lnTo>
                <a:lnTo>
                  <a:pt x="51484" y="325945"/>
                </a:lnTo>
                <a:lnTo>
                  <a:pt x="61048" y="375646"/>
                </a:lnTo>
                <a:lnTo>
                  <a:pt x="76200" y="426549"/>
                </a:lnTo>
                <a:lnTo>
                  <a:pt x="110811" y="466054"/>
                </a:lnTo>
                <a:lnTo>
                  <a:pt x="130555" y="470364"/>
                </a:lnTo>
                <a:lnTo>
                  <a:pt x="138049" y="470237"/>
                </a:lnTo>
                <a:lnTo>
                  <a:pt x="141477" y="466681"/>
                </a:lnTo>
                <a:lnTo>
                  <a:pt x="163014" y="459206"/>
                </a:lnTo>
                <a:lnTo>
                  <a:pt x="176895" y="444313"/>
                </a:lnTo>
                <a:lnTo>
                  <a:pt x="183036" y="424158"/>
                </a:lnTo>
                <a:lnTo>
                  <a:pt x="181355" y="400895"/>
                </a:lnTo>
                <a:lnTo>
                  <a:pt x="169797" y="350392"/>
                </a:lnTo>
                <a:lnTo>
                  <a:pt x="162708" y="303645"/>
                </a:lnTo>
                <a:lnTo>
                  <a:pt x="157546" y="258270"/>
                </a:lnTo>
                <a:lnTo>
                  <a:pt x="151766" y="211879"/>
                </a:lnTo>
                <a:lnTo>
                  <a:pt x="142824" y="162087"/>
                </a:lnTo>
                <a:lnTo>
                  <a:pt x="128178" y="106507"/>
                </a:lnTo>
                <a:lnTo>
                  <a:pt x="105282" y="42755"/>
                </a:lnTo>
                <a:lnTo>
                  <a:pt x="100282" y="20518"/>
                </a:lnTo>
                <a:lnTo>
                  <a:pt x="84423" y="6115"/>
                </a:lnTo>
                <a:lnTo>
                  <a:pt x="63563" y="0"/>
                </a:lnTo>
                <a:close/>
              </a:path>
            </a:pathLst>
          </a:custGeom>
          <a:solidFill>
            <a:srgbClr val="006379">
              <a:alpha val="1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/>
          <p:nvPr/>
        </p:nvSpPr>
        <p:spPr>
          <a:xfrm>
            <a:off x="7237124" y="3037322"/>
            <a:ext cx="139065" cy="254635"/>
          </a:xfrm>
          <a:custGeom>
            <a:avLst/>
            <a:gdLst/>
            <a:ahLst/>
            <a:cxnLst/>
            <a:rect l="l" t="t" r="r" b="b"/>
            <a:pathLst>
              <a:path w="139065" h="254635">
                <a:moveTo>
                  <a:pt x="97192" y="252358"/>
                </a:moveTo>
                <a:lnTo>
                  <a:pt x="87219" y="252358"/>
                </a:lnTo>
                <a:lnTo>
                  <a:pt x="93315" y="254263"/>
                </a:lnTo>
                <a:lnTo>
                  <a:pt x="95601" y="252993"/>
                </a:lnTo>
                <a:lnTo>
                  <a:pt x="97192" y="252358"/>
                </a:lnTo>
                <a:close/>
              </a:path>
              <a:path w="139065" h="254635">
                <a:moveTo>
                  <a:pt x="62823" y="0"/>
                </a:moveTo>
                <a:lnTo>
                  <a:pt x="40737" y="1660"/>
                </a:lnTo>
                <a:lnTo>
                  <a:pt x="23284" y="9346"/>
                </a:lnTo>
                <a:lnTo>
                  <a:pt x="8653" y="24663"/>
                </a:lnTo>
                <a:lnTo>
                  <a:pt x="0" y="44862"/>
                </a:lnTo>
                <a:lnTo>
                  <a:pt x="478" y="67192"/>
                </a:lnTo>
                <a:lnTo>
                  <a:pt x="7685" y="106293"/>
                </a:lnTo>
                <a:lnTo>
                  <a:pt x="12606" y="141011"/>
                </a:lnTo>
                <a:lnTo>
                  <a:pt x="29688" y="209305"/>
                </a:lnTo>
                <a:lnTo>
                  <a:pt x="51325" y="243199"/>
                </a:lnTo>
                <a:lnTo>
                  <a:pt x="84679" y="252993"/>
                </a:lnTo>
                <a:lnTo>
                  <a:pt x="87219" y="252358"/>
                </a:lnTo>
                <a:lnTo>
                  <a:pt x="97192" y="252358"/>
                </a:lnTo>
                <a:lnTo>
                  <a:pt x="117054" y="244433"/>
                </a:lnTo>
                <a:lnTo>
                  <a:pt x="132161" y="229181"/>
                </a:lnTo>
                <a:lnTo>
                  <a:pt x="139053" y="209452"/>
                </a:lnTo>
                <a:lnTo>
                  <a:pt x="135860" y="187461"/>
                </a:lnTo>
                <a:lnTo>
                  <a:pt x="123795" y="149129"/>
                </a:lnTo>
                <a:lnTo>
                  <a:pt x="118302" y="108737"/>
                </a:lnTo>
                <a:lnTo>
                  <a:pt x="114286" y="72179"/>
                </a:lnTo>
                <a:lnTo>
                  <a:pt x="106650" y="45348"/>
                </a:lnTo>
                <a:lnTo>
                  <a:pt x="106269" y="43951"/>
                </a:lnTo>
                <a:lnTo>
                  <a:pt x="106777" y="43189"/>
                </a:lnTo>
                <a:lnTo>
                  <a:pt x="106650" y="41665"/>
                </a:lnTo>
                <a:lnTo>
                  <a:pt x="96565" y="21967"/>
                </a:lnTo>
                <a:lnTo>
                  <a:pt x="81694" y="7423"/>
                </a:lnTo>
                <a:lnTo>
                  <a:pt x="62823" y="0"/>
                </a:lnTo>
                <a:close/>
              </a:path>
            </a:pathLst>
          </a:custGeom>
          <a:solidFill>
            <a:srgbClr val="006379">
              <a:alpha val="1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/>
          <p:nvPr/>
        </p:nvSpPr>
        <p:spPr>
          <a:xfrm>
            <a:off x="6782789" y="3318843"/>
            <a:ext cx="357505" cy="468630"/>
          </a:xfrm>
          <a:custGeom>
            <a:avLst/>
            <a:gdLst/>
            <a:ahLst/>
            <a:cxnLst/>
            <a:rect l="l" t="t" r="r" b="b"/>
            <a:pathLst>
              <a:path w="357504" h="468629">
                <a:moveTo>
                  <a:pt x="61636" y="0"/>
                </a:moveTo>
                <a:lnTo>
                  <a:pt x="9663" y="27636"/>
                </a:lnTo>
                <a:lnTo>
                  <a:pt x="0" y="65748"/>
                </a:lnTo>
                <a:lnTo>
                  <a:pt x="6502" y="85518"/>
                </a:lnTo>
                <a:lnTo>
                  <a:pt x="35361" y="119591"/>
                </a:lnTo>
                <a:lnTo>
                  <a:pt x="63338" y="159853"/>
                </a:lnTo>
                <a:lnTo>
                  <a:pt x="90670" y="204296"/>
                </a:lnTo>
                <a:lnTo>
                  <a:pt x="144349" y="297706"/>
                </a:lnTo>
                <a:lnTo>
                  <a:pt x="171170" y="342660"/>
                </a:lnTo>
                <a:lnTo>
                  <a:pt x="198295" y="383773"/>
                </a:lnTo>
                <a:lnTo>
                  <a:pt x="225961" y="419039"/>
                </a:lnTo>
                <a:lnTo>
                  <a:pt x="254406" y="446452"/>
                </a:lnTo>
                <a:lnTo>
                  <a:pt x="260840" y="455723"/>
                </a:lnTo>
                <a:lnTo>
                  <a:pt x="271583" y="462232"/>
                </a:lnTo>
                <a:lnTo>
                  <a:pt x="284660" y="466312"/>
                </a:lnTo>
                <a:lnTo>
                  <a:pt x="298094" y="468296"/>
                </a:lnTo>
                <a:lnTo>
                  <a:pt x="307304" y="468254"/>
                </a:lnTo>
                <a:lnTo>
                  <a:pt x="346840" y="444519"/>
                </a:lnTo>
                <a:lnTo>
                  <a:pt x="356989" y="403300"/>
                </a:lnTo>
                <a:lnTo>
                  <a:pt x="345465" y="384476"/>
                </a:lnTo>
                <a:lnTo>
                  <a:pt x="312195" y="352054"/>
                </a:lnTo>
                <a:lnTo>
                  <a:pt x="280895" y="313946"/>
                </a:lnTo>
                <a:lnTo>
                  <a:pt x="251335" y="271766"/>
                </a:lnTo>
                <a:lnTo>
                  <a:pt x="223283" y="227127"/>
                </a:lnTo>
                <a:lnTo>
                  <a:pt x="196508" y="181644"/>
                </a:lnTo>
                <a:lnTo>
                  <a:pt x="170779" y="136930"/>
                </a:lnTo>
                <a:lnTo>
                  <a:pt x="145866" y="94599"/>
                </a:lnTo>
                <a:lnTo>
                  <a:pt x="121537" y="56265"/>
                </a:lnTo>
                <a:lnTo>
                  <a:pt x="97561" y="23542"/>
                </a:lnTo>
                <a:lnTo>
                  <a:pt x="80010" y="6276"/>
                </a:lnTo>
                <a:lnTo>
                  <a:pt x="61636" y="0"/>
                </a:lnTo>
                <a:close/>
              </a:path>
            </a:pathLst>
          </a:custGeom>
          <a:solidFill>
            <a:srgbClr val="006379">
              <a:alpha val="1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/>
          <p:nvPr/>
        </p:nvSpPr>
        <p:spPr>
          <a:xfrm>
            <a:off x="6251684" y="3980403"/>
            <a:ext cx="3197225" cy="2133600"/>
          </a:xfrm>
          <a:custGeom>
            <a:avLst/>
            <a:gdLst/>
            <a:ahLst/>
            <a:cxnLst/>
            <a:rect l="l" t="t" r="r" b="b"/>
            <a:pathLst>
              <a:path w="3197225" h="2133600">
                <a:moveTo>
                  <a:pt x="1731551" y="2120900"/>
                </a:moveTo>
                <a:lnTo>
                  <a:pt x="1465010" y="2120900"/>
                </a:lnTo>
                <a:lnTo>
                  <a:pt x="1484594" y="2133600"/>
                </a:lnTo>
                <a:lnTo>
                  <a:pt x="1711031" y="2133600"/>
                </a:lnTo>
                <a:lnTo>
                  <a:pt x="1731551" y="2120900"/>
                </a:lnTo>
                <a:close/>
              </a:path>
              <a:path w="3197225" h="2133600">
                <a:moveTo>
                  <a:pt x="1180221" y="1739900"/>
                </a:moveTo>
                <a:lnTo>
                  <a:pt x="551551" y="1739900"/>
                </a:lnTo>
                <a:lnTo>
                  <a:pt x="595997" y="1752600"/>
                </a:lnTo>
                <a:lnTo>
                  <a:pt x="641239" y="1752600"/>
                </a:lnTo>
                <a:lnTo>
                  <a:pt x="734182" y="1778000"/>
                </a:lnTo>
                <a:lnTo>
                  <a:pt x="781919" y="1778000"/>
                </a:lnTo>
                <a:lnTo>
                  <a:pt x="830523" y="1803400"/>
                </a:lnTo>
                <a:lnTo>
                  <a:pt x="930404" y="1828800"/>
                </a:lnTo>
                <a:lnTo>
                  <a:pt x="981716" y="1854200"/>
                </a:lnTo>
                <a:lnTo>
                  <a:pt x="1087175" y="1905000"/>
                </a:lnTo>
                <a:lnTo>
                  <a:pt x="1196529" y="1955800"/>
                </a:lnTo>
                <a:lnTo>
                  <a:pt x="1252712" y="1993900"/>
                </a:lnTo>
                <a:lnTo>
                  <a:pt x="1309923" y="2032000"/>
                </a:lnTo>
                <a:lnTo>
                  <a:pt x="1368178" y="2070100"/>
                </a:lnTo>
                <a:lnTo>
                  <a:pt x="1427497" y="2108200"/>
                </a:lnTo>
                <a:lnTo>
                  <a:pt x="1446736" y="2120900"/>
                </a:lnTo>
                <a:lnTo>
                  <a:pt x="1750571" y="2120900"/>
                </a:lnTo>
                <a:lnTo>
                  <a:pt x="1766841" y="2108200"/>
                </a:lnTo>
                <a:lnTo>
                  <a:pt x="1826544" y="2082800"/>
                </a:lnTo>
                <a:lnTo>
                  <a:pt x="1885949" y="2044700"/>
                </a:lnTo>
                <a:lnTo>
                  <a:pt x="2119334" y="1943100"/>
                </a:lnTo>
                <a:lnTo>
                  <a:pt x="1690260" y="1943100"/>
                </a:lnTo>
                <a:lnTo>
                  <a:pt x="1701382" y="1930400"/>
                </a:lnTo>
                <a:lnTo>
                  <a:pt x="1500522" y="1930400"/>
                </a:lnTo>
                <a:lnTo>
                  <a:pt x="1324800" y="1816100"/>
                </a:lnTo>
                <a:lnTo>
                  <a:pt x="1266635" y="1790700"/>
                </a:lnTo>
                <a:lnTo>
                  <a:pt x="1208859" y="1752600"/>
                </a:lnTo>
                <a:lnTo>
                  <a:pt x="1180221" y="1739900"/>
                </a:lnTo>
                <a:close/>
              </a:path>
              <a:path w="3197225" h="2133600">
                <a:moveTo>
                  <a:pt x="2942977" y="368300"/>
                </a:moveTo>
                <a:lnTo>
                  <a:pt x="2799351" y="368300"/>
                </a:lnTo>
                <a:lnTo>
                  <a:pt x="2814534" y="419100"/>
                </a:lnTo>
                <a:lnTo>
                  <a:pt x="2825702" y="457200"/>
                </a:lnTo>
                <a:lnTo>
                  <a:pt x="2833479" y="508000"/>
                </a:lnTo>
                <a:lnTo>
                  <a:pt x="2838491" y="546100"/>
                </a:lnTo>
                <a:lnTo>
                  <a:pt x="2841364" y="584200"/>
                </a:lnTo>
                <a:lnTo>
                  <a:pt x="2842722" y="635000"/>
                </a:lnTo>
                <a:lnTo>
                  <a:pt x="2843191" y="673100"/>
                </a:lnTo>
                <a:lnTo>
                  <a:pt x="2843294" y="698500"/>
                </a:lnTo>
                <a:lnTo>
                  <a:pt x="2843397" y="723900"/>
                </a:lnTo>
                <a:lnTo>
                  <a:pt x="2843964" y="774700"/>
                </a:lnTo>
                <a:lnTo>
                  <a:pt x="2845518" y="825500"/>
                </a:lnTo>
                <a:lnTo>
                  <a:pt x="2848685" y="876300"/>
                </a:lnTo>
                <a:lnTo>
                  <a:pt x="2854088" y="939800"/>
                </a:lnTo>
                <a:lnTo>
                  <a:pt x="2860782" y="1003300"/>
                </a:lnTo>
                <a:lnTo>
                  <a:pt x="2866294" y="1054100"/>
                </a:lnTo>
                <a:lnTo>
                  <a:pt x="2870904" y="1104900"/>
                </a:lnTo>
                <a:lnTo>
                  <a:pt x="2874890" y="1155700"/>
                </a:lnTo>
                <a:lnTo>
                  <a:pt x="2882113" y="1244600"/>
                </a:lnTo>
                <a:lnTo>
                  <a:pt x="2885907" y="1295400"/>
                </a:lnTo>
                <a:lnTo>
                  <a:pt x="2890196" y="1346200"/>
                </a:lnTo>
                <a:lnTo>
                  <a:pt x="2895260" y="1397000"/>
                </a:lnTo>
                <a:lnTo>
                  <a:pt x="2901376" y="1447800"/>
                </a:lnTo>
                <a:lnTo>
                  <a:pt x="2908825" y="1511300"/>
                </a:lnTo>
                <a:lnTo>
                  <a:pt x="2885493" y="1524000"/>
                </a:lnTo>
                <a:lnTo>
                  <a:pt x="2858953" y="1536700"/>
                </a:lnTo>
                <a:lnTo>
                  <a:pt x="2829370" y="1536700"/>
                </a:lnTo>
                <a:lnTo>
                  <a:pt x="2796910" y="1549400"/>
                </a:lnTo>
                <a:lnTo>
                  <a:pt x="2761739" y="1562100"/>
                </a:lnTo>
                <a:lnTo>
                  <a:pt x="2724023" y="1574800"/>
                </a:lnTo>
                <a:lnTo>
                  <a:pt x="2683927" y="1587500"/>
                </a:lnTo>
                <a:lnTo>
                  <a:pt x="2641617" y="1587500"/>
                </a:lnTo>
                <a:lnTo>
                  <a:pt x="2551016" y="1612900"/>
                </a:lnTo>
                <a:lnTo>
                  <a:pt x="2503058" y="1625600"/>
                </a:lnTo>
                <a:lnTo>
                  <a:pt x="2402651" y="1651000"/>
                </a:lnTo>
                <a:lnTo>
                  <a:pt x="2350535" y="1676400"/>
                </a:lnTo>
                <a:lnTo>
                  <a:pt x="2188521" y="1714500"/>
                </a:lnTo>
                <a:lnTo>
                  <a:pt x="2133180" y="1739900"/>
                </a:lnTo>
                <a:lnTo>
                  <a:pt x="2077447" y="1752600"/>
                </a:lnTo>
                <a:lnTo>
                  <a:pt x="1744098" y="1905000"/>
                </a:lnTo>
                <a:lnTo>
                  <a:pt x="1690260" y="1943100"/>
                </a:lnTo>
                <a:lnTo>
                  <a:pt x="2119334" y="1943100"/>
                </a:lnTo>
                <a:lnTo>
                  <a:pt x="2176309" y="1917700"/>
                </a:lnTo>
                <a:lnTo>
                  <a:pt x="2288174" y="1892300"/>
                </a:lnTo>
                <a:lnTo>
                  <a:pt x="2342939" y="1866900"/>
                </a:lnTo>
                <a:lnTo>
                  <a:pt x="2449819" y="1841500"/>
                </a:lnTo>
                <a:lnTo>
                  <a:pt x="2501809" y="1841500"/>
                </a:lnTo>
                <a:lnTo>
                  <a:pt x="2651228" y="1803400"/>
                </a:lnTo>
                <a:lnTo>
                  <a:pt x="2744754" y="1803400"/>
                </a:lnTo>
                <a:lnTo>
                  <a:pt x="2789502" y="1790700"/>
                </a:lnTo>
                <a:lnTo>
                  <a:pt x="2874658" y="1790700"/>
                </a:lnTo>
                <a:lnTo>
                  <a:pt x="2914940" y="1778000"/>
                </a:lnTo>
                <a:lnTo>
                  <a:pt x="3148449" y="1778000"/>
                </a:lnTo>
                <a:lnTo>
                  <a:pt x="3172017" y="1752600"/>
                </a:lnTo>
                <a:lnTo>
                  <a:pt x="3188989" y="1727200"/>
                </a:lnTo>
                <a:lnTo>
                  <a:pt x="3197115" y="1701800"/>
                </a:lnTo>
                <a:lnTo>
                  <a:pt x="3193432" y="1689100"/>
                </a:lnTo>
                <a:lnTo>
                  <a:pt x="3182619" y="1651000"/>
                </a:lnTo>
                <a:lnTo>
                  <a:pt x="3175419" y="1600200"/>
                </a:lnTo>
                <a:lnTo>
                  <a:pt x="3171037" y="1549400"/>
                </a:lnTo>
                <a:lnTo>
                  <a:pt x="3168677" y="1498600"/>
                </a:lnTo>
                <a:lnTo>
                  <a:pt x="3167545" y="1435100"/>
                </a:lnTo>
                <a:lnTo>
                  <a:pt x="3166845" y="1371600"/>
                </a:lnTo>
                <a:lnTo>
                  <a:pt x="3165783" y="1320800"/>
                </a:lnTo>
                <a:lnTo>
                  <a:pt x="3163562" y="1257300"/>
                </a:lnTo>
                <a:lnTo>
                  <a:pt x="3159387" y="1206500"/>
                </a:lnTo>
                <a:lnTo>
                  <a:pt x="3152464" y="1168400"/>
                </a:lnTo>
                <a:lnTo>
                  <a:pt x="3141997" y="1130300"/>
                </a:lnTo>
                <a:lnTo>
                  <a:pt x="3133428" y="1104900"/>
                </a:lnTo>
                <a:lnTo>
                  <a:pt x="3128318" y="1066800"/>
                </a:lnTo>
                <a:lnTo>
                  <a:pt x="3125911" y="1028700"/>
                </a:lnTo>
                <a:lnTo>
                  <a:pt x="3125448" y="977900"/>
                </a:lnTo>
                <a:lnTo>
                  <a:pt x="3126174" y="927100"/>
                </a:lnTo>
                <a:lnTo>
                  <a:pt x="3127332" y="876300"/>
                </a:lnTo>
                <a:lnTo>
                  <a:pt x="3128165" y="812800"/>
                </a:lnTo>
                <a:lnTo>
                  <a:pt x="3128041" y="787400"/>
                </a:lnTo>
                <a:lnTo>
                  <a:pt x="3127917" y="762000"/>
                </a:lnTo>
                <a:lnTo>
                  <a:pt x="3125829" y="698500"/>
                </a:lnTo>
                <a:lnTo>
                  <a:pt x="3121147" y="647700"/>
                </a:lnTo>
                <a:lnTo>
                  <a:pt x="3113112" y="596900"/>
                </a:lnTo>
                <a:lnTo>
                  <a:pt x="3100968" y="546100"/>
                </a:lnTo>
                <a:lnTo>
                  <a:pt x="3083958" y="508000"/>
                </a:lnTo>
                <a:lnTo>
                  <a:pt x="3054605" y="457200"/>
                </a:lnTo>
                <a:lnTo>
                  <a:pt x="3033684" y="444500"/>
                </a:lnTo>
                <a:lnTo>
                  <a:pt x="2956323" y="444500"/>
                </a:lnTo>
                <a:lnTo>
                  <a:pt x="2944412" y="393700"/>
                </a:lnTo>
                <a:lnTo>
                  <a:pt x="2942977" y="368300"/>
                </a:lnTo>
                <a:close/>
              </a:path>
              <a:path w="3197225" h="2133600">
                <a:moveTo>
                  <a:pt x="920821" y="1384300"/>
                </a:moveTo>
                <a:lnTo>
                  <a:pt x="620674" y="1384300"/>
                </a:lnTo>
                <a:lnTo>
                  <a:pt x="657162" y="1397000"/>
                </a:lnTo>
                <a:lnTo>
                  <a:pt x="696128" y="1397000"/>
                </a:lnTo>
                <a:lnTo>
                  <a:pt x="737329" y="1409700"/>
                </a:lnTo>
                <a:lnTo>
                  <a:pt x="780520" y="1422400"/>
                </a:lnTo>
                <a:lnTo>
                  <a:pt x="825454" y="1435100"/>
                </a:lnTo>
                <a:lnTo>
                  <a:pt x="919577" y="1460500"/>
                </a:lnTo>
                <a:lnTo>
                  <a:pt x="968275" y="1485900"/>
                </a:lnTo>
                <a:lnTo>
                  <a:pt x="1117976" y="1562100"/>
                </a:lnTo>
                <a:lnTo>
                  <a:pt x="1267944" y="1676400"/>
                </a:lnTo>
                <a:lnTo>
                  <a:pt x="1316850" y="1714500"/>
                </a:lnTo>
                <a:lnTo>
                  <a:pt x="1364806" y="1765300"/>
                </a:lnTo>
                <a:lnTo>
                  <a:pt x="1411566" y="1816100"/>
                </a:lnTo>
                <a:lnTo>
                  <a:pt x="1456887" y="1866900"/>
                </a:lnTo>
                <a:lnTo>
                  <a:pt x="1500522" y="1930400"/>
                </a:lnTo>
                <a:lnTo>
                  <a:pt x="1701382" y="1930400"/>
                </a:lnTo>
                <a:lnTo>
                  <a:pt x="1745866" y="1879600"/>
                </a:lnTo>
                <a:lnTo>
                  <a:pt x="1802951" y="1841500"/>
                </a:lnTo>
                <a:lnTo>
                  <a:pt x="1861174" y="1790700"/>
                </a:lnTo>
                <a:lnTo>
                  <a:pt x="1920197" y="1752600"/>
                </a:lnTo>
                <a:lnTo>
                  <a:pt x="1522366" y="1752600"/>
                </a:lnTo>
                <a:lnTo>
                  <a:pt x="1465984" y="1714500"/>
                </a:lnTo>
                <a:lnTo>
                  <a:pt x="1410089" y="1663700"/>
                </a:lnTo>
                <a:lnTo>
                  <a:pt x="1300120" y="1587500"/>
                </a:lnTo>
                <a:lnTo>
                  <a:pt x="1246228" y="1562100"/>
                </a:lnTo>
                <a:lnTo>
                  <a:pt x="1193184" y="1524000"/>
                </a:lnTo>
                <a:lnTo>
                  <a:pt x="1141079" y="1498600"/>
                </a:lnTo>
                <a:lnTo>
                  <a:pt x="1090002" y="1460500"/>
                </a:lnTo>
                <a:lnTo>
                  <a:pt x="1040045" y="1435100"/>
                </a:lnTo>
                <a:lnTo>
                  <a:pt x="991297" y="1409700"/>
                </a:lnTo>
                <a:lnTo>
                  <a:pt x="943850" y="1397000"/>
                </a:lnTo>
                <a:lnTo>
                  <a:pt x="920821" y="1384300"/>
                </a:lnTo>
                <a:close/>
              </a:path>
              <a:path w="3197225" h="2133600">
                <a:moveTo>
                  <a:pt x="851294" y="12700"/>
                </a:moveTo>
                <a:lnTo>
                  <a:pt x="603188" y="12700"/>
                </a:lnTo>
                <a:lnTo>
                  <a:pt x="551832" y="25400"/>
                </a:lnTo>
                <a:lnTo>
                  <a:pt x="513863" y="25400"/>
                </a:lnTo>
                <a:lnTo>
                  <a:pt x="497095" y="38100"/>
                </a:lnTo>
                <a:lnTo>
                  <a:pt x="497006" y="63500"/>
                </a:lnTo>
                <a:lnTo>
                  <a:pt x="496917" y="88900"/>
                </a:lnTo>
                <a:lnTo>
                  <a:pt x="488047" y="139700"/>
                </a:lnTo>
                <a:lnTo>
                  <a:pt x="479129" y="177800"/>
                </a:lnTo>
                <a:lnTo>
                  <a:pt x="479048" y="190500"/>
                </a:lnTo>
                <a:lnTo>
                  <a:pt x="478968" y="203200"/>
                </a:lnTo>
                <a:lnTo>
                  <a:pt x="478888" y="215900"/>
                </a:lnTo>
                <a:lnTo>
                  <a:pt x="478807" y="228600"/>
                </a:lnTo>
                <a:lnTo>
                  <a:pt x="256303" y="228600"/>
                </a:lnTo>
                <a:lnTo>
                  <a:pt x="259179" y="279400"/>
                </a:lnTo>
                <a:lnTo>
                  <a:pt x="251207" y="317500"/>
                </a:lnTo>
                <a:lnTo>
                  <a:pt x="241212" y="381000"/>
                </a:lnTo>
                <a:lnTo>
                  <a:pt x="238015" y="444500"/>
                </a:lnTo>
                <a:lnTo>
                  <a:pt x="156922" y="444500"/>
                </a:lnTo>
                <a:lnTo>
                  <a:pt x="135495" y="457200"/>
                </a:lnTo>
                <a:lnTo>
                  <a:pt x="119735" y="482600"/>
                </a:lnTo>
                <a:lnTo>
                  <a:pt x="110380" y="508000"/>
                </a:lnTo>
                <a:lnTo>
                  <a:pt x="107760" y="558800"/>
                </a:lnTo>
                <a:lnTo>
                  <a:pt x="102464" y="622300"/>
                </a:lnTo>
                <a:lnTo>
                  <a:pt x="95200" y="673100"/>
                </a:lnTo>
                <a:lnTo>
                  <a:pt x="86674" y="723900"/>
                </a:lnTo>
                <a:lnTo>
                  <a:pt x="77592" y="774700"/>
                </a:lnTo>
                <a:lnTo>
                  <a:pt x="68661" y="825500"/>
                </a:lnTo>
                <a:lnTo>
                  <a:pt x="60587" y="876300"/>
                </a:lnTo>
                <a:lnTo>
                  <a:pt x="54077" y="927100"/>
                </a:lnTo>
                <a:lnTo>
                  <a:pt x="49837" y="965200"/>
                </a:lnTo>
                <a:lnTo>
                  <a:pt x="48574" y="1003300"/>
                </a:lnTo>
                <a:lnTo>
                  <a:pt x="50993" y="1041400"/>
                </a:lnTo>
                <a:lnTo>
                  <a:pt x="57802" y="1079500"/>
                </a:lnTo>
                <a:lnTo>
                  <a:pt x="64720" y="1104900"/>
                </a:lnTo>
                <a:lnTo>
                  <a:pt x="67417" y="1143000"/>
                </a:lnTo>
                <a:lnTo>
                  <a:pt x="66522" y="1193800"/>
                </a:lnTo>
                <a:lnTo>
                  <a:pt x="62666" y="1231900"/>
                </a:lnTo>
                <a:lnTo>
                  <a:pt x="56480" y="1295400"/>
                </a:lnTo>
                <a:lnTo>
                  <a:pt x="48595" y="1346200"/>
                </a:lnTo>
                <a:lnTo>
                  <a:pt x="39641" y="1397000"/>
                </a:lnTo>
                <a:lnTo>
                  <a:pt x="30248" y="1460500"/>
                </a:lnTo>
                <a:lnTo>
                  <a:pt x="21048" y="1511300"/>
                </a:lnTo>
                <a:lnTo>
                  <a:pt x="12670" y="1574800"/>
                </a:lnTo>
                <a:lnTo>
                  <a:pt x="5746" y="1638300"/>
                </a:lnTo>
                <a:lnTo>
                  <a:pt x="906" y="1689100"/>
                </a:lnTo>
                <a:lnTo>
                  <a:pt x="0" y="1714500"/>
                </a:lnTo>
                <a:lnTo>
                  <a:pt x="14606" y="1739900"/>
                </a:lnTo>
                <a:lnTo>
                  <a:pt x="37857" y="1765300"/>
                </a:lnTo>
                <a:lnTo>
                  <a:pt x="110087" y="1765300"/>
                </a:lnTo>
                <a:lnTo>
                  <a:pt x="146953" y="1752600"/>
                </a:lnTo>
                <a:lnTo>
                  <a:pt x="222502" y="1752600"/>
                </a:lnTo>
                <a:lnTo>
                  <a:pt x="261221" y="1739900"/>
                </a:lnTo>
                <a:lnTo>
                  <a:pt x="1180221" y="1739900"/>
                </a:lnTo>
                <a:lnTo>
                  <a:pt x="1038976" y="1676400"/>
                </a:lnTo>
                <a:lnTo>
                  <a:pt x="983866" y="1651000"/>
                </a:lnTo>
                <a:lnTo>
                  <a:pt x="929700" y="1638300"/>
                </a:lnTo>
                <a:lnTo>
                  <a:pt x="876588" y="1612900"/>
                </a:lnTo>
                <a:lnTo>
                  <a:pt x="773971" y="1587500"/>
                </a:lnTo>
                <a:lnTo>
                  <a:pt x="676903" y="1562100"/>
                </a:lnTo>
                <a:lnTo>
                  <a:pt x="630726" y="1549400"/>
                </a:lnTo>
                <a:lnTo>
                  <a:pt x="586269" y="1549400"/>
                </a:lnTo>
                <a:lnTo>
                  <a:pt x="543643" y="1536700"/>
                </a:lnTo>
                <a:lnTo>
                  <a:pt x="502957" y="1524000"/>
                </a:lnTo>
                <a:lnTo>
                  <a:pt x="427854" y="1524000"/>
                </a:lnTo>
                <a:lnTo>
                  <a:pt x="393658" y="1511300"/>
                </a:lnTo>
                <a:lnTo>
                  <a:pt x="281830" y="1511300"/>
                </a:lnTo>
                <a:lnTo>
                  <a:pt x="281005" y="1473200"/>
                </a:lnTo>
                <a:lnTo>
                  <a:pt x="284158" y="1435100"/>
                </a:lnTo>
                <a:lnTo>
                  <a:pt x="290399" y="1397000"/>
                </a:lnTo>
                <a:lnTo>
                  <a:pt x="298839" y="1358900"/>
                </a:lnTo>
                <a:lnTo>
                  <a:pt x="308588" y="1308100"/>
                </a:lnTo>
                <a:lnTo>
                  <a:pt x="318756" y="1257300"/>
                </a:lnTo>
                <a:lnTo>
                  <a:pt x="328452" y="1219200"/>
                </a:lnTo>
                <a:lnTo>
                  <a:pt x="336788" y="1155700"/>
                </a:lnTo>
                <a:lnTo>
                  <a:pt x="342874" y="1104900"/>
                </a:lnTo>
                <a:lnTo>
                  <a:pt x="345818" y="1041400"/>
                </a:lnTo>
                <a:lnTo>
                  <a:pt x="344733" y="977900"/>
                </a:lnTo>
                <a:lnTo>
                  <a:pt x="338726" y="914400"/>
                </a:lnTo>
                <a:lnTo>
                  <a:pt x="333350" y="850900"/>
                </a:lnTo>
                <a:lnTo>
                  <a:pt x="332806" y="800100"/>
                </a:lnTo>
                <a:lnTo>
                  <a:pt x="336204" y="762000"/>
                </a:lnTo>
                <a:lnTo>
                  <a:pt x="342655" y="723900"/>
                </a:lnTo>
                <a:lnTo>
                  <a:pt x="351270" y="685800"/>
                </a:lnTo>
                <a:lnTo>
                  <a:pt x="361158" y="647700"/>
                </a:lnTo>
                <a:lnTo>
                  <a:pt x="371430" y="622300"/>
                </a:lnTo>
                <a:lnTo>
                  <a:pt x="381196" y="584200"/>
                </a:lnTo>
                <a:lnTo>
                  <a:pt x="389567" y="546100"/>
                </a:lnTo>
                <a:lnTo>
                  <a:pt x="395653" y="508000"/>
                </a:lnTo>
                <a:lnTo>
                  <a:pt x="398564" y="469900"/>
                </a:lnTo>
                <a:lnTo>
                  <a:pt x="397411" y="419100"/>
                </a:lnTo>
                <a:lnTo>
                  <a:pt x="391304" y="368300"/>
                </a:lnTo>
                <a:lnTo>
                  <a:pt x="638537" y="368300"/>
                </a:lnTo>
                <a:lnTo>
                  <a:pt x="640298" y="342900"/>
                </a:lnTo>
                <a:lnTo>
                  <a:pt x="641085" y="292100"/>
                </a:lnTo>
                <a:lnTo>
                  <a:pt x="638547" y="228600"/>
                </a:lnTo>
                <a:lnTo>
                  <a:pt x="632096" y="165100"/>
                </a:lnTo>
                <a:lnTo>
                  <a:pt x="693304" y="152400"/>
                </a:lnTo>
                <a:lnTo>
                  <a:pt x="1219668" y="152400"/>
                </a:lnTo>
                <a:lnTo>
                  <a:pt x="1130742" y="101600"/>
                </a:lnTo>
                <a:lnTo>
                  <a:pt x="1085502" y="88900"/>
                </a:lnTo>
                <a:lnTo>
                  <a:pt x="1039737" y="63500"/>
                </a:lnTo>
                <a:lnTo>
                  <a:pt x="851294" y="12700"/>
                </a:lnTo>
                <a:close/>
              </a:path>
              <a:path w="3197225" h="2133600">
                <a:moveTo>
                  <a:pt x="1219668" y="152400"/>
                </a:moveTo>
                <a:lnTo>
                  <a:pt x="859272" y="152400"/>
                </a:lnTo>
                <a:lnTo>
                  <a:pt x="909450" y="165100"/>
                </a:lnTo>
                <a:lnTo>
                  <a:pt x="957427" y="177800"/>
                </a:lnTo>
                <a:lnTo>
                  <a:pt x="1003425" y="190500"/>
                </a:lnTo>
                <a:lnTo>
                  <a:pt x="1047665" y="203200"/>
                </a:lnTo>
                <a:lnTo>
                  <a:pt x="1090370" y="215900"/>
                </a:lnTo>
                <a:lnTo>
                  <a:pt x="1131762" y="241300"/>
                </a:lnTo>
                <a:lnTo>
                  <a:pt x="1172064" y="266700"/>
                </a:lnTo>
                <a:lnTo>
                  <a:pt x="1211497" y="279400"/>
                </a:lnTo>
                <a:lnTo>
                  <a:pt x="1326808" y="355600"/>
                </a:lnTo>
                <a:lnTo>
                  <a:pt x="1364990" y="393700"/>
                </a:lnTo>
                <a:lnTo>
                  <a:pt x="1442304" y="444500"/>
                </a:lnTo>
                <a:lnTo>
                  <a:pt x="1481880" y="482600"/>
                </a:lnTo>
                <a:lnTo>
                  <a:pt x="1522366" y="508000"/>
                </a:lnTo>
                <a:lnTo>
                  <a:pt x="1528203" y="571500"/>
                </a:lnTo>
                <a:lnTo>
                  <a:pt x="1530481" y="622300"/>
                </a:lnTo>
                <a:lnTo>
                  <a:pt x="1530404" y="635000"/>
                </a:lnTo>
                <a:lnTo>
                  <a:pt x="1530328" y="647700"/>
                </a:lnTo>
                <a:lnTo>
                  <a:pt x="1530252" y="660400"/>
                </a:lnTo>
                <a:lnTo>
                  <a:pt x="1530176" y="673100"/>
                </a:lnTo>
                <a:lnTo>
                  <a:pt x="1530099" y="685800"/>
                </a:lnTo>
                <a:lnTo>
                  <a:pt x="1527959" y="723900"/>
                </a:lnTo>
                <a:lnTo>
                  <a:pt x="1524959" y="774700"/>
                </a:lnTo>
                <a:lnTo>
                  <a:pt x="1521999" y="812800"/>
                </a:lnTo>
                <a:lnTo>
                  <a:pt x="1519981" y="850900"/>
                </a:lnTo>
                <a:lnTo>
                  <a:pt x="1519922" y="863600"/>
                </a:lnTo>
                <a:lnTo>
                  <a:pt x="1519803" y="889000"/>
                </a:lnTo>
                <a:lnTo>
                  <a:pt x="1522366" y="939800"/>
                </a:lnTo>
                <a:lnTo>
                  <a:pt x="1525898" y="977900"/>
                </a:lnTo>
                <a:lnTo>
                  <a:pt x="1527331" y="1028700"/>
                </a:lnTo>
                <a:lnTo>
                  <a:pt x="1527211" y="1066800"/>
                </a:lnTo>
                <a:lnTo>
                  <a:pt x="1526081" y="1117600"/>
                </a:lnTo>
                <a:lnTo>
                  <a:pt x="1524487" y="1168400"/>
                </a:lnTo>
                <a:lnTo>
                  <a:pt x="1522974" y="1219200"/>
                </a:lnTo>
                <a:lnTo>
                  <a:pt x="1522085" y="1270000"/>
                </a:lnTo>
                <a:lnTo>
                  <a:pt x="1522155" y="1282700"/>
                </a:lnTo>
                <a:lnTo>
                  <a:pt x="1522226" y="1295400"/>
                </a:lnTo>
                <a:lnTo>
                  <a:pt x="1522331" y="1435100"/>
                </a:lnTo>
                <a:lnTo>
                  <a:pt x="1521317" y="1485900"/>
                </a:lnTo>
                <a:lnTo>
                  <a:pt x="1520176" y="1536700"/>
                </a:lnTo>
                <a:lnTo>
                  <a:pt x="1519308" y="1587500"/>
                </a:lnTo>
                <a:lnTo>
                  <a:pt x="1519212" y="1612900"/>
                </a:lnTo>
                <a:lnTo>
                  <a:pt x="1519116" y="1638300"/>
                </a:lnTo>
                <a:lnTo>
                  <a:pt x="1520001" y="1689100"/>
                </a:lnTo>
                <a:lnTo>
                  <a:pt x="1522366" y="1752600"/>
                </a:lnTo>
                <a:lnTo>
                  <a:pt x="1668289" y="1752600"/>
                </a:lnTo>
                <a:lnTo>
                  <a:pt x="1663179" y="1714500"/>
                </a:lnTo>
                <a:lnTo>
                  <a:pt x="1663256" y="1701800"/>
                </a:lnTo>
                <a:lnTo>
                  <a:pt x="1663332" y="1689100"/>
                </a:lnTo>
                <a:lnTo>
                  <a:pt x="1663409" y="1676400"/>
                </a:lnTo>
                <a:lnTo>
                  <a:pt x="1663485" y="1663700"/>
                </a:lnTo>
                <a:lnTo>
                  <a:pt x="1667229" y="1625600"/>
                </a:lnTo>
                <a:lnTo>
                  <a:pt x="1672433" y="1574800"/>
                </a:lnTo>
                <a:lnTo>
                  <a:pt x="1677119" y="1536700"/>
                </a:lnTo>
                <a:lnTo>
                  <a:pt x="1679309" y="1473200"/>
                </a:lnTo>
                <a:lnTo>
                  <a:pt x="1677025" y="1409700"/>
                </a:lnTo>
                <a:lnTo>
                  <a:pt x="1668289" y="1346200"/>
                </a:lnTo>
                <a:lnTo>
                  <a:pt x="1660446" y="1282700"/>
                </a:lnTo>
                <a:lnTo>
                  <a:pt x="1658287" y="1231900"/>
                </a:lnTo>
                <a:lnTo>
                  <a:pt x="1660218" y="1181100"/>
                </a:lnTo>
                <a:lnTo>
                  <a:pt x="1664641" y="1130300"/>
                </a:lnTo>
                <a:lnTo>
                  <a:pt x="1669962" y="1092200"/>
                </a:lnTo>
                <a:lnTo>
                  <a:pt x="1674583" y="1054100"/>
                </a:lnTo>
                <a:lnTo>
                  <a:pt x="1676909" y="1003300"/>
                </a:lnTo>
                <a:lnTo>
                  <a:pt x="1675343" y="965200"/>
                </a:lnTo>
                <a:lnTo>
                  <a:pt x="1668289" y="914400"/>
                </a:lnTo>
                <a:lnTo>
                  <a:pt x="1660320" y="863600"/>
                </a:lnTo>
                <a:lnTo>
                  <a:pt x="1658395" y="812800"/>
                </a:lnTo>
                <a:lnTo>
                  <a:pt x="1660632" y="749300"/>
                </a:lnTo>
                <a:lnTo>
                  <a:pt x="1665146" y="685800"/>
                </a:lnTo>
                <a:lnTo>
                  <a:pt x="1670053" y="635000"/>
                </a:lnTo>
                <a:lnTo>
                  <a:pt x="1673469" y="584200"/>
                </a:lnTo>
                <a:lnTo>
                  <a:pt x="1673509" y="546100"/>
                </a:lnTo>
                <a:lnTo>
                  <a:pt x="1668289" y="508000"/>
                </a:lnTo>
                <a:lnTo>
                  <a:pt x="1706710" y="457200"/>
                </a:lnTo>
                <a:lnTo>
                  <a:pt x="1745362" y="419100"/>
                </a:lnTo>
                <a:lnTo>
                  <a:pt x="1784312" y="393700"/>
                </a:lnTo>
                <a:lnTo>
                  <a:pt x="1810524" y="368300"/>
                </a:lnTo>
                <a:lnTo>
                  <a:pt x="1595391" y="368300"/>
                </a:lnTo>
                <a:lnTo>
                  <a:pt x="1515228" y="317500"/>
                </a:lnTo>
                <a:lnTo>
                  <a:pt x="1433201" y="266700"/>
                </a:lnTo>
                <a:lnTo>
                  <a:pt x="1349264" y="215900"/>
                </a:lnTo>
                <a:lnTo>
                  <a:pt x="1263367" y="165100"/>
                </a:lnTo>
                <a:lnTo>
                  <a:pt x="1219668" y="152400"/>
                </a:lnTo>
                <a:close/>
              </a:path>
              <a:path w="3197225" h="2133600">
                <a:moveTo>
                  <a:pt x="2702079" y="152400"/>
                </a:moveTo>
                <a:lnTo>
                  <a:pt x="2558559" y="152400"/>
                </a:lnTo>
                <a:lnTo>
                  <a:pt x="2574390" y="190500"/>
                </a:lnTo>
                <a:lnTo>
                  <a:pt x="2584472" y="215900"/>
                </a:lnTo>
                <a:lnTo>
                  <a:pt x="2589948" y="254000"/>
                </a:lnTo>
                <a:lnTo>
                  <a:pt x="2591959" y="292100"/>
                </a:lnTo>
                <a:lnTo>
                  <a:pt x="2591881" y="304800"/>
                </a:lnTo>
                <a:lnTo>
                  <a:pt x="2591803" y="317500"/>
                </a:lnTo>
                <a:lnTo>
                  <a:pt x="2591725" y="330200"/>
                </a:lnTo>
                <a:lnTo>
                  <a:pt x="2591647" y="342900"/>
                </a:lnTo>
                <a:lnTo>
                  <a:pt x="2590153" y="393700"/>
                </a:lnTo>
                <a:lnTo>
                  <a:pt x="2588619" y="444500"/>
                </a:lnTo>
                <a:lnTo>
                  <a:pt x="2588511" y="457200"/>
                </a:lnTo>
                <a:lnTo>
                  <a:pt x="2588403" y="469900"/>
                </a:lnTo>
                <a:lnTo>
                  <a:pt x="2588295" y="482600"/>
                </a:lnTo>
                <a:lnTo>
                  <a:pt x="2588187" y="495300"/>
                </a:lnTo>
                <a:lnTo>
                  <a:pt x="2589997" y="558800"/>
                </a:lnTo>
                <a:lnTo>
                  <a:pt x="2595193" y="622300"/>
                </a:lnTo>
                <a:lnTo>
                  <a:pt x="2604914" y="685800"/>
                </a:lnTo>
                <a:lnTo>
                  <a:pt x="2614500" y="749300"/>
                </a:lnTo>
                <a:lnTo>
                  <a:pt x="2621013" y="812800"/>
                </a:lnTo>
                <a:lnTo>
                  <a:pt x="2625090" y="863600"/>
                </a:lnTo>
                <a:lnTo>
                  <a:pt x="2627365" y="914400"/>
                </a:lnTo>
                <a:lnTo>
                  <a:pt x="2628477" y="965200"/>
                </a:lnTo>
                <a:lnTo>
                  <a:pt x="2629060" y="1016000"/>
                </a:lnTo>
                <a:lnTo>
                  <a:pt x="2629752" y="1066800"/>
                </a:lnTo>
                <a:lnTo>
                  <a:pt x="2631189" y="1104900"/>
                </a:lnTo>
                <a:lnTo>
                  <a:pt x="2634007" y="1155700"/>
                </a:lnTo>
                <a:lnTo>
                  <a:pt x="2638843" y="1193800"/>
                </a:lnTo>
                <a:lnTo>
                  <a:pt x="2646332" y="1244600"/>
                </a:lnTo>
                <a:lnTo>
                  <a:pt x="2657111" y="1282700"/>
                </a:lnTo>
                <a:lnTo>
                  <a:pt x="2631236" y="1295400"/>
                </a:lnTo>
                <a:lnTo>
                  <a:pt x="2573977" y="1295400"/>
                </a:lnTo>
                <a:lnTo>
                  <a:pt x="2542599" y="1308100"/>
                </a:lnTo>
                <a:lnTo>
                  <a:pt x="2509394" y="1308100"/>
                </a:lnTo>
                <a:lnTo>
                  <a:pt x="2437512" y="1333500"/>
                </a:lnTo>
                <a:lnTo>
                  <a:pt x="2398842" y="1346200"/>
                </a:lnTo>
                <a:lnTo>
                  <a:pt x="2358356" y="1358900"/>
                </a:lnTo>
                <a:lnTo>
                  <a:pt x="2316059" y="1371600"/>
                </a:lnTo>
                <a:lnTo>
                  <a:pt x="2271952" y="1397000"/>
                </a:lnTo>
                <a:lnTo>
                  <a:pt x="2226040" y="1409700"/>
                </a:lnTo>
                <a:lnTo>
                  <a:pt x="2178325" y="1435100"/>
                </a:lnTo>
                <a:lnTo>
                  <a:pt x="2128810" y="1460500"/>
                </a:lnTo>
                <a:lnTo>
                  <a:pt x="2077499" y="1485900"/>
                </a:lnTo>
                <a:lnTo>
                  <a:pt x="2024395" y="1524000"/>
                </a:lnTo>
                <a:lnTo>
                  <a:pt x="1969501" y="1549400"/>
                </a:lnTo>
                <a:lnTo>
                  <a:pt x="1912820" y="1587500"/>
                </a:lnTo>
                <a:lnTo>
                  <a:pt x="1854355" y="1625600"/>
                </a:lnTo>
                <a:lnTo>
                  <a:pt x="1794110" y="1663700"/>
                </a:lnTo>
                <a:lnTo>
                  <a:pt x="1732087" y="1701800"/>
                </a:lnTo>
                <a:lnTo>
                  <a:pt x="1668289" y="1752600"/>
                </a:lnTo>
                <a:lnTo>
                  <a:pt x="1920197" y="1752600"/>
                </a:lnTo>
                <a:lnTo>
                  <a:pt x="2098657" y="1638300"/>
                </a:lnTo>
                <a:lnTo>
                  <a:pt x="2215391" y="1587500"/>
                </a:lnTo>
                <a:lnTo>
                  <a:pt x="2272066" y="1562100"/>
                </a:lnTo>
                <a:lnTo>
                  <a:pt x="2327159" y="1536700"/>
                </a:lnTo>
                <a:lnTo>
                  <a:pt x="2380331" y="1524000"/>
                </a:lnTo>
                <a:lnTo>
                  <a:pt x="2431241" y="1498600"/>
                </a:lnTo>
                <a:lnTo>
                  <a:pt x="2479550" y="1485900"/>
                </a:lnTo>
                <a:lnTo>
                  <a:pt x="2524917" y="1473200"/>
                </a:lnTo>
                <a:lnTo>
                  <a:pt x="2567003" y="1460500"/>
                </a:lnTo>
                <a:lnTo>
                  <a:pt x="2605466" y="1447800"/>
                </a:lnTo>
                <a:lnTo>
                  <a:pt x="2639968" y="1447800"/>
                </a:lnTo>
                <a:lnTo>
                  <a:pt x="2670169" y="1435100"/>
                </a:lnTo>
                <a:lnTo>
                  <a:pt x="2695727" y="1435100"/>
                </a:lnTo>
                <a:lnTo>
                  <a:pt x="2716304" y="1422400"/>
                </a:lnTo>
                <a:lnTo>
                  <a:pt x="2795444" y="1422400"/>
                </a:lnTo>
                <a:lnTo>
                  <a:pt x="2813956" y="1409700"/>
                </a:lnTo>
                <a:lnTo>
                  <a:pt x="2807069" y="1371600"/>
                </a:lnTo>
                <a:lnTo>
                  <a:pt x="2803056" y="1333500"/>
                </a:lnTo>
                <a:lnTo>
                  <a:pt x="2801055" y="1282700"/>
                </a:lnTo>
                <a:lnTo>
                  <a:pt x="2800208" y="1231900"/>
                </a:lnTo>
                <a:lnTo>
                  <a:pt x="2800097" y="1219200"/>
                </a:lnTo>
                <a:lnTo>
                  <a:pt x="2799986" y="1206500"/>
                </a:lnTo>
                <a:lnTo>
                  <a:pt x="2799875" y="1193800"/>
                </a:lnTo>
                <a:lnTo>
                  <a:pt x="2799764" y="1181100"/>
                </a:lnTo>
                <a:lnTo>
                  <a:pt x="2799653" y="1168400"/>
                </a:lnTo>
                <a:lnTo>
                  <a:pt x="2798530" y="1117600"/>
                </a:lnTo>
                <a:lnTo>
                  <a:pt x="2795980" y="1066800"/>
                </a:lnTo>
                <a:lnTo>
                  <a:pt x="2791141" y="1016000"/>
                </a:lnTo>
                <a:lnTo>
                  <a:pt x="2783154" y="965200"/>
                </a:lnTo>
                <a:lnTo>
                  <a:pt x="2771157" y="927100"/>
                </a:lnTo>
                <a:lnTo>
                  <a:pt x="2760627" y="889000"/>
                </a:lnTo>
                <a:lnTo>
                  <a:pt x="2754342" y="838200"/>
                </a:lnTo>
                <a:lnTo>
                  <a:pt x="2751297" y="787400"/>
                </a:lnTo>
                <a:lnTo>
                  <a:pt x="2750484" y="749300"/>
                </a:lnTo>
                <a:lnTo>
                  <a:pt x="2750650" y="723900"/>
                </a:lnTo>
                <a:lnTo>
                  <a:pt x="2750732" y="711200"/>
                </a:lnTo>
                <a:lnTo>
                  <a:pt x="2750815" y="698500"/>
                </a:lnTo>
                <a:lnTo>
                  <a:pt x="2750898" y="685800"/>
                </a:lnTo>
                <a:lnTo>
                  <a:pt x="2751531" y="635000"/>
                </a:lnTo>
                <a:lnTo>
                  <a:pt x="2751417" y="596900"/>
                </a:lnTo>
                <a:lnTo>
                  <a:pt x="2749432" y="533400"/>
                </a:lnTo>
                <a:lnTo>
                  <a:pt x="2744686" y="469900"/>
                </a:lnTo>
                <a:lnTo>
                  <a:pt x="2736135" y="419100"/>
                </a:lnTo>
                <a:lnTo>
                  <a:pt x="2722770" y="368300"/>
                </a:lnTo>
                <a:lnTo>
                  <a:pt x="2942977" y="368300"/>
                </a:lnTo>
                <a:lnTo>
                  <a:pt x="2942260" y="355600"/>
                </a:lnTo>
                <a:lnTo>
                  <a:pt x="2944235" y="317500"/>
                </a:lnTo>
                <a:lnTo>
                  <a:pt x="2944704" y="279400"/>
                </a:lnTo>
                <a:lnTo>
                  <a:pt x="2938035" y="228600"/>
                </a:lnTo>
                <a:lnTo>
                  <a:pt x="2711848" y="228600"/>
                </a:lnTo>
                <a:lnTo>
                  <a:pt x="2702597" y="177800"/>
                </a:lnTo>
                <a:lnTo>
                  <a:pt x="2702079" y="152400"/>
                </a:lnTo>
                <a:close/>
              </a:path>
              <a:path w="3197225" h="2133600">
                <a:moveTo>
                  <a:pt x="638537" y="368300"/>
                </a:moveTo>
                <a:lnTo>
                  <a:pt x="467885" y="368300"/>
                </a:lnTo>
                <a:lnTo>
                  <a:pt x="473495" y="419100"/>
                </a:lnTo>
                <a:lnTo>
                  <a:pt x="473562" y="469900"/>
                </a:lnTo>
                <a:lnTo>
                  <a:pt x="469231" y="520700"/>
                </a:lnTo>
                <a:lnTo>
                  <a:pt x="461648" y="558800"/>
                </a:lnTo>
                <a:lnTo>
                  <a:pt x="451960" y="596900"/>
                </a:lnTo>
                <a:lnTo>
                  <a:pt x="441311" y="635000"/>
                </a:lnTo>
                <a:lnTo>
                  <a:pt x="430847" y="685800"/>
                </a:lnTo>
                <a:lnTo>
                  <a:pt x="421714" y="723900"/>
                </a:lnTo>
                <a:lnTo>
                  <a:pt x="415057" y="762000"/>
                </a:lnTo>
                <a:lnTo>
                  <a:pt x="412023" y="812800"/>
                </a:lnTo>
                <a:lnTo>
                  <a:pt x="413756" y="850900"/>
                </a:lnTo>
                <a:lnTo>
                  <a:pt x="429622" y="952500"/>
                </a:lnTo>
                <a:lnTo>
                  <a:pt x="431234" y="1003300"/>
                </a:lnTo>
                <a:lnTo>
                  <a:pt x="427621" y="1054100"/>
                </a:lnTo>
                <a:lnTo>
                  <a:pt x="420168" y="1092200"/>
                </a:lnTo>
                <a:lnTo>
                  <a:pt x="410258" y="1130300"/>
                </a:lnTo>
                <a:lnTo>
                  <a:pt x="399275" y="1181100"/>
                </a:lnTo>
                <a:lnTo>
                  <a:pt x="388603" y="1219200"/>
                </a:lnTo>
                <a:lnTo>
                  <a:pt x="379626" y="1257300"/>
                </a:lnTo>
                <a:lnTo>
                  <a:pt x="373727" y="1308100"/>
                </a:lnTo>
                <a:lnTo>
                  <a:pt x="372290" y="1358900"/>
                </a:lnTo>
                <a:lnTo>
                  <a:pt x="376699" y="1409700"/>
                </a:lnTo>
                <a:lnTo>
                  <a:pt x="397785" y="1422400"/>
                </a:lnTo>
                <a:lnTo>
                  <a:pt x="446041" y="1422400"/>
                </a:lnTo>
                <a:lnTo>
                  <a:pt x="444265" y="1409700"/>
                </a:lnTo>
                <a:lnTo>
                  <a:pt x="447417" y="1409700"/>
                </a:lnTo>
                <a:lnTo>
                  <a:pt x="455253" y="1397000"/>
                </a:lnTo>
                <a:lnTo>
                  <a:pt x="483997" y="1397000"/>
                </a:lnTo>
                <a:lnTo>
                  <a:pt x="504414" y="1384300"/>
                </a:lnTo>
                <a:lnTo>
                  <a:pt x="920821" y="1384300"/>
                </a:lnTo>
                <a:lnTo>
                  <a:pt x="897792" y="1371600"/>
                </a:lnTo>
                <a:lnTo>
                  <a:pt x="853215" y="1358900"/>
                </a:lnTo>
                <a:lnTo>
                  <a:pt x="810209" y="1333500"/>
                </a:lnTo>
                <a:lnTo>
                  <a:pt x="768863" y="1320800"/>
                </a:lnTo>
                <a:lnTo>
                  <a:pt x="729270" y="1320800"/>
                </a:lnTo>
                <a:lnTo>
                  <a:pt x="691518" y="1308100"/>
                </a:lnTo>
                <a:lnTo>
                  <a:pt x="655698" y="1295400"/>
                </a:lnTo>
                <a:lnTo>
                  <a:pt x="533544" y="1295400"/>
                </a:lnTo>
                <a:lnTo>
                  <a:pt x="523212" y="1244600"/>
                </a:lnTo>
                <a:lnTo>
                  <a:pt x="518609" y="1193800"/>
                </a:lnTo>
                <a:lnTo>
                  <a:pt x="518673" y="1181100"/>
                </a:lnTo>
                <a:lnTo>
                  <a:pt x="518736" y="1168400"/>
                </a:lnTo>
                <a:lnTo>
                  <a:pt x="518800" y="1155700"/>
                </a:lnTo>
                <a:lnTo>
                  <a:pt x="522854" y="1104900"/>
                </a:lnTo>
                <a:lnTo>
                  <a:pt x="529835" y="1054100"/>
                </a:lnTo>
                <a:lnTo>
                  <a:pt x="538810" y="1003300"/>
                </a:lnTo>
                <a:lnTo>
                  <a:pt x="548846" y="952500"/>
                </a:lnTo>
                <a:lnTo>
                  <a:pt x="559008" y="901700"/>
                </a:lnTo>
                <a:lnTo>
                  <a:pt x="568362" y="850900"/>
                </a:lnTo>
                <a:lnTo>
                  <a:pt x="575976" y="800100"/>
                </a:lnTo>
                <a:lnTo>
                  <a:pt x="580915" y="749300"/>
                </a:lnTo>
                <a:lnTo>
                  <a:pt x="585087" y="711200"/>
                </a:lnTo>
                <a:lnTo>
                  <a:pt x="591242" y="660400"/>
                </a:lnTo>
                <a:lnTo>
                  <a:pt x="598789" y="622300"/>
                </a:lnTo>
                <a:lnTo>
                  <a:pt x="607139" y="584200"/>
                </a:lnTo>
                <a:lnTo>
                  <a:pt x="615702" y="533400"/>
                </a:lnTo>
                <a:lnTo>
                  <a:pt x="623889" y="495300"/>
                </a:lnTo>
                <a:lnTo>
                  <a:pt x="631110" y="444500"/>
                </a:lnTo>
                <a:lnTo>
                  <a:pt x="636777" y="393700"/>
                </a:lnTo>
                <a:lnTo>
                  <a:pt x="638537" y="368300"/>
                </a:lnTo>
                <a:close/>
              </a:path>
              <a:path w="3197225" h="2133600">
                <a:moveTo>
                  <a:pt x="2969894" y="431800"/>
                </a:moveTo>
                <a:lnTo>
                  <a:pt x="2956323" y="444500"/>
                </a:lnTo>
                <a:lnTo>
                  <a:pt x="2984025" y="444500"/>
                </a:lnTo>
                <a:lnTo>
                  <a:pt x="2969894" y="431800"/>
                </a:lnTo>
                <a:close/>
              </a:path>
              <a:path w="3197225" h="2133600">
                <a:moveTo>
                  <a:pt x="2682132" y="25400"/>
                </a:moveTo>
                <a:lnTo>
                  <a:pt x="2292410" y="25400"/>
                </a:lnTo>
                <a:lnTo>
                  <a:pt x="2155957" y="63500"/>
                </a:lnTo>
                <a:lnTo>
                  <a:pt x="2111591" y="88900"/>
                </a:lnTo>
                <a:lnTo>
                  <a:pt x="2024140" y="114300"/>
                </a:lnTo>
                <a:lnTo>
                  <a:pt x="1895180" y="190500"/>
                </a:lnTo>
                <a:lnTo>
                  <a:pt x="1852520" y="203200"/>
                </a:lnTo>
                <a:lnTo>
                  <a:pt x="1767298" y="254000"/>
                </a:lnTo>
                <a:lnTo>
                  <a:pt x="1724603" y="292100"/>
                </a:lnTo>
                <a:lnTo>
                  <a:pt x="1595391" y="368300"/>
                </a:lnTo>
                <a:lnTo>
                  <a:pt x="1810524" y="368300"/>
                </a:lnTo>
                <a:lnTo>
                  <a:pt x="1823630" y="355600"/>
                </a:lnTo>
                <a:lnTo>
                  <a:pt x="1863383" y="330200"/>
                </a:lnTo>
                <a:lnTo>
                  <a:pt x="1903641" y="292100"/>
                </a:lnTo>
                <a:lnTo>
                  <a:pt x="1944472" y="266700"/>
                </a:lnTo>
                <a:lnTo>
                  <a:pt x="1985944" y="254000"/>
                </a:lnTo>
                <a:lnTo>
                  <a:pt x="2028126" y="228600"/>
                </a:lnTo>
                <a:lnTo>
                  <a:pt x="2071086" y="215900"/>
                </a:lnTo>
                <a:lnTo>
                  <a:pt x="2114893" y="190500"/>
                </a:lnTo>
                <a:lnTo>
                  <a:pt x="2205321" y="165100"/>
                </a:lnTo>
                <a:lnTo>
                  <a:pt x="2252079" y="165100"/>
                </a:lnTo>
                <a:lnTo>
                  <a:pt x="2299958" y="152400"/>
                </a:lnTo>
                <a:lnTo>
                  <a:pt x="2702079" y="152400"/>
                </a:lnTo>
                <a:lnTo>
                  <a:pt x="2701561" y="127000"/>
                </a:lnTo>
                <a:lnTo>
                  <a:pt x="2701445" y="114300"/>
                </a:lnTo>
                <a:lnTo>
                  <a:pt x="2701329" y="101600"/>
                </a:lnTo>
                <a:lnTo>
                  <a:pt x="2701213" y="88900"/>
                </a:lnTo>
                <a:lnTo>
                  <a:pt x="2701097" y="76200"/>
                </a:lnTo>
                <a:lnTo>
                  <a:pt x="2693560" y="38100"/>
                </a:lnTo>
                <a:lnTo>
                  <a:pt x="2682132" y="25400"/>
                </a:lnTo>
                <a:close/>
              </a:path>
              <a:path w="3197225" h="2133600">
                <a:moveTo>
                  <a:pt x="400591" y="215900"/>
                </a:moveTo>
                <a:lnTo>
                  <a:pt x="360882" y="215900"/>
                </a:lnTo>
                <a:lnTo>
                  <a:pt x="318279" y="228600"/>
                </a:lnTo>
                <a:lnTo>
                  <a:pt x="439277" y="228600"/>
                </a:lnTo>
                <a:lnTo>
                  <a:pt x="400591" y="215900"/>
                </a:lnTo>
                <a:close/>
              </a:path>
              <a:path w="3197225" h="2133600">
                <a:moveTo>
                  <a:pt x="2586341" y="12700"/>
                </a:moveTo>
                <a:lnTo>
                  <a:pt x="2386833" y="12700"/>
                </a:lnTo>
                <a:lnTo>
                  <a:pt x="2339233" y="25400"/>
                </a:lnTo>
                <a:lnTo>
                  <a:pt x="2638823" y="25400"/>
                </a:lnTo>
                <a:lnTo>
                  <a:pt x="2586341" y="12700"/>
                </a:lnTo>
                <a:close/>
              </a:path>
              <a:path w="3197225" h="2133600">
                <a:moveTo>
                  <a:pt x="753762" y="0"/>
                </a:moveTo>
                <a:lnTo>
                  <a:pt x="704146" y="0"/>
                </a:lnTo>
                <a:lnTo>
                  <a:pt x="653957" y="12700"/>
                </a:lnTo>
                <a:lnTo>
                  <a:pt x="802809" y="12700"/>
                </a:lnTo>
                <a:lnTo>
                  <a:pt x="753762" y="0"/>
                </a:lnTo>
                <a:close/>
              </a:path>
            </a:pathLst>
          </a:custGeom>
          <a:solidFill>
            <a:srgbClr val="006379">
              <a:alpha val="1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50"/>
              <a:t>REFERENCES</a:t>
            </a:r>
          </a:p>
        </p:txBody>
      </p:sp>
      <p:sp>
        <p:nvSpPr>
          <p:cNvPr id="18" name="object 18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/>
              <a:t>Luigi</a:t>
            </a:r>
            <a:r>
              <a:rPr dirty="0" spc="-40"/>
              <a:t> </a:t>
            </a:r>
            <a:r>
              <a:rPr dirty="0"/>
              <a:t>Libero</a:t>
            </a:r>
            <a:r>
              <a:rPr dirty="0" spc="-25"/>
              <a:t> </a:t>
            </a:r>
            <a:r>
              <a:rPr dirty="0"/>
              <a:t>Lucio</a:t>
            </a:r>
            <a:r>
              <a:rPr dirty="0" spc="-25"/>
              <a:t> </a:t>
            </a:r>
            <a:r>
              <a:rPr dirty="0"/>
              <a:t>Starace,</a:t>
            </a:r>
            <a:r>
              <a:rPr dirty="0" spc="-30"/>
              <a:t> </a:t>
            </a:r>
            <a:r>
              <a:rPr dirty="0"/>
              <a:t>Ph.D.</a:t>
            </a:r>
            <a:r>
              <a:rPr dirty="0" spc="-40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University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20"/>
              <a:t> </a:t>
            </a:r>
            <a:r>
              <a:rPr dirty="0"/>
              <a:t>Naples</a:t>
            </a:r>
            <a:r>
              <a:rPr dirty="0" spc="-30"/>
              <a:t> </a:t>
            </a:r>
            <a:r>
              <a:rPr dirty="0"/>
              <a:t>Federico</a:t>
            </a:r>
            <a:r>
              <a:rPr dirty="0" spc="-30"/>
              <a:t> </a:t>
            </a:r>
            <a:r>
              <a:rPr dirty="0"/>
              <a:t>II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Web</a:t>
            </a:r>
            <a:r>
              <a:rPr dirty="0" spc="-25"/>
              <a:t> </a:t>
            </a:r>
            <a:r>
              <a:rPr dirty="0" spc="-20"/>
              <a:t>Technologies</a:t>
            </a:r>
            <a:r>
              <a:rPr dirty="0" spc="-30"/>
              <a:t> </a:t>
            </a:r>
            <a:r>
              <a:rPr dirty="0"/>
              <a:t>Course</a:t>
            </a:r>
            <a:r>
              <a:rPr dirty="0" spc="-5"/>
              <a:t> </a:t>
            </a:r>
            <a:r>
              <a:rPr dirty="0"/>
              <a:t>-</a:t>
            </a:r>
            <a:r>
              <a:rPr dirty="0" spc="-30"/>
              <a:t> </a:t>
            </a:r>
            <a:r>
              <a:rPr dirty="0"/>
              <a:t>Lecture</a:t>
            </a:r>
            <a:r>
              <a:rPr dirty="0" spc="-35"/>
              <a:t> </a:t>
            </a:r>
            <a:r>
              <a:rPr dirty="0"/>
              <a:t>18</a:t>
            </a:r>
            <a:r>
              <a:rPr dirty="0" spc="-15"/>
              <a:t> </a:t>
            </a:r>
            <a:r>
              <a:rPr dirty="0"/>
              <a:t>-</a:t>
            </a:r>
            <a:r>
              <a:rPr dirty="0" spc="-25"/>
              <a:t> </a:t>
            </a:r>
            <a:r>
              <a:rPr dirty="0"/>
              <a:t>Single</a:t>
            </a:r>
            <a:r>
              <a:rPr dirty="0" spc="-40"/>
              <a:t> </a:t>
            </a:r>
            <a:r>
              <a:rPr dirty="0"/>
              <a:t>Page</a:t>
            </a:r>
            <a:r>
              <a:rPr dirty="0" spc="-15"/>
              <a:t> </a:t>
            </a:r>
            <a:r>
              <a:rPr dirty="0" spc="-10"/>
              <a:t>Applications</a:t>
            </a:r>
          </a:p>
        </p:txBody>
      </p:sp>
      <p:sp>
        <p:nvSpPr>
          <p:cNvPr id="19" name="object 1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17" name="object 17" descr=""/>
          <p:cNvSpPr txBox="1"/>
          <p:nvPr/>
        </p:nvSpPr>
        <p:spPr>
          <a:xfrm>
            <a:off x="962050" y="1533220"/>
            <a:ext cx="10098405" cy="34588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40029" indent="-227329">
              <a:lnSpc>
                <a:spcPts val="3285"/>
              </a:lnSpc>
              <a:spcBef>
                <a:spcPts val="9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 spc="-40" b="1">
                <a:solidFill>
                  <a:srgbClr val="111F35"/>
                </a:solidFill>
                <a:latin typeface="Calibri"/>
                <a:cs typeface="Calibri"/>
              </a:rPr>
              <a:t>SPA</a:t>
            </a:r>
            <a:r>
              <a:rPr dirty="0" sz="2800" spc="-7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 b="1">
                <a:solidFill>
                  <a:srgbClr val="111F35"/>
                </a:solidFill>
                <a:latin typeface="Calibri"/>
                <a:cs typeface="Calibri"/>
              </a:rPr>
              <a:t>(Single-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page</a:t>
            </a:r>
            <a:r>
              <a:rPr dirty="0" sz="2800" spc="-2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111F35"/>
                </a:solidFill>
                <a:latin typeface="Calibri"/>
                <a:cs typeface="Calibri"/>
              </a:rPr>
              <a:t>application)</a:t>
            </a:r>
            <a:endParaRPr sz="2800">
              <a:latin typeface="Calibri"/>
              <a:cs typeface="Calibri"/>
            </a:endParaRPr>
          </a:p>
          <a:p>
            <a:pPr marL="241300">
              <a:lnSpc>
                <a:spcPts val="1980"/>
              </a:lnSpc>
            </a:pP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MDN</a:t>
            </a:r>
            <a:r>
              <a:rPr dirty="0" sz="1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web</a:t>
            </a:r>
            <a:r>
              <a:rPr dirty="0" sz="1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 spc="-20">
                <a:solidFill>
                  <a:srgbClr val="111F35"/>
                </a:solidFill>
                <a:latin typeface="Calibri"/>
                <a:cs typeface="Calibri"/>
              </a:rPr>
              <a:t>docs</a:t>
            </a:r>
            <a:endParaRPr sz="1800">
              <a:latin typeface="Calibri"/>
              <a:cs typeface="Calibri"/>
            </a:endParaRPr>
          </a:p>
          <a:p>
            <a:pPr marL="241300">
              <a:lnSpc>
                <a:spcPts val="2050"/>
              </a:lnSpc>
            </a:pPr>
            <a:r>
              <a:rPr dirty="0" u="sng" sz="1800" spc="-25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2"/>
              </a:rPr>
              <a:t>https://developer.mozilla.org/en-</a:t>
            </a:r>
            <a:r>
              <a:rPr dirty="0" u="sng" sz="1800" spc="-1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2"/>
              </a:rPr>
              <a:t>US/docs/Glossary/SPA</a:t>
            </a:r>
            <a:endParaRPr sz="1800">
              <a:latin typeface="Calibri"/>
              <a:cs typeface="Calibri"/>
            </a:endParaRPr>
          </a:p>
          <a:p>
            <a:pPr marL="240029" indent="-227329">
              <a:lnSpc>
                <a:spcPts val="3285"/>
              </a:lnSpc>
              <a:spcBef>
                <a:spcPts val="61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Single</a:t>
            </a:r>
            <a:r>
              <a:rPr dirty="0" sz="2800" spc="-6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page</a:t>
            </a:r>
            <a:r>
              <a:rPr dirty="0" sz="2800" spc="-5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apps</a:t>
            </a:r>
            <a:r>
              <a:rPr dirty="0" sz="2800" spc="-7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in</a:t>
            </a:r>
            <a:r>
              <a:rPr dirty="0" sz="2800" spc="-5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0" b="1">
                <a:solidFill>
                  <a:srgbClr val="111F35"/>
                </a:solidFill>
                <a:latin typeface="Calibri"/>
                <a:cs typeface="Calibri"/>
              </a:rPr>
              <a:t>depth</a:t>
            </a:r>
            <a:endParaRPr sz="2800">
              <a:latin typeface="Calibri"/>
              <a:cs typeface="Calibri"/>
            </a:endParaRPr>
          </a:p>
          <a:p>
            <a:pPr marL="241300">
              <a:lnSpc>
                <a:spcPts val="1975"/>
              </a:lnSpc>
            </a:pP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By</a:t>
            </a:r>
            <a:r>
              <a:rPr dirty="0" sz="1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Mikito</a:t>
            </a:r>
            <a:r>
              <a:rPr dirty="0" sz="1800" spc="-1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111F35"/>
                </a:solidFill>
                <a:latin typeface="Calibri"/>
                <a:cs typeface="Calibri"/>
              </a:rPr>
              <a:t>Takada</a:t>
            </a:r>
            <a:endParaRPr sz="1800">
              <a:latin typeface="Calibri"/>
              <a:cs typeface="Calibri"/>
            </a:endParaRPr>
          </a:p>
          <a:p>
            <a:pPr marL="241300">
              <a:lnSpc>
                <a:spcPts val="1945"/>
              </a:lnSpc>
            </a:pP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Available</a:t>
            </a:r>
            <a:r>
              <a:rPr dirty="0" sz="1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at</a:t>
            </a:r>
            <a:r>
              <a:rPr dirty="0" sz="1800" spc="-6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u="sng" sz="1800" spc="-1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3"/>
              </a:rPr>
              <a:t>http://singlepageappbook.com/</a:t>
            </a:r>
            <a:r>
              <a:rPr dirty="0" sz="1800" spc="-30">
                <a:solidFill>
                  <a:srgbClr val="00637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and</a:t>
            </a:r>
            <a:r>
              <a:rPr dirty="0" sz="1800" spc="-4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on</a:t>
            </a:r>
            <a:r>
              <a:rPr dirty="0" sz="1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u="sng" sz="1800" spc="-1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4"/>
              </a:rPr>
              <a:t>GitHub</a:t>
            </a:r>
            <a:endParaRPr sz="1800">
              <a:latin typeface="Calibri"/>
              <a:cs typeface="Calibri"/>
            </a:endParaRPr>
          </a:p>
          <a:p>
            <a:pPr marL="241300">
              <a:lnSpc>
                <a:spcPts val="2055"/>
              </a:lnSpc>
            </a:pPr>
            <a:r>
              <a:rPr dirty="0" sz="1800" spc="-10" b="1">
                <a:solidFill>
                  <a:srgbClr val="111F35"/>
                </a:solidFill>
                <a:latin typeface="Calibri"/>
                <a:cs typeface="Calibri"/>
              </a:rPr>
              <a:t>Relevant</a:t>
            </a:r>
            <a:r>
              <a:rPr dirty="0" sz="1800" spc="-5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111F35"/>
                </a:solidFill>
                <a:latin typeface="Calibri"/>
                <a:cs typeface="Calibri"/>
              </a:rPr>
              <a:t>parts:</a:t>
            </a:r>
            <a:r>
              <a:rPr dirty="0" sz="1800" spc="-4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Modern</a:t>
            </a:r>
            <a:r>
              <a:rPr dirty="0" sz="1800" spc="-1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single</a:t>
            </a:r>
            <a:r>
              <a:rPr dirty="0" sz="1800" spc="-3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page</a:t>
            </a:r>
            <a:r>
              <a:rPr dirty="0" sz="1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apps</a:t>
            </a:r>
            <a:r>
              <a:rPr dirty="0" sz="1800" spc="-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–</a:t>
            </a:r>
            <a:r>
              <a:rPr dirty="0" sz="1800" spc="-2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an</a:t>
            </a:r>
            <a:r>
              <a:rPr dirty="0" sz="1800" spc="-2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111F35"/>
                </a:solidFill>
                <a:latin typeface="Calibri"/>
                <a:cs typeface="Calibri"/>
              </a:rPr>
              <a:t>overview</a:t>
            </a:r>
            <a:endParaRPr sz="1800">
              <a:latin typeface="Calibri"/>
              <a:cs typeface="Calibri"/>
            </a:endParaRPr>
          </a:p>
          <a:p>
            <a:pPr marL="240029" indent="-227329">
              <a:lnSpc>
                <a:spcPts val="3285"/>
              </a:lnSpc>
              <a:spcBef>
                <a:spcPts val="59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 spc="-10" b="1">
                <a:solidFill>
                  <a:srgbClr val="111F35"/>
                </a:solidFill>
                <a:latin typeface="Calibri"/>
                <a:cs typeface="Calibri"/>
              </a:rPr>
              <a:t>Understanding</a:t>
            </a:r>
            <a:r>
              <a:rPr dirty="0" sz="2800" spc="-5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25" b="1">
                <a:solidFill>
                  <a:srgbClr val="111F35"/>
                </a:solidFill>
                <a:latin typeface="Calibri"/>
                <a:cs typeface="Calibri"/>
              </a:rPr>
              <a:t>client-</a:t>
            </a:r>
            <a:r>
              <a:rPr dirty="0" sz="2800" b="1">
                <a:solidFill>
                  <a:srgbClr val="111F35"/>
                </a:solidFill>
                <a:latin typeface="Calibri"/>
                <a:cs typeface="Calibri"/>
              </a:rPr>
              <a:t>side</a:t>
            </a:r>
            <a:r>
              <a:rPr dirty="0" sz="2800" spc="-65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111F35"/>
                </a:solidFill>
                <a:latin typeface="Calibri"/>
                <a:cs typeface="Calibri"/>
              </a:rPr>
              <a:t>JavaScript</a:t>
            </a:r>
            <a:r>
              <a:rPr dirty="0" sz="2800" spc="-60" b="1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111F35"/>
                </a:solidFill>
                <a:latin typeface="Calibri"/>
                <a:cs typeface="Calibri"/>
              </a:rPr>
              <a:t>frameworks</a:t>
            </a:r>
            <a:endParaRPr sz="2800">
              <a:latin typeface="Calibri"/>
              <a:cs typeface="Calibri"/>
            </a:endParaRPr>
          </a:p>
          <a:p>
            <a:pPr marL="241300">
              <a:lnSpc>
                <a:spcPts val="1975"/>
              </a:lnSpc>
            </a:pP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MDN</a:t>
            </a:r>
            <a:r>
              <a:rPr dirty="0" sz="1800" spc="-4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web</a:t>
            </a:r>
            <a:r>
              <a:rPr dirty="0" sz="1800" spc="-3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 spc="-20">
                <a:solidFill>
                  <a:srgbClr val="111F35"/>
                </a:solidFill>
                <a:latin typeface="Calibri"/>
                <a:cs typeface="Calibri"/>
              </a:rPr>
              <a:t>docs</a:t>
            </a:r>
            <a:endParaRPr sz="1800">
              <a:latin typeface="Calibri"/>
              <a:cs typeface="Calibri"/>
            </a:endParaRPr>
          </a:p>
          <a:p>
            <a:pPr marL="241300">
              <a:lnSpc>
                <a:spcPts val="1945"/>
              </a:lnSpc>
            </a:pPr>
            <a:r>
              <a:rPr dirty="0" u="sng" sz="1800" spc="-25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5"/>
              </a:rPr>
              <a:t>https://developer.mozilla.org/en-</a:t>
            </a:r>
            <a:r>
              <a:rPr dirty="0" u="sng" sz="1800" spc="-2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5"/>
              </a:rPr>
              <a:t>US/docs/Learn/Tools_and_testing/Client-</a:t>
            </a:r>
            <a:r>
              <a:rPr dirty="0" u="sng" sz="1800" spc="-1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5"/>
              </a:rPr>
              <a:t>side_JavaScript_frameworks</a:t>
            </a:r>
            <a:endParaRPr sz="1800">
              <a:latin typeface="Calibri"/>
              <a:cs typeface="Calibri"/>
            </a:endParaRPr>
          </a:p>
          <a:p>
            <a:pPr marL="241300">
              <a:lnSpc>
                <a:spcPts val="2050"/>
              </a:lnSpc>
            </a:pPr>
            <a:r>
              <a:rPr dirty="0" sz="1800" spc="-10">
                <a:solidFill>
                  <a:srgbClr val="111F35"/>
                </a:solidFill>
                <a:latin typeface="Calibri"/>
                <a:cs typeface="Calibri"/>
              </a:rPr>
              <a:t>Relevant</a:t>
            </a:r>
            <a:r>
              <a:rPr dirty="0" sz="1800" spc="-1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parts:</a:t>
            </a:r>
            <a:r>
              <a:rPr dirty="0" sz="1800" spc="-2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111F35"/>
                </a:solidFill>
                <a:latin typeface="Calibri"/>
                <a:cs typeface="Calibri"/>
              </a:rPr>
              <a:t>Introductory</a:t>
            </a:r>
            <a:r>
              <a:rPr dirty="0" sz="1800" spc="-1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guides:</a:t>
            </a:r>
            <a:r>
              <a:rPr dirty="0" sz="1800" spc="-10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u="sng" sz="1800" spc="-1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6"/>
              </a:rPr>
              <a:t>Introduction</a:t>
            </a:r>
            <a:r>
              <a:rPr dirty="0" u="sng" sz="1800" spc="-15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6"/>
              </a:rPr>
              <a:t> </a:t>
            </a:r>
            <a:r>
              <a:rPr dirty="0" u="sng" sz="180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6"/>
              </a:rPr>
              <a:t>to</a:t>
            </a:r>
            <a:r>
              <a:rPr dirty="0" u="sng" sz="1800" spc="-25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6"/>
              </a:rPr>
              <a:t> </a:t>
            </a:r>
            <a:r>
              <a:rPr dirty="0" u="sng" sz="1800" spc="-2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6"/>
              </a:rPr>
              <a:t>client-</a:t>
            </a:r>
            <a:r>
              <a:rPr dirty="0" u="sng" sz="180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6"/>
              </a:rPr>
              <a:t>side</a:t>
            </a:r>
            <a:r>
              <a:rPr dirty="0" u="sng" sz="1800" spc="-1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6"/>
              </a:rPr>
              <a:t> frameworks</a:t>
            </a:r>
            <a:r>
              <a:rPr dirty="0" sz="1800" spc="-35">
                <a:solidFill>
                  <a:srgbClr val="006379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111F35"/>
                </a:solidFill>
                <a:latin typeface="Calibri"/>
                <a:cs typeface="Calibri"/>
              </a:rPr>
              <a:t>and</a:t>
            </a:r>
            <a:r>
              <a:rPr dirty="0" sz="1800" spc="-5">
                <a:solidFill>
                  <a:srgbClr val="111F35"/>
                </a:solidFill>
                <a:latin typeface="Calibri"/>
                <a:cs typeface="Calibri"/>
              </a:rPr>
              <a:t> </a:t>
            </a:r>
            <a:r>
              <a:rPr dirty="0" u="sng" sz="1800" spc="-1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7"/>
              </a:rPr>
              <a:t>Framework</a:t>
            </a:r>
            <a:r>
              <a:rPr dirty="0" u="sng" sz="1800" spc="-2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7"/>
              </a:rPr>
              <a:t> </a:t>
            </a:r>
            <a:r>
              <a:rPr dirty="0" u="sng" sz="180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7"/>
              </a:rPr>
              <a:t>main</a:t>
            </a:r>
            <a:r>
              <a:rPr dirty="0" u="sng" sz="1800" spc="-25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7"/>
              </a:rPr>
              <a:t> </a:t>
            </a:r>
            <a:r>
              <a:rPr dirty="0" u="sng" sz="1800" spc="-10">
                <a:solidFill>
                  <a:srgbClr val="006379"/>
                </a:solidFill>
                <a:uFill>
                  <a:solidFill>
                    <a:srgbClr val="006379"/>
                  </a:solidFill>
                </a:uFill>
                <a:latin typeface="Calibri"/>
                <a:cs typeface="Calibri"/>
                <a:hlinkClick r:id="rId7"/>
              </a:rPr>
              <a:t>features</a:t>
            </a:r>
            <a:r>
              <a:rPr dirty="0" sz="1800" spc="-10">
                <a:solidFill>
                  <a:srgbClr val="111F35"/>
                </a:solidFill>
                <a:latin typeface="Calibri"/>
                <a:cs typeface="Calibri"/>
              </a:rPr>
              <a:t>.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6379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LUIGI LIBERO LUCIO STARACE</dc:creator>
  <dc:title>PowerPoint Presentation</dc:title>
  <dcterms:created xsi:type="dcterms:W3CDTF">2025-04-12T10:11:23Z</dcterms:created>
  <dcterms:modified xsi:type="dcterms:W3CDTF">2025-04-12T10:11:23Z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2024-05-20T00:00:00Z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2025-04-12T00:00:00Z</vt:filetime>
  </property>
  <property fmtid="{D5CDD505-2E9C-101B-9397-08002B2CF9AE}" pid="5" name="MSIP_Label_2ad0b24d-6422-44b0-b3de-abb3a9e8c81a_ActionId">
    <vt:lpwstr>9af74b0e-ab53-453f-acd9-6db9dfe131b8</vt:lpwstr>
  </property>
  <property fmtid="{D5CDD505-2E9C-101B-9397-08002B2CF9AE}" pid="6" name="MSIP_Label_2ad0b24d-6422-44b0-b3de-abb3a9e8c81a_ContentBits">
    <vt:lpwstr>0</vt:lpwstr>
  </property>
  <property fmtid="{D5CDD505-2E9C-101B-9397-08002B2CF9AE}" pid="7" name="MSIP_Label_2ad0b24d-6422-44b0-b3de-abb3a9e8c81a_Enabled">
    <vt:lpwstr>true</vt:lpwstr>
  </property>
  <property fmtid="{D5CDD505-2E9C-101B-9397-08002B2CF9AE}" pid="8" name="MSIP_Label_2ad0b24d-6422-44b0-b3de-abb3a9e8c81a_Method">
    <vt:lpwstr>Standard</vt:lpwstr>
  </property>
  <property fmtid="{D5CDD505-2E9C-101B-9397-08002B2CF9AE}" pid="9" name="MSIP_Label_2ad0b24d-6422-44b0-b3de-abb3a9e8c81a_Name">
    <vt:lpwstr>defa4170-0d19-0005-0004-bc88714345d2</vt:lpwstr>
  </property>
  <property fmtid="{D5CDD505-2E9C-101B-9397-08002B2CF9AE}" pid="10" name="MSIP_Label_2ad0b24d-6422-44b0-b3de-abb3a9e8c81a_SetDate">
    <vt:lpwstr>2023-05-27T10:34:22Z</vt:lpwstr>
  </property>
  <property fmtid="{D5CDD505-2E9C-101B-9397-08002B2CF9AE}" pid="11" name="MSIP_Label_2ad0b24d-6422-44b0-b3de-abb3a9e8c81a_SiteId">
    <vt:lpwstr>2fcfe26a-bb62-46b0-b1e3-28f9da0c45fd</vt:lpwstr>
  </property>
  <property fmtid="{D5CDD505-2E9C-101B-9397-08002B2CF9AE}" pid="12" name="Producer">
    <vt:lpwstr>Microsoft® PowerPoint® for Microsoft 365</vt:lpwstr>
  </property>
</Properties>
</file>