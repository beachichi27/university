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16190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489913"/>
            <a:ext cx="10178415" cy="4690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756221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luigiliberolucio.starace@unina.it" TargetMode="External"/><Relationship Id="rId4" Type="http://schemas.openxmlformats.org/officeDocument/2006/relationships/hyperlink" Target="https://luistar.github.io/" TargetMode="External"/><Relationship Id="rId5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api/router/Route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api/router/UrlTree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guide/http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xjs.dev/guide/observable" TargetMode="Externa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guide/http/setup" TargetMode="Externa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io/guide/change-detection" TargetMode="Externa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overview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2050" y="2642996"/>
            <a:ext cx="7137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75" b="1">
                <a:solidFill>
                  <a:srgbClr val="111F35"/>
                </a:solidFill>
                <a:latin typeface="Tahoma"/>
                <a:cs typeface="Tahoma"/>
              </a:rPr>
              <a:t>ANGULAR:</a:t>
            </a:r>
            <a:r>
              <a:rPr dirty="0" sz="6000" spc="-8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105" b="1">
                <a:solidFill>
                  <a:srgbClr val="111F35"/>
                </a:solidFill>
                <a:latin typeface="Tahoma"/>
                <a:cs typeface="Tahoma"/>
              </a:rPr>
              <a:t>PART</a:t>
            </a:r>
            <a:r>
              <a:rPr dirty="0" sz="6000" spc="-9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780" b="1">
                <a:solidFill>
                  <a:srgbClr val="111F35"/>
                </a:solidFill>
                <a:latin typeface="Tahoma"/>
                <a:cs typeface="Tahoma"/>
              </a:rPr>
              <a:t>II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1136" y="4471630"/>
            <a:ext cx="4638040" cy="159956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9200"/>
              </a:lnSpc>
              <a:spcBef>
                <a:spcPts val="420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960247"/>
            <a:ext cx="64211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>
                <a:solidFill>
                  <a:srgbClr val="006379"/>
                </a:solidFill>
              </a:rPr>
              <a:t>WEB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>
                <a:solidFill>
                  <a:srgbClr val="006379"/>
                </a:solidFill>
              </a:rPr>
              <a:t>TECHNO</a:t>
            </a:r>
            <a:r>
              <a:rPr dirty="0" sz="2800">
                <a:solidFill>
                  <a:srgbClr val="396C77"/>
                </a:solidFill>
              </a:rPr>
              <a:t>L</a:t>
            </a:r>
            <a:r>
              <a:rPr dirty="0" sz="2800">
                <a:solidFill>
                  <a:srgbClr val="006379"/>
                </a:solidFill>
              </a:rPr>
              <a:t>OGIES</a:t>
            </a:r>
            <a:r>
              <a:rPr dirty="0" sz="2800" spc="-40">
                <a:solidFill>
                  <a:srgbClr val="006379"/>
                </a:solidFill>
              </a:rPr>
              <a:t> </a:t>
            </a:r>
            <a:r>
              <a:rPr dirty="0" sz="2800" spc="1000">
                <a:solidFill>
                  <a:srgbClr val="006379"/>
                </a:solidFill>
              </a:rPr>
              <a:t>–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 spc="-105">
                <a:solidFill>
                  <a:srgbClr val="006379"/>
                </a:solidFill>
              </a:rPr>
              <a:t>LECTURE</a:t>
            </a:r>
            <a:r>
              <a:rPr dirty="0" sz="2800" spc="-55">
                <a:solidFill>
                  <a:srgbClr val="006379"/>
                </a:solidFill>
              </a:rPr>
              <a:t> </a:t>
            </a:r>
            <a:r>
              <a:rPr dirty="0" sz="2800" spc="-25">
                <a:solidFill>
                  <a:srgbClr val="006379"/>
                </a:solidFill>
              </a:rPr>
              <a:t>21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616965"/>
            <a:ext cx="6336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PREVIOUSLY,</a:t>
            </a:r>
            <a:r>
              <a:rPr dirty="0" spc="-80"/>
              <a:t> </a:t>
            </a:r>
            <a:r>
              <a:rPr dirty="0" spc="275"/>
              <a:t>ON</a:t>
            </a:r>
            <a:r>
              <a:rPr dirty="0" spc="-95"/>
              <a:t> </a:t>
            </a:r>
            <a:r>
              <a:rPr dirty="0" spc="-70"/>
              <a:t>WEB</a:t>
            </a:r>
            <a:r>
              <a:rPr dirty="0" spc="-114"/>
              <a:t> </a:t>
            </a:r>
            <a:r>
              <a:rPr dirty="0" spc="-10"/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6830059" cy="46805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Lect.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19,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learning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endParaRPr sz="2800">
              <a:latin typeface="Calibri"/>
              <a:cs typeface="Calibri"/>
            </a:endParaRPr>
          </a:p>
          <a:p>
            <a:pPr marL="240029" marR="16065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use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built-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manage 	@Input/@Output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  <a:p>
            <a:pPr marL="240029" marR="146685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Today,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important 	features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Framework.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Notably: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Forms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Injection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(securing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routes)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Client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4537" y="2214945"/>
            <a:ext cx="3154216" cy="332993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1179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85"/>
              <a:t> </a:t>
            </a:r>
            <a:r>
              <a:rPr dirty="0" spc="-10"/>
              <a:t>FORMS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20325" cy="24980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Forms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cases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preferred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getting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Angular,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forms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ways:</a:t>
            </a:r>
            <a:endParaRPr sz="2800">
              <a:latin typeface="Calibri"/>
              <a:cs typeface="Calibri"/>
            </a:endParaRPr>
          </a:p>
          <a:p>
            <a:pPr lvl="1" marL="696595" marR="24765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Template-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driven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forms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associations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are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implicitly,</a:t>
            </a:r>
            <a:r>
              <a:rPr dirty="0" sz="24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via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directives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Reactive</a:t>
            </a:r>
            <a:r>
              <a:rPr dirty="0" sz="24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forms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associations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explicitly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1179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85"/>
              <a:t> </a:t>
            </a:r>
            <a:r>
              <a:rPr dirty="0" spc="-10"/>
              <a:t>FORMS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888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app.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2556510"/>
            <a:ext cx="95599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associate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/login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4600143"/>
            <a:ext cx="7735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Last,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link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app.component.ts</a:t>
            </a:r>
            <a:r>
              <a:rPr dirty="0" sz="2800" spc="-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2164079"/>
            <a:ext cx="10427335" cy="37084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5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D/O/T/W/2/e/2/angular-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app</a:t>
            </a:r>
            <a:r>
              <a:rPr dirty="0" sz="1800" spc="1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4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generate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component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login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2396" y="3133344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new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app.routes.ts</a:t>
            </a:r>
            <a:endParaRPr sz="1800">
              <a:latin typeface="Consolas"/>
              <a:cs typeface="Consolas"/>
            </a:endParaRPr>
          </a:p>
          <a:p>
            <a:pPr marL="4667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path: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"login"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466725" marR="681799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"Login"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component: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LoginComponent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82396" y="5209032"/>
            <a:ext cx="10427335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template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AppComponent,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before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&lt;router-outlet/&gt;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8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routerLink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"/login"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routerLinkActive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"active"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Login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65"/>
              <a:t> </a:t>
            </a:r>
            <a:r>
              <a:rPr dirty="0" spc="-20"/>
              <a:t>FORMS:</a:t>
            </a:r>
            <a:r>
              <a:rPr dirty="0" spc="-50"/>
              <a:t> </a:t>
            </a:r>
            <a:r>
              <a:rPr dirty="0" spc="75"/>
              <a:t>TEMPLATE-</a:t>
            </a:r>
            <a:r>
              <a:rPr dirty="0" spc="-30"/>
              <a:t>DRIVEN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096000" y="2206751"/>
            <a:ext cx="5227320" cy="3970020"/>
          </a:xfrm>
          <a:custGeom>
            <a:avLst/>
            <a:gdLst/>
            <a:ahLst/>
            <a:cxnLst/>
            <a:rect l="l" t="t" r="r" b="b"/>
            <a:pathLst>
              <a:path w="5227320" h="3970020">
                <a:moveTo>
                  <a:pt x="5227320" y="0"/>
                </a:moveTo>
                <a:lnTo>
                  <a:pt x="0" y="0"/>
                </a:lnTo>
                <a:lnTo>
                  <a:pt x="0" y="3970020"/>
                </a:lnTo>
                <a:lnTo>
                  <a:pt x="5227320" y="3970020"/>
                </a:lnTo>
                <a:lnTo>
                  <a:pt x="5227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1558797"/>
          <a:ext cx="10530205" cy="4611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3350"/>
                <a:gridCol w="4733290"/>
                <a:gridCol w="493395"/>
              </a:tblGrid>
              <a:tr h="64135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Component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FormsModule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'@angular/forms'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33299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@Component({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197802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selector: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'app-login’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standalone: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imports:</a:t>
                      </a:r>
                      <a:r>
                        <a:rPr dirty="0"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[FormsModule],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47498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template: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'./login.component.html'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styleUrl: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'./login.component.scss'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export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class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LoginComponent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user: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string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""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pass: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string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""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214629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&lt;h1&gt;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Login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&lt;/h1&gt;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&lt;form&gt;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&lt;label</a:t>
                      </a:r>
                      <a:r>
                        <a:rPr dirty="0" sz="1800" spc="-3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"usr"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Username: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&lt;/label&gt;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19835" marR="1493520" indent="-87820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&lt;input</a:t>
                      </a:r>
                      <a:r>
                        <a:rPr dirty="0" sz="1800" spc="-4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id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"usr"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"usr"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[(ngModel)]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"user"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&lt;label</a:t>
                      </a:r>
                      <a:r>
                        <a:rPr dirty="0" sz="1800" spc="-4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"pwd"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Password: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&lt;/label&gt;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19835" marR="1493520" indent="-87820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&lt;input</a:t>
                      </a:r>
                      <a:r>
                        <a:rPr dirty="0" sz="1800" spc="-4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id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"pwd"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name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"pwd"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"password"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[(ngModel)]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"pass"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&lt;/form&gt;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2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&lt;p&gt;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1630" marR="113664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Username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is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&lt;strong&gt;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{{user}}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&lt;/strong&gt;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Password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is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&lt;strong&gt;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{{pass}}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&lt;/strong&gt;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&lt;/p&gt;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65"/>
              <a:t> </a:t>
            </a:r>
            <a:r>
              <a:rPr dirty="0" spc="-20"/>
              <a:t>FORMS:</a:t>
            </a:r>
            <a:r>
              <a:rPr dirty="0" spc="-50"/>
              <a:t> </a:t>
            </a:r>
            <a:r>
              <a:rPr dirty="0" spc="75"/>
              <a:t>TEMPLATE-</a:t>
            </a:r>
            <a:r>
              <a:rPr dirty="0" spc="-30"/>
              <a:t>DRIVEN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37470" cy="21564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E40000"/>
                </a:solidFill>
                <a:latin typeface="Consolas"/>
                <a:cs typeface="Consolas"/>
              </a:rPr>
              <a:t>[(ngModel)]</a:t>
            </a:r>
            <a:r>
              <a:rPr dirty="0" sz="2400" spc="-20">
                <a:latin typeface="Consolas"/>
                <a:cs typeface="Consolas"/>
              </a:rPr>
              <a:t>=</a:t>
            </a:r>
            <a:r>
              <a:rPr dirty="0" sz="2400" spc="-20">
                <a:solidFill>
                  <a:srgbClr val="0000FF"/>
                </a:solidFill>
                <a:latin typeface="Consolas"/>
                <a:cs typeface="Consolas"/>
              </a:rPr>
              <a:t>"pass"</a:t>
            </a:r>
            <a:r>
              <a:rPr dirty="0" sz="2400" spc="-6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directive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field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bound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>
                <a:solidFill>
                  <a:srgbClr val="0000FF"/>
                </a:solidFill>
                <a:latin typeface="Consolas"/>
                <a:cs typeface="Consolas"/>
              </a:rPr>
              <a:t>pass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example)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component.</a:t>
            </a:r>
            <a:endParaRPr sz="2800">
              <a:latin typeface="Calibri"/>
              <a:cs typeface="Calibri"/>
            </a:endParaRPr>
          </a:p>
          <a:p>
            <a:pPr marL="239395" marR="321945" indent="-227329">
              <a:lnSpc>
                <a:spcPts val="3340"/>
              </a:lnSpc>
              <a:spcBef>
                <a:spcPts val="78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E40000"/>
                </a:solidFill>
                <a:latin typeface="Consolas"/>
                <a:cs typeface="Consolas"/>
              </a:rPr>
              <a:t>[()]</a:t>
            </a:r>
            <a:r>
              <a:rPr dirty="0" sz="2400" spc="-660">
                <a:solidFill>
                  <a:srgbClr val="E40000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notation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banana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box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represents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two-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binding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binding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binding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65"/>
              <a:t> </a:t>
            </a:r>
            <a:r>
              <a:rPr dirty="0" spc="-20"/>
              <a:t>FORMS:</a:t>
            </a:r>
            <a:r>
              <a:rPr dirty="0" spc="-50"/>
              <a:t> </a:t>
            </a:r>
            <a:r>
              <a:rPr dirty="0" spc="75"/>
              <a:t>TEMPLATE-</a:t>
            </a:r>
            <a:r>
              <a:rPr dirty="0" spc="-30"/>
              <a:t>DRIVEN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600065" cy="41636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input,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automatically,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well</a:t>
            </a:r>
            <a:endParaRPr sz="2800">
              <a:latin typeface="Calibri"/>
              <a:cs typeface="Calibri"/>
            </a:endParaRPr>
          </a:p>
          <a:p>
            <a:pPr marL="240029" marR="74041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occurred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corresponding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field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would 	automatically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two-way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binding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initialize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111F35"/>
                </a:solidFill>
                <a:latin typeface="Consolas"/>
                <a:cs typeface="Consolas"/>
              </a:rPr>
              <a:t>user</a:t>
            </a:r>
            <a:endParaRPr sz="2400">
              <a:latin typeface="Consolas"/>
              <a:cs typeface="Consolas"/>
            </a:endParaRPr>
          </a:p>
          <a:p>
            <a:pPr marL="241300">
              <a:lnSpc>
                <a:spcPts val="3190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value!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805739" y="1555622"/>
            <a:ext cx="4513580" cy="4631055"/>
            <a:chOff x="6805739" y="1555622"/>
            <a:chExt cx="4513580" cy="46310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5328" y="1565147"/>
              <a:ext cx="4494276" cy="394446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810502" y="1560385"/>
              <a:ext cx="4504055" cy="4621530"/>
            </a:xfrm>
            <a:custGeom>
              <a:avLst/>
              <a:gdLst/>
              <a:ahLst/>
              <a:cxnLst/>
              <a:rect l="l" t="t" r="r" b="b"/>
              <a:pathLst>
                <a:path w="4504055" h="4621530">
                  <a:moveTo>
                    <a:pt x="0" y="4621149"/>
                  </a:moveTo>
                  <a:lnTo>
                    <a:pt x="4503801" y="4621149"/>
                  </a:lnTo>
                  <a:lnTo>
                    <a:pt x="4503801" y="0"/>
                  </a:lnTo>
                  <a:lnTo>
                    <a:pt x="0" y="0"/>
                  </a:lnTo>
                  <a:lnTo>
                    <a:pt x="0" y="462114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75"/>
              <a:t> </a:t>
            </a:r>
            <a:r>
              <a:rPr dirty="0" spc="-20"/>
              <a:t>FORMS:</a:t>
            </a:r>
            <a:r>
              <a:rPr dirty="0" spc="-65"/>
              <a:t> </a:t>
            </a:r>
            <a:r>
              <a:rPr dirty="0" spc="-140"/>
              <a:t>REACTIVE</a:t>
            </a:r>
            <a:r>
              <a:rPr dirty="0" spc="-70"/>
              <a:t> </a:t>
            </a:r>
            <a:r>
              <a:rPr dirty="0" spc="-10"/>
              <a:t>APPROACH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9947275" cy="4802505"/>
          </a:xfrm>
          <a:custGeom>
            <a:avLst/>
            <a:gdLst/>
            <a:ahLst/>
            <a:cxnLst/>
            <a:rect l="l" t="t" r="r" b="b"/>
            <a:pathLst>
              <a:path w="9947275" h="4802505">
                <a:moveTo>
                  <a:pt x="0" y="4802124"/>
                </a:moveTo>
                <a:lnTo>
                  <a:pt x="9947148" y="4802124"/>
                </a:lnTo>
                <a:lnTo>
                  <a:pt x="9947148" y="0"/>
                </a:lnTo>
                <a:lnTo>
                  <a:pt x="0" y="0"/>
                </a:lnTo>
                <a:lnTo>
                  <a:pt x="0" y="480212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340"/>
            <a:ext cx="96774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FormControl,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FormGroup,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ReactiveFormsModule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'@angular/forms'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2408682"/>
            <a:ext cx="4664075" cy="386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@Component({</a:t>
            </a:r>
            <a:endParaRPr sz="1800">
              <a:latin typeface="Consolas"/>
              <a:cs typeface="Consolas"/>
            </a:endParaRPr>
          </a:p>
          <a:p>
            <a:pPr marL="262255" marR="163576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'app-login'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 marR="50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[ReactiveFormsModule], </a:t>
            </a: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'./login.component.html'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'./login.component.scss'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LoginComponent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loginForm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FormGroup({</a:t>
            </a:r>
            <a:endParaRPr sz="1800">
              <a:latin typeface="Consolas"/>
              <a:cs typeface="Consolas"/>
            </a:endParaRPr>
          </a:p>
          <a:p>
            <a:pPr marL="512445" marR="75882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//argument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initial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value </a:t>
            </a:r>
            <a:r>
              <a:rPr dirty="0" sz="1800">
                <a:latin typeface="Consolas"/>
                <a:cs typeface="Consolas"/>
              </a:rPr>
              <a:t>user: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FormControl(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 spc="-10">
                <a:latin typeface="Consolas"/>
                <a:cs typeface="Consolas"/>
              </a:rPr>
              <a:t>), </a:t>
            </a:r>
            <a:r>
              <a:rPr dirty="0" sz="1800">
                <a:latin typeface="Consolas"/>
                <a:cs typeface="Consolas"/>
              </a:rPr>
              <a:t>pass: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FormControl(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647690" y="2288794"/>
            <a:ext cx="5971540" cy="4260215"/>
            <a:chOff x="5647690" y="2288794"/>
            <a:chExt cx="5971540" cy="4260215"/>
          </a:xfrm>
        </p:grpSpPr>
        <p:sp>
          <p:nvSpPr>
            <p:cNvPr id="7" name="object 7" descr=""/>
            <p:cNvSpPr/>
            <p:nvPr/>
          </p:nvSpPr>
          <p:spPr>
            <a:xfrm>
              <a:off x="5654040" y="2295144"/>
              <a:ext cx="5958840" cy="4247515"/>
            </a:xfrm>
            <a:custGeom>
              <a:avLst/>
              <a:gdLst/>
              <a:ahLst/>
              <a:cxnLst/>
              <a:rect l="l" t="t" r="r" b="b"/>
              <a:pathLst>
                <a:path w="5958840" h="4247515">
                  <a:moveTo>
                    <a:pt x="5958840" y="0"/>
                  </a:moveTo>
                  <a:lnTo>
                    <a:pt x="0" y="0"/>
                  </a:lnTo>
                  <a:lnTo>
                    <a:pt x="0" y="4247388"/>
                  </a:lnTo>
                  <a:lnTo>
                    <a:pt x="5958840" y="4247388"/>
                  </a:lnTo>
                  <a:lnTo>
                    <a:pt x="5958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654040" y="2295144"/>
              <a:ext cx="5958840" cy="4247515"/>
            </a:xfrm>
            <a:custGeom>
              <a:avLst/>
              <a:gdLst/>
              <a:ahLst/>
              <a:cxnLst/>
              <a:rect l="l" t="t" r="r" b="b"/>
              <a:pathLst>
                <a:path w="5958840" h="4247515">
                  <a:moveTo>
                    <a:pt x="0" y="4247388"/>
                  </a:moveTo>
                  <a:lnTo>
                    <a:pt x="5958840" y="4247388"/>
                  </a:lnTo>
                  <a:lnTo>
                    <a:pt x="5958840" y="0"/>
                  </a:lnTo>
                  <a:lnTo>
                    <a:pt x="0" y="0"/>
                  </a:lnTo>
                  <a:lnTo>
                    <a:pt x="0" y="4247388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733415" y="2315083"/>
            <a:ext cx="529145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 spc="-10">
                <a:latin typeface="Consolas"/>
                <a:cs typeface="Consolas"/>
              </a:rPr>
              <a:t>Login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[formGroup]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loginForm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"usr"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Username: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5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"usr"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formControlName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"user"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"pwd"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Password: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1140460" marR="257175" indent="-8782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5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"pwd"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formControlName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"pass"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"password"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Submit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Username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is</a:t>
            </a:r>
            <a:endParaRPr sz="1800">
              <a:latin typeface="Consolas"/>
              <a:cs typeface="Consolas"/>
            </a:endParaRPr>
          </a:p>
          <a:p>
            <a:pPr marL="12700" marR="571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&lt;strong&gt;</a:t>
            </a:r>
            <a:r>
              <a:rPr dirty="0" sz="1800" spc="-10">
                <a:latin typeface="Consolas"/>
                <a:cs typeface="Consolas"/>
              </a:rPr>
              <a:t>{{loginForm.value.user}}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&lt;/strong&gt;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Password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is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&lt;strong&gt;</a:t>
            </a:r>
            <a:r>
              <a:rPr dirty="0" sz="1800" spc="-10">
                <a:latin typeface="Consolas"/>
                <a:cs typeface="Consolas"/>
              </a:rPr>
              <a:t>{{loginForm.value.pass}}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&lt;/strong&gt;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70"/>
              <a:t> </a:t>
            </a:r>
            <a:r>
              <a:rPr dirty="0" spc="-20"/>
              <a:t>FORMS:</a:t>
            </a:r>
            <a:r>
              <a:rPr dirty="0" spc="-55"/>
              <a:t> SUBMISSIONS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7240905" cy="2863850"/>
          </a:xfrm>
          <a:custGeom>
            <a:avLst/>
            <a:gdLst/>
            <a:ahLst/>
            <a:cxnLst/>
            <a:rect l="l" t="t" r="r" b="b"/>
            <a:pathLst>
              <a:path w="7240905" h="2863850">
                <a:moveTo>
                  <a:pt x="0" y="2863596"/>
                </a:moveTo>
                <a:lnTo>
                  <a:pt x="7240524" y="2863596"/>
                </a:lnTo>
                <a:lnTo>
                  <a:pt x="7240524" y="0"/>
                </a:lnTo>
                <a:lnTo>
                  <a:pt x="0" y="0"/>
                </a:lnTo>
                <a:lnTo>
                  <a:pt x="0" y="2863596"/>
                </a:lnTo>
                <a:close/>
              </a:path>
            </a:pathLst>
          </a:custGeom>
          <a:ln w="12699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340"/>
            <a:ext cx="704532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389629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LoginComponent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algn="r" marR="3390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loginForm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FormGroup({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user: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FormControl(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>
                <a:latin typeface="Consolas"/>
                <a:cs typeface="Consolas"/>
              </a:rPr>
              <a:t>),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pass: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FormControl(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onSubmit(){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alert(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`Username:</a:t>
            </a:r>
            <a:r>
              <a:rPr dirty="0" sz="1800" spc="-9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${this</a:t>
            </a:r>
            <a:r>
              <a:rPr dirty="0" sz="1800" spc="-10">
                <a:latin typeface="Consolas"/>
                <a:cs typeface="Consolas"/>
              </a:rPr>
              <a:t>.loginForm.value.user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390015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Password: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${this</a:t>
            </a:r>
            <a:r>
              <a:rPr dirty="0" sz="1800" spc="-10">
                <a:latin typeface="Consolas"/>
                <a:cs typeface="Consolas"/>
              </a:rPr>
              <a:t>.loginForm.value.pass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11986" y="3780535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4054855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113277" y="3901185"/>
            <a:ext cx="8297545" cy="2597785"/>
            <a:chOff x="3113277" y="3901185"/>
            <a:chExt cx="8297545" cy="2597785"/>
          </a:xfrm>
        </p:grpSpPr>
        <p:sp>
          <p:nvSpPr>
            <p:cNvPr id="8" name="object 8" descr=""/>
            <p:cNvSpPr/>
            <p:nvPr/>
          </p:nvSpPr>
          <p:spPr>
            <a:xfrm>
              <a:off x="3119627" y="3907535"/>
              <a:ext cx="8284845" cy="2585085"/>
            </a:xfrm>
            <a:custGeom>
              <a:avLst/>
              <a:gdLst/>
              <a:ahLst/>
              <a:cxnLst/>
              <a:rect l="l" t="t" r="r" b="b"/>
              <a:pathLst>
                <a:path w="8284845" h="2585085">
                  <a:moveTo>
                    <a:pt x="8284464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8284464" y="2584704"/>
                  </a:lnTo>
                  <a:lnTo>
                    <a:pt x="82844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9627" y="3907535"/>
              <a:ext cx="8284845" cy="2585085"/>
            </a:xfrm>
            <a:custGeom>
              <a:avLst/>
              <a:gdLst/>
              <a:ahLst/>
              <a:cxnLst/>
              <a:rect l="l" t="t" r="r" b="b"/>
              <a:pathLst>
                <a:path w="8284845" h="2585085">
                  <a:moveTo>
                    <a:pt x="0" y="2584704"/>
                  </a:moveTo>
                  <a:lnTo>
                    <a:pt x="8284464" y="2584704"/>
                  </a:lnTo>
                  <a:lnTo>
                    <a:pt x="8284464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199002" y="3927729"/>
            <a:ext cx="7296150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dirty="0" sz="1800" spc="-8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[formGroup]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loginForm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(ngSubmit)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onSubmit()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"usr"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formControlName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"user"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9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"pwd"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formControlName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"pass"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"password"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Submit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Username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&lt;strong&gt;</a:t>
            </a:r>
            <a:r>
              <a:rPr dirty="0" sz="1800" spc="-10">
                <a:latin typeface="Consolas"/>
                <a:cs typeface="Consolas"/>
              </a:rPr>
              <a:t>{{loginForm.value.user}}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&lt;/strong&gt;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Password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&lt;strong&gt;</a:t>
            </a:r>
            <a:r>
              <a:rPr dirty="0" sz="1800" spc="-10">
                <a:latin typeface="Consolas"/>
                <a:cs typeface="Consolas"/>
              </a:rPr>
              <a:t>{{loginForm.value.pass}}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&lt;/strong&gt;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0713" y="3157092"/>
            <a:ext cx="1150111" cy="11501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9532" y="2277364"/>
            <a:ext cx="1150111" cy="1150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70"/>
              <a:t> </a:t>
            </a:r>
            <a:r>
              <a:rPr dirty="0" spc="-20"/>
              <a:t>FORMS:</a:t>
            </a:r>
            <a:r>
              <a:rPr dirty="0" spc="-55"/>
              <a:t> </a:t>
            </a:r>
            <a:r>
              <a:rPr dirty="0" spc="-40"/>
              <a:t>SUBMISSION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008058" y="1555622"/>
            <a:ext cx="6174740" cy="4631055"/>
            <a:chOff x="3008058" y="1555622"/>
            <a:chExt cx="6174740" cy="46310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7519" y="1565147"/>
              <a:ext cx="6155435" cy="461162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012820" y="1560385"/>
              <a:ext cx="6165215" cy="4621530"/>
            </a:xfrm>
            <a:custGeom>
              <a:avLst/>
              <a:gdLst/>
              <a:ahLst/>
              <a:cxnLst/>
              <a:rect l="l" t="t" r="r" b="b"/>
              <a:pathLst>
                <a:path w="6165215" h="4621530">
                  <a:moveTo>
                    <a:pt x="0" y="4621149"/>
                  </a:moveTo>
                  <a:lnTo>
                    <a:pt x="6164960" y="4621149"/>
                  </a:lnTo>
                  <a:lnTo>
                    <a:pt x="6164960" y="0"/>
                  </a:lnTo>
                  <a:lnTo>
                    <a:pt x="0" y="0"/>
                  </a:lnTo>
                  <a:lnTo>
                    <a:pt x="0" y="462114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2675966"/>
            <a:ext cx="880237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dirty="0" sz="4800" spc="-260"/>
              <a:t>SERVICES</a:t>
            </a:r>
            <a:r>
              <a:rPr dirty="0" sz="4800" spc="105"/>
              <a:t> </a:t>
            </a:r>
            <a:r>
              <a:rPr dirty="0" sz="4800" spc="170"/>
              <a:t>AND</a:t>
            </a:r>
            <a:r>
              <a:rPr dirty="0" sz="4800" spc="110"/>
              <a:t> </a:t>
            </a:r>
            <a:r>
              <a:rPr dirty="0" sz="4800" spc="-40"/>
              <a:t>DEPENDENCY </a:t>
            </a:r>
            <a:r>
              <a:rPr dirty="0" sz="4800" spc="-10"/>
              <a:t>INJECTION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INTRODUCING</a:t>
            </a:r>
            <a:r>
              <a:rPr dirty="0" spc="-135"/>
              <a:t> </a:t>
            </a:r>
            <a:r>
              <a:rPr dirty="0" spc="-175"/>
              <a:t>SERVICES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01885" cy="211709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just"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classes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thing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it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right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increases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modularity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reusability.</a:t>
            </a:r>
            <a:endParaRPr sz="2800">
              <a:latin typeface="Calibri"/>
              <a:cs typeface="Calibri"/>
            </a:endParaRPr>
          </a:p>
          <a:p>
            <a:pPr algn="just" marL="240029" marR="4826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responsible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enabling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experience: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logic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mediates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between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logic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450"/>
              <a:t> </a:t>
            </a:r>
            <a:r>
              <a:rPr dirty="0" spc="-165"/>
              <a:t>SERVICES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655175" cy="336105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3111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classes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functionality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associated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directly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template,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styles.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logic,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invoked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wheen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needed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great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tasks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fetching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API,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logging,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validating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etc…</a:t>
            </a:r>
            <a:endParaRPr sz="2800">
              <a:latin typeface="Calibri"/>
              <a:cs typeface="Calibri"/>
            </a:endParaRPr>
          </a:p>
          <a:p>
            <a:pPr lvl="1" marL="696595" marR="661035" indent="-227329">
              <a:lnSpc>
                <a:spcPts val="2590"/>
              </a:lnSpc>
              <a:spcBef>
                <a:spcPts val="52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kind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tasks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likely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DEPENDENCY</a:t>
            </a:r>
            <a:r>
              <a:rPr dirty="0" spc="-180"/>
              <a:t> </a:t>
            </a:r>
            <a:r>
              <a:rPr dirty="0" spc="-45"/>
              <a:t>INJECTION</a:t>
            </a:r>
            <a:r>
              <a:rPr dirty="0" spc="-195"/>
              <a:t> </a:t>
            </a:r>
            <a:r>
              <a:rPr dirty="0" spc="-295"/>
              <a:t>(DI)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13645" cy="30321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leverages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pattern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obtain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instances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dependecies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needs)</a:t>
            </a:r>
            <a:endParaRPr sz="2800">
              <a:latin typeface="Calibri"/>
              <a:cs typeface="Calibri"/>
            </a:endParaRPr>
          </a:p>
          <a:p>
            <a:pPr marL="240029" marR="119570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goal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separate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concerns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(1)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constructing 	dependencies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(2)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improving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decoupling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roles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exist: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consumer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(i.e.: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write)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r>
              <a:rPr dirty="0" sz="24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provider</a:t>
            </a:r>
            <a:r>
              <a:rPr dirty="0" sz="2400" spc="-10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(generally</a:t>
            </a:r>
            <a:r>
              <a:rPr dirty="0" sz="24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managed</a:t>
            </a:r>
            <a:r>
              <a:rPr dirty="0" sz="24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Angular)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35"/>
              <a:t> </a:t>
            </a:r>
            <a:r>
              <a:rPr dirty="0" spc="-45"/>
              <a:t>CREATING</a:t>
            </a:r>
            <a:r>
              <a:rPr dirty="0" spc="135"/>
              <a:t> </a:t>
            </a:r>
            <a:r>
              <a:rPr dirty="0" spc="-150"/>
              <a:t>SERVICES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2795142"/>
            <a:ext cx="1002157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  <a:tab pos="939165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@Injectable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decorator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mark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CalculatorService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something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565147"/>
            <a:ext cx="10427335" cy="120142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2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59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D/O/T/W/2/e/2/angular-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app</a:t>
            </a:r>
            <a:r>
              <a:rPr dirty="0" sz="1800" spc="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4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generate service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calculator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92075" marR="368427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7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src/app/calculator.service.spec.ts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(377</a:t>
            </a:r>
            <a:r>
              <a:rPr dirty="0" sz="1800" spc="-6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7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src/app/calculator.service.ts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(139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3727703"/>
            <a:ext cx="10427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Injectable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@Injectable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providedIn: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'root'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//avilable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everywhere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app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(root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injector)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CalculatorService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sum(x: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number):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x+y;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75"/>
              <a:t> </a:t>
            </a:r>
            <a:r>
              <a:rPr dirty="0" spc="-50"/>
              <a:t>INSTANTIATING</a:t>
            </a:r>
            <a:r>
              <a:rPr dirty="0" spc="135"/>
              <a:t> </a:t>
            </a:r>
            <a:r>
              <a:rPr dirty="0" spc="-145"/>
              <a:t>SERVICES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6506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Dependencies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instantiated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inject()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206751"/>
            <a:ext cx="10427335" cy="3970020"/>
          </a:xfrm>
          <a:custGeom>
            <a:avLst/>
            <a:gdLst/>
            <a:ahLst/>
            <a:cxnLst/>
            <a:rect l="l" t="t" r="r" b="b"/>
            <a:pathLst>
              <a:path w="10427335" h="3970020">
                <a:moveTo>
                  <a:pt x="0" y="3970020"/>
                </a:moveTo>
                <a:lnTo>
                  <a:pt x="10427208" y="3970020"/>
                </a:lnTo>
                <a:lnTo>
                  <a:pt x="10427208" y="0"/>
                </a:lnTo>
                <a:lnTo>
                  <a:pt x="0" y="0"/>
                </a:lnTo>
                <a:lnTo>
                  <a:pt x="0" y="397002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226005"/>
            <a:ext cx="7296784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Component,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inject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CalculatorService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'../calculator.service'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262255" marR="376618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'app-home-page'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latin typeface="Consolas"/>
                <a:cs typeface="Consolas"/>
              </a:rPr>
              <a:t>,</a:t>
            </a:r>
            <a:r>
              <a:rPr dirty="0" sz="1800" spc="50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[],</a:t>
            </a:r>
            <a:endParaRPr sz="1800">
              <a:latin typeface="Consolas"/>
              <a:cs typeface="Consolas"/>
            </a:endParaRPr>
          </a:p>
          <a:p>
            <a:pPr marL="262255" marR="129539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r>
              <a:rPr dirty="0" sz="1800">
                <a:latin typeface="Consolas"/>
                <a:cs typeface="Consolas"/>
              </a:rPr>
              <a:t>The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sum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&lt;strong&gt;</a:t>
            </a:r>
            <a:r>
              <a:rPr dirty="0" sz="1800" spc="-10">
                <a:latin typeface="Consolas"/>
                <a:cs typeface="Consolas"/>
              </a:rPr>
              <a:t>{{sum}}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&lt;/strong&gt;&lt;/p&gt;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'./home-page.component.scss'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HomePageComponent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 marR="2571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private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calculatorService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inject(CalculatorService); </a:t>
            </a:r>
            <a:r>
              <a:rPr dirty="0" sz="1800">
                <a:latin typeface="Consolas"/>
                <a:cs typeface="Consolas"/>
              </a:rPr>
              <a:t>sum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.calculatorService.sum(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1234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4321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911600" y="1756917"/>
            <a:ext cx="5231765" cy="3777615"/>
            <a:chOff x="3911600" y="1756917"/>
            <a:chExt cx="5231765" cy="37776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3701" y="4431029"/>
              <a:ext cx="1103553" cy="11035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0059" y="2088260"/>
              <a:ext cx="942987" cy="9429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1600" y="1756917"/>
              <a:ext cx="781151" cy="78117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75"/>
              <a:t> </a:t>
            </a:r>
            <a:r>
              <a:rPr dirty="0" spc="-50"/>
              <a:t>INSTANTIATING</a:t>
            </a:r>
            <a:r>
              <a:rPr dirty="0" spc="135"/>
              <a:t> </a:t>
            </a:r>
            <a:r>
              <a:rPr dirty="0" spc="-145"/>
              <a:t>SERVICES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667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Dependencies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constructors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206751"/>
            <a:ext cx="10427335" cy="39700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CalculatorService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'../calculator.service'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@Component({</a:t>
            </a:r>
            <a:endParaRPr sz="1800">
              <a:latin typeface="Consolas"/>
              <a:cs typeface="Consolas"/>
            </a:endParaRPr>
          </a:p>
          <a:p>
            <a:pPr marL="342265" marR="6817359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'app-home-page'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latin typeface="Consolas"/>
                <a:cs typeface="Consolas"/>
              </a:rPr>
              <a:t>,</a:t>
            </a:r>
            <a:r>
              <a:rPr dirty="0" sz="1800" spc="50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[],</a:t>
            </a:r>
            <a:endParaRPr sz="1800">
              <a:latin typeface="Consolas"/>
              <a:cs typeface="Consolas"/>
            </a:endParaRPr>
          </a:p>
          <a:p>
            <a:pPr marL="342265" marR="318135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r>
              <a:rPr dirty="0" sz="1800">
                <a:latin typeface="Consolas"/>
                <a:cs typeface="Consolas"/>
              </a:rPr>
              <a:t>The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sum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&lt;strong&gt;</a:t>
            </a:r>
            <a:r>
              <a:rPr dirty="0" sz="1800" spc="-10">
                <a:latin typeface="Consolas"/>
                <a:cs typeface="Consolas"/>
              </a:rPr>
              <a:t>{{sum}}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&lt;/strong&gt;&lt;/p&gt;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'./home-page.component.scss'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HomePageComponent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2679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private</a:t>
            </a:r>
            <a:r>
              <a:rPr dirty="0" sz="1800" spc="-9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calculatorService: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CalculatorService){} </a:t>
            </a:r>
            <a:r>
              <a:rPr dirty="0" sz="1800">
                <a:latin typeface="Consolas"/>
                <a:cs typeface="Consolas"/>
              </a:rPr>
              <a:t>sum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.calculatorService.sum(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1234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4321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3701" y="4431029"/>
            <a:ext cx="1103553" cy="11035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0059" y="2088260"/>
            <a:ext cx="942987" cy="942987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58413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"/>
              <a:t>SECURING</a:t>
            </a:r>
            <a:r>
              <a:rPr dirty="0" sz="4800" spc="-280"/>
              <a:t> </a:t>
            </a:r>
            <a:r>
              <a:rPr dirty="0" sz="4800" spc="-70"/>
              <a:t>ROUTES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SECURING</a:t>
            </a:r>
            <a:r>
              <a:rPr dirty="0" spc="-225"/>
              <a:t> </a:t>
            </a:r>
            <a:r>
              <a:rPr dirty="0" spc="-45"/>
              <a:t>ROUTES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50170" cy="44183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23380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common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task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ensure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only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authorized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certain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Router,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Guards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Guards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invoked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determine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certain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(e.g.: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canActivate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canMatch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canLoad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canDeactivate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,…)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Guards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properties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240029" marR="19812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guards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Route.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executes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all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guards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parallel,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action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guards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true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60"/>
              <a:t> </a:t>
            </a:r>
            <a:r>
              <a:rPr dirty="0" spc="120"/>
              <a:t>A</a:t>
            </a:r>
            <a:r>
              <a:rPr dirty="0" spc="-60"/>
              <a:t> </a:t>
            </a:r>
            <a:r>
              <a:rPr dirty="0" spc="-10"/>
              <a:t>GUARD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409700"/>
            <a:ext cx="10427335" cy="1199515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3655" rIns="0" bIns="0" rtlCol="0" vert="horz">
            <a:spAutoFit/>
          </a:bodyPr>
          <a:lstStyle/>
          <a:p>
            <a:pPr marL="92075">
              <a:lnSpc>
                <a:spcPts val="2155"/>
              </a:lnSpc>
              <a:spcBef>
                <a:spcPts val="26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59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D/O/T/W/2/e/2/angular-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app</a:t>
            </a:r>
            <a:r>
              <a:rPr dirty="0" sz="1800" spc="2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3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generate guard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authorization</a:t>
            </a:r>
            <a:endParaRPr sz="1800">
              <a:latin typeface="Consolas"/>
              <a:cs typeface="Consolas"/>
            </a:endParaRPr>
          </a:p>
          <a:p>
            <a:pPr marL="92075" marR="2931160">
              <a:lnSpc>
                <a:spcPts val="2160"/>
              </a:lnSpc>
              <a:spcBef>
                <a:spcPts val="65"/>
              </a:spcBef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?</a:t>
            </a:r>
            <a:r>
              <a:rPr dirty="0" sz="1800" spc="-4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Which</a:t>
            </a:r>
            <a:r>
              <a:rPr dirty="0" sz="18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type</a:t>
            </a:r>
            <a:r>
              <a:rPr dirty="0" sz="18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of</a:t>
            </a:r>
            <a:r>
              <a:rPr dirty="0" sz="1800" spc="-2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guard</a:t>
            </a:r>
            <a:r>
              <a:rPr dirty="0" sz="1800" spc="-2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would</a:t>
            </a:r>
            <a:r>
              <a:rPr dirty="0" sz="1800" spc="-2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you</a:t>
            </a:r>
            <a:r>
              <a:rPr dirty="0" sz="18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like</a:t>
            </a:r>
            <a:r>
              <a:rPr dirty="0" sz="18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create? </a:t>
            </a:r>
            <a:r>
              <a:rPr dirty="0" sz="1800" spc="-10">
                <a:solidFill>
                  <a:srgbClr val="55B6C2"/>
                </a:solidFill>
                <a:latin typeface="Consolas"/>
                <a:cs typeface="Consolas"/>
              </a:rPr>
              <a:t>CanActivate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8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src/app/authorization.guard.spec.ts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(497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9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src/app/authorization.guard.ts</a:t>
            </a:r>
            <a:r>
              <a:rPr dirty="0" sz="1800" spc="-7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(137</a:t>
            </a:r>
            <a:r>
              <a:rPr dirty="0" sz="1800" spc="-8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855976"/>
            <a:ext cx="10427335" cy="2032000"/>
          </a:xfrm>
          <a:custGeom>
            <a:avLst/>
            <a:gdLst/>
            <a:ahLst/>
            <a:cxnLst/>
            <a:rect l="l" t="t" r="r" b="b"/>
            <a:pathLst>
              <a:path w="10427335" h="2032000">
                <a:moveTo>
                  <a:pt x="0" y="2031492"/>
                </a:moveTo>
                <a:lnTo>
                  <a:pt x="10427208" y="2031492"/>
                </a:lnTo>
                <a:lnTo>
                  <a:pt x="10427208" y="0"/>
                </a:lnTo>
                <a:lnTo>
                  <a:pt x="0" y="0"/>
                </a:lnTo>
                <a:lnTo>
                  <a:pt x="0" y="203149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82396" y="2855976"/>
          <a:ext cx="7219950" cy="868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780"/>
                <a:gridCol w="250825"/>
                <a:gridCol w="5986780"/>
              </a:tblGrid>
              <a:tr h="342265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inject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/>
                </a:tc>
              </a:tr>
              <a:tr h="27432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CanActivateFn,</a:t>
                      </a:r>
                      <a:r>
                        <a:rPr dirty="0"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Router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'@angular/router'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AuthService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'./auth.service'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3973195"/>
            <a:ext cx="854964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authorizationGuard: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CanActivateFn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(route,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state)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60"/>
              <a:t> </a:t>
            </a:r>
            <a:r>
              <a:rPr dirty="0" spc="120"/>
              <a:t>A</a:t>
            </a:r>
            <a:r>
              <a:rPr dirty="0" spc="-60"/>
              <a:t> </a:t>
            </a:r>
            <a:r>
              <a:rPr dirty="0" spc="-10"/>
              <a:t>GUARD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3971925"/>
          </a:xfrm>
          <a:custGeom>
            <a:avLst/>
            <a:gdLst/>
            <a:ahLst/>
            <a:cxnLst/>
            <a:rect l="l" t="t" r="r" b="b"/>
            <a:pathLst>
              <a:path w="10427335" h="3971925">
                <a:moveTo>
                  <a:pt x="0" y="3971544"/>
                </a:moveTo>
                <a:lnTo>
                  <a:pt x="10427208" y="3971544"/>
                </a:lnTo>
                <a:lnTo>
                  <a:pt x="10427208" y="0"/>
                </a:lnTo>
                <a:lnTo>
                  <a:pt x="0" y="0"/>
                </a:lnTo>
                <a:lnTo>
                  <a:pt x="0" y="397154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2396" y="1565147"/>
          <a:ext cx="7219950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780"/>
                <a:gridCol w="250825"/>
                <a:gridCol w="5986780"/>
              </a:tblGrid>
              <a:tr h="342900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inject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/>
                </a:tc>
              </a:tr>
              <a:tr h="27432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CanActivateFn,</a:t>
                      </a:r>
                      <a:r>
                        <a:rPr dirty="0"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Router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'@angular/router'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AuthService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'./auth.service'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962050" y="2683002"/>
            <a:ext cx="854964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authorizationGuard: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CanActivateFn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(route,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state)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inject(Router);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inject(AuthService);</a:t>
            </a:r>
            <a:endParaRPr sz="1800">
              <a:latin typeface="Consolas"/>
              <a:cs typeface="Consolas"/>
            </a:endParaRPr>
          </a:p>
          <a:p>
            <a:pPr marL="512445" marR="3885565" indent="-250190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(authService.isUserLoggedIn()){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//user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authorized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router.navigateByUrl(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"/login"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//redirect</a:t>
            </a:r>
            <a:r>
              <a:rPr dirty="0" sz="1800" spc="-6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login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61897" y="4603191"/>
            <a:ext cx="47898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//user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authorized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2050" y="4878070"/>
            <a:ext cx="4013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676390" y="4731765"/>
            <a:ext cx="4820920" cy="1767205"/>
            <a:chOff x="6676390" y="4731765"/>
            <a:chExt cx="4820920" cy="1767205"/>
          </a:xfrm>
        </p:grpSpPr>
        <p:sp>
          <p:nvSpPr>
            <p:cNvPr id="9" name="object 9" descr=""/>
            <p:cNvSpPr/>
            <p:nvPr/>
          </p:nvSpPr>
          <p:spPr>
            <a:xfrm>
              <a:off x="6682740" y="4738115"/>
              <a:ext cx="4808220" cy="1754505"/>
            </a:xfrm>
            <a:custGeom>
              <a:avLst/>
              <a:gdLst/>
              <a:ahLst/>
              <a:cxnLst/>
              <a:rect l="l" t="t" r="r" b="b"/>
              <a:pathLst>
                <a:path w="4808220" h="1754504">
                  <a:moveTo>
                    <a:pt x="4808220" y="0"/>
                  </a:moveTo>
                  <a:lnTo>
                    <a:pt x="0" y="0"/>
                  </a:lnTo>
                  <a:lnTo>
                    <a:pt x="0" y="1754124"/>
                  </a:lnTo>
                  <a:lnTo>
                    <a:pt x="4808220" y="1754124"/>
                  </a:lnTo>
                  <a:lnTo>
                    <a:pt x="4808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82740" y="4738115"/>
              <a:ext cx="4808220" cy="1754505"/>
            </a:xfrm>
            <a:custGeom>
              <a:avLst/>
              <a:gdLst/>
              <a:ahLst/>
              <a:cxnLst/>
              <a:rect l="l" t="t" r="r" b="b"/>
              <a:pathLst>
                <a:path w="4808220" h="1754504">
                  <a:moveTo>
                    <a:pt x="0" y="1754124"/>
                  </a:moveTo>
                  <a:lnTo>
                    <a:pt x="4808220" y="1754124"/>
                  </a:lnTo>
                  <a:lnTo>
                    <a:pt x="4808220" y="0"/>
                  </a:lnTo>
                  <a:lnTo>
                    <a:pt x="0" y="0"/>
                  </a:lnTo>
                  <a:lnTo>
                    <a:pt x="0" y="1754124"/>
                  </a:lnTo>
                  <a:close/>
                </a:path>
              </a:pathLst>
            </a:custGeom>
            <a:ln w="12699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762368" y="4758944"/>
            <a:ext cx="441261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188595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app.routes.ts </a:t>
            </a:r>
            <a:r>
              <a:rPr dirty="0" sz="1800">
                <a:latin typeface="Consolas"/>
                <a:cs typeface="Consolas"/>
              </a:rPr>
              <a:t>path: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"counter"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"Counter"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 marR="50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component: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CounterPageComponent, </a:t>
            </a:r>
            <a:r>
              <a:rPr dirty="0" sz="1800">
                <a:latin typeface="Consolas"/>
                <a:cs typeface="Consolas"/>
              </a:rPr>
              <a:t>canActivate: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[authorizationGuard]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9568" y="5964428"/>
            <a:ext cx="775715" cy="775792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190"/>
              <a:t> </a:t>
            </a:r>
            <a:r>
              <a:rPr dirty="0" spc="-10"/>
              <a:t>GUARDS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10255250" cy="3672204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Guard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boolean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UrlTree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endParaRPr sz="28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0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2000" spc="-5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means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guard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satisfied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navigation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proceed</a:t>
            </a:r>
            <a:endParaRPr sz="24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00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2000" spc="-5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guard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satisfied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action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performed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UrlTree</a:t>
            </a:r>
            <a:r>
              <a:rPr dirty="0" sz="24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means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redirect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guards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always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UrlTree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redirect,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Router.navigate()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previous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slide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guards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parallel,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redirect,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race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conditions!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1003681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70"/>
              <a:t>HTTPCLIENT</a:t>
            </a:r>
            <a:r>
              <a:rPr dirty="0" sz="4800" spc="-20"/>
              <a:t> </a:t>
            </a:r>
            <a:r>
              <a:rPr dirty="0" sz="4800" spc="170"/>
              <a:t>AND</a:t>
            </a:r>
            <a:r>
              <a:rPr dirty="0" sz="4800" spc="10"/>
              <a:t> </a:t>
            </a:r>
            <a:r>
              <a:rPr dirty="0" sz="4800" spc="-155"/>
              <a:t>INTERCEPTORS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HTTPCLIENT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33145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HttpClient</a:t>
            </a:r>
            <a:r>
              <a:rPr dirty="0" sz="2800" spc="-3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service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HttpClient,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configure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injection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867911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app.config.ts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appConfig: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ApplicationConfig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providers: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[</a:t>
            </a:r>
            <a:endParaRPr sz="1800">
              <a:latin typeface="Consolas"/>
              <a:cs typeface="Consolas"/>
            </a:endParaRPr>
          </a:p>
          <a:p>
            <a:pPr marL="591820" marR="1739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provideHttpClient(),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//add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providers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using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dedicated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helper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 </a:t>
            </a:r>
            <a:r>
              <a:rPr dirty="0" sz="1800" spc="-10">
                <a:latin typeface="Consolas"/>
                <a:cs typeface="Consolas"/>
              </a:rPr>
              <a:t>provideRouter(routes)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]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190"/>
              <a:t> </a:t>
            </a:r>
            <a:r>
              <a:rPr dirty="0" spc="-114"/>
              <a:t>HTTPCLIENT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93630" cy="12204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HttpClient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instantiated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services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inject()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class 	constructor)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037332"/>
            <a:ext cx="1042733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HttpClient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'@angular/common/http'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Injectable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7820659" indent="-25019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@Injectable({ </a:t>
            </a:r>
            <a:r>
              <a:rPr dirty="0" sz="1800">
                <a:latin typeface="Consolas"/>
                <a:cs typeface="Consolas"/>
              </a:rPr>
              <a:t>providedIn: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'root'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RestBackendService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private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HttpClient)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//This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service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can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now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make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HTTP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requests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via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`this.http`.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MAKING</a:t>
            </a:r>
            <a:r>
              <a:rPr dirty="0" spc="-90"/>
              <a:t> </a:t>
            </a:r>
            <a:r>
              <a:rPr dirty="0" spc="-20"/>
              <a:t>HTTP</a:t>
            </a:r>
            <a:r>
              <a:rPr dirty="0" spc="-75"/>
              <a:t> </a:t>
            </a:r>
            <a:r>
              <a:rPr dirty="0" spc="-80"/>
              <a:t>REQUESTS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470660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0000FF"/>
                </a:solidFill>
              </a:rPr>
              <a:t>@Component</a:t>
            </a:r>
            <a:r>
              <a:rPr dirty="0" spc="-10"/>
              <a:t>({</a:t>
            </a:r>
          </a:p>
          <a:p>
            <a:pPr marL="262255" marR="5772150">
              <a:lnSpc>
                <a:spcPct val="100000"/>
              </a:lnSpc>
              <a:spcBef>
                <a:spcPts val="5"/>
              </a:spcBef>
            </a:pPr>
            <a:r>
              <a:rPr dirty="0"/>
              <a:t>selector:</a:t>
            </a:r>
            <a:r>
              <a:rPr dirty="0" spc="5"/>
              <a:t> </a:t>
            </a:r>
            <a:r>
              <a:rPr dirty="0" spc="-10">
                <a:solidFill>
                  <a:srgbClr val="A21515"/>
                </a:solidFill>
              </a:rPr>
              <a:t>'app-cat-facts'</a:t>
            </a:r>
            <a:r>
              <a:rPr dirty="0" spc="-10"/>
              <a:t>, </a:t>
            </a:r>
            <a:r>
              <a:rPr dirty="0"/>
              <a:t>standalone:</a:t>
            </a:r>
            <a:r>
              <a:rPr dirty="0" spc="-45"/>
              <a:t> </a:t>
            </a:r>
            <a:r>
              <a:rPr dirty="0" spc="-10">
                <a:solidFill>
                  <a:srgbClr val="0000FF"/>
                </a:solidFill>
              </a:rPr>
              <a:t>true</a:t>
            </a:r>
            <a:r>
              <a:rPr dirty="0" spc="-10"/>
              <a:t>,</a:t>
            </a:r>
          </a:p>
          <a:p>
            <a:pPr marL="262255">
              <a:lnSpc>
                <a:spcPct val="100000"/>
              </a:lnSpc>
            </a:pPr>
            <a:r>
              <a:rPr dirty="0"/>
              <a:t>template:</a:t>
            </a:r>
            <a:r>
              <a:rPr dirty="0" spc="-40"/>
              <a:t> </a:t>
            </a:r>
            <a:r>
              <a:rPr dirty="0">
                <a:solidFill>
                  <a:srgbClr val="A21515"/>
                </a:solidFill>
              </a:rPr>
              <a:t>`</a:t>
            </a:r>
            <a:r>
              <a:rPr dirty="0">
                <a:solidFill>
                  <a:srgbClr val="800000"/>
                </a:solidFill>
              </a:rPr>
              <a:t>&lt;h1&gt;</a:t>
            </a:r>
            <a:r>
              <a:rPr dirty="0"/>
              <a:t>Cat</a:t>
            </a:r>
            <a:r>
              <a:rPr dirty="0" spc="-30"/>
              <a:t> </a:t>
            </a:r>
            <a:r>
              <a:rPr dirty="0" spc="-10"/>
              <a:t>Facts</a:t>
            </a:r>
            <a:r>
              <a:rPr dirty="0" spc="-10">
                <a:solidFill>
                  <a:srgbClr val="800000"/>
                </a:solidFill>
              </a:rPr>
              <a:t>&lt;/h1&gt;</a:t>
            </a:r>
          </a:p>
          <a:p>
            <a:pPr marL="512445">
              <a:lnSpc>
                <a:spcPct val="100000"/>
              </a:lnSpc>
            </a:pPr>
            <a:r>
              <a:rPr dirty="0">
                <a:solidFill>
                  <a:srgbClr val="800000"/>
                </a:solidFill>
              </a:rPr>
              <a:t>&lt;button</a:t>
            </a:r>
            <a:r>
              <a:rPr dirty="0" spc="-25">
                <a:solidFill>
                  <a:srgbClr val="800000"/>
                </a:solidFill>
              </a:rPr>
              <a:t> </a:t>
            </a:r>
            <a:r>
              <a:rPr dirty="0">
                <a:solidFill>
                  <a:srgbClr val="E40000"/>
                </a:solidFill>
              </a:rPr>
              <a:t>(click)</a:t>
            </a:r>
            <a:r>
              <a:rPr dirty="0"/>
              <a:t>=</a:t>
            </a:r>
            <a:r>
              <a:rPr dirty="0">
                <a:solidFill>
                  <a:srgbClr val="A21515"/>
                </a:solidFill>
              </a:rPr>
              <a:t>"</a:t>
            </a:r>
            <a:r>
              <a:rPr dirty="0"/>
              <a:t>loadCatFact()</a:t>
            </a:r>
            <a:r>
              <a:rPr dirty="0">
                <a:solidFill>
                  <a:srgbClr val="A21515"/>
                </a:solidFill>
              </a:rPr>
              <a:t>"</a:t>
            </a:r>
            <a:r>
              <a:rPr dirty="0">
                <a:solidFill>
                  <a:srgbClr val="800000"/>
                </a:solidFill>
              </a:rPr>
              <a:t>&gt;</a:t>
            </a:r>
            <a:r>
              <a:rPr dirty="0"/>
              <a:t>Click</a:t>
            </a:r>
            <a:r>
              <a:rPr dirty="0" spc="-30"/>
              <a:t> </a:t>
            </a:r>
            <a:r>
              <a:rPr dirty="0"/>
              <a:t>here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load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cat</a:t>
            </a:r>
            <a:r>
              <a:rPr dirty="0" spc="-25"/>
              <a:t> </a:t>
            </a:r>
            <a:r>
              <a:rPr dirty="0" spc="-10"/>
              <a:t>fact</a:t>
            </a:r>
            <a:r>
              <a:rPr dirty="0" spc="-10">
                <a:solidFill>
                  <a:srgbClr val="800000"/>
                </a:solidFill>
              </a:rPr>
              <a:t>&lt;/button&gt;</a:t>
            </a:r>
          </a:p>
          <a:p>
            <a:pPr marL="512445">
              <a:lnSpc>
                <a:spcPct val="100000"/>
              </a:lnSpc>
            </a:pPr>
            <a:r>
              <a:rPr dirty="0" spc="-10">
                <a:solidFill>
                  <a:srgbClr val="800000"/>
                </a:solidFill>
              </a:rPr>
              <a:t>&lt;p&gt;</a:t>
            </a:r>
            <a:r>
              <a:rPr dirty="0" spc="-10"/>
              <a:t>{{catFact}}</a:t>
            </a:r>
            <a:r>
              <a:rPr dirty="0" spc="-10">
                <a:solidFill>
                  <a:srgbClr val="800000"/>
                </a:solidFill>
              </a:rPr>
              <a:t>&lt;/p&gt;</a:t>
            </a:r>
            <a:r>
              <a:rPr dirty="0" spc="-10">
                <a:solidFill>
                  <a:srgbClr val="A21515"/>
                </a:solidFill>
              </a:rPr>
              <a:t>`</a:t>
            </a:r>
          </a:p>
          <a:p>
            <a:pPr marL="12700">
              <a:lnSpc>
                <a:spcPct val="100000"/>
              </a:lnSpc>
            </a:pPr>
            <a:r>
              <a:rPr dirty="0" spc="-25"/>
              <a:t>})</a:t>
            </a:r>
          </a:p>
          <a:p>
            <a:pPr marL="262255" marR="4142740" indent="-250190">
              <a:lnSpc>
                <a:spcPct val="100000"/>
              </a:lnSpc>
            </a:pPr>
            <a:r>
              <a:rPr dirty="0">
                <a:solidFill>
                  <a:srgbClr val="0000FF"/>
                </a:solidFill>
              </a:rPr>
              <a:t>export</a:t>
            </a:r>
            <a:r>
              <a:rPr dirty="0" spc="-6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class</a:t>
            </a:r>
            <a:r>
              <a:rPr dirty="0" spc="-30">
                <a:solidFill>
                  <a:srgbClr val="0000FF"/>
                </a:solidFill>
              </a:rPr>
              <a:t> </a:t>
            </a:r>
            <a:r>
              <a:rPr dirty="0"/>
              <a:t>CatFactsComponent</a:t>
            </a:r>
            <a:r>
              <a:rPr dirty="0" spc="-40"/>
              <a:t> </a:t>
            </a:r>
            <a:r>
              <a:rPr dirty="0" spc="-50"/>
              <a:t>{ </a:t>
            </a:r>
            <a:r>
              <a:rPr dirty="0">
                <a:solidFill>
                  <a:srgbClr val="0000FF"/>
                </a:solidFill>
              </a:rPr>
              <a:t>constructor</a:t>
            </a:r>
            <a:r>
              <a:rPr dirty="0"/>
              <a:t>(</a:t>
            </a:r>
            <a:r>
              <a:rPr dirty="0">
                <a:solidFill>
                  <a:srgbClr val="0000FF"/>
                </a:solidFill>
              </a:rPr>
              <a:t>private</a:t>
            </a:r>
            <a:r>
              <a:rPr dirty="0" spc="-65">
                <a:solidFill>
                  <a:srgbClr val="0000FF"/>
                </a:solidFill>
              </a:rPr>
              <a:t> </a:t>
            </a:r>
            <a:r>
              <a:rPr dirty="0"/>
              <a:t>http:</a:t>
            </a:r>
            <a:r>
              <a:rPr dirty="0" spc="-55"/>
              <a:t> </a:t>
            </a:r>
            <a:r>
              <a:rPr dirty="0" spc="-10"/>
              <a:t>HttpClient){} </a:t>
            </a:r>
            <a:r>
              <a:rPr dirty="0"/>
              <a:t>catFact:</a:t>
            </a:r>
            <a:r>
              <a:rPr dirty="0" spc="-30"/>
              <a:t> </a:t>
            </a:r>
            <a:r>
              <a:rPr dirty="0"/>
              <a:t>string</a:t>
            </a:r>
            <a:r>
              <a:rPr dirty="0" spc="-20"/>
              <a:t> </a:t>
            </a:r>
            <a:r>
              <a:rPr dirty="0"/>
              <a:t>=</a:t>
            </a:r>
            <a:r>
              <a:rPr dirty="0" spc="-15"/>
              <a:t> </a:t>
            </a:r>
            <a:r>
              <a:rPr dirty="0" spc="-25">
                <a:solidFill>
                  <a:srgbClr val="A21515"/>
                </a:solidFill>
              </a:rPr>
              <a:t>""</a:t>
            </a:r>
            <a:r>
              <a:rPr dirty="0" spc="-25"/>
              <a:t>;</a:t>
            </a:r>
          </a:p>
          <a:p>
            <a:pPr marL="262255">
              <a:lnSpc>
                <a:spcPct val="100000"/>
              </a:lnSpc>
            </a:pPr>
            <a:r>
              <a:rPr dirty="0" spc="-10"/>
              <a:t>loadCatFact(){</a:t>
            </a:r>
          </a:p>
          <a:p>
            <a:pPr marL="512445">
              <a:lnSpc>
                <a:spcPct val="100000"/>
              </a:lnSpc>
            </a:pPr>
            <a:r>
              <a:rPr dirty="0">
                <a:solidFill>
                  <a:srgbClr val="0000FF"/>
                </a:solidFill>
              </a:rPr>
              <a:t>let</a:t>
            </a:r>
            <a:r>
              <a:rPr dirty="0" spc="-5">
                <a:solidFill>
                  <a:srgbClr val="0000FF"/>
                </a:solidFill>
              </a:rPr>
              <a:t> </a:t>
            </a:r>
            <a:r>
              <a:rPr dirty="0"/>
              <a:t>url</a:t>
            </a:r>
            <a:r>
              <a:rPr dirty="0" spc="5"/>
              <a:t> </a:t>
            </a:r>
            <a:r>
              <a:rPr dirty="0"/>
              <a:t>=</a:t>
            </a:r>
            <a:r>
              <a:rPr dirty="0" spc="-5"/>
              <a:t> </a:t>
            </a:r>
            <a:r>
              <a:rPr dirty="0" spc="-10">
                <a:solidFill>
                  <a:srgbClr val="A21515"/>
                </a:solidFill>
              </a:rPr>
              <a:t>"https://cat-fact.herokuapp.com/facts/random"</a:t>
            </a:r>
            <a:r>
              <a:rPr dirty="0" spc="-10"/>
              <a:t>;</a:t>
            </a:r>
          </a:p>
          <a:p>
            <a:pPr marL="763905" marR="2010410" indent="-25146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000FF"/>
                </a:solidFill>
              </a:rPr>
              <a:t>this</a:t>
            </a:r>
            <a:r>
              <a:rPr dirty="0"/>
              <a:t>.http.get&lt;{text:</a:t>
            </a:r>
            <a:r>
              <a:rPr dirty="0" spc="-65"/>
              <a:t> </a:t>
            </a:r>
            <a:r>
              <a:rPr dirty="0"/>
              <a:t>string}&gt;(url).subscribe(data</a:t>
            </a:r>
            <a:r>
              <a:rPr dirty="0" spc="-60"/>
              <a:t> </a:t>
            </a:r>
            <a:r>
              <a:rPr dirty="0">
                <a:solidFill>
                  <a:srgbClr val="0000FF"/>
                </a:solidFill>
              </a:rPr>
              <a:t>=&gt;</a:t>
            </a:r>
            <a:r>
              <a:rPr dirty="0" spc="-60">
                <a:solidFill>
                  <a:srgbClr val="0000FF"/>
                </a:solidFill>
              </a:rPr>
              <a:t> </a:t>
            </a:r>
            <a:r>
              <a:rPr dirty="0" spc="-50"/>
              <a:t>{ </a:t>
            </a:r>
            <a:r>
              <a:rPr dirty="0">
                <a:solidFill>
                  <a:srgbClr val="0000FF"/>
                </a:solidFill>
              </a:rPr>
              <a:t>this</a:t>
            </a:r>
            <a:r>
              <a:rPr dirty="0"/>
              <a:t>.catFact</a:t>
            </a:r>
            <a:r>
              <a:rPr dirty="0" spc="-40"/>
              <a:t> </a:t>
            </a:r>
            <a:r>
              <a:rPr dirty="0"/>
              <a:t>=</a:t>
            </a:r>
            <a:r>
              <a:rPr dirty="0" spc="-20"/>
              <a:t> </a:t>
            </a:r>
            <a:r>
              <a:rPr dirty="0" spc="-10"/>
              <a:t>data.text;</a:t>
            </a:r>
          </a:p>
          <a:p>
            <a:pPr marL="512445">
              <a:lnSpc>
                <a:spcPct val="100000"/>
              </a:lnSpc>
            </a:pPr>
            <a:r>
              <a:rPr dirty="0" spc="-25"/>
              <a:t>});</a:t>
            </a:r>
          </a:p>
          <a:p>
            <a:pPr marL="262255">
              <a:lnSpc>
                <a:spcPct val="100000"/>
              </a:lnSpc>
            </a:pPr>
            <a:r>
              <a:rPr dirty="0" spc="-50"/>
              <a:t>}</a:t>
            </a:r>
          </a:p>
          <a:p>
            <a:pPr marL="12700">
              <a:lnSpc>
                <a:spcPct val="100000"/>
              </a:lnSpc>
            </a:pPr>
            <a:r>
              <a:rPr dirty="0" spc="-50"/>
              <a:t>}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60"/>
              <a:t> </a:t>
            </a:r>
            <a:r>
              <a:rPr dirty="0" spc="-120"/>
              <a:t>HTTPCLIENT:</a:t>
            </a:r>
            <a:r>
              <a:rPr dirty="0" spc="40"/>
              <a:t> </a:t>
            </a:r>
            <a:r>
              <a:rPr dirty="0" spc="-40"/>
              <a:t>OBSERVABLES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674225" cy="388112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HttpClient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corresponding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HTTP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verbs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b="1">
                <a:solidFill>
                  <a:srgbClr val="004352"/>
                </a:solidFill>
                <a:uFill>
                  <a:solidFill>
                    <a:srgbClr val="004352"/>
                  </a:solidFill>
                </a:uFill>
                <a:latin typeface="Calibri"/>
                <a:cs typeface="Calibri"/>
                <a:hlinkClick r:id="rId2"/>
              </a:rPr>
              <a:t>Observable</a:t>
            </a:r>
            <a:r>
              <a:rPr dirty="0" sz="2800" spc="-55" b="1">
                <a:solidFill>
                  <a:srgbClr val="00435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4352"/>
                </a:solidFill>
                <a:uFill>
                  <a:solidFill>
                    <a:srgbClr val="004352"/>
                  </a:solidFill>
                </a:uFill>
                <a:latin typeface="Calibri"/>
                <a:cs typeface="Calibri"/>
                <a:hlinkClick r:id="rId2"/>
              </a:rPr>
              <a:t>RxJS</a:t>
            </a:r>
            <a:r>
              <a:rPr dirty="0" u="sng" sz="2800" spc="-65">
                <a:solidFill>
                  <a:srgbClr val="004352"/>
                </a:solidFill>
                <a:uFill>
                  <a:solidFill>
                    <a:srgbClr val="00435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4352"/>
                </a:solidFill>
                <a:uFill>
                  <a:solidFill>
                    <a:srgbClr val="004352"/>
                  </a:solidFill>
                </a:uFill>
                <a:latin typeface="Calibri"/>
                <a:cs typeface="Calibri"/>
                <a:hlinkClick r:id="rId2"/>
              </a:rPr>
              <a:t>library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Reactive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Extensions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Library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Observables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async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Observable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Promises.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nutshell:</a:t>
            </a:r>
            <a:endParaRPr sz="2800">
              <a:latin typeface="Calibri"/>
              <a:cs typeface="Calibri"/>
            </a:endParaRPr>
          </a:p>
          <a:p>
            <a:pPr lvl="1" marL="696595" marR="1168400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Promises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resolve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(or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reject)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once.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words,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they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asynchronously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emit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(or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error)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Observables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asynchronously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emit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4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4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2583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PROMISES:</a:t>
            </a:r>
            <a:r>
              <a:rPr dirty="0" spc="-125"/>
              <a:t> </a:t>
            </a:r>
            <a:r>
              <a:rPr dirty="0" spc="-25"/>
              <a:t>REDUX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8173084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promise: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Promise&lt;number&gt;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Promise((resolve,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reject)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Math.random();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setTimeout(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(num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0.5</a:t>
            </a:r>
            <a:r>
              <a:rPr dirty="0" sz="1800" spc="-10">
                <a:latin typeface="Consolas"/>
                <a:cs typeface="Consolas"/>
              </a:rPr>
              <a:t>){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resolve(num);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reject(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`You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were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unlucky!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num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2000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//run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callback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2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seconds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promise.then(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(data)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`Promise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resolved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returning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data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}).catch(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`Promise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rejected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with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err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dirty="0" spc="-15"/>
              <a:t> </a:t>
            </a:r>
            <a:r>
              <a:rPr dirty="0" spc="-145"/>
              <a:t>WITH</a:t>
            </a:r>
            <a:r>
              <a:rPr dirty="0" spc="-30"/>
              <a:t> </a:t>
            </a:r>
            <a:r>
              <a:rPr dirty="0" spc="-50"/>
              <a:t>OBSERVABLES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2096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Promises,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callbacks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when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events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occur.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subscribing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Observable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16280" y="3127248"/>
            <a:ext cx="10759440" cy="3139440"/>
          </a:xfrm>
          <a:custGeom>
            <a:avLst/>
            <a:gdLst/>
            <a:ahLst/>
            <a:cxnLst/>
            <a:rect l="l" t="t" r="r" b="b"/>
            <a:pathLst>
              <a:path w="10759440" h="3139440">
                <a:moveTo>
                  <a:pt x="0" y="3139440"/>
                </a:moveTo>
                <a:lnTo>
                  <a:pt x="10759440" y="3139440"/>
                </a:lnTo>
                <a:lnTo>
                  <a:pt x="10759440" y="0"/>
                </a:lnTo>
                <a:lnTo>
                  <a:pt x="0" y="0"/>
                </a:lnTo>
                <a:lnTo>
                  <a:pt x="0" y="313944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95629" y="3147821"/>
            <a:ext cx="10553065" cy="304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175768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observable.subscribe({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//provide</a:t>
            </a:r>
            <a:r>
              <a:rPr dirty="0" sz="1800" spc="-7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6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Subscriber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object </a:t>
            </a:r>
            <a:r>
              <a:rPr dirty="0" sz="1800">
                <a:latin typeface="Consolas"/>
                <a:cs typeface="Consolas"/>
              </a:rPr>
              <a:t>next(value){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//executed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when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value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emitted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Observable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`Observable</a:t>
            </a:r>
            <a:r>
              <a:rPr dirty="0" sz="1800" spc="-9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emitted</a:t>
            </a:r>
            <a:r>
              <a:rPr dirty="0" sz="1800" spc="-7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value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value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512445" marR="213487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error(err){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//executed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when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emitted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Observable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`Observable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emitted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Error: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err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complete(){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//executed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when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Observable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done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(will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emit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any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more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values)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"Observable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finished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emitting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values"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algn="r" marR="1015746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1015746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60"/>
              <a:t> </a:t>
            </a:r>
            <a:r>
              <a:rPr dirty="0" spc="204"/>
              <a:t>AN</a:t>
            </a:r>
            <a:r>
              <a:rPr dirty="0" spc="-70"/>
              <a:t> </a:t>
            </a:r>
            <a:r>
              <a:rPr dirty="0" spc="-40"/>
              <a:t>OBSERVABLE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19335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argument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Observable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constructor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subscription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484120"/>
            <a:ext cx="10427335" cy="36931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"rxjs"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2265" marR="2806065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Observable&lt;number&gt;(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(subscriber)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setTimeout(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Math.random();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(num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0.5</a:t>
            </a:r>
            <a:r>
              <a:rPr dirty="0" sz="1800" spc="-10">
                <a:latin typeface="Consolas"/>
                <a:cs typeface="Consolas"/>
              </a:rPr>
              <a:t>){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subscriber.next(num);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subscriber.error(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`You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were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unlucky!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num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subscriber.complete();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2000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60"/>
              <a:t> </a:t>
            </a:r>
            <a:r>
              <a:rPr dirty="0" spc="204"/>
              <a:t>AN</a:t>
            </a:r>
            <a:r>
              <a:rPr dirty="0" spc="-70"/>
              <a:t> </a:t>
            </a:r>
            <a:r>
              <a:rPr dirty="0" spc="-40"/>
              <a:t>OBSERVABLE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2586355"/>
          </a:xfrm>
          <a:custGeom>
            <a:avLst/>
            <a:gdLst/>
            <a:ahLst/>
            <a:cxnLst/>
            <a:rect l="l" t="t" r="r" b="b"/>
            <a:pathLst>
              <a:path w="10427335" h="2586354">
                <a:moveTo>
                  <a:pt x="0" y="2586228"/>
                </a:moveTo>
                <a:lnTo>
                  <a:pt x="10427208" y="2586228"/>
                </a:lnTo>
                <a:lnTo>
                  <a:pt x="10427208" y="0"/>
                </a:lnTo>
                <a:lnTo>
                  <a:pt x="0" y="0"/>
                </a:lnTo>
                <a:lnTo>
                  <a:pt x="0" y="258622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340"/>
            <a:ext cx="9050020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"rxjs"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2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Observable&lt;number&gt;(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(subscriber)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}); </a:t>
            </a:r>
            <a:r>
              <a:rPr dirty="0" sz="1800" spc="-10">
                <a:latin typeface="Consolas"/>
                <a:cs typeface="Consolas"/>
              </a:rPr>
              <a:t>observable.subscribe({</a:t>
            </a:r>
            <a:endParaRPr sz="1800">
              <a:latin typeface="Consolas"/>
              <a:cs typeface="Consolas"/>
            </a:endParaRPr>
          </a:p>
          <a:p>
            <a:pPr algn="just" marL="262255" marR="88265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next(value){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`Observer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emitted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value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value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 </a:t>
            </a:r>
            <a:r>
              <a:rPr dirty="0" sz="1800" spc="-25">
                <a:latin typeface="Consolas"/>
                <a:cs typeface="Consolas"/>
              </a:rPr>
              <a:t>)}, </a:t>
            </a:r>
            <a:r>
              <a:rPr dirty="0" sz="1800">
                <a:latin typeface="Consolas"/>
                <a:cs typeface="Consolas"/>
              </a:rPr>
              <a:t>error(err)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`Observer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emitted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Error: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err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)}, </a:t>
            </a:r>
            <a:r>
              <a:rPr dirty="0" sz="1800">
                <a:latin typeface="Consolas"/>
                <a:cs typeface="Consolas"/>
              </a:rPr>
              <a:t>complete()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"Observer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finished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emitting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values"</a:t>
            </a:r>
            <a:r>
              <a:rPr dirty="0" sz="1800" spc="-10">
                <a:latin typeface="Consolas"/>
                <a:cs typeface="Consolas"/>
              </a:rPr>
              <a:t>)}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82396" y="4235196"/>
            <a:ext cx="10427335" cy="2030095"/>
          </a:xfrm>
          <a:custGeom>
            <a:avLst/>
            <a:gdLst/>
            <a:ahLst/>
            <a:cxnLst/>
            <a:rect l="l" t="t" r="r" b="b"/>
            <a:pathLst>
              <a:path w="10427335" h="2030095">
                <a:moveTo>
                  <a:pt x="10427208" y="0"/>
                </a:moveTo>
                <a:lnTo>
                  <a:pt x="0" y="0"/>
                </a:lnTo>
                <a:lnTo>
                  <a:pt x="0" y="2029967"/>
                </a:lnTo>
                <a:lnTo>
                  <a:pt x="10427208" y="2029967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62050" y="4256278"/>
            <a:ext cx="7796530" cy="1946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54940">
              <a:lnSpc>
                <a:spcPct val="99700"/>
              </a:lnSpc>
              <a:spcBef>
                <a:spcPts val="10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D/O/T/W/2/e/2/a/src</a:t>
            </a:r>
            <a:r>
              <a:rPr dirty="0" sz="1800" spc="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.\observables_example.ts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D/O/T/W/2/e/2/a/src $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node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.\observables_example.js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emitted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value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0.33397894647355697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finished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emitting</a:t>
            </a:r>
            <a:r>
              <a:rPr dirty="0" sz="1800" spc="-7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values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D/O/T/W/2/e/2/a/src $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node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.\observables_example.js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emitted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Error: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You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were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unlucky!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0.620240538767127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6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09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D/O/T/W/2/e/2/a/src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200133" y="4679950"/>
            <a:ext cx="2631440" cy="1140460"/>
            <a:chOff x="9200133" y="4679950"/>
            <a:chExt cx="2631440" cy="1140460"/>
          </a:xfrm>
        </p:grpSpPr>
        <p:sp>
          <p:nvSpPr>
            <p:cNvPr id="8" name="object 8" descr=""/>
            <p:cNvSpPr/>
            <p:nvPr/>
          </p:nvSpPr>
          <p:spPr>
            <a:xfrm>
              <a:off x="9206483" y="4686300"/>
              <a:ext cx="2618740" cy="1127760"/>
            </a:xfrm>
            <a:custGeom>
              <a:avLst/>
              <a:gdLst/>
              <a:ahLst/>
              <a:cxnLst/>
              <a:rect l="l" t="t" r="r" b="b"/>
              <a:pathLst>
                <a:path w="2618740" h="1127760">
                  <a:moveTo>
                    <a:pt x="2430272" y="0"/>
                  </a:moveTo>
                  <a:lnTo>
                    <a:pt x="187960" y="0"/>
                  </a:lnTo>
                  <a:lnTo>
                    <a:pt x="138009" y="6717"/>
                  </a:lnTo>
                  <a:lnTo>
                    <a:pt x="93114" y="25672"/>
                  </a:lnTo>
                  <a:lnTo>
                    <a:pt x="55070" y="55070"/>
                  </a:lnTo>
                  <a:lnTo>
                    <a:pt x="25672" y="93114"/>
                  </a:lnTo>
                  <a:lnTo>
                    <a:pt x="6717" y="138009"/>
                  </a:lnTo>
                  <a:lnTo>
                    <a:pt x="0" y="187960"/>
                  </a:lnTo>
                  <a:lnTo>
                    <a:pt x="0" y="939800"/>
                  </a:lnTo>
                  <a:lnTo>
                    <a:pt x="6717" y="989768"/>
                  </a:lnTo>
                  <a:lnTo>
                    <a:pt x="25672" y="1034668"/>
                  </a:lnTo>
                  <a:lnTo>
                    <a:pt x="55070" y="1072708"/>
                  </a:lnTo>
                  <a:lnTo>
                    <a:pt x="93114" y="1102098"/>
                  </a:lnTo>
                  <a:lnTo>
                    <a:pt x="138009" y="1121046"/>
                  </a:lnTo>
                  <a:lnTo>
                    <a:pt x="187960" y="1127760"/>
                  </a:lnTo>
                  <a:lnTo>
                    <a:pt x="2430272" y="1127760"/>
                  </a:lnTo>
                  <a:lnTo>
                    <a:pt x="2480222" y="1121046"/>
                  </a:lnTo>
                  <a:lnTo>
                    <a:pt x="2525117" y="1102098"/>
                  </a:lnTo>
                  <a:lnTo>
                    <a:pt x="2563161" y="1072708"/>
                  </a:lnTo>
                  <a:lnTo>
                    <a:pt x="2592559" y="1034668"/>
                  </a:lnTo>
                  <a:lnTo>
                    <a:pt x="2611514" y="989768"/>
                  </a:lnTo>
                  <a:lnTo>
                    <a:pt x="2618232" y="939800"/>
                  </a:lnTo>
                  <a:lnTo>
                    <a:pt x="2618232" y="187960"/>
                  </a:lnTo>
                  <a:lnTo>
                    <a:pt x="2611514" y="138009"/>
                  </a:lnTo>
                  <a:lnTo>
                    <a:pt x="2592559" y="93114"/>
                  </a:lnTo>
                  <a:lnTo>
                    <a:pt x="2563161" y="55070"/>
                  </a:lnTo>
                  <a:lnTo>
                    <a:pt x="2525117" y="25672"/>
                  </a:lnTo>
                  <a:lnTo>
                    <a:pt x="2480222" y="6717"/>
                  </a:lnTo>
                  <a:lnTo>
                    <a:pt x="2430272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206483" y="4686300"/>
              <a:ext cx="2618740" cy="1127760"/>
            </a:xfrm>
            <a:custGeom>
              <a:avLst/>
              <a:gdLst/>
              <a:ahLst/>
              <a:cxnLst/>
              <a:rect l="l" t="t" r="r" b="b"/>
              <a:pathLst>
                <a:path w="2618740" h="1127760">
                  <a:moveTo>
                    <a:pt x="0" y="187960"/>
                  </a:moveTo>
                  <a:lnTo>
                    <a:pt x="6717" y="138009"/>
                  </a:lnTo>
                  <a:lnTo>
                    <a:pt x="25672" y="93114"/>
                  </a:lnTo>
                  <a:lnTo>
                    <a:pt x="55070" y="55070"/>
                  </a:lnTo>
                  <a:lnTo>
                    <a:pt x="93114" y="25672"/>
                  </a:lnTo>
                  <a:lnTo>
                    <a:pt x="138009" y="6717"/>
                  </a:lnTo>
                  <a:lnTo>
                    <a:pt x="187960" y="0"/>
                  </a:lnTo>
                  <a:lnTo>
                    <a:pt x="2430272" y="0"/>
                  </a:lnTo>
                  <a:lnTo>
                    <a:pt x="2480222" y="6717"/>
                  </a:lnTo>
                  <a:lnTo>
                    <a:pt x="2525117" y="25672"/>
                  </a:lnTo>
                  <a:lnTo>
                    <a:pt x="2563161" y="55070"/>
                  </a:lnTo>
                  <a:lnTo>
                    <a:pt x="2592559" y="93114"/>
                  </a:lnTo>
                  <a:lnTo>
                    <a:pt x="2611514" y="138009"/>
                  </a:lnTo>
                  <a:lnTo>
                    <a:pt x="2618232" y="187960"/>
                  </a:lnTo>
                  <a:lnTo>
                    <a:pt x="2618232" y="939800"/>
                  </a:lnTo>
                  <a:lnTo>
                    <a:pt x="2611514" y="989768"/>
                  </a:lnTo>
                  <a:lnTo>
                    <a:pt x="2592559" y="1034668"/>
                  </a:lnTo>
                  <a:lnTo>
                    <a:pt x="2563161" y="1072708"/>
                  </a:lnTo>
                  <a:lnTo>
                    <a:pt x="2525117" y="1102098"/>
                  </a:lnTo>
                  <a:lnTo>
                    <a:pt x="2480222" y="1121046"/>
                  </a:lnTo>
                  <a:lnTo>
                    <a:pt x="2430272" y="1127760"/>
                  </a:lnTo>
                  <a:lnTo>
                    <a:pt x="187960" y="1127760"/>
                  </a:lnTo>
                  <a:lnTo>
                    <a:pt x="138009" y="1121046"/>
                  </a:lnTo>
                  <a:lnTo>
                    <a:pt x="93114" y="1102098"/>
                  </a:lnTo>
                  <a:lnTo>
                    <a:pt x="55070" y="1072708"/>
                  </a:lnTo>
                  <a:lnTo>
                    <a:pt x="25672" y="1034668"/>
                  </a:lnTo>
                  <a:lnTo>
                    <a:pt x="6717" y="989768"/>
                  </a:lnTo>
                  <a:lnTo>
                    <a:pt x="0" y="939800"/>
                  </a:lnTo>
                  <a:lnTo>
                    <a:pt x="0" y="187960"/>
                  </a:lnTo>
                  <a:close/>
                </a:path>
              </a:pathLst>
            </a:custGeom>
            <a:ln w="12699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614154" y="4738497"/>
            <a:ext cx="18046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Notice</a:t>
            </a:r>
            <a:r>
              <a:rPr dirty="0" sz="1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are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9376409" y="4982032"/>
            <a:ext cx="22821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considered</a:t>
            </a:r>
            <a:r>
              <a:rPr dirty="0" sz="16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completions!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591293" y="5226558"/>
            <a:ext cx="185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complete()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1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455657" y="5470347"/>
            <a:ext cx="21221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dirty="0" sz="16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dirty="0" sz="1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dirty="0" sz="1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occur!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OBSERVABLES:</a:t>
            </a:r>
            <a:r>
              <a:rPr dirty="0" spc="-175"/>
              <a:t> </a:t>
            </a:r>
            <a:r>
              <a:rPr dirty="0" spc="-65"/>
              <a:t>EMITTING</a:t>
            </a:r>
            <a:r>
              <a:rPr dirty="0" spc="-170"/>
              <a:t> </a:t>
            </a:r>
            <a:r>
              <a:rPr dirty="0" spc="-120"/>
              <a:t>MULTIPLE</a:t>
            </a:r>
            <a:r>
              <a:rPr dirty="0" spc="-145"/>
              <a:t> </a:t>
            </a:r>
            <a:r>
              <a:rPr dirty="0" spc="-10"/>
              <a:t>VALUES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892619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Subscriber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"rxjs"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Observable&lt;number&gt;(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subscriber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helper(subscriber,</a:t>
            </a:r>
            <a:r>
              <a:rPr dirty="0" sz="1800" spc="-10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25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 marR="1009650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helper(subscriber: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Subscriber&lt;number&gt;,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level: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number){ </a:t>
            </a:r>
            <a:r>
              <a:rPr dirty="0" sz="1800">
                <a:latin typeface="Consolas"/>
                <a:cs typeface="Consolas"/>
              </a:rPr>
              <a:t>setTimeout(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Math.random();</a:t>
            </a:r>
            <a:endParaRPr sz="1800">
              <a:latin typeface="Consolas"/>
              <a:cs typeface="Consolas"/>
            </a:endParaRPr>
          </a:p>
          <a:p>
            <a:pPr marL="512445" marR="251206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(level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3</a:t>
            </a:r>
            <a:r>
              <a:rPr dirty="0" sz="1800">
                <a:latin typeface="Consolas"/>
                <a:cs typeface="Consolas"/>
              </a:rPr>
              <a:t>){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subscriber.complete();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(num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0.8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subscriber.next(num);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helper(subscriber,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level+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//recursion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subscriber.error(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`You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were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unlucky!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num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latin typeface="Consolas"/>
                <a:cs typeface="Consolas"/>
              </a:rPr>
              <a:t>));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1000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OBSERVABLES:</a:t>
            </a:r>
            <a:r>
              <a:rPr dirty="0" spc="-175"/>
              <a:t> </a:t>
            </a:r>
            <a:r>
              <a:rPr dirty="0" spc="-65"/>
              <a:t>EMITTING</a:t>
            </a:r>
            <a:r>
              <a:rPr dirty="0" spc="-170"/>
              <a:t> </a:t>
            </a:r>
            <a:r>
              <a:rPr dirty="0" spc="-120"/>
              <a:t>MULTIPLE</a:t>
            </a:r>
            <a:r>
              <a:rPr dirty="0" spc="-145"/>
              <a:t> </a:t>
            </a:r>
            <a:r>
              <a:rPr dirty="0" spc="-10"/>
              <a:t>VALUES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565147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Observable&lt;number&gt;(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(subscriber)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observable.subscribe({</a:t>
            </a:r>
            <a:endParaRPr sz="1800">
              <a:latin typeface="Consolas"/>
              <a:cs typeface="Consolas"/>
            </a:endParaRPr>
          </a:p>
          <a:p>
            <a:pPr algn="just" marL="342265" marR="21812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next(value){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`Observer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emitted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value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value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 </a:t>
            </a:r>
            <a:r>
              <a:rPr dirty="0" sz="1800" spc="-25">
                <a:latin typeface="Consolas"/>
                <a:cs typeface="Consolas"/>
              </a:rPr>
              <a:t>)}, </a:t>
            </a:r>
            <a:r>
              <a:rPr dirty="0" sz="1800">
                <a:latin typeface="Consolas"/>
                <a:cs typeface="Consolas"/>
              </a:rPr>
              <a:t>error(err)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`Observer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emitted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Error: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err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)}, </a:t>
            </a:r>
            <a:r>
              <a:rPr dirty="0" sz="1800">
                <a:latin typeface="Consolas"/>
                <a:cs typeface="Consolas"/>
              </a:rPr>
              <a:t>complete()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"Observer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finished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emitting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values"</a:t>
            </a:r>
            <a:r>
              <a:rPr dirty="0" sz="1800" spc="-10">
                <a:latin typeface="Consolas"/>
                <a:cs typeface="Consolas"/>
              </a:rPr>
              <a:t>)}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3654552"/>
            <a:ext cx="10427335" cy="2586355"/>
          </a:xfrm>
          <a:custGeom>
            <a:avLst/>
            <a:gdLst/>
            <a:ahLst/>
            <a:cxnLst/>
            <a:rect l="l" t="t" r="r" b="b"/>
            <a:pathLst>
              <a:path w="10427335" h="2586354">
                <a:moveTo>
                  <a:pt x="10427208" y="0"/>
                </a:moveTo>
                <a:lnTo>
                  <a:pt x="0" y="0"/>
                </a:lnTo>
                <a:lnTo>
                  <a:pt x="0" y="2586228"/>
                </a:lnTo>
                <a:lnTo>
                  <a:pt x="10427208" y="2586228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3676269"/>
            <a:ext cx="8799195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D/O/T/W/2/e/2/a/src $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node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.\observables_example.js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55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emitted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value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0.6982903488018062</a:t>
            </a:r>
            <a:endParaRPr sz="1800">
              <a:latin typeface="Consolas"/>
              <a:cs typeface="Consolas"/>
            </a:endParaRPr>
          </a:p>
          <a:p>
            <a:pPr marL="12700" marR="338899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emitted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value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0.5713928193844571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emitted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value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0.005029574874092724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finished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emitting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values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55"/>
              </a:lnSpc>
              <a:spcBef>
                <a:spcPts val="1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D/O/T/W/2/e/2/a/src $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node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.\observables_example.js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55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emitted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value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0.09009756551320991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ts val="2170"/>
              </a:lnSpc>
              <a:spcBef>
                <a:spcPts val="6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Observer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emitted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Error: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Error: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You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were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unlucky!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0.8901570954122466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6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09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D/O/T/W/2/e/2/a/src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SETTING</a:t>
            </a:r>
            <a:r>
              <a:rPr dirty="0" spc="-30"/>
              <a:t> </a:t>
            </a:r>
            <a:r>
              <a:rPr dirty="0"/>
              <a:t>UP</a:t>
            </a:r>
            <a:r>
              <a:rPr dirty="0" spc="10"/>
              <a:t> </a:t>
            </a:r>
            <a:r>
              <a:rPr dirty="0" spc="-110"/>
              <a:t>HTTPCLIENT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26015" cy="16268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customize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HttpClient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(see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setup</a:t>
            </a:r>
            <a:r>
              <a:rPr dirty="0" sz="2800" spc="-7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guide)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when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configure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providers: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withFetch()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Fetch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instead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XMLHttpRequest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configure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Interceptors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829811"/>
            <a:ext cx="10427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appConfig: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ApplicationConfig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providers: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[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provideHttpClient(</a:t>
            </a:r>
            <a:endParaRPr sz="1800">
              <a:latin typeface="Consolas"/>
              <a:cs typeface="Consolas"/>
            </a:endParaRPr>
          </a:p>
          <a:p>
            <a:pPr marL="843280" marR="21799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withFetch(),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//use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Fetch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API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instead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XMLHttpRequests </a:t>
            </a:r>
            <a:r>
              <a:rPr dirty="0" sz="1800" spc="-10">
                <a:latin typeface="Consolas"/>
                <a:cs typeface="Consolas"/>
              </a:rPr>
              <a:t>withInterceptors([authInterceptor])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),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provideRouter(routes)]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INTERCEPTORS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399270" cy="273431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Interceptors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HttpClient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concept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outgoing 	requests!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Ultimately,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interceptors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outgoing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HttpRequest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function,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representing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step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interceptor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chain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977384"/>
            <a:ext cx="10427335" cy="1199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log(req: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HttpRequest,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HttpHandlerFn):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Observable</a:t>
            </a:r>
            <a:r>
              <a:rPr dirty="0" sz="1800" spc="-50"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console.log(req.url);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next(req);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155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INTERCEPTORS:</a:t>
            </a:r>
            <a:r>
              <a:rPr dirty="0" spc="-85"/>
              <a:t> </a:t>
            </a:r>
            <a:r>
              <a:rPr dirty="0"/>
              <a:t>USE</a:t>
            </a:r>
            <a:r>
              <a:rPr dirty="0" spc="-85"/>
              <a:t> CASES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032240" cy="217932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Interceptors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authentication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headers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JWT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tokens!)</a:t>
            </a:r>
            <a:endParaRPr sz="24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Cache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responses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period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Log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outgoing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Interceptors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configuring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HttpClient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927347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appConfig: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ApplicationConfig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providers: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[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provideHttpClient(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withInterceptors([loggingInterceptor,</a:t>
            </a:r>
            <a:r>
              <a:rPr dirty="0" sz="1800" spc="-1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authInterceptor])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]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98856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60"/>
              <a:t>ANGULAR:</a:t>
            </a:r>
            <a:r>
              <a:rPr dirty="0" sz="4800" spc="95"/>
              <a:t> </a:t>
            </a:r>
            <a:r>
              <a:rPr dirty="0" sz="4800" spc="100"/>
              <a:t>CHANGE</a:t>
            </a:r>
            <a:r>
              <a:rPr dirty="0" sz="4800" spc="114"/>
              <a:t> </a:t>
            </a:r>
            <a:r>
              <a:rPr dirty="0" sz="4800" spc="-65"/>
              <a:t>DETECTION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265"/>
              <a:t> </a:t>
            </a:r>
            <a:r>
              <a:rPr dirty="0" spc="75"/>
              <a:t>CHANGE</a:t>
            </a:r>
            <a:r>
              <a:rPr dirty="0" spc="265"/>
              <a:t> </a:t>
            </a:r>
            <a:r>
              <a:rPr dirty="0" spc="-45"/>
              <a:t>DETECTION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50805" cy="26276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just" marL="240029" marR="29210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(i.e.: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changes,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endParaRPr sz="2800">
              <a:latin typeface="Calibri"/>
              <a:cs typeface="Calibri"/>
            </a:endParaRPr>
          </a:p>
          <a:p>
            <a:pPr algn="just" marL="240029" marR="6096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necessary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efficiently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updated)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good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algn="just"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rendered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view?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265"/>
              <a:t> </a:t>
            </a:r>
            <a:r>
              <a:rPr dirty="0" spc="75"/>
              <a:t>CHANGE</a:t>
            </a:r>
            <a:r>
              <a:rPr dirty="0" spc="265"/>
              <a:t> </a:t>
            </a:r>
            <a:r>
              <a:rPr dirty="0" spc="-45"/>
              <a:t>DETECTION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3631" rIns="0" bIns="0" rtlCol="0" vert="horz">
            <a:spAutoFit/>
          </a:bodyPr>
          <a:lstStyle/>
          <a:p>
            <a:pPr marL="240029" marR="17843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Basically,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something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happens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(DOM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events,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async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operations,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…)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10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detection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triggers</a:t>
            </a:r>
            <a:endParaRPr sz="2800">
              <a:latin typeface="Calibri"/>
              <a:cs typeface="Calibri"/>
            </a:endParaRPr>
          </a:p>
          <a:p>
            <a:pPr marL="240029" marR="135509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detection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starts,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goes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through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hierarchy</a:t>
            </a:r>
            <a:endParaRPr sz="2800">
              <a:latin typeface="Calibri"/>
              <a:cs typeface="Calibri"/>
            </a:endParaRPr>
          </a:p>
          <a:p>
            <a:pPr lvl="1" marL="696595" marR="239395" indent="-227329">
              <a:lnSpc>
                <a:spcPts val="2590"/>
              </a:lnSpc>
              <a:spcBef>
                <a:spcPts val="52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component,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checks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changed,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affects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DOM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portion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corresponding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updated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won’t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delve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internals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detection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process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docs</a:t>
            </a:r>
            <a:r>
              <a:rPr dirty="0" sz="24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details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45"/>
              <a:t> </a:t>
            </a:r>
            <a:r>
              <a:rPr dirty="0" spc="75"/>
              <a:t>CHANGE</a:t>
            </a:r>
            <a:r>
              <a:rPr dirty="0" spc="145"/>
              <a:t> </a:t>
            </a:r>
            <a:r>
              <a:rPr dirty="0" spc="-80"/>
              <a:t>DETECTION</a:t>
            </a:r>
            <a:r>
              <a:rPr dirty="0" spc="120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8491" y="3508247"/>
            <a:ext cx="1397635" cy="408940"/>
          </a:xfrm>
          <a:custGeom>
            <a:avLst/>
            <a:gdLst/>
            <a:ahLst/>
            <a:cxnLst/>
            <a:rect l="l" t="t" r="r" b="b"/>
            <a:pathLst>
              <a:path w="1397635" h="408939">
                <a:moveTo>
                  <a:pt x="1356614" y="0"/>
                </a:moveTo>
                <a:lnTo>
                  <a:pt x="40843" y="0"/>
                </a:lnTo>
                <a:lnTo>
                  <a:pt x="24945" y="3210"/>
                </a:lnTo>
                <a:lnTo>
                  <a:pt x="11963" y="11969"/>
                </a:lnTo>
                <a:lnTo>
                  <a:pt x="3209" y="24967"/>
                </a:lnTo>
                <a:lnTo>
                  <a:pt x="0" y="40893"/>
                </a:lnTo>
                <a:lnTo>
                  <a:pt x="0" y="367538"/>
                </a:lnTo>
                <a:lnTo>
                  <a:pt x="3209" y="383464"/>
                </a:lnTo>
                <a:lnTo>
                  <a:pt x="11963" y="396462"/>
                </a:lnTo>
                <a:lnTo>
                  <a:pt x="24945" y="405221"/>
                </a:lnTo>
                <a:lnTo>
                  <a:pt x="40843" y="408431"/>
                </a:lnTo>
                <a:lnTo>
                  <a:pt x="1356614" y="408431"/>
                </a:lnTo>
                <a:lnTo>
                  <a:pt x="1372540" y="405221"/>
                </a:lnTo>
                <a:lnTo>
                  <a:pt x="1385538" y="396462"/>
                </a:lnTo>
                <a:lnTo>
                  <a:pt x="1394297" y="383464"/>
                </a:lnTo>
                <a:lnTo>
                  <a:pt x="1397508" y="367538"/>
                </a:lnTo>
                <a:lnTo>
                  <a:pt x="1397508" y="40893"/>
                </a:lnTo>
                <a:lnTo>
                  <a:pt x="1394297" y="24967"/>
                </a:lnTo>
                <a:lnTo>
                  <a:pt x="1385538" y="11969"/>
                </a:lnTo>
                <a:lnTo>
                  <a:pt x="1372540" y="3210"/>
                </a:lnTo>
                <a:lnTo>
                  <a:pt x="1356614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3950" y="3555619"/>
            <a:ext cx="1325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AppComponent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80157" y="2473198"/>
            <a:ext cx="1971039" cy="1245870"/>
            <a:chOff x="2280157" y="2473198"/>
            <a:chExt cx="1971039" cy="1245870"/>
          </a:xfrm>
        </p:grpSpPr>
        <p:sp>
          <p:nvSpPr>
            <p:cNvPr id="6" name="object 6" descr=""/>
            <p:cNvSpPr/>
            <p:nvPr/>
          </p:nvSpPr>
          <p:spPr>
            <a:xfrm>
              <a:off x="2286507" y="2683891"/>
              <a:ext cx="559435" cy="1028700"/>
            </a:xfrm>
            <a:custGeom>
              <a:avLst/>
              <a:gdLst/>
              <a:ahLst/>
              <a:cxnLst/>
              <a:rect l="l" t="t" r="r" b="b"/>
              <a:pathLst>
                <a:path w="559435" h="1028700">
                  <a:moveTo>
                    <a:pt x="0" y="1028573"/>
                  </a:moveTo>
                  <a:lnTo>
                    <a:pt x="559181" y="0"/>
                  </a:lnTo>
                </a:path>
              </a:pathLst>
            </a:custGeom>
            <a:ln w="12700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45307" y="24795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1358138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7538"/>
                  </a:lnTo>
                  <a:lnTo>
                    <a:pt x="3210" y="383464"/>
                  </a:lnTo>
                  <a:lnTo>
                    <a:pt x="11969" y="396462"/>
                  </a:lnTo>
                  <a:lnTo>
                    <a:pt x="24967" y="405221"/>
                  </a:lnTo>
                  <a:lnTo>
                    <a:pt x="40893" y="408431"/>
                  </a:lnTo>
                  <a:lnTo>
                    <a:pt x="1358138" y="408431"/>
                  </a:lnTo>
                  <a:lnTo>
                    <a:pt x="1374064" y="405221"/>
                  </a:lnTo>
                  <a:lnTo>
                    <a:pt x="1387062" y="396462"/>
                  </a:lnTo>
                  <a:lnTo>
                    <a:pt x="1395821" y="383464"/>
                  </a:lnTo>
                  <a:lnTo>
                    <a:pt x="1399032" y="367538"/>
                  </a:lnTo>
                  <a:lnTo>
                    <a:pt x="1399032" y="40893"/>
                  </a:lnTo>
                  <a:lnTo>
                    <a:pt x="1395821" y="24967"/>
                  </a:lnTo>
                  <a:lnTo>
                    <a:pt x="1387062" y="11969"/>
                  </a:lnTo>
                  <a:lnTo>
                    <a:pt x="1374064" y="3210"/>
                  </a:lnTo>
                  <a:lnTo>
                    <a:pt x="135813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845307" y="24795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1358138" y="0"/>
                  </a:lnTo>
                  <a:lnTo>
                    <a:pt x="1374064" y="3210"/>
                  </a:lnTo>
                  <a:lnTo>
                    <a:pt x="1387062" y="11969"/>
                  </a:lnTo>
                  <a:lnTo>
                    <a:pt x="1395821" y="24967"/>
                  </a:lnTo>
                  <a:lnTo>
                    <a:pt x="1399032" y="40893"/>
                  </a:lnTo>
                  <a:lnTo>
                    <a:pt x="1399032" y="367538"/>
                  </a:lnTo>
                  <a:lnTo>
                    <a:pt x="1395821" y="383464"/>
                  </a:lnTo>
                  <a:lnTo>
                    <a:pt x="1387062" y="396462"/>
                  </a:lnTo>
                  <a:lnTo>
                    <a:pt x="1374064" y="405221"/>
                  </a:lnTo>
                  <a:lnTo>
                    <a:pt x="1358138" y="408431"/>
                  </a:lnTo>
                  <a:lnTo>
                    <a:pt x="40893" y="408431"/>
                  </a:lnTo>
                  <a:lnTo>
                    <a:pt x="24967" y="405221"/>
                  </a:lnTo>
                  <a:lnTo>
                    <a:pt x="11969" y="396462"/>
                  </a:lnTo>
                  <a:lnTo>
                    <a:pt x="3210" y="383464"/>
                  </a:lnTo>
                  <a:lnTo>
                    <a:pt x="0" y="367538"/>
                  </a:lnTo>
                  <a:lnTo>
                    <a:pt x="0" y="4089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86507" y="3198114"/>
              <a:ext cx="559435" cy="514350"/>
            </a:xfrm>
            <a:custGeom>
              <a:avLst/>
              <a:gdLst/>
              <a:ahLst/>
              <a:cxnLst/>
              <a:rect l="l" t="t" r="r" b="b"/>
              <a:pathLst>
                <a:path w="559435" h="514350">
                  <a:moveTo>
                    <a:pt x="0" y="514350"/>
                  </a:moveTo>
                  <a:lnTo>
                    <a:pt x="559181" y="0"/>
                  </a:lnTo>
                </a:path>
              </a:pathLst>
            </a:custGeom>
            <a:ln w="12699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845307" y="29931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1358011" y="0"/>
                  </a:moveTo>
                  <a:lnTo>
                    <a:pt x="41021" y="0"/>
                  </a:lnTo>
                  <a:lnTo>
                    <a:pt x="25074" y="3230"/>
                  </a:lnTo>
                  <a:lnTo>
                    <a:pt x="12033" y="12033"/>
                  </a:lnTo>
                  <a:lnTo>
                    <a:pt x="3230" y="25074"/>
                  </a:lnTo>
                  <a:lnTo>
                    <a:pt x="0" y="41021"/>
                  </a:lnTo>
                  <a:lnTo>
                    <a:pt x="0" y="368935"/>
                  </a:lnTo>
                  <a:lnTo>
                    <a:pt x="3230" y="384881"/>
                  </a:lnTo>
                  <a:lnTo>
                    <a:pt x="12033" y="397922"/>
                  </a:lnTo>
                  <a:lnTo>
                    <a:pt x="25074" y="406725"/>
                  </a:lnTo>
                  <a:lnTo>
                    <a:pt x="41021" y="409955"/>
                  </a:lnTo>
                  <a:lnTo>
                    <a:pt x="1358011" y="409955"/>
                  </a:lnTo>
                  <a:lnTo>
                    <a:pt x="1373957" y="406725"/>
                  </a:lnTo>
                  <a:lnTo>
                    <a:pt x="1386998" y="397922"/>
                  </a:lnTo>
                  <a:lnTo>
                    <a:pt x="1395801" y="384881"/>
                  </a:lnTo>
                  <a:lnTo>
                    <a:pt x="1399032" y="368935"/>
                  </a:lnTo>
                  <a:lnTo>
                    <a:pt x="1399032" y="41021"/>
                  </a:lnTo>
                  <a:lnTo>
                    <a:pt x="1395801" y="25074"/>
                  </a:lnTo>
                  <a:lnTo>
                    <a:pt x="1386998" y="12033"/>
                  </a:lnTo>
                  <a:lnTo>
                    <a:pt x="1373957" y="3230"/>
                  </a:lnTo>
                  <a:lnTo>
                    <a:pt x="135801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845307" y="29931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0" y="41021"/>
                  </a:moveTo>
                  <a:lnTo>
                    <a:pt x="3230" y="25074"/>
                  </a:lnTo>
                  <a:lnTo>
                    <a:pt x="12033" y="12033"/>
                  </a:lnTo>
                  <a:lnTo>
                    <a:pt x="25074" y="3230"/>
                  </a:lnTo>
                  <a:lnTo>
                    <a:pt x="41021" y="0"/>
                  </a:lnTo>
                  <a:lnTo>
                    <a:pt x="1358011" y="0"/>
                  </a:lnTo>
                  <a:lnTo>
                    <a:pt x="1373957" y="3230"/>
                  </a:lnTo>
                  <a:lnTo>
                    <a:pt x="1386998" y="12033"/>
                  </a:lnTo>
                  <a:lnTo>
                    <a:pt x="1395801" y="25074"/>
                  </a:lnTo>
                  <a:lnTo>
                    <a:pt x="1399032" y="41021"/>
                  </a:lnTo>
                  <a:lnTo>
                    <a:pt x="1399032" y="368935"/>
                  </a:lnTo>
                  <a:lnTo>
                    <a:pt x="1395801" y="384881"/>
                  </a:lnTo>
                  <a:lnTo>
                    <a:pt x="1386998" y="397922"/>
                  </a:lnTo>
                  <a:lnTo>
                    <a:pt x="1373957" y="406725"/>
                  </a:lnTo>
                  <a:lnTo>
                    <a:pt x="1358011" y="409955"/>
                  </a:lnTo>
                  <a:lnTo>
                    <a:pt x="41021" y="409955"/>
                  </a:lnTo>
                  <a:lnTo>
                    <a:pt x="25074" y="406725"/>
                  </a:lnTo>
                  <a:lnTo>
                    <a:pt x="12033" y="397922"/>
                  </a:lnTo>
                  <a:lnTo>
                    <a:pt x="3230" y="384881"/>
                  </a:lnTo>
                  <a:lnTo>
                    <a:pt x="0" y="368935"/>
                  </a:lnTo>
                  <a:lnTo>
                    <a:pt x="0" y="4102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88639" y="2526537"/>
            <a:ext cx="913130" cy="783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279650" y="3501897"/>
            <a:ext cx="1971039" cy="421640"/>
            <a:chOff x="2279650" y="3501897"/>
            <a:chExt cx="1971039" cy="421640"/>
          </a:xfrm>
        </p:grpSpPr>
        <p:sp>
          <p:nvSpPr>
            <p:cNvPr id="14" name="object 14" descr=""/>
            <p:cNvSpPr/>
            <p:nvPr/>
          </p:nvSpPr>
          <p:spPr>
            <a:xfrm>
              <a:off x="2286000" y="3712082"/>
              <a:ext cx="559435" cy="0"/>
            </a:xfrm>
            <a:custGeom>
              <a:avLst/>
              <a:gdLst/>
              <a:ahLst/>
              <a:cxnLst/>
              <a:rect l="l" t="t" r="r" b="b"/>
              <a:pathLst>
                <a:path w="559435" h="0">
                  <a:moveTo>
                    <a:pt x="0" y="0"/>
                  </a:moveTo>
                  <a:lnTo>
                    <a:pt x="559181" y="0"/>
                  </a:lnTo>
                </a:path>
              </a:pathLst>
            </a:custGeom>
            <a:ln w="12700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845308" y="3508247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1358138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7538"/>
                  </a:lnTo>
                  <a:lnTo>
                    <a:pt x="3210" y="383464"/>
                  </a:lnTo>
                  <a:lnTo>
                    <a:pt x="11969" y="396462"/>
                  </a:lnTo>
                  <a:lnTo>
                    <a:pt x="24967" y="405221"/>
                  </a:lnTo>
                  <a:lnTo>
                    <a:pt x="40893" y="408431"/>
                  </a:lnTo>
                  <a:lnTo>
                    <a:pt x="1358138" y="408431"/>
                  </a:lnTo>
                  <a:lnTo>
                    <a:pt x="1374064" y="405221"/>
                  </a:lnTo>
                  <a:lnTo>
                    <a:pt x="1387062" y="396462"/>
                  </a:lnTo>
                  <a:lnTo>
                    <a:pt x="1395821" y="383464"/>
                  </a:lnTo>
                  <a:lnTo>
                    <a:pt x="1399032" y="367538"/>
                  </a:lnTo>
                  <a:lnTo>
                    <a:pt x="1399032" y="40893"/>
                  </a:lnTo>
                  <a:lnTo>
                    <a:pt x="1395821" y="24967"/>
                  </a:lnTo>
                  <a:lnTo>
                    <a:pt x="1387062" y="11969"/>
                  </a:lnTo>
                  <a:lnTo>
                    <a:pt x="1374064" y="3210"/>
                  </a:lnTo>
                  <a:lnTo>
                    <a:pt x="135813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845308" y="3508247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1358138" y="0"/>
                  </a:lnTo>
                  <a:lnTo>
                    <a:pt x="1374064" y="3210"/>
                  </a:lnTo>
                  <a:lnTo>
                    <a:pt x="1387062" y="11969"/>
                  </a:lnTo>
                  <a:lnTo>
                    <a:pt x="1395821" y="24967"/>
                  </a:lnTo>
                  <a:lnTo>
                    <a:pt x="1399032" y="40893"/>
                  </a:lnTo>
                  <a:lnTo>
                    <a:pt x="1399032" y="367538"/>
                  </a:lnTo>
                  <a:lnTo>
                    <a:pt x="1395821" y="383464"/>
                  </a:lnTo>
                  <a:lnTo>
                    <a:pt x="1387062" y="396462"/>
                  </a:lnTo>
                  <a:lnTo>
                    <a:pt x="1374064" y="405221"/>
                  </a:lnTo>
                  <a:lnTo>
                    <a:pt x="1358138" y="408431"/>
                  </a:lnTo>
                  <a:lnTo>
                    <a:pt x="40893" y="408431"/>
                  </a:lnTo>
                  <a:lnTo>
                    <a:pt x="24967" y="405221"/>
                  </a:lnTo>
                  <a:lnTo>
                    <a:pt x="11969" y="396462"/>
                  </a:lnTo>
                  <a:lnTo>
                    <a:pt x="3210" y="383464"/>
                  </a:lnTo>
                  <a:lnTo>
                    <a:pt x="0" y="367538"/>
                  </a:lnTo>
                  <a:lnTo>
                    <a:pt x="0" y="4089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088639" y="3555619"/>
            <a:ext cx="913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280157" y="3706114"/>
            <a:ext cx="1971039" cy="1245870"/>
            <a:chOff x="2280157" y="3706114"/>
            <a:chExt cx="1971039" cy="1245870"/>
          </a:xfrm>
        </p:grpSpPr>
        <p:sp>
          <p:nvSpPr>
            <p:cNvPr id="19" name="object 19" descr=""/>
            <p:cNvSpPr/>
            <p:nvPr/>
          </p:nvSpPr>
          <p:spPr>
            <a:xfrm>
              <a:off x="2286507" y="3712464"/>
              <a:ext cx="559435" cy="514350"/>
            </a:xfrm>
            <a:custGeom>
              <a:avLst/>
              <a:gdLst/>
              <a:ahLst/>
              <a:cxnLst/>
              <a:rect l="l" t="t" r="r" b="b"/>
              <a:pathLst>
                <a:path w="559435" h="514350">
                  <a:moveTo>
                    <a:pt x="0" y="0"/>
                  </a:moveTo>
                  <a:lnTo>
                    <a:pt x="559181" y="514350"/>
                  </a:lnTo>
                </a:path>
              </a:pathLst>
            </a:custGeom>
            <a:ln w="12699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845307" y="40218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1358011" y="0"/>
                  </a:moveTo>
                  <a:lnTo>
                    <a:pt x="41021" y="0"/>
                  </a:lnTo>
                  <a:lnTo>
                    <a:pt x="25074" y="3230"/>
                  </a:lnTo>
                  <a:lnTo>
                    <a:pt x="12033" y="12033"/>
                  </a:lnTo>
                  <a:lnTo>
                    <a:pt x="3230" y="25074"/>
                  </a:lnTo>
                  <a:lnTo>
                    <a:pt x="0" y="41020"/>
                  </a:lnTo>
                  <a:lnTo>
                    <a:pt x="0" y="368934"/>
                  </a:lnTo>
                  <a:lnTo>
                    <a:pt x="3230" y="384881"/>
                  </a:lnTo>
                  <a:lnTo>
                    <a:pt x="12033" y="397922"/>
                  </a:lnTo>
                  <a:lnTo>
                    <a:pt x="25074" y="406725"/>
                  </a:lnTo>
                  <a:lnTo>
                    <a:pt x="41021" y="409956"/>
                  </a:lnTo>
                  <a:lnTo>
                    <a:pt x="1358011" y="409956"/>
                  </a:lnTo>
                  <a:lnTo>
                    <a:pt x="1373957" y="406725"/>
                  </a:lnTo>
                  <a:lnTo>
                    <a:pt x="1386998" y="397922"/>
                  </a:lnTo>
                  <a:lnTo>
                    <a:pt x="1395801" y="384881"/>
                  </a:lnTo>
                  <a:lnTo>
                    <a:pt x="1399032" y="368934"/>
                  </a:lnTo>
                  <a:lnTo>
                    <a:pt x="1399032" y="41020"/>
                  </a:lnTo>
                  <a:lnTo>
                    <a:pt x="1395801" y="25074"/>
                  </a:lnTo>
                  <a:lnTo>
                    <a:pt x="1386998" y="12033"/>
                  </a:lnTo>
                  <a:lnTo>
                    <a:pt x="1373957" y="3230"/>
                  </a:lnTo>
                  <a:lnTo>
                    <a:pt x="135801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845307" y="40218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0" y="41020"/>
                  </a:moveTo>
                  <a:lnTo>
                    <a:pt x="3230" y="25074"/>
                  </a:lnTo>
                  <a:lnTo>
                    <a:pt x="12033" y="12033"/>
                  </a:lnTo>
                  <a:lnTo>
                    <a:pt x="25074" y="3230"/>
                  </a:lnTo>
                  <a:lnTo>
                    <a:pt x="41021" y="0"/>
                  </a:lnTo>
                  <a:lnTo>
                    <a:pt x="1358011" y="0"/>
                  </a:lnTo>
                  <a:lnTo>
                    <a:pt x="1373957" y="3230"/>
                  </a:lnTo>
                  <a:lnTo>
                    <a:pt x="1386998" y="12033"/>
                  </a:lnTo>
                  <a:lnTo>
                    <a:pt x="1395801" y="25074"/>
                  </a:lnTo>
                  <a:lnTo>
                    <a:pt x="1399032" y="41020"/>
                  </a:lnTo>
                  <a:lnTo>
                    <a:pt x="1399032" y="368934"/>
                  </a:lnTo>
                  <a:lnTo>
                    <a:pt x="1395801" y="384881"/>
                  </a:lnTo>
                  <a:lnTo>
                    <a:pt x="1386998" y="397922"/>
                  </a:lnTo>
                  <a:lnTo>
                    <a:pt x="1373957" y="406725"/>
                  </a:lnTo>
                  <a:lnTo>
                    <a:pt x="1358011" y="409956"/>
                  </a:lnTo>
                  <a:lnTo>
                    <a:pt x="41021" y="409956"/>
                  </a:lnTo>
                  <a:lnTo>
                    <a:pt x="25074" y="406725"/>
                  </a:lnTo>
                  <a:lnTo>
                    <a:pt x="12033" y="397922"/>
                  </a:lnTo>
                  <a:lnTo>
                    <a:pt x="3230" y="384881"/>
                  </a:lnTo>
                  <a:lnTo>
                    <a:pt x="0" y="368934"/>
                  </a:lnTo>
                  <a:lnTo>
                    <a:pt x="0" y="4102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286507" y="3712464"/>
              <a:ext cx="559435" cy="1028700"/>
            </a:xfrm>
            <a:custGeom>
              <a:avLst/>
              <a:gdLst/>
              <a:ahLst/>
              <a:cxnLst/>
              <a:rect l="l" t="t" r="r" b="b"/>
              <a:pathLst>
                <a:path w="559435" h="1028700">
                  <a:moveTo>
                    <a:pt x="0" y="0"/>
                  </a:moveTo>
                  <a:lnTo>
                    <a:pt x="559181" y="1028700"/>
                  </a:lnTo>
                </a:path>
              </a:pathLst>
            </a:custGeom>
            <a:ln w="12700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845307" y="45369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1358138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7538"/>
                  </a:lnTo>
                  <a:lnTo>
                    <a:pt x="3210" y="383464"/>
                  </a:lnTo>
                  <a:lnTo>
                    <a:pt x="11969" y="396462"/>
                  </a:lnTo>
                  <a:lnTo>
                    <a:pt x="24967" y="405221"/>
                  </a:lnTo>
                  <a:lnTo>
                    <a:pt x="40893" y="408431"/>
                  </a:lnTo>
                  <a:lnTo>
                    <a:pt x="1358138" y="408431"/>
                  </a:lnTo>
                  <a:lnTo>
                    <a:pt x="1374064" y="405221"/>
                  </a:lnTo>
                  <a:lnTo>
                    <a:pt x="1387062" y="396462"/>
                  </a:lnTo>
                  <a:lnTo>
                    <a:pt x="1395821" y="383464"/>
                  </a:lnTo>
                  <a:lnTo>
                    <a:pt x="1399032" y="367538"/>
                  </a:lnTo>
                  <a:lnTo>
                    <a:pt x="1399032" y="40893"/>
                  </a:lnTo>
                  <a:lnTo>
                    <a:pt x="1395821" y="24967"/>
                  </a:lnTo>
                  <a:lnTo>
                    <a:pt x="1387062" y="11969"/>
                  </a:lnTo>
                  <a:lnTo>
                    <a:pt x="1374064" y="3210"/>
                  </a:lnTo>
                  <a:lnTo>
                    <a:pt x="135813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845307" y="45369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1358138" y="0"/>
                  </a:lnTo>
                  <a:lnTo>
                    <a:pt x="1374064" y="3210"/>
                  </a:lnTo>
                  <a:lnTo>
                    <a:pt x="1387062" y="11969"/>
                  </a:lnTo>
                  <a:lnTo>
                    <a:pt x="1395821" y="24967"/>
                  </a:lnTo>
                  <a:lnTo>
                    <a:pt x="1399032" y="40893"/>
                  </a:lnTo>
                  <a:lnTo>
                    <a:pt x="1399032" y="367538"/>
                  </a:lnTo>
                  <a:lnTo>
                    <a:pt x="1395821" y="383464"/>
                  </a:lnTo>
                  <a:lnTo>
                    <a:pt x="1387062" y="396462"/>
                  </a:lnTo>
                  <a:lnTo>
                    <a:pt x="1374064" y="405221"/>
                  </a:lnTo>
                  <a:lnTo>
                    <a:pt x="1358138" y="408431"/>
                  </a:lnTo>
                  <a:lnTo>
                    <a:pt x="40893" y="408431"/>
                  </a:lnTo>
                  <a:lnTo>
                    <a:pt x="24967" y="405221"/>
                  </a:lnTo>
                  <a:lnTo>
                    <a:pt x="11969" y="396462"/>
                  </a:lnTo>
                  <a:lnTo>
                    <a:pt x="3210" y="383464"/>
                  </a:lnTo>
                  <a:lnTo>
                    <a:pt x="0" y="367538"/>
                  </a:lnTo>
                  <a:lnTo>
                    <a:pt x="0" y="4089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991104" y="4584319"/>
            <a:ext cx="11055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RouterOutlet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237990" y="4411726"/>
            <a:ext cx="4453890" cy="659130"/>
            <a:chOff x="4237990" y="4411726"/>
            <a:chExt cx="4453890" cy="659130"/>
          </a:xfrm>
        </p:grpSpPr>
        <p:sp>
          <p:nvSpPr>
            <p:cNvPr id="27" name="object 27" descr=""/>
            <p:cNvSpPr/>
            <p:nvPr/>
          </p:nvSpPr>
          <p:spPr>
            <a:xfrm>
              <a:off x="4244340" y="4740783"/>
              <a:ext cx="559435" cy="0"/>
            </a:xfrm>
            <a:custGeom>
              <a:avLst/>
              <a:gdLst/>
              <a:ahLst/>
              <a:cxnLst/>
              <a:rect l="l" t="t" r="r" b="b"/>
              <a:pathLst>
                <a:path w="559435" h="0">
                  <a:moveTo>
                    <a:pt x="0" y="0"/>
                  </a:moveTo>
                  <a:lnTo>
                    <a:pt x="559181" y="0"/>
                  </a:lnTo>
                </a:path>
              </a:pathLst>
            </a:custGeom>
            <a:ln w="12700">
              <a:solidFill>
                <a:srgbClr val="005A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802124" y="4418076"/>
              <a:ext cx="3883660" cy="646430"/>
            </a:xfrm>
            <a:custGeom>
              <a:avLst/>
              <a:gdLst/>
              <a:ahLst/>
              <a:cxnLst/>
              <a:rect l="l" t="t" r="r" b="b"/>
              <a:pathLst>
                <a:path w="3883659" h="646429">
                  <a:moveTo>
                    <a:pt x="3818508" y="0"/>
                  </a:moveTo>
                  <a:lnTo>
                    <a:pt x="64642" y="0"/>
                  </a:lnTo>
                  <a:lnTo>
                    <a:pt x="39487" y="5081"/>
                  </a:lnTo>
                  <a:lnTo>
                    <a:pt x="18938" y="18938"/>
                  </a:lnTo>
                  <a:lnTo>
                    <a:pt x="5081" y="39487"/>
                  </a:lnTo>
                  <a:lnTo>
                    <a:pt x="0" y="64643"/>
                  </a:lnTo>
                  <a:lnTo>
                    <a:pt x="0" y="581532"/>
                  </a:lnTo>
                  <a:lnTo>
                    <a:pt x="5081" y="606688"/>
                  </a:lnTo>
                  <a:lnTo>
                    <a:pt x="18938" y="627237"/>
                  </a:lnTo>
                  <a:lnTo>
                    <a:pt x="39487" y="641094"/>
                  </a:lnTo>
                  <a:lnTo>
                    <a:pt x="64642" y="646176"/>
                  </a:lnTo>
                  <a:lnTo>
                    <a:pt x="3818508" y="646176"/>
                  </a:lnTo>
                  <a:lnTo>
                    <a:pt x="3843664" y="641094"/>
                  </a:lnTo>
                  <a:lnTo>
                    <a:pt x="3864213" y="627237"/>
                  </a:lnTo>
                  <a:lnTo>
                    <a:pt x="3878070" y="606688"/>
                  </a:lnTo>
                  <a:lnTo>
                    <a:pt x="3883152" y="581532"/>
                  </a:lnTo>
                  <a:lnTo>
                    <a:pt x="3883152" y="64643"/>
                  </a:lnTo>
                  <a:lnTo>
                    <a:pt x="3878070" y="39487"/>
                  </a:lnTo>
                  <a:lnTo>
                    <a:pt x="3864213" y="18938"/>
                  </a:lnTo>
                  <a:lnTo>
                    <a:pt x="3843664" y="5081"/>
                  </a:lnTo>
                  <a:lnTo>
                    <a:pt x="381850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802124" y="4418076"/>
              <a:ext cx="3883660" cy="646430"/>
            </a:xfrm>
            <a:custGeom>
              <a:avLst/>
              <a:gdLst/>
              <a:ahLst/>
              <a:cxnLst/>
              <a:rect l="l" t="t" r="r" b="b"/>
              <a:pathLst>
                <a:path w="3883659" h="646429">
                  <a:moveTo>
                    <a:pt x="0" y="64643"/>
                  </a:moveTo>
                  <a:lnTo>
                    <a:pt x="5081" y="39487"/>
                  </a:lnTo>
                  <a:lnTo>
                    <a:pt x="18938" y="18938"/>
                  </a:lnTo>
                  <a:lnTo>
                    <a:pt x="39487" y="5081"/>
                  </a:lnTo>
                  <a:lnTo>
                    <a:pt x="64642" y="0"/>
                  </a:lnTo>
                  <a:lnTo>
                    <a:pt x="3818508" y="0"/>
                  </a:lnTo>
                  <a:lnTo>
                    <a:pt x="3843664" y="5081"/>
                  </a:lnTo>
                  <a:lnTo>
                    <a:pt x="3864213" y="18938"/>
                  </a:lnTo>
                  <a:lnTo>
                    <a:pt x="3878070" y="39487"/>
                  </a:lnTo>
                  <a:lnTo>
                    <a:pt x="3883152" y="64643"/>
                  </a:lnTo>
                  <a:lnTo>
                    <a:pt x="3883152" y="581532"/>
                  </a:lnTo>
                  <a:lnTo>
                    <a:pt x="3878070" y="606688"/>
                  </a:lnTo>
                  <a:lnTo>
                    <a:pt x="3864213" y="627237"/>
                  </a:lnTo>
                  <a:lnTo>
                    <a:pt x="3843664" y="641094"/>
                  </a:lnTo>
                  <a:lnTo>
                    <a:pt x="3818508" y="646176"/>
                  </a:lnTo>
                  <a:lnTo>
                    <a:pt x="64642" y="646176"/>
                  </a:lnTo>
                  <a:lnTo>
                    <a:pt x="39487" y="641094"/>
                  </a:lnTo>
                  <a:lnTo>
                    <a:pt x="18938" y="627237"/>
                  </a:lnTo>
                  <a:lnTo>
                    <a:pt x="5081" y="606688"/>
                  </a:lnTo>
                  <a:lnTo>
                    <a:pt x="0" y="581532"/>
                  </a:lnTo>
                  <a:lnTo>
                    <a:pt x="0" y="646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002784" y="4434078"/>
            <a:ext cx="3482975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CatFactsComponent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catFact</a:t>
            </a:r>
            <a:r>
              <a:rPr dirty="0" sz="1100" spc="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= "Very interesting fact about 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cats."</a:t>
            </a:r>
            <a:endParaRPr sz="1100">
              <a:latin typeface="Consolas"/>
              <a:cs typeface="Consolas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4831079" y="1692719"/>
            <a:ext cx="6488430" cy="2891790"/>
            <a:chOff x="4831079" y="1692719"/>
            <a:chExt cx="6488430" cy="2891790"/>
          </a:xfrm>
        </p:grpSpPr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7909" y="1845228"/>
              <a:ext cx="2714961" cy="179127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227821" y="1697482"/>
              <a:ext cx="3086735" cy="2392045"/>
            </a:xfrm>
            <a:custGeom>
              <a:avLst/>
              <a:gdLst/>
              <a:ahLst/>
              <a:cxnLst/>
              <a:rect l="l" t="t" r="r" b="b"/>
              <a:pathLst>
                <a:path w="3086734" h="2392045">
                  <a:moveTo>
                    <a:pt x="0" y="2391537"/>
                  </a:moveTo>
                  <a:lnTo>
                    <a:pt x="3086480" y="2391537"/>
                  </a:lnTo>
                  <a:lnTo>
                    <a:pt x="3086480" y="0"/>
                  </a:lnTo>
                  <a:lnTo>
                    <a:pt x="0" y="0"/>
                  </a:lnTo>
                  <a:lnTo>
                    <a:pt x="0" y="239153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1079" y="4084320"/>
              <a:ext cx="530351" cy="499871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3088639" y="3840226"/>
            <a:ext cx="2312035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05610">
              <a:lnSpc>
                <a:spcPts val="198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Event!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739"/>
              </a:lnSpc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45"/>
              <a:t> </a:t>
            </a:r>
            <a:r>
              <a:rPr dirty="0" spc="75"/>
              <a:t>CHANGE</a:t>
            </a:r>
            <a:r>
              <a:rPr dirty="0" spc="145"/>
              <a:t> </a:t>
            </a:r>
            <a:r>
              <a:rPr dirty="0" spc="-80"/>
              <a:t>DETECTION</a:t>
            </a:r>
            <a:r>
              <a:rPr dirty="0" spc="120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8491" y="3508247"/>
            <a:ext cx="1397635" cy="408940"/>
          </a:xfrm>
          <a:custGeom>
            <a:avLst/>
            <a:gdLst/>
            <a:ahLst/>
            <a:cxnLst/>
            <a:rect l="l" t="t" r="r" b="b"/>
            <a:pathLst>
              <a:path w="1397635" h="408939">
                <a:moveTo>
                  <a:pt x="1356614" y="0"/>
                </a:moveTo>
                <a:lnTo>
                  <a:pt x="40843" y="0"/>
                </a:lnTo>
                <a:lnTo>
                  <a:pt x="24945" y="3210"/>
                </a:lnTo>
                <a:lnTo>
                  <a:pt x="11963" y="11969"/>
                </a:lnTo>
                <a:lnTo>
                  <a:pt x="3209" y="24967"/>
                </a:lnTo>
                <a:lnTo>
                  <a:pt x="0" y="40893"/>
                </a:lnTo>
                <a:lnTo>
                  <a:pt x="0" y="367538"/>
                </a:lnTo>
                <a:lnTo>
                  <a:pt x="3209" y="383464"/>
                </a:lnTo>
                <a:lnTo>
                  <a:pt x="11963" y="396462"/>
                </a:lnTo>
                <a:lnTo>
                  <a:pt x="24945" y="405221"/>
                </a:lnTo>
                <a:lnTo>
                  <a:pt x="40843" y="408431"/>
                </a:lnTo>
                <a:lnTo>
                  <a:pt x="1356614" y="408431"/>
                </a:lnTo>
                <a:lnTo>
                  <a:pt x="1372540" y="405221"/>
                </a:lnTo>
                <a:lnTo>
                  <a:pt x="1385538" y="396462"/>
                </a:lnTo>
                <a:lnTo>
                  <a:pt x="1394297" y="383464"/>
                </a:lnTo>
                <a:lnTo>
                  <a:pt x="1397508" y="367538"/>
                </a:lnTo>
                <a:lnTo>
                  <a:pt x="1397508" y="40893"/>
                </a:lnTo>
                <a:lnTo>
                  <a:pt x="1394297" y="24967"/>
                </a:lnTo>
                <a:lnTo>
                  <a:pt x="1385538" y="11969"/>
                </a:lnTo>
                <a:lnTo>
                  <a:pt x="1372540" y="3210"/>
                </a:lnTo>
                <a:lnTo>
                  <a:pt x="1356614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3950" y="3555619"/>
            <a:ext cx="1325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AppComponent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80157" y="2473198"/>
            <a:ext cx="1971039" cy="1245870"/>
            <a:chOff x="2280157" y="2473198"/>
            <a:chExt cx="1971039" cy="1245870"/>
          </a:xfrm>
        </p:grpSpPr>
        <p:sp>
          <p:nvSpPr>
            <p:cNvPr id="6" name="object 6" descr=""/>
            <p:cNvSpPr/>
            <p:nvPr/>
          </p:nvSpPr>
          <p:spPr>
            <a:xfrm>
              <a:off x="2286507" y="2683891"/>
              <a:ext cx="559435" cy="1028700"/>
            </a:xfrm>
            <a:custGeom>
              <a:avLst/>
              <a:gdLst/>
              <a:ahLst/>
              <a:cxnLst/>
              <a:rect l="l" t="t" r="r" b="b"/>
              <a:pathLst>
                <a:path w="559435" h="1028700">
                  <a:moveTo>
                    <a:pt x="0" y="1028573"/>
                  </a:moveTo>
                  <a:lnTo>
                    <a:pt x="559181" y="0"/>
                  </a:lnTo>
                </a:path>
              </a:pathLst>
            </a:custGeom>
            <a:ln w="12700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45307" y="24795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1358138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7538"/>
                  </a:lnTo>
                  <a:lnTo>
                    <a:pt x="3210" y="383464"/>
                  </a:lnTo>
                  <a:lnTo>
                    <a:pt x="11969" y="396462"/>
                  </a:lnTo>
                  <a:lnTo>
                    <a:pt x="24967" y="405221"/>
                  </a:lnTo>
                  <a:lnTo>
                    <a:pt x="40893" y="408431"/>
                  </a:lnTo>
                  <a:lnTo>
                    <a:pt x="1358138" y="408431"/>
                  </a:lnTo>
                  <a:lnTo>
                    <a:pt x="1374064" y="405221"/>
                  </a:lnTo>
                  <a:lnTo>
                    <a:pt x="1387062" y="396462"/>
                  </a:lnTo>
                  <a:lnTo>
                    <a:pt x="1395821" y="383464"/>
                  </a:lnTo>
                  <a:lnTo>
                    <a:pt x="1399032" y="367538"/>
                  </a:lnTo>
                  <a:lnTo>
                    <a:pt x="1399032" y="40893"/>
                  </a:lnTo>
                  <a:lnTo>
                    <a:pt x="1395821" y="24967"/>
                  </a:lnTo>
                  <a:lnTo>
                    <a:pt x="1387062" y="11969"/>
                  </a:lnTo>
                  <a:lnTo>
                    <a:pt x="1374064" y="3210"/>
                  </a:lnTo>
                  <a:lnTo>
                    <a:pt x="135813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845307" y="24795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1358138" y="0"/>
                  </a:lnTo>
                  <a:lnTo>
                    <a:pt x="1374064" y="3210"/>
                  </a:lnTo>
                  <a:lnTo>
                    <a:pt x="1387062" y="11969"/>
                  </a:lnTo>
                  <a:lnTo>
                    <a:pt x="1395821" y="24967"/>
                  </a:lnTo>
                  <a:lnTo>
                    <a:pt x="1399032" y="40893"/>
                  </a:lnTo>
                  <a:lnTo>
                    <a:pt x="1399032" y="367538"/>
                  </a:lnTo>
                  <a:lnTo>
                    <a:pt x="1395821" y="383464"/>
                  </a:lnTo>
                  <a:lnTo>
                    <a:pt x="1387062" y="396462"/>
                  </a:lnTo>
                  <a:lnTo>
                    <a:pt x="1374064" y="405221"/>
                  </a:lnTo>
                  <a:lnTo>
                    <a:pt x="1358138" y="408431"/>
                  </a:lnTo>
                  <a:lnTo>
                    <a:pt x="40893" y="408431"/>
                  </a:lnTo>
                  <a:lnTo>
                    <a:pt x="24967" y="405221"/>
                  </a:lnTo>
                  <a:lnTo>
                    <a:pt x="11969" y="396462"/>
                  </a:lnTo>
                  <a:lnTo>
                    <a:pt x="3210" y="383464"/>
                  </a:lnTo>
                  <a:lnTo>
                    <a:pt x="0" y="367538"/>
                  </a:lnTo>
                  <a:lnTo>
                    <a:pt x="0" y="4089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86507" y="3198114"/>
              <a:ext cx="559435" cy="514350"/>
            </a:xfrm>
            <a:custGeom>
              <a:avLst/>
              <a:gdLst/>
              <a:ahLst/>
              <a:cxnLst/>
              <a:rect l="l" t="t" r="r" b="b"/>
              <a:pathLst>
                <a:path w="559435" h="514350">
                  <a:moveTo>
                    <a:pt x="0" y="514350"/>
                  </a:moveTo>
                  <a:lnTo>
                    <a:pt x="559181" y="0"/>
                  </a:lnTo>
                </a:path>
              </a:pathLst>
            </a:custGeom>
            <a:ln w="12699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845307" y="29931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1358011" y="0"/>
                  </a:moveTo>
                  <a:lnTo>
                    <a:pt x="41021" y="0"/>
                  </a:lnTo>
                  <a:lnTo>
                    <a:pt x="25074" y="3230"/>
                  </a:lnTo>
                  <a:lnTo>
                    <a:pt x="12033" y="12033"/>
                  </a:lnTo>
                  <a:lnTo>
                    <a:pt x="3230" y="25074"/>
                  </a:lnTo>
                  <a:lnTo>
                    <a:pt x="0" y="41021"/>
                  </a:lnTo>
                  <a:lnTo>
                    <a:pt x="0" y="368935"/>
                  </a:lnTo>
                  <a:lnTo>
                    <a:pt x="3230" y="384881"/>
                  </a:lnTo>
                  <a:lnTo>
                    <a:pt x="12033" y="397922"/>
                  </a:lnTo>
                  <a:lnTo>
                    <a:pt x="25074" y="406725"/>
                  </a:lnTo>
                  <a:lnTo>
                    <a:pt x="41021" y="409955"/>
                  </a:lnTo>
                  <a:lnTo>
                    <a:pt x="1358011" y="409955"/>
                  </a:lnTo>
                  <a:lnTo>
                    <a:pt x="1373957" y="406725"/>
                  </a:lnTo>
                  <a:lnTo>
                    <a:pt x="1386998" y="397922"/>
                  </a:lnTo>
                  <a:lnTo>
                    <a:pt x="1395801" y="384881"/>
                  </a:lnTo>
                  <a:lnTo>
                    <a:pt x="1399032" y="368935"/>
                  </a:lnTo>
                  <a:lnTo>
                    <a:pt x="1399032" y="41021"/>
                  </a:lnTo>
                  <a:lnTo>
                    <a:pt x="1395801" y="25074"/>
                  </a:lnTo>
                  <a:lnTo>
                    <a:pt x="1386998" y="12033"/>
                  </a:lnTo>
                  <a:lnTo>
                    <a:pt x="1373957" y="3230"/>
                  </a:lnTo>
                  <a:lnTo>
                    <a:pt x="135801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845307" y="29931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0" y="41021"/>
                  </a:moveTo>
                  <a:lnTo>
                    <a:pt x="3230" y="25074"/>
                  </a:lnTo>
                  <a:lnTo>
                    <a:pt x="12033" y="12033"/>
                  </a:lnTo>
                  <a:lnTo>
                    <a:pt x="25074" y="3230"/>
                  </a:lnTo>
                  <a:lnTo>
                    <a:pt x="41021" y="0"/>
                  </a:lnTo>
                  <a:lnTo>
                    <a:pt x="1358011" y="0"/>
                  </a:lnTo>
                  <a:lnTo>
                    <a:pt x="1373957" y="3230"/>
                  </a:lnTo>
                  <a:lnTo>
                    <a:pt x="1386998" y="12033"/>
                  </a:lnTo>
                  <a:lnTo>
                    <a:pt x="1395801" y="25074"/>
                  </a:lnTo>
                  <a:lnTo>
                    <a:pt x="1399032" y="41021"/>
                  </a:lnTo>
                  <a:lnTo>
                    <a:pt x="1399032" y="368935"/>
                  </a:lnTo>
                  <a:lnTo>
                    <a:pt x="1395801" y="384881"/>
                  </a:lnTo>
                  <a:lnTo>
                    <a:pt x="1386998" y="397922"/>
                  </a:lnTo>
                  <a:lnTo>
                    <a:pt x="1373957" y="406725"/>
                  </a:lnTo>
                  <a:lnTo>
                    <a:pt x="1358011" y="409955"/>
                  </a:lnTo>
                  <a:lnTo>
                    <a:pt x="41021" y="409955"/>
                  </a:lnTo>
                  <a:lnTo>
                    <a:pt x="25074" y="406725"/>
                  </a:lnTo>
                  <a:lnTo>
                    <a:pt x="12033" y="397922"/>
                  </a:lnTo>
                  <a:lnTo>
                    <a:pt x="3230" y="384881"/>
                  </a:lnTo>
                  <a:lnTo>
                    <a:pt x="0" y="368935"/>
                  </a:lnTo>
                  <a:lnTo>
                    <a:pt x="0" y="4102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88639" y="2526537"/>
            <a:ext cx="913130" cy="783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279650" y="3501897"/>
            <a:ext cx="1971039" cy="421640"/>
            <a:chOff x="2279650" y="3501897"/>
            <a:chExt cx="1971039" cy="421640"/>
          </a:xfrm>
        </p:grpSpPr>
        <p:sp>
          <p:nvSpPr>
            <p:cNvPr id="14" name="object 14" descr=""/>
            <p:cNvSpPr/>
            <p:nvPr/>
          </p:nvSpPr>
          <p:spPr>
            <a:xfrm>
              <a:off x="2286000" y="3712082"/>
              <a:ext cx="559435" cy="0"/>
            </a:xfrm>
            <a:custGeom>
              <a:avLst/>
              <a:gdLst/>
              <a:ahLst/>
              <a:cxnLst/>
              <a:rect l="l" t="t" r="r" b="b"/>
              <a:pathLst>
                <a:path w="559435" h="0">
                  <a:moveTo>
                    <a:pt x="0" y="0"/>
                  </a:moveTo>
                  <a:lnTo>
                    <a:pt x="559181" y="0"/>
                  </a:lnTo>
                </a:path>
              </a:pathLst>
            </a:custGeom>
            <a:ln w="12700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845308" y="3508247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1358138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7538"/>
                  </a:lnTo>
                  <a:lnTo>
                    <a:pt x="3210" y="383464"/>
                  </a:lnTo>
                  <a:lnTo>
                    <a:pt x="11969" y="396462"/>
                  </a:lnTo>
                  <a:lnTo>
                    <a:pt x="24967" y="405221"/>
                  </a:lnTo>
                  <a:lnTo>
                    <a:pt x="40893" y="408431"/>
                  </a:lnTo>
                  <a:lnTo>
                    <a:pt x="1358138" y="408431"/>
                  </a:lnTo>
                  <a:lnTo>
                    <a:pt x="1374064" y="405221"/>
                  </a:lnTo>
                  <a:lnTo>
                    <a:pt x="1387062" y="396462"/>
                  </a:lnTo>
                  <a:lnTo>
                    <a:pt x="1395821" y="383464"/>
                  </a:lnTo>
                  <a:lnTo>
                    <a:pt x="1399032" y="367538"/>
                  </a:lnTo>
                  <a:lnTo>
                    <a:pt x="1399032" y="40893"/>
                  </a:lnTo>
                  <a:lnTo>
                    <a:pt x="1395821" y="24967"/>
                  </a:lnTo>
                  <a:lnTo>
                    <a:pt x="1387062" y="11969"/>
                  </a:lnTo>
                  <a:lnTo>
                    <a:pt x="1374064" y="3210"/>
                  </a:lnTo>
                  <a:lnTo>
                    <a:pt x="135813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845308" y="3508247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1358138" y="0"/>
                  </a:lnTo>
                  <a:lnTo>
                    <a:pt x="1374064" y="3210"/>
                  </a:lnTo>
                  <a:lnTo>
                    <a:pt x="1387062" y="11969"/>
                  </a:lnTo>
                  <a:lnTo>
                    <a:pt x="1395821" y="24967"/>
                  </a:lnTo>
                  <a:lnTo>
                    <a:pt x="1399032" y="40893"/>
                  </a:lnTo>
                  <a:lnTo>
                    <a:pt x="1399032" y="367538"/>
                  </a:lnTo>
                  <a:lnTo>
                    <a:pt x="1395821" y="383464"/>
                  </a:lnTo>
                  <a:lnTo>
                    <a:pt x="1387062" y="396462"/>
                  </a:lnTo>
                  <a:lnTo>
                    <a:pt x="1374064" y="405221"/>
                  </a:lnTo>
                  <a:lnTo>
                    <a:pt x="1358138" y="408431"/>
                  </a:lnTo>
                  <a:lnTo>
                    <a:pt x="40893" y="408431"/>
                  </a:lnTo>
                  <a:lnTo>
                    <a:pt x="24967" y="405221"/>
                  </a:lnTo>
                  <a:lnTo>
                    <a:pt x="11969" y="396462"/>
                  </a:lnTo>
                  <a:lnTo>
                    <a:pt x="3210" y="383464"/>
                  </a:lnTo>
                  <a:lnTo>
                    <a:pt x="0" y="367538"/>
                  </a:lnTo>
                  <a:lnTo>
                    <a:pt x="0" y="4089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088639" y="3555619"/>
            <a:ext cx="913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280157" y="3706114"/>
            <a:ext cx="1971039" cy="732155"/>
            <a:chOff x="2280157" y="3706114"/>
            <a:chExt cx="1971039" cy="732155"/>
          </a:xfrm>
        </p:grpSpPr>
        <p:sp>
          <p:nvSpPr>
            <p:cNvPr id="19" name="object 19" descr=""/>
            <p:cNvSpPr/>
            <p:nvPr/>
          </p:nvSpPr>
          <p:spPr>
            <a:xfrm>
              <a:off x="2286507" y="3712464"/>
              <a:ext cx="559435" cy="514350"/>
            </a:xfrm>
            <a:custGeom>
              <a:avLst/>
              <a:gdLst/>
              <a:ahLst/>
              <a:cxnLst/>
              <a:rect l="l" t="t" r="r" b="b"/>
              <a:pathLst>
                <a:path w="559435" h="514350">
                  <a:moveTo>
                    <a:pt x="0" y="0"/>
                  </a:moveTo>
                  <a:lnTo>
                    <a:pt x="559181" y="514350"/>
                  </a:lnTo>
                </a:path>
              </a:pathLst>
            </a:custGeom>
            <a:ln w="12699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845307" y="40218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1358011" y="0"/>
                  </a:moveTo>
                  <a:lnTo>
                    <a:pt x="41021" y="0"/>
                  </a:lnTo>
                  <a:lnTo>
                    <a:pt x="25074" y="3230"/>
                  </a:lnTo>
                  <a:lnTo>
                    <a:pt x="12033" y="12033"/>
                  </a:lnTo>
                  <a:lnTo>
                    <a:pt x="3230" y="25074"/>
                  </a:lnTo>
                  <a:lnTo>
                    <a:pt x="0" y="41020"/>
                  </a:lnTo>
                  <a:lnTo>
                    <a:pt x="0" y="368934"/>
                  </a:lnTo>
                  <a:lnTo>
                    <a:pt x="3230" y="384881"/>
                  </a:lnTo>
                  <a:lnTo>
                    <a:pt x="12033" y="397922"/>
                  </a:lnTo>
                  <a:lnTo>
                    <a:pt x="25074" y="406725"/>
                  </a:lnTo>
                  <a:lnTo>
                    <a:pt x="41021" y="409956"/>
                  </a:lnTo>
                  <a:lnTo>
                    <a:pt x="1358011" y="409956"/>
                  </a:lnTo>
                  <a:lnTo>
                    <a:pt x="1373957" y="406725"/>
                  </a:lnTo>
                  <a:lnTo>
                    <a:pt x="1386998" y="397922"/>
                  </a:lnTo>
                  <a:lnTo>
                    <a:pt x="1395801" y="384881"/>
                  </a:lnTo>
                  <a:lnTo>
                    <a:pt x="1399032" y="368934"/>
                  </a:lnTo>
                  <a:lnTo>
                    <a:pt x="1399032" y="41020"/>
                  </a:lnTo>
                  <a:lnTo>
                    <a:pt x="1395801" y="25074"/>
                  </a:lnTo>
                  <a:lnTo>
                    <a:pt x="1386998" y="12033"/>
                  </a:lnTo>
                  <a:lnTo>
                    <a:pt x="1373957" y="3230"/>
                  </a:lnTo>
                  <a:lnTo>
                    <a:pt x="135801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845307" y="4021836"/>
              <a:ext cx="1399540" cy="410209"/>
            </a:xfrm>
            <a:custGeom>
              <a:avLst/>
              <a:gdLst/>
              <a:ahLst/>
              <a:cxnLst/>
              <a:rect l="l" t="t" r="r" b="b"/>
              <a:pathLst>
                <a:path w="1399539" h="410210">
                  <a:moveTo>
                    <a:pt x="0" y="41020"/>
                  </a:moveTo>
                  <a:lnTo>
                    <a:pt x="3230" y="25074"/>
                  </a:lnTo>
                  <a:lnTo>
                    <a:pt x="12033" y="12033"/>
                  </a:lnTo>
                  <a:lnTo>
                    <a:pt x="25074" y="3230"/>
                  </a:lnTo>
                  <a:lnTo>
                    <a:pt x="41021" y="0"/>
                  </a:lnTo>
                  <a:lnTo>
                    <a:pt x="1358011" y="0"/>
                  </a:lnTo>
                  <a:lnTo>
                    <a:pt x="1373957" y="3230"/>
                  </a:lnTo>
                  <a:lnTo>
                    <a:pt x="1386998" y="12033"/>
                  </a:lnTo>
                  <a:lnTo>
                    <a:pt x="1395801" y="25074"/>
                  </a:lnTo>
                  <a:lnTo>
                    <a:pt x="1399032" y="41020"/>
                  </a:lnTo>
                  <a:lnTo>
                    <a:pt x="1399032" y="368934"/>
                  </a:lnTo>
                  <a:lnTo>
                    <a:pt x="1395801" y="384881"/>
                  </a:lnTo>
                  <a:lnTo>
                    <a:pt x="1386998" y="397922"/>
                  </a:lnTo>
                  <a:lnTo>
                    <a:pt x="1373957" y="406725"/>
                  </a:lnTo>
                  <a:lnTo>
                    <a:pt x="1358011" y="409956"/>
                  </a:lnTo>
                  <a:lnTo>
                    <a:pt x="41021" y="409956"/>
                  </a:lnTo>
                  <a:lnTo>
                    <a:pt x="25074" y="406725"/>
                  </a:lnTo>
                  <a:lnTo>
                    <a:pt x="12033" y="397922"/>
                  </a:lnTo>
                  <a:lnTo>
                    <a:pt x="3230" y="384881"/>
                  </a:lnTo>
                  <a:lnTo>
                    <a:pt x="0" y="368934"/>
                  </a:lnTo>
                  <a:lnTo>
                    <a:pt x="0" y="4102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088639" y="4069537"/>
            <a:ext cx="9137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RouterLink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280157" y="3706114"/>
            <a:ext cx="1971039" cy="1245870"/>
            <a:chOff x="2280157" y="3706114"/>
            <a:chExt cx="1971039" cy="1245870"/>
          </a:xfrm>
        </p:grpSpPr>
        <p:sp>
          <p:nvSpPr>
            <p:cNvPr id="24" name="object 24" descr=""/>
            <p:cNvSpPr/>
            <p:nvPr/>
          </p:nvSpPr>
          <p:spPr>
            <a:xfrm>
              <a:off x="2286507" y="3712464"/>
              <a:ext cx="559435" cy="1028700"/>
            </a:xfrm>
            <a:custGeom>
              <a:avLst/>
              <a:gdLst/>
              <a:ahLst/>
              <a:cxnLst/>
              <a:rect l="l" t="t" r="r" b="b"/>
              <a:pathLst>
                <a:path w="559435" h="1028700">
                  <a:moveTo>
                    <a:pt x="0" y="0"/>
                  </a:moveTo>
                  <a:lnTo>
                    <a:pt x="559181" y="1028700"/>
                  </a:lnTo>
                </a:path>
              </a:pathLst>
            </a:custGeom>
            <a:ln w="12700">
              <a:solidFill>
                <a:srgbClr val="004E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845307" y="45369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1358138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7538"/>
                  </a:lnTo>
                  <a:lnTo>
                    <a:pt x="3210" y="383464"/>
                  </a:lnTo>
                  <a:lnTo>
                    <a:pt x="11969" y="396462"/>
                  </a:lnTo>
                  <a:lnTo>
                    <a:pt x="24967" y="405221"/>
                  </a:lnTo>
                  <a:lnTo>
                    <a:pt x="40893" y="408431"/>
                  </a:lnTo>
                  <a:lnTo>
                    <a:pt x="1358138" y="408431"/>
                  </a:lnTo>
                  <a:lnTo>
                    <a:pt x="1374064" y="405221"/>
                  </a:lnTo>
                  <a:lnTo>
                    <a:pt x="1387062" y="396462"/>
                  </a:lnTo>
                  <a:lnTo>
                    <a:pt x="1395821" y="383464"/>
                  </a:lnTo>
                  <a:lnTo>
                    <a:pt x="1399032" y="367538"/>
                  </a:lnTo>
                  <a:lnTo>
                    <a:pt x="1399032" y="40893"/>
                  </a:lnTo>
                  <a:lnTo>
                    <a:pt x="1395821" y="24967"/>
                  </a:lnTo>
                  <a:lnTo>
                    <a:pt x="1387062" y="11969"/>
                  </a:lnTo>
                  <a:lnTo>
                    <a:pt x="1374064" y="3210"/>
                  </a:lnTo>
                  <a:lnTo>
                    <a:pt x="135813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845307" y="4536948"/>
              <a:ext cx="1399540" cy="408940"/>
            </a:xfrm>
            <a:custGeom>
              <a:avLst/>
              <a:gdLst/>
              <a:ahLst/>
              <a:cxnLst/>
              <a:rect l="l" t="t" r="r" b="b"/>
              <a:pathLst>
                <a:path w="1399539" h="408939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1358138" y="0"/>
                  </a:lnTo>
                  <a:lnTo>
                    <a:pt x="1374064" y="3210"/>
                  </a:lnTo>
                  <a:lnTo>
                    <a:pt x="1387062" y="11969"/>
                  </a:lnTo>
                  <a:lnTo>
                    <a:pt x="1395821" y="24967"/>
                  </a:lnTo>
                  <a:lnTo>
                    <a:pt x="1399032" y="40893"/>
                  </a:lnTo>
                  <a:lnTo>
                    <a:pt x="1399032" y="367538"/>
                  </a:lnTo>
                  <a:lnTo>
                    <a:pt x="1395821" y="383464"/>
                  </a:lnTo>
                  <a:lnTo>
                    <a:pt x="1387062" y="396462"/>
                  </a:lnTo>
                  <a:lnTo>
                    <a:pt x="1374064" y="405221"/>
                  </a:lnTo>
                  <a:lnTo>
                    <a:pt x="1358138" y="408431"/>
                  </a:lnTo>
                  <a:lnTo>
                    <a:pt x="40893" y="408431"/>
                  </a:lnTo>
                  <a:lnTo>
                    <a:pt x="24967" y="405221"/>
                  </a:lnTo>
                  <a:lnTo>
                    <a:pt x="11969" y="396462"/>
                  </a:lnTo>
                  <a:lnTo>
                    <a:pt x="3210" y="383464"/>
                  </a:lnTo>
                  <a:lnTo>
                    <a:pt x="0" y="367538"/>
                  </a:lnTo>
                  <a:lnTo>
                    <a:pt x="0" y="4089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2991104" y="4584319"/>
            <a:ext cx="11055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RouterOutlet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237990" y="4409313"/>
            <a:ext cx="4457700" cy="665480"/>
            <a:chOff x="4237990" y="4409313"/>
            <a:chExt cx="4457700" cy="665480"/>
          </a:xfrm>
        </p:grpSpPr>
        <p:sp>
          <p:nvSpPr>
            <p:cNvPr id="29" name="object 29" descr=""/>
            <p:cNvSpPr/>
            <p:nvPr/>
          </p:nvSpPr>
          <p:spPr>
            <a:xfrm>
              <a:off x="4244340" y="4740783"/>
              <a:ext cx="559435" cy="0"/>
            </a:xfrm>
            <a:custGeom>
              <a:avLst/>
              <a:gdLst/>
              <a:ahLst/>
              <a:cxnLst/>
              <a:rect l="l" t="t" r="r" b="b"/>
              <a:pathLst>
                <a:path w="559435" h="0">
                  <a:moveTo>
                    <a:pt x="0" y="0"/>
                  </a:moveTo>
                  <a:lnTo>
                    <a:pt x="559181" y="0"/>
                  </a:lnTo>
                </a:path>
              </a:pathLst>
            </a:custGeom>
            <a:ln w="12700">
              <a:solidFill>
                <a:srgbClr val="005A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802886" y="4418838"/>
              <a:ext cx="3883660" cy="646430"/>
            </a:xfrm>
            <a:custGeom>
              <a:avLst/>
              <a:gdLst/>
              <a:ahLst/>
              <a:cxnLst/>
              <a:rect l="l" t="t" r="r" b="b"/>
              <a:pathLst>
                <a:path w="3883659" h="646429">
                  <a:moveTo>
                    <a:pt x="3818509" y="0"/>
                  </a:moveTo>
                  <a:lnTo>
                    <a:pt x="64642" y="0"/>
                  </a:lnTo>
                  <a:lnTo>
                    <a:pt x="39487" y="5081"/>
                  </a:lnTo>
                  <a:lnTo>
                    <a:pt x="18938" y="18938"/>
                  </a:lnTo>
                  <a:lnTo>
                    <a:pt x="5081" y="39487"/>
                  </a:lnTo>
                  <a:lnTo>
                    <a:pt x="0" y="64643"/>
                  </a:lnTo>
                  <a:lnTo>
                    <a:pt x="0" y="581532"/>
                  </a:lnTo>
                  <a:lnTo>
                    <a:pt x="5081" y="606688"/>
                  </a:lnTo>
                  <a:lnTo>
                    <a:pt x="18938" y="627237"/>
                  </a:lnTo>
                  <a:lnTo>
                    <a:pt x="39487" y="641094"/>
                  </a:lnTo>
                  <a:lnTo>
                    <a:pt x="64642" y="646176"/>
                  </a:lnTo>
                  <a:lnTo>
                    <a:pt x="3818509" y="646176"/>
                  </a:lnTo>
                  <a:lnTo>
                    <a:pt x="3843664" y="641094"/>
                  </a:lnTo>
                  <a:lnTo>
                    <a:pt x="3864213" y="627237"/>
                  </a:lnTo>
                  <a:lnTo>
                    <a:pt x="3878070" y="606688"/>
                  </a:lnTo>
                  <a:lnTo>
                    <a:pt x="3883152" y="581532"/>
                  </a:lnTo>
                  <a:lnTo>
                    <a:pt x="3883152" y="64643"/>
                  </a:lnTo>
                  <a:lnTo>
                    <a:pt x="3878070" y="39487"/>
                  </a:lnTo>
                  <a:lnTo>
                    <a:pt x="3864213" y="18938"/>
                  </a:lnTo>
                  <a:lnTo>
                    <a:pt x="3843664" y="5081"/>
                  </a:lnTo>
                  <a:lnTo>
                    <a:pt x="3818509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802886" y="4418838"/>
              <a:ext cx="3883660" cy="646430"/>
            </a:xfrm>
            <a:custGeom>
              <a:avLst/>
              <a:gdLst/>
              <a:ahLst/>
              <a:cxnLst/>
              <a:rect l="l" t="t" r="r" b="b"/>
              <a:pathLst>
                <a:path w="3883659" h="646429">
                  <a:moveTo>
                    <a:pt x="0" y="64643"/>
                  </a:moveTo>
                  <a:lnTo>
                    <a:pt x="5081" y="39487"/>
                  </a:lnTo>
                  <a:lnTo>
                    <a:pt x="18938" y="18938"/>
                  </a:lnTo>
                  <a:lnTo>
                    <a:pt x="39487" y="5081"/>
                  </a:lnTo>
                  <a:lnTo>
                    <a:pt x="64642" y="0"/>
                  </a:lnTo>
                  <a:lnTo>
                    <a:pt x="3818509" y="0"/>
                  </a:lnTo>
                  <a:lnTo>
                    <a:pt x="3843664" y="5081"/>
                  </a:lnTo>
                  <a:lnTo>
                    <a:pt x="3864213" y="18938"/>
                  </a:lnTo>
                  <a:lnTo>
                    <a:pt x="3878070" y="39487"/>
                  </a:lnTo>
                  <a:lnTo>
                    <a:pt x="3883152" y="64643"/>
                  </a:lnTo>
                  <a:lnTo>
                    <a:pt x="3883152" y="581532"/>
                  </a:lnTo>
                  <a:lnTo>
                    <a:pt x="3878070" y="606688"/>
                  </a:lnTo>
                  <a:lnTo>
                    <a:pt x="3864213" y="627237"/>
                  </a:lnTo>
                  <a:lnTo>
                    <a:pt x="3843664" y="641094"/>
                  </a:lnTo>
                  <a:lnTo>
                    <a:pt x="3818509" y="646176"/>
                  </a:lnTo>
                  <a:lnTo>
                    <a:pt x="64642" y="646176"/>
                  </a:lnTo>
                  <a:lnTo>
                    <a:pt x="39487" y="641094"/>
                  </a:lnTo>
                  <a:lnTo>
                    <a:pt x="18938" y="627237"/>
                  </a:lnTo>
                  <a:lnTo>
                    <a:pt x="5081" y="606688"/>
                  </a:lnTo>
                  <a:lnTo>
                    <a:pt x="0" y="581532"/>
                  </a:lnTo>
                  <a:lnTo>
                    <a:pt x="0" y="64643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5424932" y="4434078"/>
            <a:ext cx="2639060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CatFactsComponent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catFact</a:t>
            </a:r>
            <a:r>
              <a:rPr dirty="0" sz="1100" spc="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= "Cats</a:t>
            </a:r>
            <a:r>
              <a:rPr dirty="0" sz="1100" spc="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are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pretty</a:t>
            </a:r>
            <a:r>
              <a:rPr dirty="0" sz="1100" spc="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great."</a:t>
            </a:r>
            <a:endParaRPr sz="1100">
              <a:latin typeface="Consolas"/>
              <a:cs typeface="Consolas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8223059" y="1677479"/>
            <a:ext cx="3096260" cy="2399665"/>
            <a:chOff x="8223059" y="1677479"/>
            <a:chExt cx="3096260" cy="2399665"/>
          </a:xfrm>
        </p:grpSpPr>
        <p:pic>
          <p:nvPicPr>
            <p:cNvPr id="34" name="object 3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7909" y="1829897"/>
              <a:ext cx="2714961" cy="1790126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8227821" y="1682242"/>
              <a:ext cx="3086735" cy="2390140"/>
            </a:xfrm>
            <a:custGeom>
              <a:avLst/>
              <a:gdLst/>
              <a:ahLst/>
              <a:cxnLst/>
              <a:rect l="l" t="t" r="r" b="b"/>
              <a:pathLst>
                <a:path w="3086734" h="2390140">
                  <a:moveTo>
                    <a:pt x="0" y="2390012"/>
                  </a:moveTo>
                  <a:lnTo>
                    <a:pt x="3086480" y="2390012"/>
                  </a:lnTo>
                  <a:lnTo>
                    <a:pt x="3086480" y="0"/>
                  </a:lnTo>
                  <a:lnTo>
                    <a:pt x="0" y="0"/>
                  </a:lnTo>
                  <a:lnTo>
                    <a:pt x="0" y="2390012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275082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/>
              <a:t>SIGNALS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85"/>
              <a:t> </a:t>
            </a:r>
            <a:r>
              <a:rPr dirty="0" spc="-10"/>
              <a:t>SIGNALS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64445" cy="41281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introduced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17</a:t>
            </a:r>
            <a:endParaRPr sz="2800">
              <a:latin typeface="Calibri"/>
              <a:cs typeface="Calibri"/>
            </a:endParaRPr>
          </a:p>
          <a:p>
            <a:pPr marL="240029" marR="54229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granularly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track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throughout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further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optimize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updates.</a:t>
            </a:r>
            <a:endParaRPr sz="2800">
              <a:latin typeface="Calibri"/>
              <a:cs typeface="Calibri"/>
            </a:endParaRPr>
          </a:p>
          <a:p>
            <a:pPr marL="240029" marR="2540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nutshell,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think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notify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interested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consumers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achieve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reactive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programming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declarative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programming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asynchronous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event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processing</a:t>
            </a:r>
            <a:endParaRPr sz="2400">
              <a:latin typeface="Calibri"/>
              <a:cs typeface="Calibri"/>
            </a:endParaRPr>
          </a:p>
          <a:p>
            <a:pPr marL="240029" marR="149860" indent="-227329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avoid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unnecessary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detection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30"/>
              <a:t> </a:t>
            </a:r>
            <a:r>
              <a:rPr dirty="0" spc="125"/>
              <a:t>AND</a:t>
            </a:r>
            <a:r>
              <a:rPr dirty="0" spc="35"/>
              <a:t> </a:t>
            </a:r>
            <a:r>
              <a:rPr dirty="0"/>
              <a:t>UPDATING</a:t>
            </a:r>
            <a:r>
              <a:rPr dirty="0" spc="10"/>
              <a:t> </a:t>
            </a:r>
            <a:r>
              <a:rPr dirty="0" spc="-10"/>
              <a:t>SIGNALS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993630" cy="28625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writeable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read-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Writeable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signal()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writeable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initial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signal()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.set()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.update()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compute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previous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700015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CounterSignalComponent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count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signal(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//initial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value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zero</a:t>
            </a:r>
            <a:endParaRPr sz="1800">
              <a:latin typeface="Consolas"/>
              <a:cs typeface="Consolas"/>
            </a:endParaRPr>
          </a:p>
          <a:p>
            <a:pPr marL="342265" marR="3056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handleClick()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.count.update(value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value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latin typeface="Consolas"/>
                <a:cs typeface="Consolas"/>
              </a:rPr>
              <a:t>handleReset()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.count.set(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1995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10"/>
              <a:t> SIGNALS:</a:t>
            </a:r>
            <a:r>
              <a:rPr dirty="0" spc="-30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470660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import</a:t>
            </a:r>
            <a:r>
              <a:rPr dirty="0" spc="-45">
                <a:solidFill>
                  <a:srgbClr val="0000FF"/>
                </a:solidFill>
              </a:rPr>
              <a:t> </a:t>
            </a:r>
            <a:r>
              <a:rPr dirty="0"/>
              <a:t>{</a:t>
            </a:r>
            <a:r>
              <a:rPr dirty="0" spc="-25"/>
              <a:t> </a:t>
            </a:r>
            <a:r>
              <a:rPr dirty="0"/>
              <a:t>Component,</a:t>
            </a:r>
            <a:r>
              <a:rPr dirty="0" spc="-35"/>
              <a:t> </a:t>
            </a:r>
            <a:r>
              <a:rPr dirty="0"/>
              <a:t>signal</a:t>
            </a:r>
            <a:r>
              <a:rPr dirty="0" spc="-45"/>
              <a:t> </a:t>
            </a:r>
            <a:r>
              <a:rPr dirty="0"/>
              <a:t>}</a:t>
            </a:r>
            <a:r>
              <a:rPr dirty="0" spc="-20"/>
              <a:t> </a:t>
            </a:r>
            <a:r>
              <a:rPr dirty="0">
                <a:solidFill>
                  <a:srgbClr val="0000FF"/>
                </a:solidFill>
              </a:rPr>
              <a:t>from</a:t>
            </a:r>
            <a:r>
              <a:rPr dirty="0" spc="-3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'@angular/core'</a:t>
            </a:r>
            <a:r>
              <a:rPr dirty="0" spc="-10"/>
              <a:t>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10"/>
              <a:t>@Component({</a:t>
            </a:r>
          </a:p>
          <a:p>
            <a:pPr marL="262255" marR="6020435">
              <a:lnSpc>
                <a:spcPct val="100000"/>
              </a:lnSpc>
            </a:pPr>
            <a:r>
              <a:rPr dirty="0"/>
              <a:t>selector:</a:t>
            </a:r>
            <a:r>
              <a:rPr dirty="0" spc="20"/>
              <a:t> </a:t>
            </a:r>
            <a:r>
              <a:rPr dirty="0" spc="-10">
                <a:solidFill>
                  <a:srgbClr val="A21515"/>
                </a:solidFill>
              </a:rPr>
              <a:t>'app-counter-signal'</a:t>
            </a:r>
            <a:r>
              <a:rPr dirty="0" spc="-10"/>
              <a:t>, </a:t>
            </a:r>
            <a:r>
              <a:rPr dirty="0"/>
              <a:t>standalone:</a:t>
            </a:r>
            <a:r>
              <a:rPr dirty="0" spc="-45"/>
              <a:t> </a:t>
            </a:r>
            <a:r>
              <a:rPr dirty="0" spc="-10">
                <a:solidFill>
                  <a:srgbClr val="0000FF"/>
                </a:solidFill>
              </a:rPr>
              <a:t>true</a:t>
            </a:r>
            <a:r>
              <a:rPr dirty="0" spc="-10"/>
              <a:t>,</a:t>
            </a:r>
          </a:p>
          <a:p>
            <a:pPr marL="262255">
              <a:lnSpc>
                <a:spcPct val="100000"/>
              </a:lnSpc>
            </a:pPr>
            <a:r>
              <a:rPr dirty="0"/>
              <a:t>template:</a:t>
            </a:r>
            <a:r>
              <a:rPr dirty="0" spc="-50"/>
              <a:t> </a:t>
            </a:r>
            <a:r>
              <a:rPr dirty="0" spc="-50">
                <a:solidFill>
                  <a:srgbClr val="A21515"/>
                </a:solidFill>
              </a:rPr>
              <a:t>`</a:t>
            </a: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800000"/>
                </a:solidFill>
              </a:rPr>
              <a:t>&lt;h1&gt;</a:t>
            </a:r>
            <a:r>
              <a:rPr dirty="0"/>
              <a:t>Counter</a:t>
            </a:r>
            <a:r>
              <a:rPr dirty="0" spc="-35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 spc="-10"/>
              <a:t>Signals</a:t>
            </a:r>
            <a:r>
              <a:rPr dirty="0" spc="-10">
                <a:solidFill>
                  <a:srgbClr val="800000"/>
                </a:solidFill>
              </a:rPr>
              <a:t>&lt;/h1&gt;</a:t>
            </a:r>
          </a:p>
          <a:p>
            <a:pPr marL="512445">
              <a:lnSpc>
                <a:spcPct val="100000"/>
              </a:lnSpc>
            </a:pPr>
            <a:r>
              <a:rPr dirty="0">
                <a:solidFill>
                  <a:srgbClr val="800000"/>
                </a:solidFill>
              </a:rPr>
              <a:t>&lt;button</a:t>
            </a:r>
            <a:r>
              <a:rPr dirty="0" spc="-60">
                <a:solidFill>
                  <a:srgbClr val="800000"/>
                </a:solidFill>
              </a:rPr>
              <a:t> </a:t>
            </a:r>
            <a:r>
              <a:rPr dirty="0">
                <a:solidFill>
                  <a:srgbClr val="E40000"/>
                </a:solidFill>
              </a:rPr>
              <a:t>(click)</a:t>
            </a:r>
            <a:r>
              <a:rPr dirty="0"/>
              <a:t>=</a:t>
            </a:r>
            <a:r>
              <a:rPr dirty="0">
                <a:solidFill>
                  <a:srgbClr val="A21515"/>
                </a:solidFill>
              </a:rPr>
              <a:t>"</a:t>
            </a:r>
            <a:r>
              <a:rPr dirty="0"/>
              <a:t>handleClick()</a:t>
            </a:r>
            <a:r>
              <a:rPr dirty="0">
                <a:solidFill>
                  <a:srgbClr val="A21515"/>
                </a:solidFill>
              </a:rPr>
              <a:t>"</a:t>
            </a:r>
            <a:r>
              <a:rPr dirty="0">
                <a:solidFill>
                  <a:srgbClr val="800000"/>
                </a:solidFill>
              </a:rPr>
              <a:t>&gt;</a:t>
            </a:r>
            <a:r>
              <a:rPr dirty="0"/>
              <a:t>Click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 spc="-10"/>
              <a:t>Increment</a:t>
            </a:r>
            <a:r>
              <a:rPr dirty="0" spc="-10">
                <a:solidFill>
                  <a:srgbClr val="800000"/>
                </a:solidFill>
              </a:rPr>
              <a:t>&lt;/button&gt;</a:t>
            </a:r>
          </a:p>
          <a:p>
            <a:pPr marL="512445">
              <a:lnSpc>
                <a:spcPct val="100000"/>
              </a:lnSpc>
            </a:pPr>
            <a:r>
              <a:rPr dirty="0">
                <a:solidFill>
                  <a:srgbClr val="800000"/>
                </a:solidFill>
              </a:rPr>
              <a:t>&lt;button</a:t>
            </a:r>
            <a:r>
              <a:rPr dirty="0" spc="-60">
                <a:solidFill>
                  <a:srgbClr val="800000"/>
                </a:solidFill>
              </a:rPr>
              <a:t> </a:t>
            </a:r>
            <a:r>
              <a:rPr dirty="0">
                <a:solidFill>
                  <a:srgbClr val="E40000"/>
                </a:solidFill>
              </a:rPr>
              <a:t>(click)</a:t>
            </a:r>
            <a:r>
              <a:rPr dirty="0"/>
              <a:t>=</a:t>
            </a:r>
            <a:r>
              <a:rPr dirty="0">
                <a:solidFill>
                  <a:srgbClr val="A21515"/>
                </a:solidFill>
              </a:rPr>
              <a:t>"</a:t>
            </a:r>
            <a:r>
              <a:rPr dirty="0"/>
              <a:t>handleReset()</a:t>
            </a:r>
            <a:r>
              <a:rPr dirty="0">
                <a:solidFill>
                  <a:srgbClr val="A21515"/>
                </a:solidFill>
              </a:rPr>
              <a:t>"</a:t>
            </a:r>
            <a:r>
              <a:rPr dirty="0">
                <a:solidFill>
                  <a:srgbClr val="800000"/>
                </a:solidFill>
              </a:rPr>
              <a:t>&gt;</a:t>
            </a:r>
            <a:r>
              <a:rPr dirty="0"/>
              <a:t>Click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 spc="-10"/>
              <a:t>Reset</a:t>
            </a:r>
            <a:r>
              <a:rPr dirty="0" spc="-10">
                <a:solidFill>
                  <a:srgbClr val="800000"/>
                </a:solidFill>
              </a:rPr>
              <a:t>&lt;/button&gt;</a:t>
            </a:r>
          </a:p>
          <a:p>
            <a:pPr marL="512445">
              <a:lnSpc>
                <a:spcPct val="100000"/>
              </a:lnSpc>
            </a:pPr>
            <a:r>
              <a:rPr dirty="0">
                <a:solidFill>
                  <a:srgbClr val="800000"/>
                </a:solidFill>
              </a:rPr>
              <a:t>&lt;p&gt;</a:t>
            </a:r>
            <a:r>
              <a:rPr dirty="0"/>
              <a:t>{{count()}}</a:t>
            </a:r>
            <a:r>
              <a:rPr dirty="0">
                <a:solidFill>
                  <a:srgbClr val="800000"/>
                </a:solidFill>
              </a:rPr>
              <a:t>&lt;/p&gt;</a:t>
            </a:r>
            <a:r>
              <a:rPr dirty="0" spc="-30">
                <a:solidFill>
                  <a:srgbClr val="800000"/>
                </a:solidFill>
              </a:rPr>
              <a:t> </a:t>
            </a:r>
            <a:r>
              <a:rPr dirty="0" spc="-10">
                <a:solidFill>
                  <a:srgbClr val="008000"/>
                </a:solidFill>
              </a:rPr>
              <a:t>&lt;!-</a:t>
            </a:r>
            <a:r>
              <a:rPr dirty="0">
                <a:solidFill>
                  <a:srgbClr val="008000"/>
                </a:solidFill>
              </a:rPr>
              <a:t>-</a:t>
            </a:r>
            <a:r>
              <a:rPr dirty="0" spc="-25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notice</a:t>
            </a:r>
            <a:r>
              <a:rPr dirty="0" spc="-3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the</a:t>
            </a:r>
            <a:r>
              <a:rPr dirty="0" spc="-25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()!</a:t>
            </a:r>
            <a:r>
              <a:rPr dirty="0" spc="-2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-</a:t>
            </a:r>
            <a:r>
              <a:rPr dirty="0" spc="-10">
                <a:solidFill>
                  <a:srgbClr val="008000"/>
                </a:solidFill>
              </a:rPr>
              <a:t>-</a:t>
            </a:r>
            <a:r>
              <a:rPr dirty="0" spc="-50">
                <a:solidFill>
                  <a:srgbClr val="008000"/>
                </a:solidFill>
              </a:rPr>
              <a:t>&gt;</a:t>
            </a:r>
          </a:p>
          <a:p>
            <a:pPr marL="262255">
              <a:lnSpc>
                <a:spcPct val="100000"/>
              </a:lnSpc>
            </a:pPr>
            <a:r>
              <a:rPr dirty="0" spc="-50">
                <a:solidFill>
                  <a:srgbClr val="A21515"/>
                </a:solidFill>
              </a:rPr>
              <a:t>`</a:t>
            </a:r>
          </a:p>
          <a:p>
            <a:pPr marL="12700">
              <a:lnSpc>
                <a:spcPct val="100000"/>
              </a:lnSpc>
            </a:pPr>
            <a:r>
              <a:rPr dirty="0" spc="-25"/>
              <a:t>})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FF"/>
                </a:solidFill>
              </a:rPr>
              <a:t>export</a:t>
            </a:r>
            <a:r>
              <a:rPr dirty="0" spc="-65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class</a:t>
            </a:r>
            <a:r>
              <a:rPr dirty="0" spc="-40">
                <a:solidFill>
                  <a:srgbClr val="0000FF"/>
                </a:solidFill>
              </a:rPr>
              <a:t> </a:t>
            </a:r>
            <a:r>
              <a:rPr dirty="0"/>
              <a:t>CounterSignalComponent</a:t>
            </a:r>
            <a:r>
              <a:rPr dirty="0" spc="-30"/>
              <a:t> </a:t>
            </a:r>
            <a:r>
              <a:rPr dirty="0" spc="-50"/>
              <a:t>{</a:t>
            </a:r>
          </a:p>
          <a:p>
            <a:pPr marL="262255" marR="5080">
              <a:lnSpc>
                <a:spcPct val="100000"/>
              </a:lnSpc>
            </a:pPr>
            <a:r>
              <a:rPr dirty="0"/>
              <a:t>count</a:t>
            </a:r>
            <a:r>
              <a:rPr dirty="0" spc="-20"/>
              <a:t> </a:t>
            </a:r>
            <a:r>
              <a:rPr dirty="0"/>
              <a:t>=</a:t>
            </a:r>
            <a:r>
              <a:rPr dirty="0" spc="-30"/>
              <a:t> </a:t>
            </a:r>
            <a:r>
              <a:rPr dirty="0"/>
              <a:t>signal(</a:t>
            </a:r>
            <a:r>
              <a:rPr dirty="0">
                <a:solidFill>
                  <a:srgbClr val="098557"/>
                </a:solidFill>
              </a:rPr>
              <a:t>0</a:t>
            </a:r>
            <a:r>
              <a:rPr dirty="0"/>
              <a:t>);</a:t>
            </a:r>
            <a:r>
              <a:rPr dirty="0" spc="-15"/>
              <a:t> </a:t>
            </a:r>
            <a:r>
              <a:rPr dirty="0">
                <a:solidFill>
                  <a:srgbClr val="008000"/>
                </a:solidFill>
              </a:rPr>
              <a:t>//initial</a:t>
            </a:r>
            <a:r>
              <a:rPr dirty="0" spc="-3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value</a:t>
            </a:r>
            <a:r>
              <a:rPr dirty="0" spc="-2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is</a:t>
            </a:r>
            <a:r>
              <a:rPr dirty="0" spc="-3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zero,</a:t>
            </a:r>
            <a:r>
              <a:rPr dirty="0" spc="-25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returns</a:t>
            </a:r>
            <a:r>
              <a:rPr dirty="0" spc="-2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a</a:t>
            </a:r>
            <a:r>
              <a:rPr dirty="0" spc="-2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function</a:t>
            </a:r>
            <a:r>
              <a:rPr dirty="0" spc="-2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to</a:t>
            </a:r>
            <a:r>
              <a:rPr dirty="0" spc="-2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get</a:t>
            </a:r>
            <a:r>
              <a:rPr dirty="0" spc="-2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the</a:t>
            </a:r>
            <a:r>
              <a:rPr dirty="0" spc="-25">
                <a:solidFill>
                  <a:srgbClr val="008000"/>
                </a:solidFill>
              </a:rPr>
              <a:t> </a:t>
            </a:r>
            <a:r>
              <a:rPr dirty="0" spc="-10">
                <a:solidFill>
                  <a:srgbClr val="008000"/>
                </a:solidFill>
              </a:rPr>
              <a:t>value </a:t>
            </a:r>
            <a:r>
              <a:rPr dirty="0"/>
              <a:t>handleClick()</a:t>
            </a:r>
            <a:r>
              <a:rPr dirty="0" spc="-50"/>
              <a:t> </a:t>
            </a:r>
            <a:r>
              <a:rPr dirty="0"/>
              <a:t>{</a:t>
            </a:r>
            <a:r>
              <a:rPr dirty="0" spc="-25"/>
              <a:t> </a:t>
            </a:r>
            <a:r>
              <a:rPr dirty="0">
                <a:solidFill>
                  <a:srgbClr val="0000FF"/>
                </a:solidFill>
              </a:rPr>
              <a:t>this</a:t>
            </a:r>
            <a:r>
              <a:rPr dirty="0"/>
              <a:t>.count.update(value</a:t>
            </a:r>
            <a:r>
              <a:rPr dirty="0" spc="-25"/>
              <a:t> </a:t>
            </a:r>
            <a:r>
              <a:rPr dirty="0">
                <a:solidFill>
                  <a:srgbClr val="0000FF"/>
                </a:solidFill>
              </a:rPr>
              <a:t>=&gt;</a:t>
            </a:r>
            <a:r>
              <a:rPr dirty="0" spc="-25">
                <a:solidFill>
                  <a:srgbClr val="0000FF"/>
                </a:solidFill>
              </a:rPr>
              <a:t> </a:t>
            </a:r>
            <a:r>
              <a:rPr dirty="0"/>
              <a:t>value</a:t>
            </a:r>
            <a:r>
              <a:rPr dirty="0" spc="-40"/>
              <a:t> </a:t>
            </a:r>
            <a:r>
              <a:rPr dirty="0"/>
              <a:t>+</a:t>
            </a:r>
            <a:r>
              <a:rPr dirty="0" spc="-25"/>
              <a:t> </a:t>
            </a:r>
            <a:r>
              <a:rPr dirty="0">
                <a:solidFill>
                  <a:srgbClr val="098557"/>
                </a:solidFill>
              </a:rPr>
              <a:t>1</a:t>
            </a:r>
            <a:r>
              <a:rPr dirty="0"/>
              <a:t>);</a:t>
            </a:r>
            <a:r>
              <a:rPr dirty="0" spc="-25"/>
              <a:t> </a:t>
            </a:r>
            <a:r>
              <a:rPr dirty="0" spc="-50"/>
              <a:t>}</a:t>
            </a:r>
          </a:p>
          <a:p>
            <a:pPr marL="262255">
              <a:lnSpc>
                <a:spcPct val="100000"/>
              </a:lnSpc>
            </a:pPr>
            <a:r>
              <a:rPr dirty="0"/>
              <a:t>handleReset()</a:t>
            </a:r>
            <a:r>
              <a:rPr dirty="0" spc="-65"/>
              <a:t> </a:t>
            </a:r>
            <a:r>
              <a:rPr dirty="0"/>
              <a:t>{</a:t>
            </a:r>
            <a:r>
              <a:rPr dirty="0" spc="-40"/>
              <a:t> </a:t>
            </a:r>
            <a:r>
              <a:rPr dirty="0">
                <a:solidFill>
                  <a:srgbClr val="0000FF"/>
                </a:solidFill>
              </a:rPr>
              <a:t>this</a:t>
            </a:r>
            <a:r>
              <a:rPr dirty="0"/>
              <a:t>.count.set(</a:t>
            </a:r>
            <a:r>
              <a:rPr dirty="0">
                <a:solidFill>
                  <a:srgbClr val="098557"/>
                </a:solidFill>
              </a:rPr>
              <a:t>0</a:t>
            </a:r>
            <a:r>
              <a:rPr dirty="0"/>
              <a:t>);</a:t>
            </a:r>
            <a:r>
              <a:rPr dirty="0" spc="-40"/>
              <a:t> </a:t>
            </a:r>
            <a:r>
              <a:rPr dirty="0" spc="-50"/>
              <a:t>}</a:t>
            </a:r>
          </a:p>
          <a:p>
            <a:pPr marL="12700">
              <a:lnSpc>
                <a:spcPct val="100000"/>
              </a:lnSpc>
            </a:pPr>
            <a:r>
              <a:rPr dirty="0" spc="-50"/>
              <a:t>}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COMPUTED</a:t>
            </a:r>
            <a:r>
              <a:rPr dirty="0" spc="-135"/>
              <a:t> </a:t>
            </a:r>
            <a:r>
              <a:rPr dirty="0" spc="-10"/>
              <a:t>SIGNALS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96500" cy="236982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Computed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read-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derive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from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those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computed()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derivation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updated,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reactive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fashion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.set()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.update()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result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error!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233671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CounterSignalComponent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48120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count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signal(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//initial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value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zero </a:t>
            </a:r>
            <a:r>
              <a:rPr dirty="0" sz="1800">
                <a:latin typeface="Consolas"/>
                <a:cs typeface="Consolas"/>
              </a:rPr>
              <a:t>double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computed(()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.count()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*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25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//rest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component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</a:t>
            </a:r>
            <a:r>
              <a:rPr dirty="0" spc="-185"/>
              <a:t> </a:t>
            </a:r>
            <a:r>
              <a:rPr dirty="0" spc="-150"/>
              <a:t>WITH</a:t>
            </a:r>
            <a:r>
              <a:rPr dirty="0" spc="-114"/>
              <a:t> </a:t>
            </a:r>
            <a:r>
              <a:rPr dirty="0"/>
              <a:t>COMPUTED</a:t>
            </a:r>
            <a:r>
              <a:rPr dirty="0" spc="-110"/>
              <a:t> </a:t>
            </a:r>
            <a:r>
              <a:rPr dirty="0" spc="-10"/>
              <a:t>SIGNALS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281683"/>
            <a:ext cx="10427335" cy="5078095"/>
          </a:xfrm>
          <a:custGeom>
            <a:avLst/>
            <a:gdLst/>
            <a:ahLst/>
            <a:cxnLst/>
            <a:rect l="l" t="t" r="r" b="b"/>
            <a:pathLst>
              <a:path w="10427335" h="5078095">
                <a:moveTo>
                  <a:pt x="0" y="5077968"/>
                </a:moveTo>
                <a:lnTo>
                  <a:pt x="10427208" y="5077968"/>
                </a:lnTo>
                <a:lnTo>
                  <a:pt x="10427208" y="0"/>
                </a:lnTo>
                <a:lnTo>
                  <a:pt x="0" y="0"/>
                </a:lnTo>
                <a:lnTo>
                  <a:pt x="0" y="507796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300734"/>
            <a:ext cx="10178415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Component,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signal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@Component({</a:t>
            </a:r>
            <a:endParaRPr sz="1800">
              <a:latin typeface="Consolas"/>
              <a:cs typeface="Consolas"/>
            </a:endParaRPr>
          </a:p>
          <a:p>
            <a:pPr marL="262255" marR="602043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'app-counter-signal'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Counter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with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Signals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6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(click)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handleClick()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Click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Increment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6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(click)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handleReset()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Click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Reset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r>
              <a:rPr dirty="0" sz="1800">
                <a:latin typeface="Consolas"/>
                <a:cs typeface="Consolas"/>
              </a:rPr>
              <a:t>Count: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{{count()}}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-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Double: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{{double()}}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r>
              <a:rPr dirty="0" sz="1800" spc="-1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notice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()!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--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CounterSignalComponent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 marR="50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count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signal(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//initial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value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zero,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returns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get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value </a:t>
            </a:r>
            <a:r>
              <a:rPr dirty="0" sz="1800">
                <a:latin typeface="Consolas"/>
                <a:cs typeface="Consolas"/>
              </a:rPr>
              <a:t>double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computed(()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.count()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*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25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handleClick()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.count.update(value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value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handleReset()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.count.set(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SIGNALS:</a:t>
            </a:r>
            <a:r>
              <a:rPr dirty="0" spc="-229"/>
              <a:t> </a:t>
            </a:r>
            <a:r>
              <a:rPr dirty="0" spc="-150"/>
              <a:t>EFFECTS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35990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notify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interested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consumers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effect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whenever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Effects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effect()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005855"/>
            <a:ext cx="9861550" cy="155892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Effects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always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once.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track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read.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Whenever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signals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effect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again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3121151"/>
            <a:ext cx="10427335" cy="92201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latin typeface="Consolas"/>
                <a:cs typeface="Consolas"/>
              </a:rPr>
              <a:t>effect(()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`Count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value</a:t>
            </a:r>
            <a:r>
              <a:rPr dirty="0" sz="1800" spc="-7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changed: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${this</a:t>
            </a:r>
            <a:r>
              <a:rPr dirty="0" sz="1800" spc="-10">
                <a:latin typeface="Consolas"/>
                <a:cs typeface="Consolas"/>
              </a:rPr>
              <a:t>.count()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1533220"/>
            <a:ext cx="4747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Recall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effects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once!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SIGNALS:</a:t>
            </a:r>
            <a:r>
              <a:rPr dirty="0" spc="-229"/>
              <a:t> </a:t>
            </a:r>
            <a:r>
              <a:rPr dirty="0" spc="-150"/>
              <a:t>EFFECTS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607932" y="3443732"/>
          <a:ext cx="2783840" cy="1851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4940"/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Console</a:t>
                      </a:r>
                      <a:r>
                        <a:rPr dirty="0" sz="18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800" spc="-6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800" spc="-7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changed:</a:t>
                      </a:r>
                      <a:r>
                        <a:rPr dirty="0" sz="18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D6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800" spc="-6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800" spc="-7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changed:</a:t>
                      </a:r>
                      <a:r>
                        <a:rPr dirty="0" sz="18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800" spc="-6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800" spc="-7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changed:</a:t>
                      </a:r>
                      <a:r>
                        <a:rPr dirty="0" sz="18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D6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2396" y="2206751"/>
            <a:ext cx="7459980" cy="39700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CounterSignalComponent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184531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count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signal(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//initial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value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zero </a:t>
            </a:r>
            <a:r>
              <a:rPr dirty="0" sz="1800">
                <a:latin typeface="Consolas"/>
                <a:cs typeface="Consolas"/>
              </a:rPr>
              <a:t>double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computed(()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.count()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*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25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 spc="-10">
                <a:latin typeface="Consolas"/>
                <a:cs typeface="Consolas"/>
              </a:rPr>
              <a:t>(){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effect(()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`Count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value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changed: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${this</a:t>
            </a:r>
            <a:r>
              <a:rPr dirty="0" sz="1800" spc="-10">
                <a:latin typeface="Consolas"/>
                <a:cs typeface="Consolas"/>
              </a:rPr>
              <a:t>.count()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342265" marR="88900">
              <a:lnSpc>
                <a:spcPts val="4320"/>
              </a:lnSpc>
              <a:spcBef>
                <a:spcPts val="505"/>
              </a:spcBef>
            </a:pPr>
            <a:r>
              <a:rPr dirty="0" sz="1800">
                <a:latin typeface="Consolas"/>
                <a:cs typeface="Consolas"/>
              </a:rPr>
              <a:t>handleClick()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.count.update(value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value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latin typeface="Consolas"/>
                <a:cs typeface="Consolas"/>
              </a:rPr>
              <a:t>handleReset()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.count.set(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ts val="166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2840" y="3450082"/>
            <a:ext cx="942924" cy="94297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71259" y="3549396"/>
            <a:ext cx="372110" cy="439420"/>
          </a:xfrm>
          <a:custGeom>
            <a:avLst/>
            <a:gdLst/>
            <a:ahLst/>
            <a:cxnLst/>
            <a:rect l="l" t="t" r="r" b="b"/>
            <a:pathLst>
              <a:path w="372109" h="439420">
                <a:moveTo>
                  <a:pt x="185927" y="0"/>
                </a:moveTo>
                <a:lnTo>
                  <a:pt x="161730" y="38869"/>
                </a:lnTo>
                <a:lnTo>
                  <a:pt x="134168" y="79050"/>
                </a:lnTo>
                <a:lnTo>
                  <a:pt x="103727" y="118871"/>
                </a:lnTo>
                <a:lnTo>
                  <a:pt x="70894" y="156661"/>
                </a:lnTo>
                <a:lnTo>
                  <a:pt x="36156" y="190746"/>
                </a:lnTo>
                <a:lnTo>
                  <a:pt x="0" y="219455"/>
                </a:lnTo>
                <a:lnTo>
                  <a:pt x="46986" y="253289"/>
                </a:lnTo>
                <a:lnTo>
                  <a:pt x="87601" y="286032"/>
                </a:lnTo>
                <a:lnTo>
                  <a:pt x="121824" y="319325"/>
                </a:lnTo>
                <a:lnTo>
                  <a:pt x="149634" y="354809"/>
                </a:lnTo>
                <a:lnTo>
                  <a:pt x="171009" y="394125"/>
                </a:lnTo>
                <a:lnTo>
                  <a:pt x="185927" y="438911"/>
                </a:lnTo>
                <a:lnTo>
                  <a:pt x="206597" y="392731"/>
                </a:lnTo>
                <a:lnTo>
                  <a:pt x="232748" y="349588"/>
                </a:lnTo>
                <a:lnTo>
                  <a:pt x="263366" y="310086"/>
                </a:lnTo>
                <a:lnTo>
                  <a:pt x="297433" y="274827"/>
                </a:lnTo>
                <a:lnTo>
                  <a:pt x="333935" y="244416"/>
                </a:lnTo>
                <a:lnTo>
                  <a:pt x="371856" y="219455"/>
                </a:lnTo>
                <a:lnTo>
                  <a:pt x="329861" y="187439"/>
                </a:lnTo>
                <a:lnTo>
                  <a:pt x="291676" y="154798"/>
                </a:lnTo>
                <a:lnTo>
                  <a:pt x="257746" y="120634"/>
                </a:lnTo>
                <a:lnTo>
                  <a:pt x="228515" y="84045"/>
                </a:lnTo>
                <a:lnTo>
                  <a:pt x="204427" y="44134"/>
                </a:lnTo>
                <a:lnTo>
                  <a:pt x="18592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7568" y="3640835"/>
            <a:ext cx="118110" cy="474345"/>
          </a:xfrm>
          <a:custGeom>
            <a:avLst/>
            <a:gdLst/>
            <a:ahLst/>
            <a:cxnLst/>
            <a:rect l="l" t="t" r="r" b="b"/>
            <a:pathLst>
              <a:path w="118109" h="474345">
                <a:moveTo>
                  <a:pt x="59507" y="0"/>
                </a:moveTo>
                <a:lnTo>
                  <a:pt x="39879" y="2998"/>
                </a:lnTo>
                <a:lnTo>
                  <a:pt x="21549" y="16367"/>
                </a:lnTo>
                <a:lnTo>
                  <a:pt x="8482" y="35236"/>
                </a:lnTo>
                <a:lnTo>
                  <a:pt x="4643" y="54737"/>
                </a:lnTo>
                <a:lnTo>
                  <a:pt x="5429" y="116628"/>
                </a:lnTo>
                <a:lnTo>
                  <a:pt x="4465" y="167952"/>
                </a:lnTo>
                <a:lnTo>
                  <a:pt x="857" y="256401"/>
                </a:lnTo>
                <a:lnTo>
                  <a:pt x="0" y="302279"/>
                </a:lnTo>
                <a:lnTo>
                  <a:pt x="964" y="355096"/>
                </a:lnTo>
                <a:lnTo>
                  <a:pt x="4643" y="419226"/>
                </a:lnTo>
                <a:lnTo>
                  <a:pt x="21883" y="460216"/>
                </a:lnTo>
                <a:lnTo>
                  <a:pt x="59507" y="473963"/>
                </a:lnTo>
                <a:lnTo>
                  <a:pt x="81366" y="466143"/>
                </a:lnTo>
                <a:lnTo>
                  <a:pt x="98654" y="454739"/>
                </a:lnTo>
                <a:lnTo>
                  <a:pt x="110084" y="439263"/>
                </a:lnTo>
                <a:lnTo>
                  <a:pt x="114371" y="419226"/>
                </a:lnTo>
                <a:lnTo>
                  <a:pt x="108346" y="354136"/>
                </a:lnTo>
                <a:lnTo>
                  <a:pt x="107506" y="300246"/>
                </a:lnTo>
                <a:lnTo>
                  <a:pt x="109945" y="253442"/>
                </a:lnTo>
                <a:lnTo>
                  <a:pt x="113757" y="209605"/>
                </a:lnTo>
                <a:lnTo>
                  <a:pt x="117036" y="164619"/>
                </a:lnTo>
                <a:lnTo>
                  <a:pt x="117876" y="114369"/>
                </a:lnTo>
                <a:lnTo>
                  <a:pt x="114371" y="54737"/>
                </a:lnTo>
                <a:lnTo>
                  <a:pt x="98607" y="18605"/>
                </a:lnTo>
                <a:lnTo>
                  <a:pt x="81206" y="6731"/>
                </a:lnTo>
                <a:lnTo>
                  <a:pt x="5950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51684" y="3980403"/>
            <a:ext cx="3197225" cy="2133600"/>
          </a:xfrm>
          <a:custGeom>
            <a:avLst/>
            <a:gdLst/>
            <a:ahLst/>
            <a:cxnLst/>
            <a:rect l="l" t="t" r="r" b="b"/>
            <a:pathLst>
              <a:path w="3197225" h="2133600">
                <a:moveTo>
                  <a:pt x="1731551" y="2120900"/>
                </a:moveTo>
                <a:lnTo>
                  <a:pt x="1465010" y="2120900"/>
                </a:lnTo>
                <a:lnTo>
                  <a:pt x="1484594" y="2133600"/>
                </a:lnTo>
                <a:lnTo>
                  <a:pt x="1711031" y="2133600"/>
                </a:lnTo>
                <a:lnTo>
                  <a:pt x="1731551" y="2120900"/>
                </a:lnTo>
                <a:close/>
              </a:path>
              <a:path w="3197225" h="2133600">
                <a:moveTo>
                  <a:pt x="1180221" y="1739900"/>
                </a:moveTo>
                <a:lnTo>
                  <a:pt x="551551" y="1739900"/>
                </a:lnTo>
                <a:lnTo>
                  <a:pt x="595997" y="1752600"/>
                </a:lnTo>
                <a:lnTo>
                  <a:pt x="641239" y="1752600"/>
                </a:lnTo>
                <a:lnTo>
                  <a:pt x="734182" y="1778000"/>
                </a:lnTo>
                <a:lnTo>
                  <a:pt x="781919" y="1778000"/>
                </a:lnTo>
                <a:lnTo>
                  <a:pt x="830523" y="1803400"/>
                </a:lnTo>
                <a:lnTo>
                  <a:pt x="930404" y="1828800"/>
                </a:lnTo>
                <a:lnTo>
                  <a:pt x="981716" y="1854200"/>
                </a:lnTo>
                <a:lnTo>
                  <a:pt x="1087175" y="1905000"/>
                </a:lnTo>
                <a:lnTo>
                  <a:pt x="1196529" y="1955800"/>
                </a:lnTo>
                <a:lnTo>
                  <a:pt x="1252712" y="1993900"/>
                </a:lnTo>
                <a:lnTo>
                  <a:pt x="1309923" y="2032000"/>
                </a:lnTo>
                <a:lnTo>
                  <a:pt x="1368178" y="2070100"/>
                </a:lnTo>
                <a:lnTo>
                  <a:pt x="1427497" y="2108200"/>
                </a:lnTo>
                <a:lnTo>
                  <a:pt x="1446736" y="2120900"/>
                </a:lnTo>
                <a:lnTo>
                  <a:pt x="1750571" y="2120900"/>
                </a:lnTo>
                <a:lnTo>
                  <a:pt x="1766841" y="2108200"/>
                </a:lnTo>
                <a:lnTo>
                  <a:pt x="1826544" y="2082800"/>
                </a:lnTo>
                <a:lnTo>
                  <a:pt x="1885949" y="2044700"/>
                </a:lnTo>
                <a:lnTo>
                  <a:pt x="2119334" y="1943100"/>
                </a:lnTo>
                <a:lnTo>
                  <a:pt x="1690260" y="1943100"/>
                </a:lnTo>
                <a:lnTo>
                  <a:pt x="1701382" y="1930400"/>
                </a:lnTo>
                <a:lnTo>
                  <a:pt x="1500522" y="1930400"/>
                </a:lnTo>
                <a:lnTo>
                  <a:pt x="1324800" y="1816100"/>
                </a:lnTo>
                <a:lnTo>
                  <a:pt x="1266635" y="1790700"/>
                </a:lnTo>
                <a:lnTo>
                  <a:pt x="1208859" y="1752600"/>
                </a:lnTo>
                <a:lnTo>
                  <a:pt x="1180221" y="1739900"/>
                </a:lnTo>
                <a:close/>
              </a:path>
              <a:path w="3197225" h="2133600">
                <a:moveTo>
                  <a:pt x="2942977" y="368300"/>
                </a:moveTo>
                <a:lnTo>
                  <a:pt x="2799351" y="368300"/>
                </a:lnTo>
                <a:lnTo>
                  <a:pt x="2814534" y="419100"/>
                </a:lnTo>
                <a:lnTo>
                  <a:pt x="2825702" y="457200"/>
                </a:lnTo>
                <a:lnTo>
                  <a:pt x="2833479" y="508000"/>
                </a:lnTo>
                <a:lnTo>
                  <a:pt x="2838491" y="546100"/>
                </a:lnTo>
                <a:lnTo>
                  <a:pt x="2841364" y="584200"/>
                </a:lnTo>
                <a:lnTo>
                  <a:pt x="2842722" y="635000"/>
                </a:lnTo>
                <a:lnTo>
                  <a:pt x="2843191" y="673100"/>
                </a:lnTo>
                <a:lnTo>
                  <a:pt x="2843294" y="698500"/>
                </a:lnTo>
                <a:lnTo>
                  <a:pt x="2843397" y="723900"/>
                </a:lnTo>
                <a:lnTo>
                  <a:pt x="2843964" y="774700"/>
                </a:lnTo>
                <a:lnTo>
                  <a:pt x="2845518" y="825500"/>
                </a:lnTo>
                <a:lnTo>
                  <a:pt x="2848685" y="876300"/>
                </a:lnTo>
                <a:lnTo>
                  <a:pt x="2854088" y="939800"/>
                </a:lnTo>
                <a:lnTo>
                  <a:pt x="2860782" y="1003300"/>
                </a:lnTo>
                <a:lnTo>
                  <a:pt x="2866294" y="1054100"/>
                </a:lnTo>
                <a:lnTo>
                  <a:pt x="2870904" y="1104900"/>
                </a:lnTo>
                <a:lnTo>
                  <a:pt x="2874890" y="1155700"/>
                </a:lnTo>
                <a:lnTo>
                  <a:pt x="2882113" y="1244600"/>
                </a:lnTo>
                <a:lnTo>
                  <a:pt x="2885907" y="1295400"/>
                </a:lnTo>
                <a:lnTo>
                  <a:pt x="2890196" y="1346200"/>
                </a:lnTo>
                <a:lnTo>
                  <a:pt x="2895260" y="1397000"/>
                </a:lnTo>
                <a:lnTo>
                  <a:pt x="2901376" y="1447800"/>
                </a:lnTo>
                <a:lnTo>
                  <a:pt x="2908825" y="1511300"/>
                </a:lnTo>
                <a:lnTo>
                  <a:pt x="2885493" y="1524000"/>
                </a:lnTo>
                <a:lnTo>
                  <a:pt x="2858953" y="1536700"/>
                </a:lnTo>
                <a:lnTo>
                  <a:pt x="2829370" y="1536700"/>
                </a:lnTo>
                <a:lnTo>
                  <a:pt x="2796910" y="1549400"/>
                </a:lnTo>
                <a:lnTo>
                  <a:pt x="2761739" y="1562100"/>
                </a:lnTo>
                <a:lnTo>
                  <a:pt x="2724023" y="1574800"/>
                </a:lnTo>
                <a:lnTo>
                  <a:pt x="2683927" y="1587500"/>
                </a:lnTo>
                <a:lnTo>
                  <a:pt x="2641617" y="1587500"/>
                </a:lnTo>
                <a:lnTo>
                  <a:pt x="2551016" y="1612900"/>
                </a:lnTo>
                <a:lnTo>
                  <a:pt x="2503058" y="1625600"/>
                </a:lnTo>
                <a:lnTo>
                  <a:pt x="2402651" y="1651000"/>
                </a:lnTo>
                <a:lnTo>
                  <a:pt x="2350535" y="1676400"/>
                </a:lnTo>
                <a:lnTo>
                  <a:pt x="2188521" y="1714500"/>
                </a:lnTo>
                <a:lnTo>
                  <a:pt x="2133180" y="1739900"/>
                </a:lnTo>
                <a:lnTo>
                  <a:pt x="2077447" y="1752600"/>
                </a:lnTo>
                <a:lnTo>
                  <a:pt x="1744098" y="1905000"/>
                </a:lnTo>
                <a:lnTo>
                  <a:pt x="1690260" y="1943100"/>
                </a:lnTo>
                <a:lnTo>
                  <a:pt x="2119334" y="1943100"/>
                </a:lnTo>
                <a:lnTo>
                  <a:pt x="2176309" y="1917700"/>
                </a:lnTo>
                <a:lnTo>
                  <a:pt x="2288174" y="1892300"/>
                </a:lnTo>
                <a:lnTo>
                  <a:pt x="2342939" y="1866900"/>
                </a:lnTo>
                <a:lnTo>
                  <a:pt x="2449819" y="1841500"/>
                </a:lnTo>
                <a:lnTo>
                  <a:pt x="2501809" y="1841500"/>
                </a:lnTo>
                <a:lnTo>
                  <a:pt x="2651228" y="1803400"/>
                </a:lnTo>
                <a:lnTo>
                  <a:pt x="2744754" y="1803400"/>
                </a:lnTo>
                <a:lnTo>
                  <a:pt x="2789502" y="1790700"/>
                </a:lnTo>
                <a:lnTo>
                  <a:pt x="2874658" y="1790700"/>
                </a:lnTo>
                <a:lnTo>
                  <a:pt x="2914940" y="1778000"/>
                </a:lnTo>
                <a:lnTo>
                  <a:pt x="3148449" y="1778000"/>
                </a:lnTo>
                <a:lnTo>
                  <a:pt x="3172017" y="1752600"/>
                </a:lnTo>
                <a:lnTo>
                  <a:pt x="3188989" y="1727200"/>
                </a:lnTo>
                <a:lnTo>
                  <a:pt x="3197115" y="1701800"/>
                </a:lnTo>
                <a:lnTo>
                  <a:pt x="3193432" y="1689100"/>
                </a:lnTo>
                <a:lnTo>
                  <a:pt x="3182619" y="1651000"/>
                </a:lnTo>
                <a:lnTo>
                  <a:pt x="3175419" y="1600200"/>
                </a:lnTo>
                <a:lnTo>
                  <a:pt x="3171037" y="1549400"/>
                </a:lnTo>
                <a:lnTo>
                  <a:pt x="3168677" y="1498600"/>
                </a:lnTo>
                <a:lnTo>
                  <a:pt x="3167545" y="1435100"/>
                </a:lnTo>
                <a:lnTo>
                  <a:pt x="3166845" y="1371600"/>
                </a:lnTo>
                <a:lnTo>
                  <a:pt x="3165783" y="1320800"/>
                </a:lnTo>
                <a:lnTo>
                  <a:pt x="3163562" y="1257300"/>
                </a:lnTo>
                <a:lnTo>
                  <a:pt x="3159387" y="1206500"/>
                </a:lnTo>
                <a:lnTo>
                  <a:pt x="3152464" y="1168400"/>
                </a:lnTo>
                <a:lnTo>
                  <a:pt x="3141997" y="1130300"/>
                </a:lnTo>
                <a:lnTo>
                  <a:pt x="3133428" y="1104900"/>
                </a:lnTo>
                <a:lnTo>
                  <a:pt x="3128318" y="1066800"/>
                </a:lnTo>
                <a:lnTo>
                  <a:pt x="3125911" y="1028700"/>
                </a:lnTo>
                <a:lnTo>
                  <a:pt x="3125448" y="977900"/>
                </a:lnTo>
                <a:lnTo>
                  <a:pt x="3126174" y="927100"/>
                </a:lnTo>
                <a:lnTo>
                  <a:pt x="3127332" y="876300"/>
                </a:lnTo>
                <a:lnTo>
                  <a:pt x="3128165" y="812800"/>
                </a:lnTo>
                <a:lnTo>
                  <a:pt x="3128041" y="787400"/>
                </a:lnTo>
                <a:lnTo>
                  <a:pt x="3127917" y="762000"/>
                </a:lnTo>
                <a:lnTo>
                  <a:pt x="3125829" y="698500"/>
                </a:lnTo>
                <a:lnTo>
                  <a:pt x="3121147" y="647700"/>
                </a:lnTo>
                <a:lnTo>
                  <a:pt x="3113112" y="596900"/>
                </a:lnTo>
                <a:lnTo>
                  <a:pt x="3100968" y="546100"/>
                </a:lnTo>
                <a:lnTo>
                  <a:pt x="3083958" y="508000"/>
                </a:lnTo>
                <a:lnTo>
                  <a:pt x="3054605" y="457200"/>
                </a:lnTo>
                <a:lnTo>
                  <a:pt x="3033684" y="444500"/>
                </a:lnTo>
                <a:lnTo>
                  <a:pt x="2956323" y="444500"/>
                </a:lnTo>
                <a:lnTo>
                  <a:pt x="2944412" y="393700"/>
                </a:lnTo>
                <a:lnTo>
                  <a:pt x="2942977" y="368300"/>
                </a:lnTo>
                <a:close/>
              </a:path>
              <a:path w="3197225" h="2133600">
                <a:moveTo>
                  <a:pt x="920821" y="1384300"/>
                </a:moveTo>
                <a:lnTo>
                  <a:pt x="620674" y="1384300"/>
                </a:lnTo>
                <a:lnTo>
                  <a:pt x="657162" y="1397000"/>
                </a:lnTo>
                <a:lnTo>
                  <a:pt x="696128" y="1397000"/>
                </a:lnTo>
                <a:lnTo>
                  <a:pt x="737329" y="1409700"/>
                </a:lnTo>
                <a:lnTo>
                  <a:pt x="780520" y="1422400"/>
                </a:lnTo>
                <a:lnTo>
                  <a:pt x="825454" y="1435100"/>
                </a:lnTo>
                <a:lnTo>
                  <a:pt x="919577" y="1460500"/>
                </a:lnTo>
                <a:lnTo>
                  <a:pt x="968275" y="1485900"/>
                </a:lnTo>
                <a:lnTo>
                  <a:pt x="1117976" y="1562100"/>
                </a:lnTo>
                <a:lnTo>
                  <a:pt x="1267944" y="1676400"/>
                </a:lnTo>
                <a:lnTo>
                  <a:pt x="1316850" y="1714500"/>
                </a:lnTo>
                <a:lnTo>
                  <a:pt x="1364806" y="1765300"/>
                </a:lnTo>
                <a:lnTo>
                  <a:pt x="1411566" y="1816100"/>
                </a:lnTo>
                <a:lnTo>
                  <a:pt x="1456887" y="1866900"/>
                </a:lnTo>
                <a:lnTo>
                  <a:pt x="1500522" y="1930400"/>
                </a:lnTo>
                <a:lnTo>
                  <a:pt x="1701382" y="1930400"/>
                </a:lnTo>
                <a:lnTo>
                  <a:pt x="1745866" y="1879600"/>
                </a:lnTo>
                <a:lnTo>
                  <a:pt x="1802951" y="1841500"/>
                </a:lnTo>
                <a:lnTo>
                  <a:pt x="1861174" y="1790700"/>
                </a:lnTo>
                <a:lnTo>
                  <a:pt x="1920197" y="1752600"/>
                </a:lnTo>
                <a:lnTo>
                  <a:pt x="1522366" y="1752600"/>
                </a:lnTo>
                <a:lnTo>
                  <a:pt x="1465984" y="1714500"/>
                </a:lnTo>
                <a:lnTo>
                  <a:pt x="1410089" y="1663700"/>
                </a:lnTo>
                <a:lnTo>
                  <a:pt x="1300120" y="1587500"/>
                </a:lnTo>
                <a:lnTo>
                  <a:pt x="1246228" y="1562100"/>
                </a:lnTo>
                <a:lnTo>
                  <a:pt x="1193184" y="1524000"/>
                </a:lnTo>
                <a:lnTo>
                  <a:pt x="1141079" y="1498600"/>
                </a:lnTo>
                <a:lnTo>
                  <a:pt x="1090002" y="1460500"/>
                </a:lnTo>
                <a:lnTo>
                  <a:pt x="1040045" y="1435100"/>
                </a:lnTo>
                <a:lnTo>
                  <a:pt x="991297" y="1409700"/>
                </a:lnTo>
                <a:lnTo>
                  <a:pt x="943850" y="1397000"/>
                </a:lnTo>
                <a:lnTo>
                  <a:pt x="920821" y="1384300"/>
                </a:lnTo>
                <a:close/>
              </a:path>
              <a:path w="3197225" h="2133600">
                <a:moveTo>
                  <a:pt x="851294" y="12700"/>
                </a:moveTo>
                <a:lnTo>
                  <a:pt x="603188" y="12700"/>
                </a:lnTo>
                <a:lnTo>
                  <a:pt x="551832" y="25400"/>
                </a:lnTo>
                <a:lnTo>
                  <a:pt x="513863" y="25400"/>
                </a:lnTo>
                <a:lnTo>
                  <a:pt x="497095" y="38100"/>
                </a:lnTo>
                <a:lnTo>
                  <a:pt x="497006" y="63500"/>
                </a:lnTo>
                <a:lnTo>
                  <a:pt x="496917" y="88900"/>
                </a:lnTo>
                <a:lnTo>
                  <a:pt x="488047" y="139700"/>
                </a:lnTo>
                <a:lnTo>
                  <a:pt x="479129" y="177800"/>
                </a:lnTo>
                <a:lnTo>
                  <a:pt x="479048" y="190500"/>
                </a:lnTo>
                <a:lnTo>
                  <a:pt x="478968" y="203200"/>
                </a:lnTo>
                <a:lnTo>
                  <a:pt x="478888" y="215900"/>
                </a:lnTo>
                <a:lnTo>
                  <a:pt x="478807" y="228600"/>
                </a:lnTo>
                <a:lnTo>
                  <a:pt x="256303" y="228600"/>
                </a:lnTo>
                <a:lnTo>
                  <a:pt x="259179" y="279400"/>
                </a:lnTo>
                <a:lnTo>
                  <a:pt x="251207" y="317500"/>
                </a:lnTo>
                <a:lnTo>
                  <a:pt x="241212" y="381000"/>
                </a:lnTo>
                <a:lnTo>
                  <a:pt x="238015" y="444500"/>
                </a:lnTo>
                <a:lnTo>
                  <a:pt x="156922" y="444500"/>
                </a:lnTo>
                <a:lnTo>
                  <a:pt x="135495" y="457200"/>
                </a:lnTo>
                <a:lnTo>
                  <a:pt x="119735" y="482600"/>
                </a:lnTo>
                <a:lnTo>
                  <a:pt x="110380" y="508000"/>
                </a:lnTo>
                <a:lnTo>
                  <a:pt x="107760" y="558800"/>
                </a:lnTo>
                <a:lnTo>
                  <a:pt x="102464" y="622300"/>
                </a:lnTo>
                <a:lnTo>
                  <a:pt x="95200" y="673100"/>
                </a:lnTo>
                <a:lnTo>
                  <a:pt x="86674" y="723900"/>
                </a:lnTo>
                <a:lnTo>
                  <a:pt x="77592" y="774700"/>
                </a:lnTo>
                <a:lnTo>
                  <a:pt x="68661" y="825500"/>
                </a:lnTo>
                <a:lnTo>
                  <a:pt x="60587" y="876300"/>
                </a:lnTo>
                <a:lnTo>
                  <a:pt x="54077" y="927100"/>
                </a:lnTo>
                <a:lnTo>
                  <a:pt x="49837" y="965200"/>
                </a:lnTo>
                <a:lnTo>
                  <a:pt x="48574" y="1003300"/>
                </a:lnTo>
                <a:lnTo>
                  <a:pt x="50993" y="1041400"/>
                </a:lnTo>
                <a:lnTo>
                  <a:pt x="57802" y="1079500"/>
                </a:lnTo>
                <a:lnTo>
                  <a:pt x="64720" y="1104900"/>
                </a:lnTo>
                <a:lnTo>
                  <a:pt x="67417" y="1143000"/>
                </a:lnTo>
                <a:lnTo>
                  <a:pt x="66522" y="1193800"/>
                </a:lnTo>
                <a:lnTo>
                  <a:pt x="62666" y="1231900"/>
                </a:lnTo>
                <a:lnTo>
                  <a:pt x="56480" y="1295400"/>
                </a:lnTo>
                <a:lnTo>
                  <a:pt x="48595" y="1346200"/>
                </a:lnTo>
                <a:lnTo>
                  <a:pt x="39641" y="1397000"/>
                </a:lnTo>
                <a:lnTo>
                  <a:pt x="30248" y="1460500"/>
                </a:lnTo>
                <a:lnTo>
                  <a:pt x="21048" y="1511300"/>
                </a:lnTo>
                <a:lnTo>
                  <a:pt x="12670" y="1574800"/>
                </a:lnTo>
                <a:lnTo>
                  <a:pt x="5746" y="1638300"/>
                </a:lnTo>
                <a:lnTo>
                  <a:pt x="906" y="1689100"/>
                </a:lnTo>
                <a:lnTo>
                  <a:pt x="0" y="1714500"/>
                </a:lnTo>
                <a:lnTo>
                  <a:pt x="14606" y="1739900"/>
                </a:lnTo>
                <a:lnTo>
                  <a:pt x="37857" y="1765300"/>
                </a:lnTo>
                <a:lnTo>
                  <a:pt x="110087" y="1765300"/>
                </a:lnTo>
                <a:lnTo>
                  <a:pt x="146953" y="1752600"/>
                </a:lnTo>
                <a:lnTo>
                  <a:pt x="222502" y="1752600"/>
                </a:lnTo>
                <a:lnTo>
                  <a:pt x="261221" y="1739900"/>
                </a:lnTo>
                <a:lnTo>
                  <a:pt x="1180221" y="1739900"/>
                </a:lnTo>
                <a:lnTo>
                  <a:pt x="1038976" y="1676400"/>
                </a:lnTo>
                <a:lnTo>
                  <a:pt x="983866" y="1651000"/>
                </a:lnTo>
                <a:lnTo>
                  <a:pt x="929700" y="1638300"/>
                </a:lnTo>
                <a:lnTo>
                  <a:pt x="876588" y="1612900"/>
                </a:lnTo>
                <a:lnTo>
                  <a:pt x="773971" y="1587500"/>
                </a:lnTo>
                <a:lnTo>
                  <a:pt x="676903" y="1562100"/>
                </a:lnTo>
                <a:lnTo>
                  <a:pt x="630726" y="1549400"/>
                </a:lnTo>
                <a:lnTo>
                  <a:pt x="586269" y="1549400"/>
                </a:lnTo>
                <a:lnTo>
                  <a:pt x="543643" y="1536700"/>
                </a:lnTo>
                <a:lnTo>
                  <a:pt x="502957" y="1524000"/>
                </a:lnTo>
                <a:lnTo>
                  <a:pt x="427854" y="1524000"/>
                </a:lnTo>
                <a:lnTo>
                  <a:pt x="393658" y="1511300"/>
                </a:lnTo>
                <a:lnTo>
                  <a:pt x="281830" y="1511300"/>
                </a:lnTo>
                <a:lnTo>
                  <a:pt x="281005" y="1473200"/>
                </a:lnTo>
                <a:lnTo>
                  <a:pt x="284158" y="1435100"/>
                </a:lnTo>
                <a:lnTo>
                  <a:pt x="290399" y="1397000"/>
                </a:lnTo>
                <a:lnTo>
                  <a:pt x="298839" y="1358900"/>
                </a:lnTo>
                <a:lnTo>
                  <a:pt x="308588" y="1308100"/>
                </a:lnTo>
                <a:lnTo>
                  <a:pt x="318756" y="1257300"/>
                </a:lnTo>
                <a:lnTo>
                  <a:pt x="328452" y="1219200"/>
                </a:lnTo>
                <a:lnTo>
                  <a:pt x="336788" y="1155700"/>
                </a:lnTo>
                <a:lnTo>
                  <a:pt x="342874" y="1104900"/>
                </a:lnTo>
                <a:lnTo>
                  <a:pt x="345818" y="1041400"/>
                </a:lnTo>
                <a:lnTo>
                  <a:pt x="344733" y="977900"/>
                </a:lnTo>
                <a:lnTo>
                  <a:pt x="338726" y="914400"/>
                </a:lnTo>
                <a:lnTo>
                  <a:pt x="333350" y="850900"/>
                </a:lnTo>
                <a:lnTo>
                  <a:pt x="332806" y="800100"/>
                </a:lnTo>
                <a:lnTo>
                  <a:pt x="336204" y="762000"/>
                </a:lnTo>
                <a:lnTo>
                  <a:pt x="342655" y="723900"/>
                </a:lnTo>
                <a:lnTo>
                  <a:pt x="351270" y="685800"/>
                </a:lnTo>
                <a:lnTo>
                  <a:pt x="361158" y="647700"/>
                </a:lnTo>
                <a:lnTo>
                  <a:pt x="371430" y="622300"/>
                </a:lnTo>
                <a:lnTo>
                  <a:pt x="381196" y="584200"/>
                </a:lnTo>
                <a:lnTo>
                  <a:pt x="389567" y="546100"/>
                </a:lnTo>
                <a:lnTo>
                  <a:pt x="395653" y="508000"/>
                </a:lnTo>
                <a:lnTo>
                  <a:pt x="398564" y="469900"/>
                </a:lnTo>
                <a:lnTo>
                  <a:pt x="397411" y="419100"/>
                </a:lnTo>
                <a:lnTo>
                  <a:pt x="391304" y="368300"/>
                </a:lnTo>
                <a:lnTo>
                  <a:pt x="638537" y="368300"/>
                </a:lnTo>
                <a:lnTo>
                  <a:pt x="640298" y="342900"/>
                </a:lnTo>
                <a:lnTo>
                  <a:pt x="641085" y="292100"/>
                </a:lnTo>
                <a:lnTo>
                  <a:pt x="638547" y="228600"/>
                </a:lnTo>
                <a:lnTo>
                  <a:pt x="632096" y="165100"/>
                </a:lnTo>
                <a:lnTo>
                  <a:pt x="693304" y="152400"/>
                </a:lnTo>
                <a:lnTo>
                  <a:pt x="1219668" y="152400"/>
                </a:lnTo>
                <a:lnTo>
                  <a:pt x="1130742" y="101600"/>
                </a:lnTo>
                <a:lnTo>
                  <a:pt x="1085502" y="88900"/>
                </a:lnTo>
                <a:lnTo>
                  <a:pt x="1039737" y="63500"/>
                </a:lnTo>
                <a:lnTo>
                  <a:pt x="851294" y="12700"/>
                </a:lnTo>
                <a:close/>
              </a:path>
              <a:path w="3197225" h="2133600">
                <a:moveTo>
                  <a:pt x="1219668" y="152400"/>
                </a:moveTo>
                <a:lnTo>
                  <a:pt x="859272" y="152400"/>
                </a:lnTo>
                <a:lnTo>
                  <a:pt x="909450" y="165100"/>
                </a:lnTo>
                <a:lnTo>
                  <a:pt x="957427" y="177800"/>
                </a:lnTo>
                <a:lnTo>
                  <a:pt x="1003425" y="190500"/>
                </a:lnTo>
                <a:lnTo>
                  <a:pt x="1047665" y="203200"/>
                </a:lnTo>
                <a:lnTo>
                  <a:pt x="1090370" y="215900"/>
                </a:lnTo>
                <a:lnTo>
                  <a:pt x="1131762" y="241300"/>
                </a:lnTo>
                <a:lnTo>
                  <a:pt x="1172064" y="266700"/>
                </a:lnTo>
                <a:lnTo>
                  <a:pt x="1211497" y="279400"/>
                </a:lnTo>
                <a:lnTo>
                  <a:pt x="1326808" y="355600"/>
                </a:lnTo>
                <a:lnTo>
                  <a:pt x="1364990" y="393700"/>
                </a:lnTo>
                <a:lnTo>
                  <a:pt x="1442304" y="444500"/>
                </a:lnTo>
                <a:lnTo>
                  <a:pt x="1481880" y="482600"/>
                </a:lnTo>
                <a:lnTo>
                  <a:pt x="1522366" y="508000"/>
                </a:lnTo>
                <a:lnTo>
                  <a:pt x="1528203" y="571500"/>
                </a:lnTo>
                <a:lnTo>
                  <a:pt x="1530481" y="622300"/>
                </a:lnTo>
                <a:lnTo>
                  <a:pt x="1530404" y="635000"/>
                </a:lnTo>
                <a:lnTo>
                  <a:pt x="1530328" y="647700"/>
                </a:lnTo>
                <a:lnTo>
                  <a:pt x="1530252" y="660400"/>
                </a:lnTo>
                <a:lnTo>
                  <a:pt x="1530176" y="673100"/>
                </a:lnTo>
                <a:lnTo>
                  <a:pt x="1530099" y="685800"/>
                </a:lnTo>
                <a:lnTo>
                  <a:pt x="1527959" y="723900"/>
                </a:lnTo>
                <a:lnTo>
                  <a:pt x="1524959" y="774700"/>
                </a:lnTo>
                <a:lnTo>
                  <a:pt x="1521999" y="812800"/>
                </a:lnTo>
                <a:lnTo>
                  <a:pt x="1519981" y="850900"/>
                </a:lnTo>
                <a:lnTo>
                  <a:pt x="1519922" y="863600"/>
                </a:lnTo>
                <a:lnTo>
                  <a:pt x="1519803" y="889000"/>
                </a:lnTo>
                <a:lnTo>
                  <a:pt x="1522366" y="939800"/>
                </a:lnTo>
                <a:lnTo>
                  <a:pt x="1525898" y="977900"/>
                </a:lnTo>
                <a:lnTo>
                  <a:pt x="1527331" y="1028700"/>
                </a:lnTo>
                <a:lnTo>
                  <a:pt x="1527211" y="1066800"/>
                </a:lnTo>
                <a:lnTo>
                  <a:pt x="1526081" y="1117600"/>
                </a:lnTo>
                <a:lnTo>
                  <a:pt x="1524487" y="1168400"/>
                </a:lnTo>
                <a:lnTo>
                  <a:pt x="1522974" y="1219200"/>
                </a:lnTo>
                <a:lnTo>
                  <a:pt x="1522085" y="1270000"/>
                </a:lnTo>
                <a:lnTo>
                  <a:pt x="1522155" y="1282700"/>
                </a:lnTo>
                <a:lnTo>
                  <a:pt x="1522226" y="1295400"/>
                </a:lnTo>
                <a:lnTo>
                  <a:pt x="1522331" y="1435100"/>
                </a:lnTo>
                <a:lnTo>
                  <a:pt x="1521317" y="1485900"/>
                </a:lnTo>
                <a:lnTo>
                  <a:pt x="1520176" y="1536700"/>
                </a:lnTo>
                <a:lnTo>
                  <a:pt x="1519308" y="1587500"/>
                </a:lnTo>
                <a:lnTo>
                  <a:pt x="1519212" y="1612900"/>
                </a:lnTo>
                <a:lnTo>
                  <a:pt x="1519116" y="1638300"/>
                </a:lnTo>
                <a:lnTo>
                  <a:pt x="1520001" y="1689100"/>
                </a:lnTo>
                <a:lnTo>
                  <a:pt x="1522366" y="1752600"/>
                </a:lnTo>
                <a:lnTo>
                  <a:pt x="1668289" y="1752600"/>
                </a:lnTo>
                <a:lnTo>
                  <a:pt x="1663179" y="1714500"/>
                </a:lnTo>
                <a:lnTo>
                  <a:pt x="1663256" y="1701800"/>
                </a:lnTo>
                <a:lnTo>
                  <a:pt x="1663332" y="1689100"/>
                </a:lnTo>
                <a:lnTo>
                  <a:pt x="1663409" y="1676400"/>
                </a:lnTo>
                <a:lnTo>
                  <a:pt x="1663485" y="1663700"/>
                </a:lnTo>
                <a:lnTo>
                  <a:pt x="1667229" y="1625600"/>
                </a:lnTo>
                <a:lnTo>
                  <a:pt x="1672433" y="1574800"/>
                </a:lnTo>
                <a:lnTo>
                  <a:pt x="1677119" y="1536700"/>
                </a:lnTo>
                <a:lnTo>
                  <a:pt x="1679309" y="1473200"/>
                </a:lnTo>
                <a:lnTo>
                  <a:pt x="1677025" y="1409700"/>
                </a:lnTo>
                <a:lnTo>
                  <a:pt x="1668289" y="1346200"/>
                </a:lnTo>
                <a:lnTo>
                  <a:pt x="1660446" y="1282700"/>
                </a:lnTo>
                <a:lnTo>
                  <a:pt x="1658287" y="1231900"/>
                </a:lnTo>
                <a:lnTo>
                  <a:pt x="1660218" y="1181100"/>
                </a:lnTo>
                <a:lnTo>
                  <a:pt x="1664641" y="1130300"/>
                </a:lnTo>
                <a:lnTo>
                  <a:pt x="1669962" y="1092200"/>
                </a:lnTo>
                <a:lnTo>
                  <a:pt x="1674583" y="1054100"/>
                </a:lnTo>
                <a:lnTo>
                  <a:pt x="1676909" y="1003300"/>
                </a:lnTo>
                <a:lnTo>
                  <a:pt x="1675343" y="965200"/>
                </a:lnTo>
                <a:lnTo>
                  <a:pt x="1668289" y="914400"/>
                </a:lnTo>
                <a:lnTo>
                  <a:pt x="1660320" y="863600"/>
                </a:lnTo>
                <a:lnTo>
                  <a:pt x="1658395" y="812800"/>
                </a:lnTo>
                <a:lnTo>
                  <a:pt x="1660632" y="749300"/>
                </a:lnTo>
                <a:lnTo>
                  <a:pt x="1665146" y="685800"/>
                </a:lnTo>
                <a:lnTo>
                  <a:pt x="1670053" y="635000"/>
                </a:lnTo>
                <a:lnTo>
                  <a:pt x="1673469" y="584200"/>
                </a:lnTo>
                <a:lnTo>
                  <a:pt x="1673509" y="546100"/>
                </a:lnTo>
                <a:lnTo>
                  <a:pt x="1668289" y="508000"/>
                </a:lnTo>
                <a:lnTo>
                  <a:pt x="1706710" y="457200"/>
                </a:lnTo>
                <a:lnTo>
                  <a:pt x="1745362" y="419100"/>
                </a:lnTo>
                <a:lnTo>
                  <a:pt x="1784312" y="393700"/>
                </a:lnTo>
                <a:lnTo>
                  <a:pt x="1810524" y="368300"/>
                </a:lnTo>
                <a:lnTo>
                  <a:pt x="1595391" y="368300"/>
                </a:lnTo>
                <a:lnTo>
                  <a:pt x="1515228" y="317500"/>
                </a:lnTo>
                <a:lnTo>
                  <a:pt x="1433201" y="266700"/>
                </a:lnTo>
                <a:lnTo>
                  <a:pt x="1349264" y="215900"/>
                </a:lnTo>
                <a:lnTo>
                  <a:pt x="1263367" y="165100"/>
                </a:lnTo>
                <a:lnTo>
                  <a:pt x="1219668" y="152400"/>
                </a:lnTo>
                <a:close/>
              </a:path>
              <a:path w="3197225" h="2133600">
                <a:moveTo>
                  <a:pt x="2702079" y="152400"/>
                </a:moveTo>
                <a:lnTo>
                  <a:pt x="2558559" y="152400"/>
                </a:lnTo>
                <a:lnTo>
                  <a:pt x="2574390" y="190500"/>
                </a:lnTo>
                <a:lnTo>
                  <a:pt x="2584472" y="215900"/>
                </a:lnTo>
                <a:lnTo>
                  <a:pt x="2589948" y="254000"/>
                </a:lnTo>
                <a:lnTo>
                  <a:pt x="2591959" y="292100"/>
                </a:lnTo>
                <a:lnTo>
                  <a:pt x="2591881" y="304800"/>
                </a:lnTo>
                <a:lnTo>
                  <a:pt x="2591803" y="317500"/>
                </a:lnTo>
                <a:lnTo>
                  <a:pt x="2591725" y="330200"/>
                </a:lnTo>
                <a:lnTo>
                  <a:pt x="2591647" y="342900"/>
                </a:lnTo>
                <a:lnTo>
                  <a:pt x="2590153" y="393700"/>
                </a:lnTo>
                <a:lnTo>
                  <a:pt x="2588619" y="444500"/>
                </a:lnTo>
                <a:lnTo>
                  <a:pt x="2588511" y="457200"/>
                </a:lnTo>
                <a:lnTo>
                  <a:pt x="2588403" y="469900"/>
                </a:lnTo>
                <a:lnTo>
                  <a:pt x="2588295" y="482600"/>
                </a:lnTo>
                <a:lnTo>
                  <a:pt x="2588187" y="495300"/>
                </a:lnTo>
                <a:lnTo>
                  <a:pt x="2589997" y="558800"/>
                </a:lnTo>
                <a:lnTo>
                  <a:pt x="2595193" y="622300"/>
                </a:lnTo>
                <a:lnTo>
                  <a:pt x="2604914" y="685800"/>
                </a:lnTo>
                <a:lnTo>
                  <a:pt x="2614500" y="749300"/>
                </a:lnTo>
                <a:lnTo>
                  <a:pt x="2621013" y="812800"/>
                </a:lnTo>
                <a:lnTo>
                  <a:pt x="2625090" y="863600"/>
                </a:lnTo>
                <a:lnTo>
                  <a:pt x="2627365" y="914400"/>
                </a:lnTo>
                <a:lnTo>
                  <a:pt x="2628477" y="965200"/>
                </a:lnTo>
                <a:lnTo>
                  <a:pt x="2629060" y="1016000"/>
                </a:lnTo>
                <a:lnTo>
                  <a:pt x="2629752" y="1066800"/>
                </a:lnTo>
                <a:lnTo>
                  <a:pt x="2631189" y="1104900"/>
                </a:lnTo>
                <a:lnTo>
                  <a:pt x="2634007" y="1155700"/>
                </a:lnTo>
                <a:lnTo>
                  <a:pt x="2638843" y="1193800"/>
                </a:lnTo>
                <a:lnTo>
                  <a:pt x="2646332" y="1244600"/>
                </a:lnTo>
                <a:lnTo>
                  <a:pt x="2657111" y="1282700"/>
                </a:lnTo>
                <a:lnTo>
                  <a:pt x="2631236" y="1295400"/>
                </a:lnTo>
                <a:lnTo>
                  <a:pt x="2573977" y="1295400"/>
                </a:lnTo>
                <a:lnTo>
                  <a:pt x="2542599" y="1308100"/>
                </a:lnTo>
                <a:lnTo>
                  <a:pt x="2509394" y="1308100"/>
                </a:lnTo>
                <a:lnTo>
                  <a:pt x="2437512" y="1333500"/>
                </a:lnTo>
                <a:lnTo>
                  <a:pt x="2398842" y="1346200"/>
                </a:lnTo>
                <a:lnTo>
                  <a:pt x="2358356" y="1358900"/>
                </a:lnTo>
                <a:lnTo>
                  <a:pt x="2316059" y="1371600"/>
                </a:lnTo>
                <a:lnTo>
                  <a:pt x="2271952" y="1397000"/>
                </a:lnTo>
                <a:lnTo>
                  <a:pt x="2226040" y="1409700"/>
                </a:lnTo>
                <a:lnTo>
                  <a:pt x="2178325" y="1435100"/>
                </a:lnTo>
                <a:lnTo>
                  <a:pt x="2128810" y="1460500"/>
                </a:lnTo>
                <a:lnTo>
                  <a:pt x="2077499" y="1485900"/>
                </a:lnTo>
                <a:lnTo>
                  <a:pt x="2024395" y="1524000"/>
                </a:lnTo>
                <a:lnTo>
                  <a:pt x="1969501" y="1549400"/>
                </a:lnTo>
                <a:lnTo>
                  <a:pt x="1912820" y="1587500"/>
                </a:lnTo>
                <a:lnTo>
                  <a:pt x="1854355" y="1625600"/>
                </a:lnTo>
                <a:lnTo>
                  <a:pt x="1794110" y="1663700"/>
                </a:lnTo>
                <a:lnTo>
                  <a:pt x="1732087" y="1701800"/>
                </a:lnTo>
                <a:lnTo>
                  <a:pt x="1668289" y="1752600"/>
                </a:lnTo>
                <a:lnTo>
                  <a:pt x="1920197" y="1752600"/>
                </a:lnTo>
                <a:lnTo>
                  <a:pt x="2098657" y="1638300"/>
                </a:lnTo>
                <a:lnTo>
                  <a:pt x="2215391" y="1587500"/>
                </a:lnTo>
                <a:lnTo>
                  <a:pt x="2272066" y="1562100"/>
                </a:lnTo>
                <a:lnTo>
                  <a:pt x="2327159" y="1536700"/>
                </a:lnTo>
                <a:lnTo>
                  <a:pt x="2380331" y="1524000"/>
                </a:lnTo>
                <a:lnTo>
                  <a:pt x="2431241" y="1498600"/>
                </a:lnTo>
                <a:lnTo>
                  <a:pt x="2479550" y="1485900"/>
                </a:lnTo>
                <a:lnTo>
                  <a:pt x="2524917" y="1473200"/>
                </a:lnTo>
                <a:lnTo>
                  <a:pt x="2567003" y="1460500"/>
                </a:lnTo>
                <a:lnTo>
                  <a:pt x="2605466" y="1447800"/>
                </a:lnTo>
                <a:lnTo>
                  <a:pt x="2639968" y="1447800"/>
                </a:lnTo>
                <a:lnTo>
                  <a:pt x="2670169" y="1435100"/>
                </a:lnTo>
                <a:lnTo>
                  <a:pt x="2695727" y="1435100"/>
                </a:lnTo>
                <a:lnTo>
                  <a:pt x="2716304" y="1422400"/>
                </a:lnTo>
                <a:lnTo>
                  <a:pt x="2795444" y="1422400"/>
                </a:lnTo>
                <a:lnTo>
                  <a:pt x="2813956" y="1409700"/>
                </a:lnTo>
                <a:lnTo>
                  <a:pt x="2807069" y="1371600"/>
                </a:lnTo>
                <a:lnTo>
                  <a:pt x="2803056" y="1333500"/>
                </a:lnTo>
                <a:lnTo>
                  <a:pt x="2801055" y="1282700"/>
                </a:lnTo>
                <a:lnTo>
                  <a:pt x="2800208" y="1231900"/>
                </a:lnTo>
                <a:lnTo>
                  <a:pt x="2800097" y="1219200"/>
                </a:lnTo>
                <a:lnTo>
                  <a:pt x="2799986" y="1206500"/>
                </a:lnTo>
                <a:lnTo>
                  <a:pt x="2799875" y="1193800"/>
                </a:lnTo>
                <a:lnTo>
                  <a:pt x="2799764" y="1181100"/>
                </a:lnTo>
                <a:lnTo>
                  <a:pt x="2799653" y="1168400"/>
                </a:lnTo>
                <a:lnTo>
                  <a:pt x="2798530" y="1117600"/>
                </a:lnTo>
                <a:lnTo>
                  <a:pt x="2795980" y="1066800"/>
                </a:lnTo>
                <a:lnTo>
                  <a:pt x="2791141" y="1016000"/>
                </a:lnTo>
                <a:lnTo>
                  <a:pt x="2783154" y="965200"/>
                </a:lnTo>
                <a:lnTo>
                  <a:pt x="2771157" y="927100"/>
                </a:lnTo>
                <a:lnTo>
                  <a:pt x="2760627" y="889000"/>
                </a:lnTo>
                <a:lnTo>
                  <a:pt x="2754342" y="838200"/>
                </a:lnTo>
                <a:lnTo>
                  <a:pt x="2751297" y="787400"/>
                </a:lnTo>
                <a:lnTo>
                  <a:pt x="2750484" y="749300"/>
                </a:lnTo>
                <a:lnTo>
                  <a:pt x="2750650" y="723900"/>
                </a:lnTo>
                <a:lnTo>
                  <a:pt x="2750732" y="711200"/>
                </a:lnTo>
                <a:lnTo>
                  <a:pt x="2750815" y="698500"/>
                </a:lnTo>
                <a:lnTo>
                  <a:pt x="2750898" y="685800"/>
                </a:lnTo>
                <a:lnTo>
                  <a:pt x="2751531" y="635000"/>
                </a:lnTo>
                <a:lnTo>
                  <a:pt x="2751417" y="596900"/>
                </a:lnTo>
                <a:lnTo>
                  <a:pt x="2749432" y="533400"/>
                </a:lnTo>
                <a:lnTo>
                  <a:pt x="2744686" y="469900"/>
                </a:lnTo>
                <a:lnTo>
                  <a:pt x="2736135" y="419100"/>
                </a:lnTo>
                <a:lnTo>
                  <a:pt x="2722770" y="368300"/>
                </a:lnTo>
                <a:lnTo>
                  <a:pt x="2942977" y="368300"/>
                </a:lnTo>
                <a:lnTo>
                  <a:pt x="2942260" y="355600"/>
                </a:lnTo>
                <a:lnTo>
                  <a:pt x="2944235" y="317500"/>
                </a:lnTo>
                <a:lnTo>
                  <a:pt x="2944704" y="279400"/>
                </a:lnTo>
                <a:lnTo>
                  <a:pt x="2938035" y="228600"/>
                </a:lnTo>
                <a:lnTo>
                  <a:pt x="2711848" y="228600"/>
                </a:lnTo>
                <a:lnTo>
                  <a:pt x="2702597" y="177800"/>
                </a:lnTo>
                <a:lnTo>
                  <a:pt x="2702079" y="152400"/>
                </a:lnTo>
                <a:close/>
              </a:path>
              <a:path w="3197225" h="2133600">
                <a:moveTo>
                  <a:pt x="638537" y="368300"/>
                </a:moveTo>
                <a:lnTo>
                  <a:pt x="467885" y="368300"/>
                </a:lnTo>
                <a:lnTo>
                  <a:pt x="473495" y="419100"/>
                </a:lnTo>
                <a:lnTo>
                  <a:pt x="473562" y="469900"/>
                </a:lnTo>
                <a:lnTo>
                  <a:pt x="469231" y="520700"/>
                </a:lnTo>
                <a:lnTo>
                  <a:pt x="461648" y="558800"/>
                </a:lnTo>
                <a:lnTo>
                  <a:pt x="451960" y="596900"/>
                </a:lnTo>
                <a:lnTo>
                  <a:pt x="441311" y="635000"/>
                </a:lnTo>
                <a:lnTo>
                  <a:pt x="430847" y="685800"/>
                </a:lnTo>
                <a:lnTo>
                  <a:pt x="421714" y="723900"/>
                </a:lnTo>
                <a:lnTo>
                  <a:pt x="415057" y="762000"/>
                </a:lnTo>
                <a:lnTo>
                  <a:pt x="412023" y="812800"/>
                </a:lnTo>
                <a:lnTo>
                  <a:pt x="413756" y="850900"/>
                </a:lnTo>
                <a:lnTo>
                  <a:pt x="429622" y="952500"/>
                </a:lnTo>
                <a:lnTo>
                  <a:pt x="431234" y="1003300"/>
                </a:lnTo>
                <a:lnTo>
                  <a:pt x="427621" y="1054100"/>
                </a:lnTo>
                <a:lnTo>
                  <a:pt x="420168" y="1092200"/>
                </a:lnTo>
                <a:lnTo>
                  <a:pt x="410258" y="1130300"/>
                </a:lnTo>
                <a:lnTo>
                  <a:pt x="399275" y="1181100"/>
                </a:lnTo>
                <a:lnTo>
                  <a:pt x="388603" y="1219200"/>
                </a:lnTo>
                <a:lnTo>
                  <a:pt x="379626" y="1257300"/>
                </a:lnTo>
                <a:lnTo>
                  <a:pt x="373727" y="1308100"/>
                </a:lnTo>
                <a:lnTo>
                  <a:pt x="372290" y="1358900"/>
                </a:lnTo>
                <a:lnTo>
                  <a:pt x="376699" y="1409700"/>
                </a:lnTo>
                <a:lnTo>
                  <a:pt x="397785" y="1422400"/>
                </a:lnTo>
                <a:lnTo>
                  <a:pt x="446041" y="1422400"/>
                </a:lnTo>
                <a:lnTo>
                  <a:pt x="444265" y="1409700"/>
                </a:lnTo>
                <a:lnTo>
                  <a:pt x="447417" y="1409700"/>
                </a:lnTo>
                <a:lnTo>
                  <a:pt x="455253" y="1397000"/>
                </a:lnTo>
                <a:lnTo>
                  <a:pt x="483997" y="1397000"/>
                </a:lnTo>
                <a:lnTo>
                  <a:pt x="504414" y="1384300"/>
                </a:lnTo>
                <a:lnTo>
                  <a:pt x="920821" y="1384300"/>
                </a:lnTo>
                <a:lnTo>
                  <a:pt x="897792" y="1371600"/>
                </a:lnTo>
                <a:lnTo>
                  <a:pt x="853215" y="1358900"/>
                </a:lnTo>
                <a:lnTo>
                  <a:pt x="810209" y="1333500"/>
                </a:lnTo>
                <a:lnTo>
                  <a:pt x="768863" y="1320800"/>
                </a:lnTo>
                <a:lnTo>
                  <a:pt x="729270" y="1320800"/>
                </a:lnTo>
                <a:lnTo>
                  <a:pt x="691518" y="1308100"/>
                </a:lnTo>
                <a:lnTo>
                  <a:pt x="655698" y="1295400"/>
                </a:lnTo>
                <a:lnTo>
                  <a:pt x="533544" y="1295400"/>
                </a:lnTo>
                <a:lnTo>
                  <a:pt x="523212" y="1244600"/>
                </a:lnTo>
                <a:lnTo>
                  <a:pt x="518609" y="1193800"/>
                </a:lnTo>
                <a:lnTo>
                  <a:pt x="518673" y="1181100"/>
                </a:lnTo>
                <a:lnTo>
                  <a:pt x="518736" y="1168400"/>
                </a:lnTo>
                <a:lnTo>
                  <a:pt x="518800" y="1155700"/>
                </a:lnTo>
                <a:lnTo>
                  <a:pt x="522854" y="1104900"/>
                </a:lnTo>
                <a:lnTo>
                  <a:pt x="529835" y="1054100"/>
                </a:lnTo>
                <a:lnTo>
                  <a:pt x="538810" y="1003300"/>
                </a:lnTo>
                <a:lnTo>
                  <a:pt x="548846" y="952500"/>
                </a:lnTo>
                <a:lnTo>
                  <a:pt x="559008" y="901700"/>
                </a:lnTo>
                <a:lnTo>
                  <a:pt x="568362" y="850900"/>
                </a:lnTo>
                <a:lnTo>
                  <a:pt x="575976" y="800100"/>
                </a:lnTo>
                <a:lnTo>
                  <a:pt x="580915" y="749300"/>
                </a:lnTo>
                <a:lnTo>
                  <a:pt x="585087" y="711200"/>
                </a:lnTo>
                <a:lnTo>
                  <a:pt x="591242" y="660400"/>
                </a:lnTo>
                <a:lnTo>
                  <a:pt x="598789" y="622300"/>
                </a:lnTo>
                <a:lnTo>
                  <a:pt x="607139" y="584200"/>
                </a:lnTo>
                <a:lnTo>
                  <a:pt x="615702" y="533400"/>
                </a:lnTo>
                <a:lnTo>
                  <a:pt x="623889" y="495300"/>
                </a:lnTo>
                <a:lnTo>
                  <a:pt x="631110" y="444500"/>
                </a:lnTo>
                <a:lnTo>
                  <a:pt x="636777" y="393700"/>
                </a:lnTo>
                <a:lnTo>
                  <a:pt x="638537" y="368300"/>
                </a:lnTo>
                <a:close/>
              </a:path>
              <a:path w="3197225" h="2133600">
                <a:moveTo>
                  <a:pt x="2969894" y="431800"/>
                </a:moveTo>
                <a:lnTo>
                  <a:pt x="2956323" y="444500"/>
                </a:lnTo>
                <a:lnTo>
                  <a:pt x="2984025" y="444500"/>
                </a:lnTo>
                <a:lnTo>
                  <a:pt x="2969894" y="431800"/>
                </a:lnTo>
                <a:close/>
              </a:path>
              <a:path w="3197225" h="2133600">
                <a:moveTo>
                  <a:pt x="2682132" y="25400"/>
                </a:moveTo>
                <a:lnTo>
                  <a:pt x="2292410" y="25400"/>
                </a:lnTo>
                <a:lnTo>
                  <a:pt x="2155957" y="63500"/>
                </a:lnTo>
                <a:lnTo>
                  <a:pt x="2111591" y="88900"/>
                </a:lnTo>
                <a:lnTo>
                  <a:pt x="2024140" y="114300"/>
                </a:lnTo>
                <a:lnTo>
                  <a:pt x="1895180" y="190500"/>
                </a:lnTo>
                <a:lnTo>
                  <a:pt x="1852520" y="203200"/>
                </a:lnTo>
                <a:lnTo>
                  <a:pt x="1767298" y="254000"/>
                </a:lnTo>
                <a:lnTo>
                  <a:pt x="1724603" y="292100"/>
                </a:lnTo>
                <a:lnTo>
                  <a:pt x="1595391" y="368300"/>
                </a:lnTo>
                <a:lnTo>
                  <a:pt x="1810524" y="368300"/>
                </a:lnTo>
                <a:lnTo>
                  <a:pt x="1823630" y="355600"/>
                </a:lnTo>
                <a:lnTo>
                  <a:pt x="1863383" y="330200"/>
                </a:lnTo>
                <a:lnTo>
                  <a:pt x="1903641" y="292100"/>
                </a:lnTo>
                <a:lnTo>
                  <a:pt x="1944472" y="266700"/>
                </a:lnTo>
                <a:lnTo>
                  <a:pt x="1985944" y="254000"/>
                </a:lnTo>
                <a:lnTo>
                  <a:pt x="2028126" y="228600"/>
                </a:lnTo>
                <a:lnTo>
                  <a:pt x="2071086" y="215900"/>
                </a:lnTo>
                <a:lnTo>
                  <a:pt x="2114893" y="190500"/>
                </a:lnTo>
                <a:lnTo>
                  <a:pt x="2205321" y="165100"/>
                </a:lnTo>
                <a:lnTo>
                  <a:pt x="2252079" y="165100"/>
                </a:lnTo>
                <a:lnTo>
                  <a:pt x="2299958" y="152400"/>
                </a:lnTo>
                <a:lnTo>
                  <a:pt x="2702079" y="152400"/>
                </a:lnTo>
                <a:lnTo>
                  <a:pt x="2701561" y="127000"/>
                </a:lnTo>
                <a:lnTo>
                  <a:pt x="2701445" y="114300"/>
                </a:lnTo>
                <a:lnTo>
                  <a:pt x="2701329" y="101600"/>
                </a:lnTo>
                <a:lnTo>
                  <a:pt x="2701213" y="88900"/>
                </a:lnTo>
                <a:lnTo>
                  <a:pt x="2701097" y="76200"/>
                </a:lnTo>
                <a:lnTo>
                  <a:pt x="2693560" y="38100"/>
                </a:lnTo>
                <a:lnTo>
                  <a:pt x="2682132" y="25400"/>
                </a:lnTo>
                <a:close/>
              </a:path>
              <a:path w="3197225" h="2133600">
                <a:moveTo>
                  <a:pt x="400591" y="215900"/>
                </a:moveTo>
                <a:lnTo>
                  <a:pt x="360882" y="215900"/>
                </a:lnTo>
                <a:lnTo>
                  <a:pt x="318279" y="228600"/>
                </a:lnTo>
                <a:lnTo>
                  <a:pt x="439277" y="228600"/>
                </a:lnTo>
                <a:lnTo>
                  <a:pt x="400591" y="215900"/>
                </a:lnTo>
                <a:close/>
              </a:path>
              <a:path w="3197225" h="2133600">
                <a:moveTo>
                  <a:pt x="2586341" y="12700"/>
                </a:moveTo>
                <a:lnTo>
                  <a:pt x="2386833" y="12700"/>
                </a:lnTo>
                <a:lnTo>
                  <a:pt x="2339233" y="25400"/>
                </a:lnTo>
                <a:lnTo>
                  <a:pt x="2638823" y="25400"/>
                </a:lnTo>
                <a:lnTo>
                  <a:pt x="2586341" y="12700"/>
                </a:lnTo>
                <a:close/>
              </a:path>
              <a:path w="3197225" h="2133600">
                <a:moveTo>
                  <a:pt x="753762" y="0"/>
                </a:moveTo>
                <a:lnTo>
                  <a:pt x="704146" y="0"/>
                </a:lnTo>
                <a:lnTo>
                  <a:pt x="653957" y="12700"/>
                </a:lnTo>
                <a:lnTo>
                  <a:pt x="802809" y="12700"/>
                </a:lnTo>
                <a:lnTo>
                  <a:pt x="753762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REFERENCES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21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II)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62050" y="1533220"/>
            <a:ext cx="9652635" cy="1201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80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https://angular.dev/overview</a:t>
            </a:r>
            <a:endParaRPr sz="1800">
              <a:latin typeface="Calibri"/>
              <a:cs typeface="Calibri"/>
            </a:endParaRPr>
          </a:p>
          <a:p>
            <a:pPr marL="241300" marR="5080">
              <a:lnSpc>
                <a:spcPts val="1939"/>
              </a:lnSpc>
              <a:spcBef>
                <a:spcPts val="140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1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1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Introduction: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Essentials;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In-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depth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Guides: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Forms,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Dependency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Injection,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Router,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HTTP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Client,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Signals.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2025-04-12T10:14:51Z</dcterms:created>
  <dcterms:modified xsi:type="dcterms:W3CDTF">2025-04-12T10:14:51Z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