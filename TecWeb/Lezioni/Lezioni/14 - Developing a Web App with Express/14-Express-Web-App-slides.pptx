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Default Extension="jpg" ContentType="image/jpg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7755" y="22858"/>
            <a:ext cx="5794243" cy="68351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62050" y="3005708"/>
            <a:ext cx="9547860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11F3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11F3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096000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6096000" y="0"/>
                </a:moveTo>
                <a:lnTo>
                  <a:pt x="0" y="0"/>
                </a:lnTo>
                <a:lnTo>
                  <a:pt x="0" y="6858000"/>
                </a:lnTo>
                <a:lnTo>
                  <a:pt x="6096000" y="6858000"/>
                </a:lnTo>
                <a:lnTo>
                  <a:pt x="6096000" y="0"/>
                </a:lnTo>
                <a:close/>
              </a:path>
            </a:pathLst>
          </a:custGeom>
          <a:solidFill>
            <a:srgbClr val="D700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62050" y="1533220"/>
            <a:ext cx="4834255" cy="4290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11F3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51575" y="1457578"/>
            <a:ext cx="4894580" cy="4290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7755" y="22858"/>
            <a:ext cx="5794243" cy="68351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2050" y="557529"/>
            <a:ext cx="902208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2050" y="1446872"/>
            <a:ext cx="10102215" cy="4377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11F3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962050" y="6465214"/>
            <a:ext cx="880872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049761" y="6465214"/>
            <a:ext cx="2190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mailto:luigiliberolucio.starace@unina.it" TargetMode="External"/><Relationship Id="rId4" Type="http://schemas.openxmlformats.org/officeDocument/2006/relationships/hyperlink" Target="https://luistar.github.io/" TargetMode="External"/><Relationship Id="rId5" Type="http://schemas.openxmlformats.org/officeDocument/2006/relationships/hyperlink" Target="https://docenti.unina.it/luigiliberolucio.starace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hibernate.org/orm/" TargetMode="External"/><Relationship Id="rId3" Type="http://schemas.openxmlformats.org/officeDocument/2006/relationships/hyperlink" Target="https://learn.microsoft.com/en-us/ef/" TargetMode="External"/><Relationship Id="rId4" Type="http://schemas.openxmlformats.org/officeDocument/2006/relationships/hyperlink" Target="https://www.sqlalchemy.org/" TargetMode="External"/><Relationship Id="rId5" Type="http://schemas.openxmlformats.org/officeDocument/2006/relationships/hyperlink" Target="https://propelorm.org/" TargetMode="External"/><Relationship Id="rId6" Type="http://schemas.openxmlformats.org/officeDocument/2006/relationships/hyperlink" Target="https://guides.rubyonrails.org/active_record_basics.html" TargetMode="External"/><Relationship Id="rId7" Type="http://schemas.openxmlformats.org/officeDocument/2006/relationships/hyperlink" Target="https://sequelize.org/" TargetMode="External"/><Relationship Id="rId8" Type="http://schemas.openxmlformats.org/officeDocument/2006/relationships/hyperlink" Target="https://www.prisma.io/" TargetMode="External"/><Relationship Id="rId9" Type="http://schemas.openxmlformats.org/officeDocument/2006/relationships/hyperlink" Target="https://typeorm.io/" TargetMode="Externa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equelize.org/" TargetMode="Externa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equelize.org/docs/v6/getting-started/" TargetMode="Externa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equelize.org/api/v6/class/src/model.js~model" TargetMode="Externa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equelize.org/docs/v6/core-concepts/assocs/" TargetMode="Externa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equelize.org/docs/v6/core-concepts/model-querying-basics/" TargetMode="Externa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npmjs.com/package/dotenv" TargetMode="Externa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martinfowler.com/bliki/OrmHate.html" TargetMode="External"/><Relationship Id="rId3" Type="http://schemas.openxmlformats.org/officeDocument/2006/relationships/hyperlink" Target="https://sequelize.org/docs/v6/getting-started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7755" y="22858"/>
            <a:ext cx="5794243" cy="683513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62050" y="2230958"/>
            <a:ext cx="9591675" cy="1763395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12700" marR="5080">
              <a:lnSpc>
                <a:spcPts val="6480"/>
              </a:lnSpc>
              <a:spcBef>
                <a:spcPts val="915"/>
              </a:spcBef>
            </a:pPr>
            <a:r>
              <a:rPr dirty="0" sz="6000" b="1">
                <a:solidFill>
                  <a:srgbClr val="111F35"/>
                </a:solidFill>
                <a:latin typeface="Tahoma"/>
                <a:cs typeface="Tahoma"/>
              </a:rPr>
              <a:t>DEVELOPING</a:t>
            </a:r>
            <a:r>
              <a:rPr dirty="0" sz="6000" spc="-90" b="1">
                <a:solidFill>
                  <a:srgbClr val="111F35"/>
                </a:solidFill>
                <a:latin typeface="Tahoma"/>
                <a:cs typeface="Tahoma"/>
              </a:rPr>
              <a:t> </a:t>
            </a:r>
            <a:r>
              <a:rPr dirty="0" sz="6000" spc="204" b="1">
                <a:solidFill>
                  <a:srgbClr val="111F35"/>
                </a:solidFill>
                <a:latin typeface="Tahoma"/>
                <a:cs typeface="Tahoma"/>
              </a:rPr>
              <a:t>A</a:t>
            </a:r>
            <a:r>
              <a:rPr dirty="0" sz="6000" spc="-60" b="1">
                <a:solidFill>
                  <a:srgbClr val="111F35"/>
                </a:solidFill>
                <a:latin typeface="Tahoma"/>
                <a:cs typeface="Tahoma"/>
              </a:rPr>
              <a:t> </a:t>
            </a:r>
            <a:r>
              <a:rPr dirty="0" sz="6000" spc="-85" b="1">
                <a:solidFill>
                  <a:srgbClr val="111F35"/>
                </a:solidFill>
                <a:latin typeface="Tahoma"/>
                <a:cs typeface="Tahoma"/>
              </a:rPr>
              <a:t>WEB</a:t>
            </a:r>
            <a:r>
              <a:rPr dirty="0" sz="6000" spc="-70" b="1">
                <a:solidFill>
                  <a:srgbClr val="111F35"/>
                </a:solidFill>
                <a:latin typeface="Tahoma"/>
                <a:cs typeface="Tahoma"/>
              </a:rPr>
              <a:t> </a:t>
            </a:r>
            <a:r>
              <a:rPr dirty="0" sz="6000" spc="-25" b="1">
                <a:solidFill>
                  <a:srgbClr val="111F35"/>
                </a:solidFill>
                <a:latin typeface="Tahoma"/>
                <a:cs typeface="Tahoma"/>
              </a:rPr>
              <a:t>APP </a:t>
            </a:r>
            <a:r>
              <a:rPr dirty="0" sz="6000" spc="-350" b="1">
                <a:solidFill>
                  <a:srgbClr val="111F35"/>
                </a:solidFill>
                <a:latin typeface="Tahoma"/>
                <a:cs typeface="Tahoma"/>
              </a:rPr>
              <a:t>WITH</a:t>
            </a:r>
            <a:r>
              <a:rPr dirty="0" sz="6000" spc="130" b="1">
                <a:solidFill>
                  <a:srgbClr val="111F35"/>
                </a:solidFill>
                <a:latin typeface="Tahoma"/>
                <a:cs typeface="Tahoma"/>
              </a:rPr>
              <a:t> </a:t>
            </a:r>
            <a:r>
              <a:rPr dirty="0" sz="6000" spc="-290" b="1">
                <a:solidFill>
                  <a:srgbClr val="111F35"/>
                </a:solidFill>
                <a:latin typeface="Tahoma"/>
                <a:cs typeface="Tahoma"/>
              </a:rPr>
              <a:t>EXPRESS</a:t>
            </a:r>
            <a:endParaRPr sz="60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61136" y="4471630"/>
            <a:ext cx="4407535" cy="1599565"/>
          </a:xfrm>
          <a:prstGeom prst="rect">
            <a:avLst/>
          </a:prstGeom>
        </p:spPr>
        <p:txBody>
          <a:bodyPr wrap="square" lIns="0" tIns="17970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41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Luigi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Libero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Lucio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Starace,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PhD</a:t>
            </a:r>
            <a:endParaRPr sz="2800">
              <a:latin typeface="Calibri"/>
              <a:cs typeface="Calibri"/>
            </a:endParaRPr>
          </a:p>
          <a:p>
            <a:pPr marL="12700" marR="278130">
              <a:lnSpc>
                <a:spcPct val="119200"/>
              </a:lnSpc>
              <a:spcBef>
                <a:spcPts val="420"/>
              </a:spcBef>
            </a:pPr>
            <a:r>
              <a:rPr dirty="0" u="sng" sz="17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luigiliberolucio.starace@unina.it</a:t>
            </a:r>
            <a:r>
              <a:rPr dirty="0" sz="1700" spc="-1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u="sng" sz="17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https://luistar.github.io</a:t>
            </a:r>
            <a:r>
              <a:rPr dirty="0" sz="1700" spc="-1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u="sng" sz="17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5"/>
              </a:rPr>
              <a:t>https://docenti.unina.it/luigiliberolucio.starace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62050" y="960247"/>
            <a:ext cx="642112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70">
                <a:solidFill>
                  <a:srgbClr val="006379"/>
                </a:solidFill>
              </a:rPr>
              <a:t>WEB</a:t>
            </a:r>
            <a:r>
              <a:rPr dirty="0" sz="2800" spc="-75">
                <a:solidFill>
                  <a:srgbClr val="006379"/>
                </a:solidFill>
              </a:rPr>
              <a:t> </a:t>
            </a:r>
            <a:r>
              <a:rPr dirty="0" sz="2800">
                <a:solidFill>
                  <a:srgbClr val="006379"/>
                </a:solidFill>
              </a:rPr>
              <a:t>TECHNO</a:t>
            </a:r>
            <a:r>
              <a:rPr dirty="0" sz="2800">
                <a:solidFill>
                  <a:srgbClr val="396C77"/>
                </a:solidFill>
              </a:rPr>
              <a:t>L</a:t>
            </a:r>
            <a:r>
              <a:rPr dirty="0" sz="2800">
                <a:solidFill>
                  <a:srgbClr val="006379"/>
                </a:solidFill>
              </a:rPr>
              <a:t>OGIES</a:t>
            </a:r>
            <a:r>
              <a:rPr dirty="0" sz="2800" spc="-40">
                <a:solidFill>
                  <a:srgbClr val="006379"/>
                </a:solidFill>
              </a:rPr>
              <a:t> </a:t>
            </a:r>
            <a:r>
              <a:rPr dirty="0" sz="2800" spc="1000">
                <a:solidFill>
                  <a:srgbClr val="006379"/>
                </a:solidFill>
              </a:rPr>
              <a:t>–</a:t>
            </a:r>
            <a:r>
              <a:rPr dirty="0" sz="2800" spc="-75">
                <a:solidFill>
                  <a:srgbClr val="006379"/>
                </a:solidFill>
              </a:rPr>
              <a:t> </a:t>
            </a:r>
            <a:r>
              <a:rPr dirty="0" sz="2800" spc="-105">
                <a:solidFill>
                  <a:srgbClr val="006379"/>
                </a:solidFill>
              </a:rPr>
              <a:t>LECTURE</a:t>
            </a:r>
            <a:r>
              <a:rPr dirty="0" sz="2800" spc="-55">
                <a:solidFill>
                  <a:srgbClr val="006379"/>
                </a:solidFill>
              </a:rPr>
              <a:t> </a:t>
            </a:r>
            <a:r>
              <a:rPr dirty="0" sz="2800" spc="-25">
                <a:solidFill>
                  <a:srgbClr val="006379"/>
                </a:solidFill>
              </a:rPr>
              <a:t>14</a:t>
            </a:r>
            <a:endParaRPr sz="2800"/>
          </a:p>
        </p:txBody>
      </p:sp>
      <p:sp>
        <p:nvSpPr>
          <p:cNvPr id="6" name="object 6" descr=""/>
          <p:cNvSpPr txBox="1"/>
          <p:nvPr/>
        </p:nvSpPr>
        <p:spPr>
          <a:xfrm>
            <a:off x="962050" y="616965"/>
            <a:ext cx="633603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5" b="1">
                <a:solidFill>
                  <a:srgbClr val="006379"/>
                </a:solidFill>
                <a:latin typeface="Tahoma"/>
                <a:cs typeface="Tahoma"/>
              </a:rPr>
              <a:t>UNIVERSITÀ </a:t>
            </a:r>
            <a:r>
              <a:rPr dirty="0" sz="2000" spc="-10" b="1">
                <a:solidFill>
                  <a:srgbClr val="006379"/>
                </a:solidFill>
                <a:latin typeface="Tahoma"/>
                <a:cs typeface="Tahoma"/>
              </a:rPr>
              <a:t>DEGLI</a:t>
            </a:r>
            <a:r>
              <a:rPr dirty="0" sz="2000" spc="-55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60" b="1">
                <a:solidFill>
                  <a:srgbClr val="006379"/>
                </a:solidFill>
                <a:latin typeface="Tahoma"/>
                <a:cs typeface="Tahoma"/>
              </a:rPr>
              <a:t>STUDI</a:t>
            </a:r>
            <a:r>
              <a:rPr dirty="0" sz="2000" spc="-4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55" b="1">
                <a:solidFill>
                  <a:srgbClr val="006379"/>
                </a:solidFill>
                <a:latin typeface="Tahoma"/>
                <a:cs typeface="Tahoma"/>
              </a:rPr>
              <a:t>DI</a:t>
            </a:r>
            <a:r>
              <a:rPr dirty="0" sz="2000" spc="-5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006379"/>
                </a:solidFill>
                <a:latin typeface="Tahoma"/>
                <a:cs typeface="Tahoma"/>
              </a:rPr>
              <a:t>NAPOLI</a:t>
            </a:r>
            <a:r>
              <a:rPr dirty="0" sz="2000" spc="-65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75" b="1">
                <a:solidFill>
                  <a:srgbClr val="006379"/>
                </a:solidFill>
                <a:latin typeface="Tahoma"/>
                <a:cs typeface="Tahoma"/>
              </a:rPr>
              <a:t>FEDERICO</a:t>
            </a:r>
            <a:r>
              <a:rPr dirty="0" sz="2000" spc="-6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280" b="1">
                <a:solidFill>
                  <a:srgbClr val="006379"/>
                </a:solidFill>
                <a:latin typeface="Tahoma"/>
                <a:cs typeface="Tahoma"/>
              </a:rPr>
              <a:t>II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5"/>
              <a:t>PREVIOUSLY,</a:t>
            </a:r>
            <a:r>
              <a:rPr dirty="0" spc="-80"/>
              <a:t> </a:t>
            </a:r>
            <a:r>
              <a:rPr dirty="0" spc="275"/>
              <a:t>ON</a:t>
            </a:r>
            <a:r>
              <a:rPr dirty="0" spc="-95"/>
              <a:t> </a:t>
            </a:r>
            <a:r>
              <a:rPr dirty="0" spc="-70"/>
              <a:t>WEB</a:t>
            </a:r>
            <a:r>
              <a:rPr dirty="0" spc="-114"/>
              <a:t> </a:t>
            </a:r>
            <a:r>
              <a:rPr dirty="0" spc="-10"/>
              <a:t>TECHNOLOGIES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584690" cy="386334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learned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good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deal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about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8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Frameworks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Express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Routers,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Middleware,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Templating…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65"/>
              </a:spcBef>
              <a:buClr>
                <a:srgbClr val="111F35"/>
              </a:buClr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Let’s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put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knowledge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good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build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proper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app!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We’ll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re-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implement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To-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List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Express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(adding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more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features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along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way)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ts val="3195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We’ll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manage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persistency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more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advanced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way,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195"/>
              </a:lnSpc>
            </a:pP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Object-Relational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Mapping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library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3005708"/>
            <a:ext cx="990790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185"/>
              <a:t>OBJECT-</a:t>
            </a:r>
            <a:r>
              <a:rPr dirty="0" sz="4800" spc="-60"/>
              <a:t>RELATIONAL</a:t>
            </a:r>
            <a:r>
              <a:rPr dirty="0" sz="4800" spc="-260"/>
              <a:t> </a:t>
            </a:r>
            <a:r>
              <a:rPr dirty="0" sz="4800" spc="-10"/>
              <a:t>MAPPING</a:t>
            </a:r>
            <a:endParaRPr sz="4800"/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35837" y="2980689"/>
            <a:ext cx="4643120" cy="3295650"/>
            <a:chOff x="735837" y="2980689"/>
            <a:chExt cx="4643120" cy="3295650"/>
          </a:xfrm>
        </p:grpSpPr>
        <p:sp>
          <p:nvSpPr>
            <p:cNvPr id="3" name="object 3" descr=""/>
            <p:cNvSpPr/>
            <p:nvPr/>
          </p:nvSpPr>
          <p:spPr>
            <a:xfrm>
              <a:off x="742187" y="5259323"/>
              <a:ext cx="2955290" cy="1010919"/>
            </a:xfrm>
            <a:custGeom>
              <a:avLst/>
              <a:gdLst/>
              <a:ahLst/>
              <a:cxnLst/>
              <a:rect l="l" t="t" r="r" b="b"/>
              <a:pathLst>
                <a:path w="2955290" h="1010920">
                  <a:moveTo>
                    <a:pt x="2955036" y="0"/>
                  </a:moveTo>
                  <a:lnTo>
                    <a:pt x="0" y="0"/>
                  </a:lnTo>
                  <a:lnTo>
                    <a:pt x="0" y="1010412"/>
                  </a:lnTo>
                  <a:lnTo>
                    <a:pt x="2955036" y="1010412"/>
                  </a:lnTo>
                  <a:lnTo>
                    <a:pt x="2955036" y="0"/>
                  </a:lnTo>
                  <a:close/>
                </a:path>
              </a:pathLst>
            </a:custGeom>
            <a:solidFill>
              <a:srgbClr val="006C52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42187" y="5259323"/>
              <a:ext cx="2955290" cy="1010919"/>
            </a:xfrm>
            <a:custGeom>
              <a:avLst/>
              <a:gdLst/>
              <a:ahLst/>
              <a:cxnLst/>
              <a:rect l="l" t="t" r="r" b="b"/>
              <a:pathLst>
                <a:path w="2955290" h="1010920">
                  <a:moveTo>
                    <a:pt x="0" y="1010412"/>
                  </a:moveTo>
                  <a:lnTo>
                    <a:pt x="2955036" y="1010412"/>
                  </a:lnTo>
                  <a:lnTo>
                    <a:pt x="2955036" y="0"/>
                  </a:lnTo>
                  <a:lnTo>
                    <a:pt x="0" y="0"/>
                  </a:lnTo>
                  <a:lnTo>
                    <a:pt x="0" y="1010412"/>
                  </a:lnTo>
                  <a:close/>
                </a:path>
              </a:pathLst>
            </a:custGeom>
            <a:ln w="12700">
              <a:solidFill>
                <a:srgbClr val="0039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790443" y="2987039"/>
              <a:ext cx="2581910" cy="1088390"/>
            </a:xfrm>
            <a:custGeom>
              <a:avLst/>
              <a:gdLst/>
              <a:ahLst/>
              <a:cxnLst/>
              <a:rect l="l" t="t" r="r" b="b"/>
              <a:pathLst>
                <a:path w="2581910" h="1088389">
                  <a:moveTo>
                    <a:pt x="2581656" y="0"/>
                  </a:moveTo>
                  <a:lnTo>
                    <a:pt x="0" y="0"/>
                  </a:lnTo>
                  <a:lnTo>
                    <a:pt x="0" y="1088136"/>
                  </a:lnTo>
                  <a:lnTo>
                    <a:pt x="2581656" y="1088136"/>
                  </a:lnTo>
                  <a:lnTo>
                    <a:pt x="2581656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790443" y="2987039"/>
              <a:ext cx="2581910" cy="1088390"/>
            </a:xfrm>
            <a:custGeom>
              <a:avLst/>
              <a:gdLst/>
              <a:ahLst/>
              <a:cxnLst/>
              <a:rect l="l" t="t" r="r" b="b"/>
              <a:pathLst>
                <a:path w="2581910" h="1088389">
                  <a:moveTo>
                    <a:pt x="0" y="1088136"/>
                  </a:moveTo>
                  <a:lnTo>
                    <a:pt x="2581656" y="1088136"/>
                  </a:lnTo>
                  <a:lnTo>
                    <a:pt x="2581656" y="0"/>
                  </a:lnTo>
                  <a:lnTo>
                    <a:pt x="0" y="0"/>
                  </a:lnTo>
                  <a:lnTo>
                    <a:pt x="0" y="1088136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40"/>
              <a:t>OBJECT-</a:t>
            </a:r>
            <a:r>
              <a:rPr dirty="0" spc="-45"/>
              <a:t>RELATIONAL</a:t>
            </a:r>
            <a:r>
              <a:rPr dirty="0" spc="5"/>
              <a:t> </a:t>
            </a:r>
            <a:r>
              <a:rPr dirty="0"/>
              <a:t>MAPPING</a:t>
            </a:r>
            <a:r>
              <a:rPr dirty="0" spc="30"/>
              <a:t> </a:t>
            </a:r>
            <a:r>
              <a:rPr dirty="0" spc="-10"/>
              <a:t>(ORM)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962050" y="1533220"/>
            <a:ext cx="9603740" cy="134874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 marR="105410">
              <a:lnSpc>
                <a:spcPts val="3030"/>
              </a:lnSpc>
              <a:spcBef>
                <a:spcPts val="47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developing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Object-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Oriented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software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persists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a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RDBMS,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deal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two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different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 representations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objects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living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heap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other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RDBMS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tables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869819" y="2956940"/>
            <a:ext cx="240665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UserName: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Riff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Raff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Password:</a:t>
            </a:r>
            <a:r>
              <a:rPr dirty="0" sz="1800" spc="-5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xjdf08b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869819" y="3505276"/>
            <a:ext cx="1529080" cy="575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14730" algn="l"/>
              </a:tabLst>
            </a:pP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Age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	: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26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015365" algn="l"/>
              </a:tabLst>
            </a:pP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Todos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	</a:t>
            </a:r>
            <a:r>
              <a:rPr dirty="0" sz="1800" spc="-50">
                <a:solidFill>
                  <a:srgbClr val="FFFFFF"/>
                </a:solidFill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</p:txBody>
      </p:sp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8063483" y="3006470"/>
          <a:ext cx="3549015" cy="1481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845"/>
                <a:gridCol w="1320165"/>
                <a:gridCol w="1181735"/>
                <a:gridCol w="560070"/>
              </a:tblGrid>
              <a:tr h="370205">
                <a:tc>
                  <a:txBody>
                    <a:bodyPr/>
                    <a:lstStyle/>
                    <a:p>
                      <a:pPr algn="ctr" marR="3492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UserName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Password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marR="1028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Janet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837jnge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4E5F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R="1028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Riff</a:t>
                      </a:r>
                      <a:r>
                        <a:rPr dirty="0" sz="18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Raff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xjdf08b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solidFill>
                      <a:srgbClr val="00637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R="1028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Frank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K99fid8f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solidFill>
                      <a:srgbClr val="004E5F"/>
                    </a:solidFill>
                  </a:tcPr>
                </a:tc>
              </a:tr>
            </a:tbl>
          </a:graphicData>
        </a:graphic>
      </p:graphicFrame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581" y="3747515"/>
            <a:ext cx="367284" cy="1063244"/>
          </a:xfrm>
          <a:prstGeom prst="rect">
            <a:avLst/>
          </a:prstGeom>
        </p:spPr>
      </p:pic>
      <p:graphicFrame>
        <p:nvGraphicFramePr>
          <p:cNvPr id="13" name="object 13" descr=""/>
          <p:cNvGraphicFramePr>
            <a:graphicFrameLocks noGrp="1"/>
          </p:cNvGraphicFramePr>
          <p:nvPr/>
        </p:nvGraphicFramePr>
        <p:xfrm>
          <a:off x="6912102" y="4811140"/>
          <a:ext cx="4220845" cy="1482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5934"/>
                <a:gridCol w="1008380"/>
                <a:gridCol w="2640965"/>
              </a:tblGrid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UserId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Todo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7355"/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7355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Learn</a:t>
                      </a:r>
                      <a:r>
                        <a:rPr dirty="0" sz="180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Sequelize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7355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solidFill>
                      <a:srgbClr val="00916D"/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solidFill>
                      <a:srgbClr val="00916D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Learn</a:t>
                      </a:r>
                      <a:r>
                        <a:rPr dirty="0" sz="180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Express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solidFill>
                      <a:srgbClr val="00916D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solidFill>
                      <a:srgbClr val="007355"/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solidFill>
                      <a:srgbClr val="007355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</a:t>
                      </a:r>
                      <a:r>
                        <a:rPr dirty="0" sz="18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time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warp</a:t>
                      </a:r>
                      <a:r>
                        <a:rPr dirty="0" sz="1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again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solidFill>
                      <a:srgbClr val="007355"/>
                    </a:solidFill>
                  </a:tcPr>
                </a:tc>
              </a:tr>
            </a:tbl>
          </a:graphicData>
        </a:graphic>
      </p:graphicFrame>
      <p:grpSp>
        <p:nvGrpSpPr>
          <p:cNvPr id="14" name="object 14" descr=""/>
          <p:cNvGrpSpPr/>
          <p:nvPr/>
        </p:nvGrpSpPr>
        <p:grpSpPr>
          <a:xfrm>
            <a:off x="402081" y="3828034"/>
            <a:ext cx="2343150" cy="1101090"/>
            <a:chOff x="402081" y="3828034"/>
            <a:chExt cx="2343150" cy="1101090"/>
          </a:xfrm>
        </p:grpSpPr>
        <p:sp>
          <p:nvSpPr>
            <p:cNvPr id="15" name="object 15" descr=""/>
            <p:cNvSpPr/>
            <p:nvPr/>
          </p:nvSpPr>
          <p:spPr>
            <a:xfrm>
              <a:off x="408431" y="3834384"/>
              <a:ext cx="2330450" cy="1088390"/>
            </a:xfrm>
            <a:custGeom>
              <a:avLst/>
              <a:gdLst/>
              <a:ahLst/>
              <a:cxnLst/>
              <a:rect l="l" t="t" r="r" b="b"/>
              <a:pathLst>
                <a:path w="2330450" h="1088389">
                  <a:moveTo>
                    <a:pt x="2330196" y="0"/>
                  </a:moveTo>
                  <a:lnTo>
                    <a:pt x="0" y="0"/>
                  </a:lnTo>
                  <a:lnTo>
                    <a:pt x="0" y="1088136"/>
                  </a:lnTo>
                  <a:lnTo>
                    <a:pt x="2330196" y="1088136"/>
                  </a:lnTo>
                  <a:lnTo>
                    <a:pt x="2330196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08431" y="3834384"/>
              <a:ext cx="2330450" cy="1088390"/>
            </a:xfrm>
            <a:custGeom>
              <a:avLst/>
              <a:gdLst/>
              <a:ahLst/>
              <a:cxnLst/>
              <a:rect l="l" t="t" r="r" b="b"/>
              <a:pathLst>
                <a:path w="2330450" h="1088389">
                  <a:moveTo>
                    <a:pt x="0" y="1088136"/>
                  </a:moveTo>
                  <a:lnTo>
                    <a:pt x="2330196" y="1088136"/>
                  </a:lnTo>
                  <a:lnTo>
                    <a:pt x="2330196" y="0"/>
                  </a:lnTo>
                  <a:lnTo>
                    <a:pt x="0" y="0"/>
                  </a:lnTo>
                  <a:lnTo>
                    <a:pt x="0" y="1088136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487476" y="3804284"/>
            <a:ext cx="215582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UserName:</a:t>
            </a:r>
            <a:r>
              <a:rPr dirty="0" sz="1800" spc="-5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Janet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Password:</a:t>
            </a:r>
            <a:r>
              <a:rPr dirty="0" sz="1800" spc="-5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837jnge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87476" y="4352925"/>
            <a:ext cx="152844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14730" algn="l"/>
              </a:tabLst>
            </a:pP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Age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	: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22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tabLst>
                <a:tab pos="1015365" algn="l"/>
              </a:tabLst>
            </a:pP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Todos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	</a:t>
            </a:r>
            <a:r>
              <a:rPr dirty="0" sz="1800" spc="-50">
                <a:solidFill>
                  <a:srgbClr val="FFFFFF"/>
                </a:solidFill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81812" y="5329428"/>
            <a:ext cx="2875915" cy="416559"/>
          </a:xfrm>
          <a:prstGeom prst="rect">
            <a:avLst/>
          </a:prstGeom>
          <a:solidFill>
            <a:srgbClr val="00916D"/>
          </a:solidFill>
          <a:ln w="12700">
            <a:solidFill>
              <a:srgbClr val="00392A"/>
            </a:solidFill>
          </a:ln>
        </p:spPr>
        <p:txBody>
          <a:bodyPr wrap="square" lIns="0" tIns="5778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455"/>
              </a:spcBef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Todo: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Learn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Sequelize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81812" y="5794247"/>
            <a:ext cx="2875915" cy="417830"/>
          </a:xfrm>
          <a:prstGeom prst="rect">
            <a:avLst/>
          </a:prstGeom>
          <a:solidFill>
            <a:srgbClr val="00916D"/>
          </a:solidFill>
          <a:ln w="12700">
            <a:solidFill>
              <a:srgbClr val="00392A"/>
            </a:solidFill>
          </a:ln>
        </p:spPr>
        <p:txBody>
          <a:bodyPr wrap="square" lIns="0" tIns="5905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465"/>
              </a:spcBef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Todo: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Learn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Express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445764" y="4369308"/>
            <a:ext cx="2330450" cy="588645"/>
          </a:xfrm>
          <a:prstGeom prst="rect">
            <a:avLst/>
          </a:prstGeom>
          <a:solidFill>
            <a:srgbClr val="00916D"/>
          </a:solidFill>
          <a:ln w="12700">
            <a:solidFill>
              <a:srgbClr val="00392A"/>
            </a:solidFill>
          </a:ln>
        </p:spPr>
        <p:txBody>
          <a:bodyPr wrap="square" lIns="0" tIns="698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55"/>
              </a:spcBef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Todo: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Do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time</a:t>
            </a:r>
            <a:endParaRPr sz="1800">
              <a:latin typeface="Consolas"/>
              <a:cs typeface="Consolas"/>
            </a:endParaRPr>
          </a:p>
          <a:p>
            <a:pPr marL="842644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warp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again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1803400" y="3890009"/>
            <a:ext cx="2827020" cy="1369695"/>
          </a:xfrm>
          <a:custGeom>
            <a:avLst/>
            <a:gdLst/>
            <a:ahLst/>
            <a:cxnLst/>
            <a:rect l="l" t="t" r="r" b="b"/>
            <a:pathLst>
              <a:path w="2827020" h="1369695">
                <a:moveTo>
                  <a:pt x="343039" y="1164590"/>
                </a:moveTo>
                <a:lnTo>
                  <a:pt x="340563" y="1162558"/>
                </a:lnTo>
                <a:lnTo>
                  <a:pt x="340106" y="1162177"/>
                </a:lnTo>
                <a:lnTo>
                  <a:pt x="338239" y="1160653"/>
                </a:lnTo>
                <a:lnTo>
                  <a:pt x="336537" y="1159256"/>
                </a:lnTo>
                <a:lnTo>
                  <a:pt x="336232" y="1159002"/>
                </a:lnTo>
                <a:lnTo>
                  <a:pt x="330200" y="1154049"/>
                </a:lnTo>
                <a:lnTo>
                  <a:pt x="295148" y="1133221"/>
                </a:lnTo>
                <a:lnTo>
                  <a:pt x="256667" y="1121537"/>
                </a:lnTo>
                <a:lnTo>
                  <a:pt x="231571" y="1119733"/>
                </a:lnTo>
                <a:lnTo>
                  <a:pt x="224624" y="1118997"/>
                </a:lnTo>
                <a:lnTo>
                  <a:pt x="222491" y="1118781"/>
                </a:lnTo>
                <a:lnTo>
                  <a:pt x="223647" y="1118997"/>
                </a:lnTo>
                <a:lnTo>
                  <a:pt x="222402" y="1118781"/>
                </a:lnTo>
                <a:lnTo>
                  <a:pt x="215265" y="1117346"/>
                </a:lnTo>
                <a:lnTo>
                  <a:pt x="216547" y="1117600"/>
                </a:lnTo>
                <a:lnTo>
                  <a:pt x="215544" y="1117346"/>
                </a:lnTo>
                <a:lnTo>
                  <a:pt x="209626" y="1115822"/>
                </a:lnTo>
                <a:lnTo>
                  <a:pt x="208419" y="1115441"/>
                </a:lnTo>
                <a:lnTo>
                  <a:pt x="202526" y="1113447"/>
                </a:lnTo>
                <a:lnTo>
                  <a:pt x="201510" y="1113028"/>
                </a:lnTo>
                <a:lnTo>
                  <a:pt x="195707" y="1110615"/>
                </a:lnTo>
                <a:lnTo>
                  <a:pt x="194475" y="1109980"/>
                </a:lnTo>
                <a:lnTo>
                  <a:pt x="181775" y="1103376"/>
                </a:lnTo>
                <a:lnTo>
                  <a:pt x="179908" y="1102410"/>
                </a:lnTo>
                <a:lnTo>
                  <a:pt x="181356" y="1103376"/>
                </a:lnTo>
                <a:lnTo>
                  <a:pt x="179578" y="1102233"/>
                </a:lnTo>
                <a:lnTo>
                  <a:pt x="167373" y="1093978"/>
                </a:lnTo>
                <a:lnTo>
                  <a:pt x="166687" y="1093571"/>
                </a:lnTo>
                <a:lnTo>
                  <a:pt x="165862" y="1092962"/>
                </a:lnTo>
                <a:lnTo>
                  <a:pt x="166763" y="1093571"/>
                </a:lnTo>
                <a:lnTo>
                  <a:pt x="166027" y="1092962"/>
                </a:lnTo>
                <a:lnTo>
                  <a:pt x="153924" y="1082929"/>
                </a:lnTo>
                <a:lnTo>
                  <a:pt x="152400" y="1081659"/>
                </a:lnTo>
                <a:lnTo>
                  <a:pt x="153670" y="1082929"/>
                </a:lnTo>
                <a:lnTo>
                  <a:pt x="140716" y="1070102"/>
                </a:lnTo>
                <a:lnTo>
                  <a:pt x="139738" y="1068959"/>
                </a:lnTo>
                <a:lnTo>
                  <a:pt x="127508" y="1054620"/>
                </a:lnTo>
                <a:lnTo>
                  <a:pt x="128282" y="1055522"/>
                </a:lnTo>
                <a:lnTo>
                  <a:pt x="127660" y="1054620"/>
                </a:lnTo>
                <a:lnTo>
                  <a:pt x="117335" y="1040257"/>
                </a:lnTo>
                <a:lnTo>
                  <a:pt x="116319" y="1038860"/>
                </a:lnTo>
                <a:lnTo>
                  <a:pt x="117094" y="1040257"/>
                </a:lnTo>
                <a:lnTo>
                  <a:pt x="106299" y="1022223"/>
                </a:lnTo>
                <a:lnTo>
                  <a:pt x="105714" y="1020826"/>
                </a:lnTo>
                <a:lnTo>
                  <a:pt x="97396" y="1004316"/>
                </a:lnTo>
                <a:lnTo>
                  <a:pt x="90360" y="987171"/>
                </a:lnTo>
                <a:lnTo>
                  <a:pt x="90030" y="986447"/>
                </a:lnTo>
                <a:lnTo>
                  <a:pt x="89789" y="985774"/>
                </a:lnTo>
                <a:lnTo>
                  <a:pt x="86906" y="976630"/>
                </a:lnTo>
                <a:lnTo>
                  <a:pt x="84709" y="969772"/>
                </a:lnTo>
                <a:lnTo>
                  <a:pt x="84251" y="968362"/>
                </a:lnTo>
                <a:lnTo>
                  <a:pt x="84010" y="966597"/>
                </a:lnTo>
                <a:lnTo>
                  <a:pt x="83781" y="964946"/>
                </a:lnTo>
                <a:lnTo>
                  <a:pt x="82892" y="958545"/>
                </a:lnTo>
                <a:lnTo>
                  <a:pt x="75565" y="905637"/>
                </a:lnTo>
                <a:lnTo>
                  <a:pt x="82778" y="957707"/>
                </a:lnTo>
                <a:lnTo>
                  <a:pt x="82892" y="958545"/>
                </a:lnTo>
                <a:lnTo>
                  <a:pt x="85394" y="957707"/>
                </a:lnTo>
                <a:lnTo>
                  <a:pt x="101866" y="943254"/>
                </a:lnTo>
                <a:lnTo>
                  <a:pt x="111683" y="923683"/>
                </a:lnTo>
                <a:lnTo>
                  <a:pt x="112953" y="905637"/>
                </a:lnTo>
                <a:lnTo>
                  <a:pt x="113284" y="901065"/>
                </a:lnTo>
                <a:lnTo>
                  <a:pt x="106032" y="879551"/>
                </a:lnTo>
                <a:lnTo>
                  <a:pt x="91579" y="863079"/>
                </a:lnTo>
                <a:lnTo>
                  <a:pt x="72009" y="853262"/>
                </a:lnTo>
                <a:lnTo>
                  <a:pt x="49403" y="851662"/>
                </a:lnTo>
                <a:lnTo>
                  <a:pt x="27876" y="858913"/>
                </a:lnTo>
                <a:lnTo>
                  <a:pt x="11404" y="873366"/>
                </a:lnTo>
                <a:lnTo>
                  <a:pt x="1587" y="892937"/>
                </a:lnTo>
                <a:lnTo>
                  <a:pt x="0" y="915543"/>
                </a:lnTo>
                <a:lnTo>
                  <a:pt x="7239" y="937069"/>
                </a:lnTo>
                <a:lnTo>
                  <a:pt x="21691" y="953541"/>
                </a:lnTo>
                <a:lnTo>
                  <a:pt x="41262" y="963358"/>
                </a:lnTo>
                <a:lnTo>
                  <a:pt x="45148" y="963637"/>
                </a:lnTo>
                <a:lnTo>
                  <a:pt x="37719" y="910971"/>
                </a:lnTo>
                <a:lnTo>
                  <a:pt x="45110" y="963358"/>
                </a:lnTo>
                <a:lnTo>
                  <a:pt x="62992" y="1020826"/>
                </a:lnTo>
                <a:lnTo>
                  <a:pt x="84963" y="1060577"/>
                </a:lnTo>
                <a:lnTo>
                  <a:pt x="112141" y="1095375"/>
                </a:lnTo>
                <a:lnTo>
                  <a:pt x="143764" y="1123950"/>
                </a:lnTo>
                <a:lnTo>
                  <a:pt x="178816" y="1144778"/>
                </a:lnTo>
                <a:lnTo>
                  <a:pt x="217170" y="1156462"/>
                </a:lnTo>
                <a:lnTo>
                  <a:pt x="244602" y="1158367"/>
                </a:lnTo>
                <a:lnTo>
                  <a:pt x="243332" y="1158367"/>
                </a:lnTo>
                <a:lnTo>
                  <a:pt x="251206" y="1159205"/>
                </a:lnTo>
                <a:lnTo>
                  <a:pt x="251663" y="1159256"/>
                </a:lnTo>
                <a:lnTo>
                  <a:pt x="251498" y="1159256"/>
                </a:lnTo>
                <a:lnTo>
                  <a:pt x="257530" y="1160437"/>
                </a:lnTo>
                <a:lnTo>
                  <a:pt x="265049" y="1162392"/>
                </a:lnTo>
                <a:lnTo>
                  <a:pt x="264414" y="1162177"/>
                </a:lnTo>
                <a:lnTo>
                  <a:pt x="265684" y="1162558"/>
                </a:lnTo>
                <a:lnTo>
                  <a:pt x="265049" y="1162392"/>
                </a:lnTo>
                <a:lnTo>
                  <a:pt x="271538" y="1164590"/>
                </a:lnTo>
                <a:lnTo>
                  <a:pt x="343039" y="1164590"/>
                </a:lnTo>
                <a:close/>
              </a:path>
              <a:path w="2827020" h="1369695">
                <a:moveTo>
                  <a:pt x="392061" y="1222489"/>
                </a:moveTo>
                <a:lnTo>
                  <a:pt x="389001" y="1217422"/>
                </a:lnTo>
                <a:lnTo>
                  <a:pt x="382155" y="1207897"/>
                </a:lnTo>
                <a:lnTo>
                  <a:pt x="376047" y="1199388"/>
                </a:lnTo>
                <a:lnTo>
                  <a:pt x="363969" y="1185164"/>
                </a:lnTo>
                <a:lnTo>
                  <a:pt x="363004" y="1184021"/>
                </a:lnTo>
                <a:lnTo>
                  <a:pt x="361823" y="1182624"/>
                </a:lnTo>
                <a:lnTo>
                  <a:pt x="354901" y="1175766"/>
                </a:lnTo>
                <a:lnTo>
                  <a:pt x="353745" y="1174623"/>
                </a:lnTo>
                <a:lnTo>
                  <a:pt x="347091" y="1168019"/>
                </a:lnTo>
                <a:lnTo>
                  <a:pt x="346456" y="1167384"/>
                </a:lnTo>
                <a:lnTo>
                  <a:pt x="343509" y="1164971"/>
                </a:lnTo>
                <a:lnTo>
                  <a:pt x="272669" y="1164971"/>
                </a:lnTo>
                <a:lnTo>
                  <a:pt x="272427" y="1164971"/>
                </a:lnTo>
                <a:lnTo>
                  <a:pt x="278257" y="1167384"/>
                </a:lnTo>
                <a:lnTo>
                  <a:pt x="279654" y="1168019"/>
                </a:lnTo>
                <a:lnTo>
                  <a:pt x="278714" y="1167638"/>
                </a:lnTo>
                <a:lnTo>
                  <a:pt x="293458" y="1175296"/>
                </a:lnTo>
                <a:lnTo>
                  <a:pt x="292481" y="1174623"/>
                </a:lnTo>
                <a:lnTo>
                  <a:pt x="294386" y="1175766"/>
                </a:lnTo>
                <a:lnTo>
                  <a:pt x="293458" y="1175296"/>
                </a:lnTo>
                <a:lnTo>
                  <a:pt x="307352" y="1184668"/>
                </a:lnTo>
                <a:lnTo>
                  <a:pt x="306578" y="1184021"/>
                </a:lnTo>
                <a:lnTo>
                  <a:pt x="308102" y="1185164"/>
                </a:lnTo>
                <a:lnTo>
                  <a:pt x="307352" y="1184668"/>
                </a:lnTo>
                <a:lnTo>
                  <a:pt x="320294" y="1195197"/>
                </a:lnTo>
                <a:lnTo>
                  <a:pt x="320802" y="1195654"/>
                </a:lnTo>
                <a:lnTo>
                  <a:pt x="321310" y="1196213"/>
                </a:lnTo>
                <a:lnTo>
                  <a:pt x="333997" y="1208786"/>
                </a:lnTo>
                <a:lnTo>
                  <a:pt x="333248" y="1207897"/>
                </a:lnTo>
                <a:lnTo>
                  <a:pt x="334035" y="1208786"/>
                </a:lnTo>
                <a:lnTo>
                  <a:pt x="334327" y="1209167"/>
                </a:lnTo>
                <a:lnTo>
                  <a:pt x="346443" y="1223391"/>
                </a:lnTo>
                <a:lnTo>
                  <a:pt x="345681" y="1222489"/>
                </a:lnTo>
                <a:lnTo>
                  <a:pt x="392061" y="1222489"/>
                </a:lnTo>
                <a:close/>
              </a:path>
              <a:path w="2827020" h="1369695">
                <a:moveTo>
                  <a:pt x="401472" y="1238211"/>
                </a:moveTo>
                <a:lnTo>
                  <a:pt x="401345" y="1237843"/>
                </a:lnTo>
                <a:lnTo>
                  <a:pt x="401091" y="1237373"/>
                </a:lnTo>
                <a:lnTo>
                  <a:pt x="392607" y="1223391"/>
                </a:lnTo>
                <a:lnTo>
                  <a:pt x="346443" y="1223391"/>
                </a:lnTo>
                <a:lnTo>
                  <a:pt x="346290" y="1223391"/>
                </a:lnTo>
                <a:lnTo>
                  <a:pt x="356781" y="1237843"/>
                </a:lnTo>
                <a:lnTo>
                  <a:pt x="356997" y="1238211"/>
                </a:lnTo>
                <a:lnTo>
                  <a:pt x="357632" y="1239012"/>
                </a:lnTo>
                <a:lnTo>
                  <a:pt x="357047" y="1238211"/>
                </a:lnTo>
                <a:lnTo>
                  <a:pt x="401472" y="1238211"/>
                </a:lnTo>
                <a:close/>
              </a:path>
              <a:path w="2827020" h="1369695">
                <a:moveTo>
                  <a:pt x="445897" y="1245108"/>
                </a:moveTo>
                <a:lnTo>
                  <a:pt x="407174" y="1254544"/>
                </a:lnTo>
                <a:lnTo>
                  <a:pt x="406361" y="1252220"/>
                </a:lnTo>
                <a:lnTo>
                  <a:pt x="401751" y="1239012"/>
                </a:lnTo>
                <a:lnTo>
                  <a:pt x="357632" y="1239012"/>
                </a:lnTo>
                <a:lnTo>
                  <a:pt x="357441" y="1239012"/>
                </a:lnTo>
                <a:lnTo>
                  <a:pt x="366636" y="1254023"/>
                </a:lnTo>
                <a:lnTo>
                  <a:pt x="369989" y="1263611"/>
                </a:lnTo>
                <a:lnTo>
                  <a:pt x="334899" y="1272159"/>
                </a:lnTo>
                <a:lnTo>
                  <a:pt x="417322" y="1369695"/>
                </a:lnTo>
                <a:lnTo>
                  <a:pt x="437095" y="1283462"/>
                </a:lnTo>
                <a:lnTo>
                  <a:pt x="445897" y="1245108"/>
                </a:lnTo>
                <a:close/>
              </a:path>
              <a:path w="2827020" h="1369695">
                <a:moveTo>
                  <a:pt x="2443226" y="46736"/>
                </a:moveTo>
                <a:lnTo>
                  <a:pt x="2435021" y="25577"/>
                </a:lnTo>
                <a:lnTo>
                  <a:pt x="2419870" y="9753"/>
                </a:lnTo>
                <a:lnTo>
                  <a:pt x="2399881" y="736"/>
                </a:lnTo>
                <a:lnTo>
                  <a:pt x="2377186" y="0"/>
                </a:lnTo>
                <a:lnTo>
                  <a:pt x="2356015" y="8204"/>
                </a:lnTo>
                <a:lnTo>
                  <a:pt x="2340191" y="23355"/>
                </a:lnTo>
                <a:lnTo>
                  <a:pt x="2331174" y="43345"/>
                </a:lnTo>
                <a:lnTo>
                  <a:pt x="2330450" y="66040"/>
                </a:lnTo>
                <a:lnTo>
                  <a:pt x="2338641" y="87210"/>
                </a:lnTo>
                <a:lnTo>
                  <a:pt x="2353792" y="103035"/>
                </a:lnTo>
                <a:lnTo>
                  <a:pt x="2374036" y="112166"/>
                </a:lnTo>
                <a:lnTo>
                  <a:pt x="2377351" y="112166"/>
                </a:lnTo>
                <a:lnTo>
                  <a:pt x="2398052" y="112166"/>
                </a:lnTo>
                <a:lnTo>
                  <a:pt x="2416543" y="112166"/>
                </a:lnTo>
                <a:lnTo>
                  <a:pt x="2416429" y="111887"/>
                </a:lnTo>
                <a:lnTo>
                  <a:pt x="2415514" y="109613"/>
                </a:lnTo>
                <a:lnTo>
                  <a:pt x="2415248" y="108077"/>
                </a:lnTo>
                <a:lnTo>
                  <a:pt x="2414828" y="105676"/>
                </a:lnTo>
                <a:lnTo>
                  <a:pt x="2417648" y="104584"/>
                </a:lnTo>
                <a:lnTo>
                  <a:pt x="2433472" y="89433"/>
                </a:lnTo>
                <a:lnTo>
                  <a:pt x="2442489" y="69443"/>
                </a:lnTo>
                <a:lnTo>
                  <a:pt x="2443010" y="53086"/>
                </a:lnTo>
                <a:lnTo>
                  <a:pt x="2443226" y="46736"/>
                </a:lnTo>
                <a:close/>
              </a:path>
              <a:path w="2827020" h="1369695">
                <a:moveTo>
                  <a:pt x="2826893" y="353568"/>
                </a:moveTo>
                <a:lnTo>
                  <a:pt x="2789656" y="365810"/>
                </a:lnTo>
                <a:lnTo>
                  <a:pt x="2754058" y="377545"/>
                </a:lnTo>
                <a:lnTo>
                  <a:pt x="2754376" y="378079"/>
                </a:lnTo>
                <a:lnTo>
                  <a:pt x="2753957" y="377545"/>
                </a:lnTo>
                <a:lnTo>
                  <a:pt x="2753144" y="375932"/>
                </a:lnTo>
                <a:lnTo>
                  <a:pt x="2754058" y="377545"/>
                </a:lnTo>
                <a:lnTo>
                  <a:pt x="2766606" y="373380"/>
                </a:lnTo>
                <a:lnTo>
                  <a:pt x="2789656" y="365810"/>
                </a:lnTo>
                <a:lnTo>
                  <a:pt x="2788437" y="362712"/>
                </a:lnTo>
                <a:lnTo>
                  <a:pt x="2786126" y="356870"/>
                </a:lnTo>
                <a:lnTo>
                  <a:pt x="2771267" y="337566"/>
                </a:lnTo>
                <a:lnTo>
                  <a:pt x="2769070" y="335153"/>
                </a:lnTo>
                <a:lnTo>
                  <a:pt x="2757411" y="322326"/>
                </a:lnTo>
                <a:lnTo>
                  <a:pt x="2756027" y="320802"/>
                </a:lnTo>
                <a:lnTo>
                  <a:pt x="2746451" y="312039"/>
                </a:lnTo>
                <a:lnTo>
                  <a:pt x="2739390" y="305562"/>
                </a:lnTo>
                <a:lnTo>
                  <a:pt x="2737421" y="304038"/>
                </a:lnTo>
                <a:lnTo>
                  <a:pt x="2736443" y="303276"/>
                </a:lnTo>
                <a:lnTo>
                  <a:pt x="2728290" y="296926"/>
                </a:lnTo>
                <a:lnTo>
                  <a:pt x="2727477" y="296291"/>
                </a:lnTo>
                <a:lnTo>
                  <a:pt x="2721610" y="291719"/>
                </a:lnTo>
                <a:lnTo>
                  <a:pt x="2720822" y="291211"/>
                </a:lnTo>
                <a:lnTo>
                  <a:pt x="2718473" y="289687"/>
                </a:lnTo>
                <a:lnTo>
                  <a:pt x="2683002" y="269113"/>
                </a:lnTo>
                <a:lnTo>
                  <a:pt x="2641727" y="254508"/>
                </a:lnTo>
                <a:lnTo>
                  <a:pt x="2590000" y="248970"/>
                </a:lnTo>
                <a:lnTo>
                  <a:pt x="2581135" y="248158"/>
                </a:lnTo>
                <a:lnTo>
                  <a:pt x="2580627" y="248158"/>
                </a:lnTo>
                <a:lnTo>
                  <a:pt x="2572994" y="247078"/>
                </a:lnTo>
                <a:lnTo>
                  <a:pt x="2572804" y="247053"/>
                </a:lnTo>
                <a:lnTo>
                  <a:pt x="2571496" y="246761"/>
                </a:lnTo>
                <a:lnTo>
                  <a:pt x="2564053" y="245237"/>
                </a:lnTo>
                <a:lnTo>
                  <a:pt x="2563037" y="245033"/>
                </a:lnTo>
                <a:lnTo>
                  <a:pt x="2562453" y="244856"/>
                </a:lnTo>
                <a:lnTo>
                  <a:pt x="2546578" y="240157"/>
                </a:lnTo>
                <a:lnTo>
                  <a:pt x="2545727" y="239915"/>
                </a:lnTo>
                <a:lnTo>
                  <a:pt x="2544800" y="239522"/>
                </a:lnTo>
                <a:lnTo>
                  <a:pt x="2529395" y="233172"/>
                </a:lnTo>
                <a:lnTo>
                  <a:pt x="2528519" y="232816"/>
                </a:lnTo>
                <a:lnTo>
                  <a:pt x="2529205" y="233172"/>
                </a:lnTo>
                <a:lnTo>
                  <a:pt x="2527554" y="232410"/>
                </a:lnTo>
                <a:lnTo>
                  <a:pt x="2528519" y="232816"/>
                </a:lnTo>
                <a:lnTo>
                  <a:pt x="2527770" y="232410"/>
                </a:lnTo>
                <a:lnTo>
                  <a:pt x="2512707" y="224409"/>
                </a:lnTo>
                <a:lnTo>
                  <a:pt x="2511196" y="223608"/>
                </a:lnTo>
                <a:lnTo>
                  <a:pt x="2512441" y="224409"/>
                </a:lnTo>
                <a:lnTo>
                  <a:pt x="2511171" y="223608"/>
                </a:lnTo>
                <a:lnTo>
                  <a:pt x="2496604" y="214122"/>
                </a:lnTo>
                <a:lnTo>
                  <a:pt x="2495575" y="213461"/>
                </a:lnTo>
                <a:lnTo>
                  <a:pt x="2496439" y="214122"/>
                </a:lnTo>
                <a:lnTo>
                  <a:pt x="2495042" y="213106"/>
                </a:lnTo>
                <a:lnTo>
                  <a:pt x="2481224" y="202311"/>
                </a:lnTo>
                <a:lnTo>
                  <a:pt x="2480208" y="201523"/>
                </a:lnTo>
                <a:lnTo>
                  <a:pt x="2481072" y="202311"/>
                </a:lnTo>
                <a:lnTo>
                  <a:pt x="2479929" y="201295"/>
                </a:lnTo>
                <a:lnTo>
                  <a:pt x="2477224" y="198755"/>
                </a:lnTo>
                <a:lnTo>
                  <a:pt x="2466937" y="189230"/>
                </a:lnTo>
                <a:lnTo>
                  <a:pt x="2466302" y="188696"/>
                </a:lnTo>
                <a:lnTo>
                  <a:pt x="2465705" y="188087"/>
                </a:lnTo>
                <a:lnTo>
                  <a:pt x="2459329" y="180975"/>
                </a:lnTo>
                <a:lnTo>
                  <a:pt x="2453779" y="174879"/>
                </a:lnTo>
                <a:lnTo>
                  <a:pt x="2452903" y="173926"/>
                </a:lnTo>
                <a:lnTo>
                  <a:pt x="2453640" y="174879"/>
                </a:lnTo>
                <a:lnTo>
                  <a:pt x="2452624" y="173609"/>
                </a:lnTo>
                <a:lnTo>
                  <a:pt x="2441905" y="159512"/>
                </a:lnTo>
                <a:lnTo>
                  <a:pt x="2440927" y="158242"/>
                </a:lnTo>
                <a:lnTo>
                  <a:pt x="2441702" y="159512"/>
                </a:lnTo>
                <a:lnTo>
                  <a:pt x="2430475" y="142240"/>
                </a:lnTo>
                <a:lnTo>
                  <a:pt x="2431300" y="143471"/>
                </a:lnTo>
                <a:lnTo>
                  <a:pt x="2430678" y="142240"/>
                </a:lnTo>
                <a:lnTo>
                  <a:pt x="2422741" y="127000"/>
                </a:lnTo>
                <a:lnTo>
                  <a:pt x="2421877" y="125349"/>
                </a:lnTo>
                <a:lnTo>
                  <a:pt x="2422525" y="127000"/>
                </a:lnTo>
                <a:lnTo>
                  <a:pt x="2416784" y="112776"/>
                </a:lnTo>
                <a:lnTo>
                  <a:pt x="2396490" y="112776"/>
                </a:lnTo>
                <a:lnTo>
                  <a:pt x="2377452" y="112776"/>
                </a:lnTo>
                <a:lnTo>
                  <a:pt x="2378837" y="120523"/>
                </a:lnTo>
                <a:lnTo>
                  <a:pt x="2398014" y="162052"/>
                </a:lnTo>
                <a:lnTo>
                  <a:pt x="2423922" y="198755"/>
                </a:lnTo>
                <a:lnTo>
                  <a:pt x="2455799" y="230886"/>
                </a:lnTo>
                <a:lnTo>
                  <a:pt x="2492502" y="256921"/>
                </a:lnTo>
                <a:lnTo>
                  <a:pt x="2532634" y="275717"/>
                </a:lnTo>
                <a:lnTo>
                  <a:pt x="2575560" y="285877"/>
                </a:lnTo>
                <a:lnTo>
                  <a:pt x="2606916" y="287528"/>
                </a:lnTo>
                <a:lnTo>
                  <a:pt x="2605646" y="287528"/>
                </a:lnTo>
                <a:lnTo>
                  <a:pt x="2615438" y="288417"/>
                </a:lnTo>
                <a:lnTo>
                  <a:pt x="2623185" y="289509"/>
                </a:lnTo>
                <a:lnTo>
                  <a:pt x="2622931" y="289509"/>
                </a:lnTo>
                <a:lnTo>
                  <a:pt x="2632545" y="291515"/>
                </a:lnTo>
                <a:lnTo>
                  <a:pt x="2632964" y="291592"/>
                </a:lnTo>
                <a:lnTo>
                  <a:pt x="2632837" y="291592"/>
                </a:lnTo>
                <a:lnTo>
                  <a:pt x="2649880" y="296672"/>
                </a:lnTo>
                <a:lnTo>
                  <a:pt x="2666784" y="303644"/>
                </a:lnTo>
                <a:lnTo>
                  <a:pt x="2666111" y="303276"/>
                </a:lnTo>
                <a:lnTo>
                  <a:pt x="2667762" y="304038"/>
                </a:lnTo>
                <a:lnTo>
                  <a:pt x="2666784" y="303644"/>
                </a:lnTo>
                <a:lnTo>
                  <a:pt x="2684107" y="312851"/>
                </a:lnTo>
                <a:lnTo>
                  <a:pt x="2699728" y="322999"/>
                </a:lnTo>
                <a:lnTo>
                  <a:pt x="2698877" y="322326"/>
                </a:lnTo>
                <a:lnTo>
                  <a:pt x="2699778" y="322999"/>
                </a:lnTo>
                <a:lnTo>
                  <a:pt x="2700172" y="323342"/>
                </a:lnTo>
                <a:lnTo>
                  <a:pt x="2714117" y="334137"/>
                </a:lnTo>
                <a:lnTo>
                  <a:pt x="2715387" y="335153"/>
                </a:lnTo>
                <a:lnTo>
                  <a:pt x="2714320" y="334340"/>
                </a:lnTo>
                <a:lnTo>
                  <a:pt x="2728468" y="347218"/>
                </a:lnTo>
                <a:lnTo>
                  <a:pt x="2729052" y="347814"/>
                </a:lnTo>
                <a:lnTo>
                  <a:pt x="2729509" y="348361"/>
                </a:lnTo>
                <a:lnTo>
                  <a:pt x="2741549" y="361442"/>
                </a:lnTo>
                <a:lnTo>
                  <a:pt x="2742692" y="362712"/>
                </a:lnTo>
                <a:lnTo>
                  <a:pt x="2741663" y="361607"/>
                </a:lnTo>
                <a:lnTo>
                  <a:pt x="2752712" y="375932"/>
                </a:lnTo>
                <a:lnTo>
                  <a:pt x="2753347" y="377545"/>
                </a:lnTo>
                <a:lnTo>
                  <a:pt x="2753423" y="377723"/>
                </a:lnTo>
                <a:lnTo>
                  <a:pt x="2718308" y="389255"/>
                </a:lnTo>
                <a:lnTo>
                  <a:pt x="2808351" y="479933"/>
                </a:lnTo>
                <a:lnTo>
                  <a:pt x="2820593" y="396494"/>
                </a:lnTo>
                <a:lnTo>
                  <a:pt x="2826893" y="353568"/>
                </a:lnTo>
                <a:close/>
              </a:path>
            </a:pathLst>
          </a:custGeom>
          <a:solidFill>
            <a:srgbClr val="111F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6096000" y="3006851"/>
            <a:ext cx="0" cy="3350260"/>
          </a:xfrm>
          <a:custGeom>
            <a:avLst/>
            <a:gdLst/>
            <a:ahLst/>
            <a:cxnLst/>
            <a:rect l="l" t="t" r="r" b="b"/>
            <a:pathLst>
              <a:path w="0" h="3350260">
                <a:moveTo>
                  <a:pt x="0" y="0"/>
                </a:moveTo>
                <a:lnTo>
                  <a:pt x="0" y="3349866"/>
                </a:lnTo>
              </a:path>
            </a:pathLst>
          </a:custGeom>
          <a:ln w="76200">
            <a:solidFill>
              <a:srgbClr val="006379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6623304" y="5010431"/>
            <a:ext cx="254000" cy="108966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Todos</a:t>
            </a:r>
            <a:r>
              <a:rPr dirty="0" sz="1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table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27" name="object 2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5" name="object 25" descr=""/>
          <p:cNvSpPr txBox="1"/>
          <p:nvPr/>
        </p:nvSpPr>
        <p:spPr>
          <a:xfrm>
            <a:off x="7522082" y="3219096"/>
            <a:ext cx="254000" cy="106045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Users</a:t>
            </a:r>
            <a:r>
              <a:rPr dirty="0" sz="1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table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40"/>
              <a:t>OBJECT-</a:t>
            </a:r>
            <a:r>
              <a:rPr dirty="0" spc="-45"/>
              <a:t>RELATIONAL</a:t>
            </a:r>
            <a:r>
              <a:rPr dirty="0" spc="5"/>
              <a:t> </a:t>
            </a:r>
            <a:r>
              <a:rPr dirty="0"/>
              <a:t>MAPPING</a:t>
            </a:r>
            <a:r>
              <a:rPr dirty="0" spc="30"/>
              <a:t> </a:t>
            </a:r>
            <a:r>
              <a:rPr dirty="0" spc="-10"/>
              <a:t>(ORM)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839960" cy="234632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These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two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representations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quite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different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need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keep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both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representations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aligned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Changes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domain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objects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need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mapped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RDBMS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schema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Changes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RDBMS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schema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might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impact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existing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Good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amount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work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(repetitive)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boilerplate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needed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359981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ORM</a:t>
            </a:r>
            <a:r>
              <a:rPr dirty="0" spc="155"/>
              <a:t> </a:t>
            </a:r>
            <a:r>
              <a:rPr dirty="0" spc="-204"/>
              <a:t>LIBRARIES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148570" cy="275399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 marR="732155">
              <a:lnSpc>
                <a:spcPts val="3030"/>
              </a:lnSpc>
              <a:spcBef>
                <a:spcPts val="475"/>
              </a:spcBef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ORM</a:t>
            </a:r>
            <a:r>
              <a:rPr dirty="0" sz="28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libraries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ready-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made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solutions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support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developers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in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keeping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object-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based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relational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representations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aligned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Allow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developers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work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high-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level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abstractions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instead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SQL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queries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statements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Increase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productivity</a:t>
            </a:r>
            <a:r>
              <a:rPr dirty="0" sz="28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reducing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need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boilerplate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Make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switching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different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RDBMS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even</a:t>
            </a:r>
            <a:r>
              <a:rPr dirty="0" sz="2800" spc="-114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easier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ORM</a:t>
            </a:r>
            <a:r>
              <a:rPr dirty="0" spc="85"/>
              <a:t> </a:t>
            </a:r>
            <a:r>
              <a:rPr dirty="0" spc="-204"/>
              <a:t>LIBRARIES:</a:t>
            </a:r>
            <a:r>
              <a:rPr dirty="0" spc="70"/>
              <a:t> </a:t>
            </a:r>
            <a:r>
              <a:rPr dirty="0" spc="-90"/>
              <a:t>FEATURES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578975" cy="3605529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ORM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libraries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typically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allow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developers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to: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Declaratively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define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how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database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tables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mapped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objects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Automatically</a:t>
            </a:r>
            <a:r>
              <a:rPr dirty="0" sz="28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create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update</a:t>
            </a:r>
            <a:r>
              <a:rPr dirty="0" sz="28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RDBMS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schema</a:t>
            </a:r>
            <a:r>
              <a:rPr dirty="0" sz="2800" spc="-8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needed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Easily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perform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Create,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Read,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Update,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Delete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CRUD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)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operations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Compose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execute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complex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queries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declarative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way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Manage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transactions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Support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caching</a:t>
            </a:r>
            <a:r>
              <a:rPr dirty="0" sz="2800" spc="-114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strategies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ORM</a:t>
            </a:r>
            <a:r>
              <a:rPr dirty="0" spc="85"/>
              <a:t> </a:t>
            </a:r>
            <a:r>
              <a:rPr dirty="0" spc="-204"/>
              <a:t>LIBRARIES:</a:t>
            </a:r>
            <a:r>
              <a:rPr dirty="0" spc="70"/>
              <a:t> </a:t>
            </a:r>
            <a:r>
              <a:rPr dirty="0" spc="-30"/>
              <a:t>EXAMPLES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8318500" cy="462851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Well-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known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ORM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libraries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include: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Clr>
                <a:srgbClr val="111F35"/>
              </a:buClr>
              <a:buFont typeface="Arial MT"/>
              <a:buChar char="•"/>
              <a:tabLst>
                <a:tab pos="240029" algn="l"/>
              </a:tabLst>
            </a:pP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Hibernate</a:t>
            </a:r>
            <a:r>
              <a:rPr dirty="0" sz="2800" spc="-7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(Java)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Clr>
                <a:srgbClr val="111F35"/>
              </a:buClr>
              <a:buFont typeface="Arial MT"/>
              <a:buChar char="•"/>
              <a:tabLst>
                <a:tab pos="240029" algn="l"/>
              </a:tabLst>
            </a:pPr>
            <a:r>
              <a:rPr dirty="0" u="sng" sz="2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Entity</a:t>
            </a:r>
            <a:r>
              <a:rPr dirty="0" u="sng" sz="2800" spc="-4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Framework</a:t>
            </a:r>
            <a:r>
              <a:rPr dirty="0" sz="2800" spc="-6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(C#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-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.NET)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Clr>
                <a:srgbClr val="111F35"/>
              </a:buClr>
              <a:buFont typeface="Arial MT"/>
              <a:buChar char="•"/>
              <a:tabLst>
                <a:tab pos="240029" algn="l"/>
              </a:tabLst>
            </a:pP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SQLAlchemy</a:t>
            </a:r>
            <a:r>
              <a:rPr dirty="0" sz="2800" spc="-8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(Python)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Clr>
                <a:srgbClr val="111F35"/>
              </a:buClr>
              <a:buFont typeface="Arial MT"/>
              <a:buChar char="•"/>
              <a:tabLst>
                <a:tab pos="240029" algn="l"/>
              </a:tabLst>
            </a:pPr>
            <a:r>
              <a:rPr dirty="0" u="sng" sz="2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5"/>
              </a:rPr>
              <a:t>Propel</a:t>
            </a:r>
            <a:r>
              <a:rPr dirty="0" sz="2800" spc="-7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(PHP)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Clr>
                <a:srgbClr val="111F35"/>
              </a:buClr>
              <a:buFont typeface="Arial MT"/>
              <a:buChar char="•"/>
              <a:tabLst>
                <a:tab pos="240029" algn="l"/>
              </a:tabLst>
            </a:pPr>
            <a:r>
              <a:rPr dirty="0" u="sng" sz="2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6"/>
              </a:rPr>
              <a:t>Active</a:t>
            </a:r>
            <a:r>
              <a:rPr dirty="0" u="sng" sz="2800" spc="-8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6"/>
              </a:rPr>
              <a:t>Record</a:t>
            </a:r>
            <a:r>
              <a:rPr dirty="0" sz="2800" spc="-7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(Ruby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Rails)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Clr>
                <a:srgbClr val="111F35"/>
              </a:buClr>
              <a:buFont typeface="Arial MT"/>
              <a:buChar char="•"/>
              <a:tabLst>
                <a:tab pos="240029" algn="l"/>
              </a:tabLst>
            </a:pP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7"/>
              </a:rPr>
              <a:t>Sequelize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8"/>
              </a:rPr>
              <a:t>Prisma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 spc="-2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9"/>
              </a:rPr>
              <a:t>TypeORM</a:t>
            </a:r>
            <a:r>
              <a:rPr dirty="0" sz="2800" spc="-6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(Node.js)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Opinionated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frameworks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sometimes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include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ORM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253428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0"/>
              <a:t>SEQUELIZE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4099560" cy="352234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441959" indent="-227329">
              <a:lnSpc>
                <a:spcPts val="3030"/>
              </a:lnSpc>
              <a:spcBef>
                <a:spcPts val="475"/>
              </a:spcBef>
              <a:buClr>
                <a:srgbClr val="111F35"/>
              </a:buClr>
              <a:buFont typeface="Arial MT"/>
              <a:buChar char="•"/>
              <a:tabLst>
                <a:tab pos="241300" algn="l"/>
              </a:tabLst>
            </a:pPr>
            <a:r>
              <a:rPr dirty="0" u="sng" sz="2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Sequelize</a:t>
            </a:r>
            <a:r>
              <a:rPr dirty="0" sz="2800" spc="-6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ORM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for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Node.js</a:t>
            </a:r>
            <a:endParaRPr sz="2800">
              <a:latin typeface="Calibri"/>
              <a:cs typeface="Calibri"/>
            </a:endParaRPr>
          </a:p>
          <a:p>
            <a:pPr marL="240029" marR="68580" indent="-227329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Supports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Oracle,</a:t>
            </a:r>
            <a:r>
              <a:rPr dirty="0" sz="2800" spc="-114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Postgres,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MySQL,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MariaDB,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SQLite,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SQL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Server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more!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Elegant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Promise-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based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API</a:t>
            </a:r>
            <a:endParaRPr sz="2800">
              <a:latin typeface="Calibri"/>
              <a:cs typeface="Calibri"/>
            </a:endParaRPr>
          </a:p>
          <a:p>
            <a:pPr marL="240029" marR="474345" indent="-227329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following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slides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are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basedon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Sequelize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v.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6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5922350" y="-3"/>
            <a:ext cx="6269990" cy="6858000"/>
            <a:chOff x="5922350" y="-3"/>
            <a:chExt cx="6269990" cy="6858000"/>
          </a:xfrm>
        </p:grpSpPr>
        <p:sp>
          <p:nvSpPr>
            <p:cNvPr id="5" name="object 5" descr=""/>
            <p:cNvSpPr/>
            <p:nvPr/>
          </p:nvSpPr>
          <p:spPr>
            <a:xfrm>
              <a:off x="5922860" y="-3"/>
              <a:ext cx="6269355" cy="2106295"/>
            </a:xfrm>
            <a:custGeom>
              <a:avLst/>
              <a:gdLst/>
              <a:ahLst/>
              <a:cxnLst/>
              <a:rect l="l" t="t" r="r" b="b"/>
              <a:pathLst>
                <a:path w="6269355" h="2106295">
                  <a:moveTo>
                    <a:pt x="3740356" y="0"/>
                  </a:moveTo>
                  <a:lnTo>
                    <a:pt x="2728279" y="0"/>
                  </a:lnTo>
                  <a:lnTo>
                    <a:pt x="0" y="1571289"/>
                  </a:lnTo>
                  <a:lnTo>
                    <a:pt x="923268" y="2105677"/>
                  </a:lnTo>
                  <a:lnTo>
                    <a:pt x="3227062" y="791190"/>
                  </a:lnTo>
                  <a:lnTo>
                    <a:pt x="5107318" y="791190"/>
                  </a:lnTo>
                  <a:lnTo>
                    <a:pt x="3740356" y="0"/>
                  </a:lnTo>
                  <a:close/>
                </a:path>
                <a:path w="6269355" h="2106295">
                  <a:moveTo>
                    <a:pt x="5107318" y="791190"/>
                  </a:moveTo>
                  <a:lnTo>
                    <a:pt x="3227062" y="791190"/>
                  </a:lnTo>
                  <a:lnTo>
                    <a:pt x="5531802" y="2105677"/>
                  </a:lnTo>
                  <a:lnTo>
                    <a:pt x="6269139" y="1678927"/>
                  </a:lnTo>
                  <a:lnTo>
                    <a:pt x="6269139" y="1463647"/>
                  </a:lnTo>
                  <a:lnTo>
                    <a:pt x="5107318" y="791190"/>
                  </a:lnTo>
                  <a:close/>
                </a:path>
              </a:pathLst>
            </a:custGeom>
            <a:solidFill>
              <a:srgbClr val="52AF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922350" y="1581242"/>
              <a:ext cx="3228340" cy="5276850"/>
            </a:xfrm>
            <a:custGeom>
              <a:avLst/>
              <a:gdLst/>
              <a:ahLst/>
              <a:cxnLst/>
              <a:rect l="l" t="t" r="r" b="b"/>
              <a:pathLst>
                <a:path w="3228340" h="5276850">
                  <a:moveTo>
                    <a:pt x="16844" y="0"/>
                  </a:moveTo>
                  <a:lnTo>
                    <a:pt x="0" y="3726671"/>
                  </a:lnTo>
                  <a:lnTo>
                    <a:pt x="2692249" y="5276753"/>
                  </a:lnTo>
                  <a:lnTo>
                    <a:pt x="3227808" y="5276753"/>
                  </a:lnTo>
                  <a:lnTo>
                    <a:pt x="3227808" y="4526683"/>
                  </a:lnTo>
                  <a:lnTo>
                    <a:pt x="948371" y="3207040"/>
                  </a:lnTo>
                  <a:lnTo>
                    <a:pt x="948371" y="539188"/>
                  </a:lnTo>
                  <a:lnTo>
                    <a:pt x="16844" y="0"/>
                  </a:lnTo>
                  <a:close/>
                </a:path>
              </a:pathLst>
            </a:custGeom>
            <a:solidFill>
              <a:srgbClr val="3B76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257112" y="2922102"/>
              <a:ext cx="897890" cy="1577975"/>
            </a:xfrm>
            <a:custGeom>
              <a:avLst/>
              <a:gdLst/>
              <a:ahLst/>
              <a:cxnLst/>
              <a:rect l="l" t="t" r="r" b="b"/>
              <a:pathLst>
                <a:path w="897890" h="1577975">
                  <a:moveTo>
                    <a:pt x="0" y="0"/>
                  </a:moveTo>
                  <a:lnTo>
                    <a:pt x="177" y="1058168"/>
                  </a:lnTo>
                  <a:lnTo>
                    <a:pt x="897302" y="1577680"/>
                  </a:lnTo>
                  <a:lnTo>
                    <a:pt x="897302" y="519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9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154474" y="2912324"/>
              <a:ext cx="914400" cy="1587500"/>
            </a:xfrm>
            <a:custGeom>
              <a:avLst/>
              <a:gdLst/>
              <a:ahLst/>
              <a:cxnLst/>
              <a:rect l="l" t="t" r="r" b="b"/>
              <a:pathLst>
                <a:path w="914400" h="1587500">
                  <a:moveTo>
                    <a:pt x="913973" y="0"/>
                  </a:moveTo>
                  <a:lnTo>
                    <a:pt x="0" y="528876"/>
                  </a:lnTo>
                  <a:lnTo>
                    <a:pt x="0" y="1587222"/>
                  </a:lnTo>
                  <a:lnTo>
                    <a:pt x="897184" y="1067650"/>
                  </a:lnTo>
                  <a:lnTo>
                    <a:pt x="913973" y="0"/>
                  </a:lnTo>
                  <a:close/>
                </a:path>
              </a:pathLst>
            </a:custGeom>
            <a:solidFill>
              <a:srgbClr val="246E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150218" y="1679332"/>
              <a:ext cx="3042285" cy="5179060"/>
            </a:xfrm>
            <a:custGeom>
              <a:avLst/>
              <a:gdLst/>
              <a:ahLst/>
              <a:cxnLst/>
              <a:rect l="l" t="t" r="r" b="b"/>
              <a:pathLst>
                <a:path w="3042284" h="5179059">
                  <a:moveTo>
                    <a:pt x="3041781" y="0"/>
                  </a:moveTo>
                  <a:lnTo>
                    <a:pt x="2279436" y="441099"/>
                  </a:lnTo>
                  <a:lnTo>
                    <a:pt x="2279436" y="3079496"/>
                  </a:lnTo>
                  <a:lnTo>
                    <a:pt x="1164932" y="3753808"/>
                  </a:lnTo>
                  <a:lnTo>
                    <a:pt x="0" y="4428535"/>
                  </a:lnTo>
                  <a:lnTo>
                    <a:pt x="0" y="5178664"/>
                  </a:lnTo>
                  <a:lnTo>
                    <a:pt x="549519" y="5178664"/>
                  </a:lnTo>
                  <a:lnTo>
                    <a:pt x="3041781" y="3736343"/>
                  </a:lnTo>
                  <a:lnTo>
                    <a:pt x="3041781" y="0"/>
                  </a:lnTo>
                  <a:close/>
                </a:path>
              </a:pathLst>
            </a:custGeom>
            <a:solidFill>
              <a:srgbClr val="2D3A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8256994" y="2389729"/>
              <a:ext cx="1811655" cy="1051560"/>
            </a:xfrm>
            <a:custGeom>
              <a:avLst/>
              <a:gdLst/>
              <a:ahLst/>
              <a:cxnLst/>
              <a:rect l="l" t="t" r="r" b="b"/>
              <a:pathLst>
                <a:path w="1811654" h="1051560">
                  <a:moveTo>
                    <a:pt x="908416" y="0"/>
                  </a:moveTo>
                  <a:lnTo>
                    <a:pt x="0" y="525854"/>
                  </a:lnTo>
                  <a:lnTo>
                    <a:pt x="0" y="532195"/>
                  </a:lnTo>
                  <a:lnTo>
                    <a:pt x="897302" y="1051530"/>
                  </a:lnTo>
                  <a:lnTo>
                    <a:pt x="1811276" y="522535"/>
                  </a:lnTo>
                  <a:lnTo>
                    <a:pt x="908416" y="0"/>
                  </a:lnTo>
                  <a:close/>
                </a:path>
              </a:pathLst>
            </a:custGeom>
            <a:solidFill>
              <a:srgbClr val="9FD5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116005" y="3557537"/>
              <a:ext cx="897890" cy="1577975"/>
            </a:xfrm>
            <a:custGeom>
              <a:avLst/>
              <a:gdLst/>
              <a:ahLst/>
              <a:cxnLst/>
              <a:rect l="l" t="t" r="r" b="b"/>
              <a:pathLst>
                <a:path w="897890" h="1577975">
                  <a:moveTo>
                    <a:pt x="0" y="0"/>
                  </a:moveTo>
                  <a:lnTo>
                    <a:pt x="177" y="1058168"/>
                  </a:lnTo>
                  <a:lnTo>
                    <a:pt x="897302" y="1577680"/>
                  </a:lnTo>
                  <a:lnTo>
                    <a:pt x="897302" y="5193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76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8013366" y="3557537"/>
              <a:ext cx="897890" cy="1577975"/>
            </a:xfrm>
            <a:custGeom>
              <a:avLst/>
              <a:gdLst/>
              <a:ahLst/>
              <a:cxnLst/>
              <a:rect l="l" t="t" r="r" b="b"/>
              <a:pathLst>
                <a:path w="897890" h="1577975">
                  <a:moveTo>
                    <a:pt x="897361" y="0"/>
                  </a:moveTo>
                  <a:lnTo>
                    <a:pt x="0" y="519394"/>
                  </a:lnTo>
                  <a:lnTo>
                    <a:pt x="0" y="1577680"/>
                  </a:lnTo>
                  <a:lnTo>
                    <a:pt x="897243" y="1058108"/>
                  </a:lnTo>
                  <a:lnTo>
                    <a:pt x="897361" y="0"/>
                  </a:lnTo>
                  <a:close/>
                </a:path>
              </a:pathLst>
            </a:custGeom>
            <a:solidFill>
              <a:srgbClr val="2D3A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116064" y="3031801"/>
              <a:ext cx="1795145" cy="1045210"/>
            </a:xfrm>
            <a:custGeom>
              <a:avLst/>
              <a:gdLst/>
              <a:ahLst/>
              <a:cxnLst/>
              <a:rect l="l" t="t" r="r" b="b"/>
              <a:pathLst>
                <a:path w="1795145" h="1045210">
                  <a:moveTo>
                    <a:pt x="897302" y="0"/>
                  </a:moveTo>
                  <a:lnTo>
                    <a:pt x="454208" y="256556"/>
                  </a:lnTo>
                  <a:lnTo>
                    <a:pt x="0" y="525794"/>
                  </a:lnTo>
                  <a:lnTo>
                    <a:pt x="897302" y="1045129"/>
                  </a:lnTo>
                  <a:lnTo>
                    <a:pt x="1794664" y="525794"/>
                  </a:lnTo>
                  <a:lnTo>
                    <a:pt x="897302" y="0"/>
                  </a:lnTo>
                  <a:close/>
                </a:path>
              </a:pathLst>
            </a:custGeom>
            <a:solidFill>
              <a:srgbClr val="52AF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9425297" y="3584739"/>
              <a:ext cx="897890" cy="1577975"/>
            </a:xfrm>
            <a:custGeom>
              <a:avLst/>
              <a:gdLst/>
              <a:ahLst/>
              <a:cxnLst/>
              <a:rect l="l" t="t" r="r" b="b"/>
              <a:pathLst>
                <a:path w="897890" h="1577975">
                  <a:moveTo>
                    <a:pt x="0" y="0"/>
                  </a:moveTo>
                  <a:lnTo>
                    <a:pt x="177" y="1058168"/>
                  </a:lnTo>
                  <a:lnTo>
                    <a:pt x="897361" y="1577680"/>
                  </a:lnTo>
                  <a:lnTo>
                    <a:pt x="897361" y="519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76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0322776" y="3584739"/>
              <a:ext cx="897890" cy="1577975"/>
            </a:xfrm>
            <a:custGeom>
              <a:avLst/>
              <a:gdLst/>
              <a:ahLst/>
              <a:cxnLst/>
              <a:rect l="l" t="t" r="r" b="b"/>
              <a:pathLst>
                <a:path w="897890" h="1577975">
                  <a:moveTo>
                    <a:pt x="897361" y="0"/>
                  </a:moveTo>
                  <a:lnTo>
                    <a:pt x="0" y="519335"/>
                  </a:lnTo>
                  <a:lnTo>
                    <a:pt x="0" y="1577680"/>
                  </a:lnTo>
                  <a:lnTo>
                    <a:pt x="897243" y="1058108"/>
                  </a:lnTo>
                  <a:lnTo>
                    <a:pt x="897361" y="0"/>
                  </a:lnTo>
                  <a:close/>
                </a:path>
              </a:pathLst>
            </a:custGeom>
            <a:solidFill>
              <a:srgbClr val="2D3A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425297" y="3059003"/>
              <a:ext cx="1795145" cy="1045210"/>
            </a:xfrm>
            <a:custGeom>
              <a:avLst/>
              <a:gdLst/>
              <a:ahLst/>
              <a:cxnLst/>
              <a:rect l="l" t="t" r="r" b="b"/>
              <a:pathLst>
                <a:path w="1795145" h="1045210">
                  <a:moveTo>
                    <a:pt x="897302" y="0"/>
                  </a:moveTo>
                  <a:lnTo>
                    <a:pt x="0" y="519453"/>
                  </a:lnTo>
                  <a:lnTo>
                    <a:pt x="0" y="525794"/>
                  </a:lnTo>
                  <a:lnTo>
                    <a:pt x="897302" y="1045070"/>
                  </a:lnTo>
                  <a:lnTo>
                    <a:pt x="1794664" y="525794"/>
                  </a:lnTo>
                  <a:lnTo>
                    <a:pt x="897302" y="0"/>
                  </a:lnTo>
                  <a:close/>
                </a:path>
              </a:pathLst>
            </a:custGeom>
            <a:solidFill>
              <a:srgbClr val="52AF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293352" y="4252117"/>
              <a:ext cx="897890" cy="1577975"/>
            </a:xfrm>
            <a:custGeom>
              <a:avLst/>
              <a:gdLst/>
              <a:ahLst/>
              <a:cxnLst/>
              <a:rect l="l" t="t" r="r" b="b"/>
              <a:pathLst>
                <a:path w="897890" h="1577975">
                  <a:moveTo>
                    <a:pt x="0" y="0"/>
                  </a:moveTo>
                  <a:lnTo>
                    <a:pt x="118" y="1058168"/>
                  </a:lnTo>
                  <a:lnTo>
                    <a:pt x="897302" y="1577680"/>
                  </a:lnTo>
                  <a:lnTo>
                    <a:pt x="897302" y="5193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76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9190655" y="4252117"/>
              <a:ext cx="897890" cy="1577975"/>
            </a:xfrm>
            <a:custGeom>
              <a:avLst/>
              <a:gdLst/>
              <a:ahLst/>
              <a:cxnLst/>
              <a:rect l="l" t="t" r="r" b="b"/>
              <a:pathLst>
                <a:path w="897890" h="1577975">
                  <a:moveTo>
                    <a:pt x="897361" y="0"/>
                  </a:moveTo>
                  <a:lnTo>
                    <a:pt x="0" y="519394"/>
                  </a:lnTo>
                  <a:lnTo>
                    <a:pt x="0" y="1577680"/>
                  </a:lnTo>
                  <a:lnTo>
                    <a:pt x="897243" y="1058108"/>
                  </a:lnTo>
                  <a:lnTo>
                    <a:pt x="897361" y="0"/>
                  </a:lnTo>
                  <a:close/>
                </a:path>
              </a:pathLst>
            </a:custGeom>
            <a:solidFill>
              <a:srgbClr val="2D3A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293470" y="3726204"/>
              <a:ext cx="1795145" cy="1045210"/>
            </a:xfrm>
            <a:custGeom>
              <a:avLst/>
              <a:gdLst/>
              <a:ahLst/>
              <a:cxnLst/>
              <a:rect l="l" t="t" r="r" b="b"/>
              <a:pathLst>
                <a:path w="1795145" h="1045210">
                  <a:moveTo>
                    <a:pt x="897243" y="0"/>
                  </a:moveTo>
                  <a:lnTo>
                    <a:pt x="0" y="519453"/>
                  </a:lnTo>
                  <a:lnTo>
                    <a:pt x="0" y="525794"/>
                  </a:lnTo>
                  <a:lnTo>
                    <a:pt x="897243" y="1045129"/>
                  </a:lnTo>
                  <a:lnTo>
                    <a:pt x="1794664" y="525794"/>
                  </a:lnTo>
                  <a:lnTo>
                    <a:pt x="897243" y="0"/>
                  </a:lnTo>
                  <a:close/>
                </a:path>
              </a:pathLst>
            </a:custGeom>
            <a:solidFill>
              <a:srgbClr val="52AF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8257112" y="1507043"/>
              <a:ext cx="897890" cy="1577975"/>
            </a:xfrm>
            <a:custGeom>
              <a:avLst/>
              <a:gdLst/>
              <a:ahLst/>
              <a:cxnLst/>
              <a:rect l="l" t="t" r="r" b="b"/>
              <a:pathLst>
                <a:path w="897890" h="1577975">
                  <a:moveTo>
                    <a:pt x="0" y="0"/>
                  </a:moveTo>
                  <a:lnTo>
                    <a:pt x="177" y="1058168"/>
                  </a:lnTo>
                  <a:lnTo>
                    <a:pt x="897302" y="1577680"/>
                  </a:lnTo>
                  <a:lnTo>
                    <a:pt x="897302" y="519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76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9154474" y="1497442"/>
              <a:ext cx="914400" cy="1587500"/>
            </a:xfrm>
            <a:custGeom>
              <a:avLst/>
              <a:gdLst/>
              <a:ahLst/>
              <a:cxnLst/>
              <a:rect l="l" t="t" r="r" b="b"/>
              <a:pathLst>
                <a:path w="914400" h="1587500">
                  <a:moveTo>
                    <a:pt x="913973" y="0"/>
                  </a:moveTo>
                  <a:lnTo>
                    <a:pt x="0" y="528935"/>
                  </a:lnTo>
                  <a:lnTo>
                    <a:pt x="0" y="1587281"/>
                  </a:lnTo>
                  <a:lnTo>
                    <a:pt x="897184" y="1067650"/>
                  </a:lnTo>
                  <a:lnTo>
                    <a:pt x="913973" y="0"/>
                  </a:lnTo>
                  <a:close/>
                </a:path>
              </a:pathLst>
            </a:custGeom>
            <a:solidFill>
              <a:srgbClr val="2D3A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256994" y="974907"/>
              <a:ext cx="1811655" cy="1051560"/>
            </a:xfrm>
            <a:custGeom>
              <a:avLst/>
              <a:gdLst/>
              <a:ahLst/>
              <a:cxnLst/>
              <a:rect l="l" t="t" r="r" b="b"/>
              <a:pathLst>
                <a:path w="1811654" h="1051560">
                  <a:moveTo>
                    <a:pt x="908416" y="0"/>
                  </a:moveTo>
                  <a:lnTo>
                    <a:pt x="0" y="525794"/>
                  </a:lnTo>
                  <a:lnTo>
                    <a:pt x="0" y="532136"/>
                  </a:lnTo>
                  <a:lnTo>
                    <a:pt x="897302" y="1051471"/>
                  </a:lnTo>
                  <a:lnTo>
                    <a:pt x="1811276" y="522535"/>
                  </a:lnTo>
                  <a:lnTo>
                    <a:pt x="908416" y="0"/>
                  </a:lnTo>
                  <a:close/>
                </a:path>
              </a:pathLst>
            </a:custGeom>
            <a:solidFill>
              <a:srgbClr val="52AF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116004" y="2142715"/>
              <a:ext cx="897890" cy="1577975"/>
            </a:xfrm>
            <a:custGeom>
              <a:avLst/>
              <a:gdLst/>
              <a:ahLst/>
              <a:cxnLst/>
              <a:rect l="l" t="t" r="r" b="b"/>
              <a:pathLst>
                <a:path w="897890" h="1577975">
                  <a:moveTo>
                    <a:pt x="0" y="0"/>
                  </a:moveTo>
                  <a:lnTo>
                    <a:pt x="177" y="1058108"/>
                  </a:lnTo>
                  <a:lnTo>
                    <a:pt x="897302" y="1577621"/>
                  </a:lnTo>
                  <a:lnTo>
                    <a:pt x="897302" y="519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76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013366" y="2142715"/>
              <a:ext cx="897890" cy="1577975"/>
            </a:xfrm>
            <a:custGeom>
              <a:avLst/>
              <a:gdLst/>
              <a:ahLst/>
              <a:cxnLst/>
              <a:rect l="l" t="t" r="r" b="b"/>
              <a:pathLst>
                <a:path w="897890" h="1577975">
                  <a:moveTo>
                    <a:pt x="897361" y="0"/>
                  </a:moveTo>
                  <a:lnTo>
                    <a:pt x="0" y="519335"/>
                  </a:lnTo>
                  <a:lnTo>
                    <a:pt x="0" y="1577621"/>
                  </a:lnTo>
                  <a:lnTo>
                    <a:pt x="897243" y="1058049"/>
                  </a:lnTo>
                  <a:lnTo>
                    <a:pt x="897361" y="0"/>
                  </a:lnTo>
                  <a:close/>
                </a:path>
              </a:pathLst>
            </a:custGeom>
            <a:solidFill>
              <a:srgbClr val="2D3A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116064" y="1616920"/>
              <a:ext cx="1795145" cy="1045210"/>
            </a:xfrm>
            <a:custGeom>
              <a:avLst/>
              <a:gdLst/>
              <a:ahLst/>
              <a:cxnLst/>
              <a:rect l="l" t="t" r="r" b="b"/>
              <a:pathLst>
                <a:path w="1795145" h="1045210">
                  <a:moveTo>
                    <a:pt x="897302" y="0"/>
                  </a:moveTo>
                  <a:lnTo>
                    <a:pt x="454208" y="256615"/>
                  </a:lnTo>
                  <a:lnTo>
                    <a:pt x="0" y="525854"/>
                  </a:lnTo>
                  <a:lnTo>
                    <a:pt x="897302" y="1045129"/>
                  </a:lnTo>
                  <a:lnTo>
                    <a:pt x="1794664" y="525854"/>
                  </a:lnTo>
                  <a:lnTo>
                    <a:pt x="897302" y="0"/>
                  </a:lnTo>
                  <a:close/>
                </a:path>
              </a:pathLst>
            </a:custGeom>
            <a:solidFill>
              <a:srgbClr val="52AF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9425296" y="2169917"/>
              <a:ext cx="897890" cy="1577975"/>
            </a:xfrm>
            <a:custGeom>
              <a:avLst/>
              <a:gdLst/>
              <a:ahLst/>
              <a:cxnLst/>
              <a:rect l="l" t="t" r="r" b="b"/>
              <a:pathLst>
                <a:path w="897890" h="1577975">
                  <a:moveTo>
                    <a:pt x="0" y="0"/>
                  </a:moveTo>
                  <a:lnTo>
                    <a:pt x="177" y="1058108"/>
                  </a:lnTo>
                  <a:lnTo>
                    <a:pt x="897361" y="1577621"/>
                  </a:lnTo>
                  <a:lnTo>
                    <a:pt x="897361" y="519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76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0322776" y="2169917"/>
              <a:ext cx="897890" cy="1577975"/>
            </a:xfrm>
            <a:custGeom>
              <a:avLst/>
              <a:gdLst/>
              <a:ahLst/>
              <a:cxnLst/>
              <a:rect l="l" t="t" r="r" b="b"/>
              <a:pathLst>
                <a:path w="897890" h="1577975">
                  <a:moveTo>
                    <a:pt x="897361" y="0"/>
                  </a:moveTo>
                  <a:lnTo>
                    <a:pt x="0" y="519335"/>
                  </a:lnTo>
                  <a:lnTo>
                    <a:pt x="0" y="1577621"/>
                  </a:lnTo>
                  <a:lnTo>
                    <a:pt x="897243" y="1058049"/>
                  </a:lnTo>
                  <a:lnTo>
                    <a:pt x="897361" y="0"/>
                  </a:lnTo>
                  <a:close/>
                </a:path>
              </a:pathLst>
            </a:custGeom>
            <a:solidFill>
              <a:srgbClr val="2D3A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9425296" y="1644122"/>
              <a:ext cx="1795145" cy="1045210"/>
            </a:xfrm>
            <a:custGeom>
              <a:avLst/>
              <a:gdLst/>
              <a:ahLst/>
              <a:cxnLst/>
              <a:rect l="l" t="t" r="r" b="b"/>
              <a:pathLst>
                <a:path w="1795145" h="1045210">
                  <a:moveTo>
                    <a:pt x="897302" y="0"/>
                  </a:moveTo>
                  <a:lnTo>
                    <a:pt x="0" y="519453"/>
                  </a:lnTo>
                  <a:lnTo>
                    <a:pt x="0" y="525794"/>
                  </a:lnTo>
                  <a:lnTo>
                    <a:pt x="897302" y="1045129"/>
                  </a:lnTo>
                  <a:lnTo>
                    <a:pt x="1794664" y="525794"/>
                  </a:lnTo>
                  <a:lnTo>
                    <a:pt x="897302" y="0"/>
                  </a:lnTo>
                  <a:close/>
                </a:path>
              </a:pathLst>
            </a:custGeom>
            <a:solidFill>
              <a:srgbClr val="52AF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8293352" y="2837295"/>
              <a:ext cx="897890" cy="1577975"/>
            </a:xfrm>
            <a:custGeom>
              <a:avLst/>
              <a:gdLst/>
              <a:ahLst/>
              <a:cxnLst/>
              <a:rect l="l" t="t" r="r" b="b"/>
              <a:pathLst>
                <a:path w="897890" h="1577975">
                  <a:moveTo>
                    <a:pt x="0" y="0"/>
                  </a:moveTo>
                  <a:lnTo>
                    <a:pt x="118" y="1058108"/>
                  </a:lnTo>
                  <a:lnTo>
                    <a:pt x="897302" y="1577621"/>
                  </a:lnTo>
                  <a:lnTo>
                    <a:pt x="897302" y="519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76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9190655" y="2837295"/>
              <a:ext cx="897890" cy="1577975"/>
            </a:xfrm>
            <a:custGeom>
              <a:avLst/>
              <a:gdLst/>
              <a:ahLst/>
              <a:cxnLst/>
              <a:rect l="l" t="t" r="r" b="b"/>
              <a:pathLst>
                <a:path w="897890" h="1577975">
                  <a:moveTo>
                    <a:pt x="897361" y="0"/>
                  </a:moveTo>
                  <a:lnTo>
                    <a:pt x="0" y="519335"/>
                  </a:lnTo>
                  <a:lnTo>
                    <a:pt x="0" y="1577621"/>
                  </a:lnTo>
                  <a:lnTo>
                    <a:pt x="897243" y="1058049"/>
                  </a:lnTo>
                  <a:lnTo>
                    <a:pt x="897361" y="0"/>
                  </a:lnTo>
                  <a:close/>
                </a:path>
              </a:pathLst>
            </a:custGeom>
            <a:solidFill>
              <a:srgbClr val="2D3A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8293470" y="2311263"/>
              <a:ext cx="1795145" cy="1045210"/>
            </a:xfrm>
            <a:custGeom>
              <a:avLst/>
              <a:gdLst/>
              <a:ahLst/>
              <a:cxnLst/>
              <a:rect l="l" t="t" r="r" b="b"/>
              <a:pathLst>
                <a:path w="1795145" h="1045210">
                  <a:moveTo>
                    <a:pt x="897243" y="0"/>
                  </a:moveTo>
                  <a:lnTo>
                    <a:pt x="0" y="519512"/>
                  </a:lnTo>
                  <a:lnTo>
                    <a:pt x="0" y="525854"/>
                  </a:lnTo>
                  <a:lnTo>
                    <a:pt x="897243" y="1045129"/>
                  </a:lnTo>
                  <a:lnTo>
                    <a:pt x="1794664" y="525854"/>
                  </a:lnTo>
                  <a:lnTo>
                    <a:pt x="897243" y="0"/>
                  </a:lnTo>
                  <a:close/>
                </a:path>
              </a:pathLst>
            </a:custGeom>
            <a:solidFill>
              <a:srgbClr val="52AFE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33" name="object 3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5"/>
              <a:t>INSTALLING</a:t>
            </a:r>
            <a:r>
              <a:rPr dirty="0" spc="-210"/>
              <a:t> </a:t>
            </a:r>
            <a:r>
              <a:rPr dirty="0" spc="-60"/>
              <a:t>SEQUELIZE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64185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Sequelize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installed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via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npm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usual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62050" y="2556510"/>
            <a:ext cx="99167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You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need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install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drivers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RDBMSs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you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plan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use: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62050" y="5112765"/>
            <a:ext cx="61702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We’ll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SQLite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sake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simplicity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82396" y="2132076"/>
            <a:ext cx="10427335" cy="401320"/>
          </a:xfrm>
          <a:prstGeom prst="rect">
            <a:avLst/>
          </a:prstGeom>
          <a:solidFill>
            <a:srgbClr val="282C34"/>
          </a:solidFill>
          <a:ln w="12700">
            <a:solidFill>
              <a:srgbClr val="03070F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  <a:tabLst>
                <a:tab pos="1463675" algn="l"/>
              </a:tabLst>
            </a:pPr>
            <a:r>
              <a:rPr dirty="0" sz="2000">
                <a:solidFill>
                  <a:srgbClr val="E46363"/>
                </a:solidFill>
                <a:latin typeface="Consolas"/>
                <a:cs typeface="Consolas"/>
              </a:rPr>
              <a:t>@luigi</a:t>
            </a:r>
            <a:r>
              <a:rPr dirty="0" sz="2000" spc="-20">
                <a:solidFill>
                  <a:srgbClr val="E46363"/>
                </a:solidFill>
                <a:latin typeface="Consolas"/>
                <a:cs typeface="Consolas"/>
              </a:rPr>
              <a:t> </a:t>
            </a:r>
            <a:r>
              <a:rPr dirty="0" sz="2000" spc="-50">
                <a:solidFill>
                  <a:srgbClr val="61EB8A"/>
                </a:solidFill>
                <a:latin typeface="Segoe UI Symbol"/>
                <a:cs typeface="Segoe UI Symbol"/>
              </a:rPr>
              <a:t>➜</a:t>
            </a:r>
            <a:r>
              <a:rPr dirty="0" sz="2000">
                <a:solidFill>
                  <a:srgbClr val="61EB8A"/>
                </a:solidFill>
                <a:latin typeface="Segoe UI Symbol"/>
                <a:cs typeface="Segoe UI Symbol"/>
              </a:rPr>
              <a:t>	</a:t>
            </a:r>
            <a:r>
              <a:rPr dirty="0" sz="2000">
                <a:solidFill>
                  <a:srgbClr val="55B6C2"/>
                </a:solidFill>
                <a:latin typeface="Consolas"/>
                <a:cs typeface="Consolas"/>
              </a:rPr>
              <a:t>express-</a:t>
            </a:r>
            <a:r>
              <a:rPr dirty="0" sz="2000" spc="-10">
                <a:solidFill>
                  <a:srgbClr val="55B6C2"/>
                </a:solidFill>
                <a:latin typeface="Consolas"/>
                <a:cs typeface="Consolas"/>
              </a:rPr>
              <a:t>hello-</a:t>
            </a:r>
            <a:r>
              <a:rPr dirty="0" sz="2000">
                <a:solidFill>
                  <a:srgbClr val="55B6C2"/>
                </a:solidFill>
                <a:latin typeface="Consolas"/>
                <a:cs typeface="Consolas"/>
              </a:rPr>
              <a:t>world</a:t>
            </a:r>
            <a:r>
              <a:rPr dirty="0" sz="2000" spc="-35">
                <a:solidFill>
                  <a:srgbClr val="55B6C2"/>
                </a:solidFill>
                <a:latin typeface="Consolas"/>
                <a:cs typeface="Consolas"/>
              </a:rPr>
              <a:t> </a:t>
            </a:r>
            <a:r>
              <a:rPr dirty="0" sz="2000">
                <a:solidFill>
                  <a:srgbClr val="55B6C2"/>
                </a:solidFill>
                <a:latin typeface="Consolas"/>
                <a:cs typeface="Consolas"/>
              </a:rPr>
              <a:t>$</a:t>
            </a:r>
            <a:r>
              <a:rPr dirty="0" sz="2000" spc="15">
                <a:solidFill>
                  <a:srgbClr val="55B6C2"/>
                </a:solidFill>
                <a:latin typeface="Consolas"/>
                <a:cs typeface="Consolas"/>
              </a:rPr>
              <a:t> </a:t>
            </a:r>
            <a:r>
              <a:rPr dirty="0" sz="2000">
                <a:solidFill>
                  <a:srgbClr val="E8C27B"/>
                </a:solidFill>
                <a:latin typeface="Consolas"/>
                <a:cs typeface="Consolas"/>
              </a:rPr>
              <a:t>npm</a:t>
            </a:r>
            <a:r>
              <a:rPr dirty="0" sz="2000" spc="-10">
                <a:solidFill>
                  <a:srgbClr val="E8C27B"/>
                </a:solidFill>
                <a:latin typeface="Consolas"/>
                <a:cs typeface="Consolas"/>
              </a:rPr>
              <a:t> </a:t>
            </a:r>
            <a:r>
              <a:rPr dirty="0" sz="2000">
                <a:solidFill>
                  <a:srgbClr val="FFFFFF"/>
                </a:solidFill>
                <a:latin typeface="Consolas"/>
                <a:cs typeface="Consolas"/>
              </a:rPr>
              <a:t>install</a:t>
            </a:r>
            <a:r>
              <a:rPr dirty="0" sz="2000" spc="-10">
                <a:solidFill>
                  <a:srgbClr val="FFFFFF"/>
                </a:solidFill>
                <a:latin typeface="Consolas"/>
                <a:cs typeface="Consolas"/>
              </a:rPr>
              <a:t> sequelize</a:t>
            </a:r>
            <a:endParaRPr sz="2000">
              <a:latin typeface="Consolas"/>
              <a:cs typeface="Consolas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876046" y="3098292"/>
          <a:ext cx="10516235" cy="1938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4460"/>
                <a:gridCol w="2795904"/>
                <a:gridCol w="277495"/>
                <a:gridCol w="559435"/>
                <a:gridCol w="1118870"/>
                <a:gridCol w="1816734"/>
                <a:gridCol w="276859"/>
                <a:gridCol w="2186940"/>
              </a:tblGrid>
              <a:tr h="335280">
                <a:tc>
                  <a:txBody>
                    <a:bodyPr/>
                    <a:lstStyle/>
                    <a:p>
                      <a:pPr algn="ctr" marL="22860">
                        <a:lnSpc>
                          <a:spcPts val="2275"/>
                        </a:lnSpc>
                        <a:spcBef>
                          <a:spcPts val="265"/>
                        </a:spcBef>
                      </a:pPr>
                      <a:r>
                        <a:rPr dirty="0" sz="2000">
                          <a:solidFill>
                            <a:srgbClr val="E46363"/>
                          </a:solidFill>
                          <a:latin typeface="Consolas"/>
                          <a:cs typeface="Consolas"/>
                        </a:rPr>
                        <a:t>@luigi</a:t>
                      </a:r>
                      <a:r>
                        <a:rPr dirty="0" sz="2000" spc="-20">
                          <a:solidFill>
                            <a:srgbClr val="E4636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2000" spc="-50">
                          <a:solidFill>
                            <a:srgbClr val="61EB8A"/>
                          </a:solidFill>
                          <a:latin typeface="Segoe UI Symbol"/>
                          <a:cs typeface="Segoe UI Symbol"/>
                        </a:rPr>
                        <a:t>➜</a:t>
                      </a:r>
                      <a:endParaRPr sz="20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03070F"/>
                      </a:solidFill>
                      <a:prstDash val="solid"/>
                    </a:lnL>
                    <a:lnT w="12700">
                      <a:solidFill>
                        <a:srgbClr val="03070F"/>
                      </a:solidFill>
                      <a:prstDash val="solid"/>
                    </a:lnT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275"/>
                        </a:lnSpc>
                        <a:spcBef>
                          <a:spcPts val="265"/>
                        </a:spcBef>
                      </a:pPr>
                      <a:r>
                        <a:rPr dirty="0" sz="2000">
                          <a:solidFill>
                            <a:srgbClr val="55B6C2"/>
                          </a:solidFill>
                          <a:latin typeface="Consolas"/>
                          <a:cs typeface="Consolas"/>
                        </a:rPr>
                        <a:t>express-</a:t>
                      </a:r>
                      <a:r>
                        <a:rPr dirty="0" sz="2000" spc="-10">
                          <a:solidFill>
                            <a:srgbClr val="55B6C2"/>
                          </a:solidFill>
                          <a:latin typeface="Consolas"/>
                          <a:cs typeface="Consolas"/>
                        </a:rPr>
                        <a:t>hello-</a:t>
                      </a:r>
                      <a:r>
                        <a:rPr dirty="0" sz="2000" spc="-20">
                          <a:solidFill>
                            <a:srgbClr val="55B6C2"/>
                          </a:solidFill>
                          <a:latin typeface="Consolas"/>
                          <a:cs typeface="Consolas"/>
                        </a:rPr>
                        <a:t>world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B="0" marT="33655">
                    <a:lnT w="12700">
                      <a:solidFill>
                        <a:srgbClr val="03070F"/>
                      </a:solidFill>
                      <a:prstDash val="solid"/>
                    </a:lnT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75"/>
                        </a:lnSpc>
                        <a:spcBef>
                          <a:spcPts val="265"/>
                        </a:spcBef>
                      </a:pPr>
                      <a:r>
                        <a:rPr dirty="0" sz="2000" spc="-50">
                          <a:solidFill>
                            <a:srgbClr val="55B6C2"/>
                          </a:solidFill>
                          <a:latin typeface="Consolas"/>
                          <a:cs typeface="Consolas"/>
                        </a:rPr>
                        <a:t>$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B="0" marT="33655">
                    <a:lnT w="12700">
                      <a:solidFill>
                        <a:srgbClr val="03070F"/>
                      </a:solidFill>
                      <a:prstDash val="solid"/>
                    </a:lnT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275"/>
                        </a:lnSpc>
                        <a:spcBef>
                          <a:spcPts val="265"/>
                        </a:spcBef>
                      </a:pPr>
                      <a:r>
                        <a:rPr dirty="0" sz="2000" spc="-25">
                          <a:solidFill>
                            <a:srgbClr val="E8C27B"/>
                          </a:solidFill>
                          <a:latin typeface="Consolas"/>
                          <a:cs typeface="Consolas"/>
                        </a:rPr>
                        <a:t>npm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B="0" marT="33655">
                    <a:lnT w="12700">
                      <a:solidFill>
                        <a:srgbClr val="03070F"/>
                      </a:solidFill>
                      <a:prstDash val="solid"/>
                    </a:lnT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75"/>
                        </a:lnSpc>
                        <a:spcBef>
                          <a:spcPts val="265"/>
                        </a:spcBef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install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B="0" marT="33655">
                    <a:lnT w="12700">
                      <a:solidFill>
                        <a:srgbClr val="03070F"/>
                      </a:solidFill>
                      <a:prstDash val="solid"/>
                    </a:lnT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275"/>
                        </a:lnSpc>
                        <a:spcBef>
                          <a:spcPts val="265"/>
                        </a:spcBef>
                      </a:pPr>
                      <a:r>
                        <a:rPr dirty="0" sz="200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pg</a:t>
                      </a:r>
                      <a:r>
                        <a:rPr dirty="0" sz="20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pg-</a:t>
                      </a:r>
                      <a:r>
                        <a:rPr dirty="0" sz="20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hstore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B="0" marT="33655">
                    <a:lnT w="12700">
                      <a:solidFill>
                        <a:srgbClr val="03070F"/>
                      </a:solidFill>
                      <a:prstDash val="solid"/>
                    </a:lnT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75"/>
                        </a:lnSpc>
                        <a:spcBef>
                          <a:spcPts val="265"/>
                        </a:spcBef>
                      </a:pPr>
                      <a:r>
                        <a:rPr dirty="0" sz="2000" spc="-5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B="0" marT="33655">
                    <a:lnT w="12700">
                      <a:solidFill>
                        <a:srgbClr val="03070F"/>
                      </a:solidFill>
                      <a:prstDash val="solid"/>
                    </a:lnT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2275"/>
                        </a:lnSpc>
                        <a:spcBef>
                          <a:spcPts val="265"/>
                        </a:spcBef>
                      </a:pPr>
                      <a:r>
                        <a:rPr dirty="0" sz="2000" spc="-1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Postgres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B="0" marT="33655">
                    <a:lnR w="12700">
                      <a:solidFill>
                        <a:srgbClr val="03070F"/>
                      </a:solidFill>
                      <a:prstDash val="solid"/>
                    </a:lnR>
                    <a:lnT w="12700">
                      <a:solidFill>
                        <a:srgbClr val="03070F"/>
                      </a:solidFill>
                      <a:prstDash val="solid"/>
                    </a:lnT>
                    <a:solidFill>
                      <a:srgbClr val="282C34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marL="22860">
                        <a:lnSpc>
                          <a:spcPts val="2275"/>
                        </a:lnSpc>
                        <a:spcBef>
                          <a:spcPts val="20"/>
                        </a:spcBef>
                      </a:pPr>
                      <a:r>
                        <a:rPr dirty="0" sz="2000">
                          <a:solidFill>
                            <a:srgbClr val="E46363"/>
                          </a:solidFill>
                          <a:latin typeface="Consolas"/>
                          <a:cs typeface="Consolas"/>
                        </a:rPr>
                        <a:t>@luigi</a:t>
                      </a:r>
                      <a:r>
                        <a:rPr dirty="0" sz="2000" spc="-20">
                          <a:solidFill>
                            <a:srgbClr val="E4636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2000" spc="-50">
                          <a:solidFill>
                            <a:srgbClr val="61EB8A"/>
                          </a:solidFill>
                          <a:latin typeface="Segoe UI Symbol"/>
                          <a:cs typeface="Segoe UI Symbol"/>
                        </a:rPr>
                        <a:t>➜</a:t>
                      </a:r>
                      <a:endParaRPr sz="20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2540">
                    <a:lnL w="12700">
                      <a:solidFill>
                        <a:srgbClr val="03070F"/>
                      </a:solidFill>
                      <a:prstDash val="solid"/>
                    </a:lnL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275"/>
                        </a:lnSpc>
                        <a:spcBef>
                          <a:spcPts val="20"/>
                        </a:spcBef>
                      </a:pPr>
                      <a:r>
                        <a:rPr dirty="0" sz="2000">
                          <a:solidFill>
                            <a:srgbClr val="55B6C2"/>
                          </a:solidFill>
                          <a:latin typeface="Consolas"/>
                          <a:cs typeface="Consolas"/>
                        </a:rPr>
                        <a:t>express-</a:t>
                      </a:r>
                      <a:r>
                        <a:rPr dirty="0" sz="2000" spc="-10">
                          <a:solidFill>
                            <a:srgbClr val="55B6C2"/>
                          </a:solidFill>
                          <a:latin typeface="Consolas"/>
                          <a:cs typeface="Consolas"/>
                        </a:rPr>
                        <a:t>hello-</a:t>
                      </a:r>
                      <a:r>
                        <a:rPr dirty="0" sz="2000" spc="-20">
                          <a:solidFill>
                            <a:srgbClr val="55B6C2"/>
                          </a:solidFill>
                          <a:latin typeface="Consolas"/>
                          <a:cs typeface="Consolas"/>
                        </a:rPr>
                        <a:t>world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B="0" marT="254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75"/>
                        </a:lnSpc>
                        <a:spcBef>
                          <a:spcPts val="20"/>
                        </a:spcBef>
                      </a:pPr>
                      <a:r>
                        <a:rPr dirty="0" sz="2000" spc="-50">
                          <a:solidFill>
                            <a:srgbClr val="55B6C2"/>
                          </a:solidFill>
                          <a:latin typeface="Consolas"/>
                          <a:cs typeface="Consolas"/>
                        </a:rPr>
                        <a:t>$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B="0" marT="254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275"/>
                        </a:lnSpc>
                        <a:spcBef>
                          <a:spcPts val="20"/>
                        </a:spcBef>
                      </a:pPr>
                      <a:r>
                        <a:rPr dirty="0" sz="2000" spc="-25">
                          <a:solidFill>
                            <a:srgbClr val="E8C27B"/>
                          </a:solidFill>
                          <a:latin typeface="Consolas"/>
                          <a:cs typeface="Consolas"/>
                        </a:rPr>
                        <a:t>npm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B="0" marT="254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75"/>
                        </a:lnSpc>
                        <a:spcBef>
                          <a:spcPts val="20"/>
                        </a:spcBef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install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B="0" marT="254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275"/>
                        </a:lnSpc>
                        <a:spcBef>
                          <a:spcPts val="20"/>
                        </a:spcBef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mysql2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B="0" marT="254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3070F"/>
                      </a:solidFill>
                      <a:prstDash val="solid"/>
                    </a:lnR>
                    <a:solidFill>
                      <a:srgbClr val="282C34"/>
                    </a:solidFill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algn="ctr" marL="22860">
                        <a:lnSpc>
                          <a:spcPts val="2275"/>
                        </a:lnSpc>
                        <a:spcBef>
                          <a:spcPts val="20"/>
                        </a:spcBef>
                      </a:pPr>
                      <a:r>
                        <a:rPr dirty="0" sz="2000">
                          <a:solidFill>
                            <a:srgbClr val="E46363"/>
                          </a:solidFill>
                          <a:latin typeface="Consolas"/>
                          <a:cs typeface="Consolas"/>
                        </a:rPr>
                        <a:t>@luigi</a:t>
                      </a:r>
                      <a:r>
                        <a:rPr dirty="0" sz="2000" spc="-20">
                          <a:solidFill>
                            <a:srgbClr val="E4636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2000" spc="-50">
                          <a:solidFill>
                            <a:srgbClr val="61EB8A"/>
                          </a:solidFill>
                          <a:latin typeface="Segoe UI Symbol"/>
                          <a:cs typeface="Segoe UI Symbol"/>
                        </a:rPr>
                        <a:t>➜</a:t>
                      </a:r>
                      <a:endParaRPr sz="20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2540">
                    <a:lnL w="12700">
                      <a:solidFill>
                        <a:srgbClr val="03070F"/>
                      </a:solidFill>
                      <a:prstDash val="solid"/>
                    </a:lnL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275"/>
                        </a:lnSpc>
                        <a:spcBef>
                          <a:spcPts val="20"/>
                        </a:spcBef>
                      </a:pPr>
                      <a:r>
                        <a:rPr dirty="0" sz="2000">
                          <a:solidFill>
                            <a:srgbClr val="55B6C2"/>
                          </a:solidFill>
                          <a:latin typeface="Consolas"/>
                          <a:cs typeface="Consolas"/>
                        </a:rPr>
                        <a:t>express-</a:t>
                      </a:r>
                      <a:r>
                        <a:rPr dirty="0" sz="2000" spc="-10">
                          <a:solidFill>
                            <a:srgbClr val="55B6C2"/>
                          </a:solidFill>
                          <a:latin typeface="Consolas"/>
                          <a:cs typeface="Consolas"/>
                        </a:rPr>
                        <a:t>hello-</a:t>
                      </a:r>
                      <a:r>
                        <a:rPr dirty="0" sz="2000" spc="-20">
                          <a:solidFill>
                            <a:srgbClr val="55B6C2"/>
                          </a:solidFill>
                          <a:latin typeface="Consolas"/>
                          <a:cs typeface="Consolas"/>
                        </a:rPr>
                        <a:t>world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B="0" marT="254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75"/>
                        </a:lnSpc>
                        <a:spcBef>
                          <a:spcPts val="20"/>
                        </a:spcBef>
                      </a:pPr>
                      <a:r>
                        <a:rPr dirty="0" sz="2000" spc="-50">
                          <a:solidFill>
                            <a:srgbClr val="55B6C2"/>
                          </a:solidFill>
                          <a:latin typeface="Consolas"/>
                          <a:cs typeface="Consolas"/>
                        </a:rPr>
                        <a:t>$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B="0" marT="254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275"/>
                        </a:lnSpc>
                        <a:spcBef>
                          <a:spcPts val="20"/>
                        </a:spcBef>
                      </a:pPr>
                      <a:r>
                        <a:rPr dirty="0" sz="2000" spc="-25">
                          <a:solidFill>
                            <a:srgbClr val="E8C27B"/>
                          </a:solidFill>
                          <a:latin typeface="Consolas"/>
                          <a:cs typeface="Consolas"/>
                        </a:rPr>
                        <a:t>npm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B="0" marT="254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75"/>
                        </a:lnSpc>
                        <a:spcBef>
                          <a:spcPts val="20"/>
                        </a:spcBef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install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B="0" marT="254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275"/>
                        </a:lnSpc>
                        <a:spcBef>
                          <a:spcPts val="20"/>
                        </a:spcBef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mariadb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B="0" marT="254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3070F"/>
                      </a:solidFill>
                      <a:prstDash val="solid"/>
                    </a:lnR>
                    <a:solidFill>
                      <a:srgbClr val="282C34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marL="22860">
                        <a:lnSpc>
                          <a:spcPts val="2280"/>
                        </a:lnSpc>
                        <a:spcBef>
                          <a:spcPts val="25"/>
                        </a:spcBef>
                      </a:pPr>
                      <a:r>
                        <a:rPr dirty="0" sz="2000">
                          <a:solidFill>
                            <a:srgbClr val="E46363"/>
                          </a:solidFill>
                          <a:latin typeface="Consolas"/>
                          <a:cs typeface="Consolas"/>
                        </a:rPr>
                        <a:t>@luigi</a:t>
                      </a:r>
                      <a:r>
                        <a:rPr dirty="0" sz="2000" spc="-20">
                          <a:solidFill>
                            <a:srgbClr val="E4636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2000" spc="-50">
                          <a:solidFill>
                            <a:srgbClr val="61EB8A"/>
                          </a:solidFill>
                          <a:latin typeface="Segoe UI Symbol"/>
                          <a:cs typeface="Segoe UI Symbol"/>
                        </a:rPr>
                        <a:t>➜</a:t>
                      </a:r>
                      <a:endParaRPr sz="20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3175">
                    <a:lnL w="12700">
                      <a:solidFill>
                        <a:srgbClr val="03070F"/>
                      </a:solidFill>
                      <a:prstDash val="solid"/>
                    </a:lnL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2280"/>
                        </a:lnSpc>
                        <a:spcBef>
                          <a:spcPts val="25"/>
                        </a:spcBef>
                      </a:pPr>
                      <a:r>
                        <a:rPr dirty="0" sz="2000">
                          <a:solidFill>
                            <a:srgbClr val="55B6C2"/>
                          </a:solidFill>
                          <a:latin typeface="Consolas"/>
                          <a:cs typeface="Consolas"/>
                        </a:rPr>
                        <a:t>express-</a:t>
                      </a:r>
                      <a:r>
                        <a:rPr dirty="0" sz="2000" spc="-10">
                          <a:solidFill>
                            <a:srgbClr val="55B6C2"/>
                          </a:solidFill>
                          <a:latin typeface="Consolas"/>
                          <a:cs typeface="Consolas"/>
                        </a:rPr>
                        <a:t>hello-</a:t>
                      </a:r>
                      <a:r>
                        <a:rPr dirty="0" sz="2000" spc="-20">
                          <a:solidFill>
                            <a:srgbClr val="55B6C2"/>
                          </a:solidFill>
                          <a:latin typeface="Consolas"/>
                          <a:cs typeface="Consolas"/>
                        </a:rPr>
                        <a:t>world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B="0" marT="3175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0"/>
                        </a:lnSpc>
                        <a:spcBef>
                          <a:spcPts val="25"/>
                        </a:spcBef>
                      </a:pPr>
                      <a:r>
                        <a:rPr dirty="0" sz="2000" spc="-50">
                          <a:solidFill>
                            <a:srgbClr val="55B6C2"/>
                          </a:solidFill>
                          <a:latin typeface="Consolas"/>
                          <a:cs typeface="Consolas"/>
                        </a:rPr>
                        <a:t>$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B="0" marT="3175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280"/>
                        </a:lnSpc>
                        <a:spcBef>
                          <a:spcPts val="25"/>
                        </a:spcBef>
                      </a:pPr>
                      <a:r>
                        <a:rPr dirty="0" sz="2000" spc="-25">
                          <a:solidFill>
                            <a:srgbClr val="E8C27B"/>
                          </a:solidFill>
                          <a:latin typeface="Consolas"/>
                          <a:cs typeface="Consolas"/>
                        </a:rPr>
                        <a:t>npm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B="0" marT="3175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0"/>
                        </a:lnSpc>
                        <a:spcBef>
                          <a:spcPts val="25"/>
                        </a:spcBef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install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B="0" marT="3175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280"/>
                        </a:lnSpc>
                        <a:spcBef>
                          <a:spcPts val="25"/>
                        </a:spcBef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sqlite3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B="0" marT="3175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3070F"/>
                      </a:solidFill>
                      <a:prstDash val="solid"/>
                    </a:lnR>
                    <a:solidFill>
                      <a:srgbClr val="282C34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marL="22860">
                        <a:lnSpc>
                          <a:spcPts val="2275"/>
                        </a:lnSpc>
                        <a:spcBef>
                          <a:spcPts val="25"/>
                        </a:spcBef>
                      </a:pPr>
                      <a:r>
                        <a:rPr dirty="0" sz="2000">
                          <a:solidFill>
                            <a:srgbClr val="E46363"/>
                          </a:solidFill>
                          <a:latin typeface="Consolas"/>
                          <a:cs typeface="Consolas"/>
                        </a:rPr>
                        <a:t>@luigi</a:t>
                      </a:r>
                      <a:r>
                        <a:rPr dirty="0" sz="2000" spc="-20">
                          <a:solidFill>
                            <a:srgbClr val="E4636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2000" spc="-50">
                          <a:solidFill>
                            <a:srgbClr val="61EB8A"/>
                          </a:solidFill>
                          <a:latin typeface="Segoe UI Symbol"/>
                          <a:cs typeface="Segoe UI Symbol"/>
                        </a:rPr>
                        <a:t>➜</a:t>
                      </a:r>
                      <a:endParaRPr sz="20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3175">
                    <a:lnL w="12700">
                      <a:solidFill>
                        <a:srgbClr val="03070F"/>
                      </a:solidFill>
                      <a:prstDash val="solid"/>
                    </a:lnL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275"/>
                        </a:lnSpc>
                        <a:spcBef>
                          <a:spcPts val="25"/>
                        </a:spcBef>
                      </a:pPr>
                      <a:r>
                        <a:rPr dirty="0" sz="2000">
                          <a:solidFill>
                            <a:srgbClr val="55B6C2"/>
                          </a:solidFill>
                          <a:latin typeface="Consolas"/>
                          <a:cs typeface="Consolas"/>
                        </a:rPr>
                        <a:t>express-</a:t>
                      </a:r>
                      <a:r>
                        <a:rPr dirty="0" sz="2000" spc="-10">
                          <a:solidFill>
                            <a:srgbClr val="55B6C2"/>
                          </a:solidFill>
                          <a:latin typeface="Consolas"/>
                          <a:cs typeface="Consolas"/>
                        </a:rPr>
                        <a:t>hello-</a:t>
                      </a:r>
                      <a:r>
                        <a:rPr dirty="0" sz="2000" spc="-20">
                          <a:solidFill>
                            <a:srgbClr val="55B6C2"/>
                          </a:solidFill>
                          <a:latin typeface="Consolas"/>
                          <a:cs typeface="Consolas"/>
                        </a:rPr>
                        <a:t>world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B="0" marT="3175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75"/>
                        </a:lnSpc>
                        <a:spcBef>
                          <a:spcPts val="25"/>
                        </a:spcBef>
                      </a:pPr>
                      <a:r>
                        <a:rPr dirty="0" sz="2000" spc="-50">
                          <a:solidFill>
                            <a:srgbClr val="55B6C2"/>
                          </a:solidFill>
                          <a:latin typeface="Consolas"/>
                          <a:cs typeface="Consolas"/>
                        </a:rPr>
                        <a:t>$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B="0" marT="3175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275"/>
                        </a:lnSpc>
                        <a:spcBef>
                          <a:spcPts val="25"/>
                        </a:spcBef>
                      </a:pPr>
                      <a:r>
                        <a:rPr dirty="0" sz="2000" spc="-25">
                          <a:solidFill>
                            <a:srgbClr val="E8C27B"/>
                          </a:solidFill>
                          <a:latin typeface="Consolas"/>
                          <a:cs typeface="Consolas"/>
                        </a:rPr>
                        <a:t>npm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B="0" marT="3175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75"/>
                        </a:lnSpc>
                        <a:spcBef>
                          <a:spcPts val="25"/>
                        </a:spcBef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install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B="0" marT="3175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275"/>
                        </a:lnSpc>
                        <a:spcBef>
                          <a:spcPts val="25"/>
                        </a:spcBef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tedious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B="0" marT="3175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75"/>
                        </a:lnSpc>
                        <a:spcBef>
                          <a:spcPts val="25"/>
                        </a:spcBef>
                      </a:pPr>
                      <a:r>
                        <a:rPr dirty="0" sz="2000" spc="-5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B="0" marT="3175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2275"/>
                        </a:lnSpc>
                        <a:spcBef>
                          <a:spcPts val="25"/>
                        </a:spcBef>
                      </a:pPr>
                      <a:r>
                        <a:rPr dirty="0" sz="200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MS</a:t>
                      </a:r>
                      <a:r>
                        <a:rPr dirty="0" sz="2000" spc="-5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200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SQL</a:t>
                      </a:r>
                      <a:r>
                        <a:rPr dirty="0" sz="2000" spc="-15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2000" spc="-10">
                          <a:solidFill>
                            <a:srgbClr val="A6A6A6"/>
                          </a:solidFill>
                          <a:latin typeface="Consolas"/>
                          <a:cs typeface="Consolas"/>
                        </a:rPr>
                        <a:t>Server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B="0" marT="3175">
                    <a:lnR w="12700">
                      <a:solidFill>
                        <a:srgbClr val="03070F"/>
                      </a:solidFill>
                      <a:prstDash val="solid"/>
                    </a:lnR>
                    <a:solidFill>
                      <a:srgbClr val="282C34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algn="ctr" marL="2286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2000">
                          <a:solidFill>
                            <a:srgbClr val="E46363"/>
                          </a:solidFill>
                          <a:latin typeface="Consolas"/>
                          <a:cs typeface="Consolas"/>
                        </a:rPr>
                        <a:t>@luigi</a:t>
                      </a:r>
                      <a:r>
                        <a:rPr dirty="0" sz="2000" spc="-20">
                          <a:solidFill>
                            <a:srgbClr val="E4636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2000" spc="-50">
                          <a:solidFill>
                            <a:srgbClr val="61EB8A"/>
                          </a:solidFill>
                          <a:latin typeface="Segoe UI Symbol"/>
                          <a:cs typeface="Segoe UI Symbol"/>
                        </a:rPr>
                        <a:t>➜</a:t>
                      </a:r>
                      <a:endParaRPr sz="20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2540">
                    <a:lnL w="12700">
                      <a:solidFill>
                        <a:srgbClr val="03070F"/>
                      </a:solidFill>
                      <a:prstDash val="solid"/>
                    </a:lnL>
                    <a:lnB w="12700">
                      <a:solidFill>
                        <a:srgbClr val="03070F"/>
                      </a:solidFill>
                      <a:prstDash val="solid"/>
                    </a:lnB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2000">
                          <a:solidFill>
                            <a:srgbClr val="55B6C2"/>
                          </a:solidFill>
                          <a:latin typeface="Consolas"/>
                          <a:cs typeface="Consolas"/>
                        </a:rPr>
                        <a:t>express-</a:t>
                      </a:r>
                      <a:r>
                        <a:rPr dirty="0" sz="2000" spc="-10">
                          <a:solidFill>
                            <a:srgbClr val="55B6C2"/>
                          </a:solidFill>
                          <a:latin typeface="Consolas"/>
                          <a:cs typeface="Consolas"/>
                        </a:rPr>
                        <a:t>hello-</a:t>
                      </a:r>
                      <a:r>
                        <a:rPr dirty="0" sz="2000" spc="-20">
                          <a:solidFill>
                            <a:srgbClr val="55B6C2"/>
                          </a:solidFill>
                          <a:latin typeface="Consolas"/>
                          <a:cs typeface="Consolas"/>
                        </a:rPr>
                        <a:t>world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B="0" marT="2540">
                    <a:lnB w="12700">
                      <a:solidFill>
                        <a:srgbClr val="03070F"/>
                      </a:solidFill>
                      <a:prstDash val="solid"/>
                    </a:lnB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2000" spc="-50">
                          <a:solidFill>
                            <a:srgbClr val="55B6C2"/>
                          </a:solidFill>
                          <a:latin typeface="Consolas"/>
                          <a:cs typeface="Consolas"/>
                        </a:rPr>
                        <a:t>$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B="0" marT="2540">
                    <a:lnB w="12700">
                      <a:solidFill>
                        <a:srgbClr val="03070F"/>
                      </a:solidFill>
                      <a:prstDash val="solid"/>
                    </a:lnB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2000" spc="-25">
                          <a:solidFill>
                            <a:srgbClr val="E8C27B"/>
                          </a:solidFill>
                          <a:latin typeface="Consolas"/>
                          <a:cs typeface="Consolas"/>
                        </a:rPr>
                        <a:t>npm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B="0" marT="2540">
                    <a:lnB w="12700">
                      <a:solidFill>
                        <a:srgbClr val="03070F"/>
                      </a:solidFill>
                      <a:prstDash val="solid"/>
                    </a:lnB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install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B="0" marT="2540">
                    <a:lnB w="12700">
                      <a:solidFill>
                        <a:srgbClr val="03070F"/>
                      </a:solidFill>
                      <a:prstDash val="solid"/>
                    </a:lnB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oracledb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B="0" marT="2540">
                    <a:lnB w="12700">
                      <a:solidFill>
                        <a:srgbClr val="03070F"/>
                      </a:solidFill>
                      <a:prstDash val="solid"/>
                    </a:lnB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3070F"/>
                      </a:solidFill>
                      <a:prstDash val="solid"/>
                    </a:lnB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3070F"/>
                      </a:solidFill>
                      <a:prstDash val="solid"/>
                    </a:lnR>
                    <a:lnB w="12700">
                      <a:solidFill>
                        <a:srgbClr val="03070F"/>
                      </a:solidFill>
                      <a:prstDash val="solid"/>
                    </a:lnB>
                    <a:solidFill>
                      <a:srgbClr val="282C3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CONNECTING</a:t>
            </a:r>
            <a:r>
              <a:rPr dirty="0" spc="150"/>
              <a:t> </a:t>
            </a:r>
            <a:r>
              <a:rPr dirty="0"/>
              <a:t>TO</a:t>
            </a:r>
            <a:r>
              <a:rPr dirty="0" spc="170"/>
              <a:t> </a:t>
            </a:r>
            <a:r>
              <a:rPr dirty="0" spc="120"/>
              <a:t>A</a:t>
            </a:r>
            <a:r>
              <a:rPr dirty="0" spc="175"/>
              <a:t> </a:t>
            </a:r>
            <a:r>
              <a:rPr dirty="0" spc="-10"/>
              <a:t>DATABASE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4865189"/>
            <a:ext cx="10104755" cy="104965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Above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automatically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creates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SQLite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DB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mydb.sqlite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file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Many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different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ways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connect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database: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 spc="-2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docs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1498091"/>
            <a:ext cx="10427335" cy="341693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Sequelize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"sequelize"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//create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connection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database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Sequelize(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"sqlite:mydb.sqlite"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//const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database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=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new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Sequelize('postgres://user:pass@example.com:5432/dbname')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try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database.authenticate();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'Connection</a:t>
            </a:r>
            <a:r>
              <a:rPr dirty="0" sz="1800" spc="-6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has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been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established</a:t>
            </a:r>
            <a:r>
              <a:rPr dirty="0" sz="1800" spc="-4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successfully.'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catch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(error)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console.error(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'Unable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to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connect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to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the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database:'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error);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DEFINING</a:t>
            </a:r>
            <a:r>
              <a:rPr dirty="0" spc="-204"/>
              <a:t> </a:t>
            </a:r>
            <a:r>
              <a:rPr dirty="0" spc="-10"/>
              <a:t>MODELS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095740" cy="235013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Models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essence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ORM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Sequelize,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Models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classes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extend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Model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Two</a:t>
            </a:r>
            <a:r>
              <a:rPr dirty="0" sz="2800" spc="-1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equivalent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ways</a:t>
            </a:r>
            <a:r>
              <a:rPr dirty="0" sz="2800" spc="-114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define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models: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Calling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define</a:t>
            </a:r>
            <a:r>
              <a:rPr dirty="0" sz="2400" spc="-2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method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database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connection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Creating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class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extends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Model,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then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calling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its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init</a:t>
            </a:r>
            <a:r>
              <a:rPr dirty="0" sz="2400" spc="-3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method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DEFINING</a:t>
            </a:r>
            <a:r>
              <a:rPr dirty="0" spc="-204"/>
              <a:t> </a:t>
            </a:r>
            <a:r>
              <a:rPr dirty="0" spc="-10"/>
              <a:t>MODELS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278636"/>
            <a:ext cx="10427335" cy="5078095"/>
          </a:xfrm>
          <a:custGeom>
            <a:avLst/>
            <a:gdLst/>
            <a:ahLst/>
            <a:cxnLst/>
            <a:rect l="l" t="t" r="r" b="b"/>
            <a:pathLst>
              <a:path w="10427335" h="5078095">
                <a:moveTo>
                  <a:pt x="0" y="5077968"/>
                </a:moveTo>
                <a:lnTo>
                  <a:pt x="10427208" y="5077968"/>
                </a:lnTo>
                <a:lnTo>
                  <a:pt x="10427208" y="0"/>
                </a:lnTo>
                <a:lnTo>
                  <a:pt x="0" y="0"/>
                </a:lnTo>
                <a:lnTo>
                  <a:pt x="0" y="5077968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2050" y="1297685"/>
            <a:ext cx="9301480" cy="4964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DataTypes,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Sequelize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"sequelize"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//connection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to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database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omitted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262255" marR="5080" indent="-25019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User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database.define(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'User'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//Model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attributes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are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defined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here </a:t>
            </a:r>
            <a:r>
              <a:rPr dirty="0" sz="1800">
                <a:latin typeface="Consolas"/>
                <a:cs typeface="Consolas"/>
              </a:rPr>
              <a:t>firstName:</a:t>
            </a:r>
            <a:r>
              <a:rPr dirty="0" sz="1800" spc="-50">
                <a:latin typeface="Consolas"/>
                <a:cs typeface="Consolas"/>
              </a:rPr>
              <a:t> {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type: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DataTypes.STRING,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allowNull: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false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},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age: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type: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DataTypes.INTEGER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//allowNull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defaults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to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true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},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id: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12445" marR="577088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type: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DataTypes.INTEGER, </a:t>
            </a:r>
            <a:r>
              <a:rPr dirty="0" sz="1800">
                <a:latin typeface="Consolas"/>
                <a:cs typeface="Consolas"/>
              </a:rPr>
              <a:t>primaryKey: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1800" spc="-20">
                <a:latin typeface="Consolas"/>
                <a:cs typeface="Consolas"/>
              </a:rPr>
              <a:t>, </a:t>
            </a:r>
            <a:r>
              <a:rPr dirty="0" sz="1800">
                <a:latin typeface="Consolas"/>
                <a:cs typeface="Consolas"/>
              </a:rPr>
              <a:t>autoIncrement: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endParaRPr sz="1800">
              <a:latin typeface="Consolas"/>
              <a:cs typeface="Consolas"/>
            </a:endParaRPr>
          </a:p>
          <a:p>
            <a:pPr algn="r" marR="890460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algn="r" marR="890524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MODEL</a:t>
            </a:r>
            <a:r>
              <a:rPr dirty="0" spc="175"/>
              <a:t> </a:t>
            </a:r>
            <a:r>
              <a:rPr dirty="0" spc="-10"/>
              <a:t>SYNCHRONIZATION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151110" cy="357187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defining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Model,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we’re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telling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Sequelize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about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However,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start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completely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empty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database</a:t>
            </a:r>
            <a:endParaRPr sz="2800">
              <a:latin typeface="Calibri"/>
              <a:cs typeface="Calibri"/>
            </a:endParaRPr>
          </a:p>
          <a:p>
            <a:pPr marL="240029" marR="672465" indent="-227329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tell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Sequelize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align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database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schema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models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defined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What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if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there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exists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no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table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persist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Models?</a:t>
            </a:r>
            <a:endParaRPr sz="2400">
              <a:latin typeface="Calibri"/>
              <a:cs typeface="Calibri"/>
            </a:endParaRPr>
          </a:p>
          <a:p>
            <a:pPr lvl="1" marL="696595" marR="5080" indent="-227329">
              <a:lnSpc>
                <a:spcPts val="2590"/>
              </a:lnSpc>
              <a:spcBef>
                <a:spcPts val="53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What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if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tables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exist,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but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have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different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columns,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less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columns,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some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other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difference?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Alignment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performed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Sequelize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via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model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synchronization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MODEL</a:t>
            </a:r>
            <a:r>
              <a:rPr dirty="0" spc="175"/>
              <a:t> </a:t>
            </a:r>
            <a:r>
              <a:rPr dirty="0" spc="-10"/>
              <a:t>SYNCHRONIZATION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077450" cy="105092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syncronize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model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database,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call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model.sync(…)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It’s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async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function,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returning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Promise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2577083"/>
            <a:ext cx="10427335" cy="203009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User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database.define(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'User'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/*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Model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specification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omitted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*/</a:t>
            </a:r>
            <a:r>
              <a:rPr dirty="0" sz="1800" spc="-10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User.sync().then(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()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"Users</a:t>
            </a:r>
            <a:r>
              <a:rPr dirty="0" sz="1800" spc="-6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table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synchronized."</a:t>
            </a:r>
            <a:r>
              <a:rPr dirty="0" sz="1800" spc="-10">
                <a:latin typeface="Consolas"/>
                <a:cs typeface="Consolas"/>
              </a:rPr>
              <a:t>)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}).catch(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err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console.err(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"Synchronization</a:t>
            </a:r>
            <a:r>
              <a:rPr dirty="0" sz="1800" spc="-9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error:"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7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err.message)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2396" y="4674108"/>
            <a:ext cx="10427335" cy="147701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 marR="17335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Executing:</a:t>
            </a:r>
            <a:r>
              <a:rPr dirty="0" sz="1800" spc="-5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SELECT</a:t>
            </a:r>
            <a:r>
              <a:rPr dirty="0" sz="1800" spc="-3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name</a:t>
            </a:r>
            <a:r>
              <a:rPr dirty="0" sz="1800" spc="-4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FROM</a:t>
            </a:r>
            <a:r>
              <a:rPr dirty="0" sz="1800" spc="-3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sqlite_master</a:t>
            </a:r>
            <a:r>
              <a:rPr dirty="0" sz="1800" spc="-2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WHERE</a:t>
            </a:r>
            <a:r>
              <a:rPr dirty="0" sz="1800" spc="-3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type='table'</a:t>
            </a:r>
            <a:r>
              <a:rPr dirty="0" sz="1800" spc="-3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AND</a:t>
            </a:r>
            <a:r>
              <a:rPr dirty="0" sz="1800" spc="-2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onsolas"/>
                <a:cs typeface="Consolas"/>
              </a:rPr>
              <a:t>name='Users';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Executing:</a:t>
            </a:r>
            <a:r>
              <a:rPr dirty="0" sz="1800" spc="-4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CREATE</a:t>
            </a:r>
            <a:r>
              <a:rPr dirty="0" sz="1800" spc="-2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TABLE</a:t>
            </a:r>
            <a:r>
              <a:rPr dirty="0" sz="1800" spc="-2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IF</a:t>
            </a:r>
            <a:r>
              <a:rPr dirty="0" sz="1800" spc="-3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NOT</a:t>
            </a:r>
            <a:r>
              <a:rPr dirty="0" sz="1800" spc="-3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EXISTS</a:t>
            </a:r>
            <a:r>
              <a:rPr dirty="0" sz="1800" spc="-3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`Users`</a:t>
            </a:r>
            <a:r>
              <a:rPr dirty="0" sz="1800" spc="-3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(`firstName`</a:t>
            </a:r>
            <a:r>
              <a:rPr dirty="0" sz="1800" spc="-3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VARCHAR(255)</a:t>
            </a:r>
            <a:r>
              <a:rPr dirty="0" sz="1800" spc="-2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NOT</a:t>
            </a:r>
            <a:r>
              <a:rPr dirty="0" sz="1800" spc="-3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onsolas"/>
                <a:cs typeface="Consolas"/>
              </a:rPr>
              <a:t>NULL,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`age`</a:t>
            </a:r>
            <a:r>
              <a:rPr dirty="0" sz="1800" spc="-3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INTEGER,</a:t>
            </a:r>
            <a:r>
              <a:rPr dirty="0" sz="1800" spc="-3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`id`</a:t>
            </a:r>
            <a:r>
              <a:rPr dirty="0" sz="1800" spc="-3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INTEGER</a:t>
            </a:r>
            <a:r>
              <a:rPr dirty="0" sz="1800" spc="-3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PRIMARY</a:t>
            </a:r>
            <a:r>
              <a:rPr dirty="0" sz="1800" spc="-2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KEY</a:t>
            </a:r>
            <a:r>
              <a:rPr dirty="0" sz="1800" spc="-4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AUTOINCREMENT,</a:t>
            </a:r>
            <a:r>
              <a:rPr dirty="0" sz="1800" spc="-3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`createdAt`</a:t>
            </a:r>
            <a:r>
              <a:rPr dirty="0" sz="1800" spc="-3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DATETIME</a:t>
            </a:r>
            <a:r>
              <a:rPr dirty="0" sz="1800" spc="-3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111F35"/>
                </a:solidFill>
                <a:latin typeface="Consolas"/>
                <a:cs typeface="Consolas"/>
              </a:rPr>
              <a:t>NOT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NULL,</a:t>
            </a:r>
            <a:r>
              <a:rPr dirty="0" sz="1800" spc="-3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`updatedAt`</a:t>
            </a:r>
            <a:r>
              <a:rPr dirty="0" sz="1800" spc="-3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DATETIME</a:t>
            </a:r>
            <a:r>
              <a:rPr dirty="0" sz="1800" spc="-4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NOT</a:t>
            </a:r>
            <a:r>
              <a:rPr dirty="0" sz="1800" spc="-3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onsolas"/>
                <a:cs typeface="Consolas"/>
              </a:rPr>
              <a:t>NULL);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Users</a:t>
            </a:r>
            <a:r>
              <a:rPr dirty="0" sz="1800" spc="-4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table</a:t>
            </a:r>
            <a:r>
              <a:rPr dirty="0" sz="1800" spc="-4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onsolas"/>
                <a:cs typeface="Consolas"/>
              </a:rPr>
              <a:t>synchronized.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85775" y="5838968"/>
            <a:ext cx="228777" cy="228777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9686276" y="5348185"/>
            <a:ext cx="2336165" cy="131381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Biagio</a:t>
            </a:r>
            <a:r>
              <a:rPr dirty="0" sz="800" spc="-3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Morgillo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2024-05-</a:t>
            </a:r>
            <a:r>
              <a:rPr dirty="0" sz="800" i="1">
                <a:latin typeface="Arial"/>
                <a:cs typeface="Arial"/>
              </a:rPr>
              <a:t>10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13:03:55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Arial MT"/>
                <a:cs typeface="Arial MT"/>
              </a:rPr>
              <a:t>-------------------------------------------</a:t>
            </a:r>
            <a:r>
              <a:rPr dirty="0" sz="1000" spc="-50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Arial MT"/>
                <a:cs typeface="Arial MT"/>
              </a:rPr>
              <a:t>Ha aggiunto createdAt e updatedAt, </a:t>
            </a:r>
            <a:r>
              <a:rPr dirty="0" sz="1000" spc="-50">
                <a:latin typeface="Arial MT"/>
                <a:cs typeface="Arial MT"/>
              </a:rPr>
              <a:t>2 </a:t>
            </a:r>
            <a:r>
              <a:rPr dirty="0" sz="1000">
                <a:latin typeface="Arial MT"/>
                <a:cs typeface="Arial MT"/>
              </a:rPr>
              <a:t>timeStamp gestito dal codice </a:t>
            </a:r>
            <a:r>
              <a:rPr dirty="0" sz="1000" spc="-10">
                <a:latin typeface="Arial MT"/>
                <a:cs typeface="Arial MT"/>
              </a:rPr>
              <a:t>stesso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MODEL</a:t>
            </a:r>
            <a:r>
              <a:rPr dirty="0" spc="175"/>
              <a:t> </a:t>
            </a:r>
            <a:r>
              <a:rPr dirty="0" spc="-10"/>
              <a:t>SYNCHRONIZATION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/>
              <a:t>A</a:t>
            </a:r>
            <a:r>
              <a:rPr dirty="0" spc="-40"/>
              <a:t> </a:t>
            </a:r>
            <a:r>
              <a:rPr dirty="0"/>
              <a:t>few</a:t>
            </a:r>
            <a:r>
              <a:rPr dirty="0" spc="-65"/>
              <a:t> </a:t>
            </a:r>
            <a:r>
              <a:rPr dirty="0" spc="-10"/>
              <a:t>notes:</a:t>
            </a:r>
          </a:p>
          <a:p>
            <a:pPr marL="240029" marR="189865" indent="-227329">
              <a:lnSpc>
                <a:spcPct val="9000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pc="-10"/>
              <a:t>Sequelize</a:t>
            </a:r>
            <a:r>
              <a:rPr dirty="0" spc="-65"/>
              <a:t> </a:t>
            </a:r>
            <a:r>
              <a:rPr dirty="0" spc="-10" b="1">
                <a:latin typeface="Calibri"/>
                <a:cs typeface="Calibri"/>
              </a:rPr>
              <a:t>inferred</a:t>
            </a:r>
            <a:r>
              <a:rPr dirty="0" spc="-45" b="1">
                <a:latin typeface="Calibri"/>
                <a:cs typeface="Calibri"/>
              </a:rPr>
              <a:t> </a:t>
            </a:r>
            <a:r>
              <a:rPr dirty="0"/>
              <a:t>a</a:t>
            </a:r>
            <a:r>
              <a:rPr dirty="0" spc="-65"/>
              <a:t> </a:t>
            </a:r>
            <a:r>
              <a:rPr dirty="0"/>
              <a:t>table</a:t>
            </a:r>
            <a:r>
              <a:rPr dirty="0" spc="-75"/>
              <a:t> </a:t>
            </a:r>
            <a:r>
              <a:rPr dirty="0"/>
              <a:t>name</a:t>
            </a:r>
            <a:r>
              <a:rPr dirty="0" spc="-60"/>
              <a:t> </a:t>
            </a:r>
            <a:r>
              <a:rPr dirty="0"/>
              <a:t>for</a:t>
            </a:r>
            <a:r>
              <a:rPr dirty="0" spc="-65"/>
              <a:t> </a:t>
            </a:r>
            <a:r>
              <a:rPr dirty="0"/>
              <a:t>our</a:t>
            </a:r>
            <a:r>
              <a:rPr dirty="0" spc="-65"/>
              <a:t> </a:t>
            </a:r>
            <a:r>
              <a:rPr dirty="0"/>
              <a:t>model</a:t>
            </a:r>
            <a:r>
              <a:rPr dirty="0" spc="-55"/>
              <a:t> </a:t>
            </a:r>
            <a:r>
              <a:rPr dirty="0"/>
              <a:t>(</a:t>
            </a:r>
            <a:r>
              <a:rPr dirty="0" b="1" i="1">
                <a:latin typeface="Calibri"/>
                <a:cs typeface="Calibri"/>
              </a:rPr>
              <a:t>Users</a:t>
            </a:r>
            <a:r>
              <a:rPr dirty="0"/>
              <a:t>).</a:t>
            </a:r>
            <a:r>
              <a:rPr dirty="0" spc="-65"/>
              <a:t> </a:t>
            </a:r>
            <a:r>
              <a:rPr dirty="0"/>
              <a:t>By</a:t>
            </a:r>
            <a:r>
              <a:rPr dirty="0" spc="-70"/>
              <a:t> </a:t>
            </a:r>
            <a:r>
              <a:rPr dirty="0" spc="-10"/>
              <a:t>default, 	Sequelize</a:t>
            </a:r>
            <a:r>
              <a:rPr dirty="0" spc="-70"/>
              <a:t> </a:t>
            </a:r>
            <a:r>
              <a:rPr dirty="0"/>
              <a:t>uses</a:t>
            </a:r>
            <a:r>
              <a:rPr dirty="0" spc="-55"/>
              <a:t> </a:t>
            </a:r>
            <a:r>
              <a:rPr dirty="0"/>
              <a:t>the</a:t>
            </a:r>
            <a:r>
              <a:rPr dirty="0" spc="-70"/>
              <a:t> </a:t>
            </a:r>
            <a:r>
              <a:rPr dirty="0" spc="-10" b="1">
                <a:latin typeface="Calibri"/>
                <a:cs typeface="Calibri"/>
              </a:rPr>
              <a:t>pluralized</a:t>
            </a:r>
            <a:r>
              <a:rPr dirty="0" spc="-50" b="1">
                <a:latin typeface="Calibri"/>
                <a:cs typeface="Calibri"/>
              </a:rPr>
              <a:t> </a:t>
            </a:r>
            <a:r>
              <a:rPr dirty="0"/>
              <a:t>model</a:t>
            </a:r>
            <a:r>
              <a:rPr dirty="0" spc="-75"/>
              <a:t> </a:t>
            </a:r>
            <a:r>
              <a:rPr dirty="0"/>
              <a:t>name</a:t>
            </a:r>
            <a:r>
              <a:rPr dirty="0" spc="-75"/>
              <a:t> </a:t>
            </a:r>
            <a:r>
              <a:rPr dirty="0"/>
              <a:t>to</a:t>
            </a:r>
            <a:r>
              <a:rPr dirty="0" spc="-75"/>
              <a:t> </a:t>
            </a:r>
            <a:r>
              <a:rPr dirty="0"/>
              <a:t>name</a:t>
            </a:r>
            <a:r>
              <a:rPr dirty="0" spc="-65"/>
              <a:t> </a:t>
            </a:r>
            <a:r>
              <a:rPr dirty="0"/>
              <a:t>tables</a:t>
            </a:r>
            <a:r>
              <a:rPr dirty="0" spc="-70"/>
              <a:t> </a:t>
            </a:r>
            <a:r>
              <a:rPr dirty="0"/>
              <a:t>in</a:t>
            </a:r>
            <a:r>
              <a:rPr dirty="0" spc="-70"/>
              <a:t> </a:t>
            </a:r>
            <a:r>
              <a:rPr dirty="0" spc="-25"/>
              <a:t>the </a:t>
            </a:r>
            <a:r>
              <a:rPr dirty="0" spc="-25"/>
              <a:t>	</a:t>
            </a:r>
            <a:r>
              <a:rPr dirty="0"/>
              <a:t>RDBMS.</a:t>
            </a:r>
            <a:r>
              <a:rPr dirty="0" spc="-50"/>
              <a:t> </a:t>
            </a:r>
            <a:r>
              <a:rPr dirty="0"/>
              <a:t>We</a:t>
            </a:r>
            <a:r>
              <a:rPr dirty="0" spc="-90"/>
              <a:t> </a:t>
            </a:r>
            <a:r>
              <a:rPr dirty="0"/>
              <a:t>can</a:t>
            </a:r>
            <a:r>
              <a:rPr dirty="0" spc="-75"/>
              <a:t> </a:t>
            </a:r>
            <a:r>
              <a:rPr dirty="0"/>
              <a:t>override</a:t>
            </a:r>
            <a:r>
              <a:rPr dirty="0" spc="-95"/>
              <a:t> </a:t>
            </a:r>
            <a:r>
              <a:rPr dirty="0"/>
              <a:t>this</a:t>
            </a:r>
            <a:r>
              <a:rPr dirty="0" spc="-75"/>
              <a:t> </a:t>
            </a:r>
            <a:r>
              <a:rPr dirty="0"/>
              <a:t>behaviour</a:t>
            </a:r>
            <a:r>
              <a:rPr dirty="0" spc="-60"/>
              <a:t> </a:t>
            </a:r>
            <a:r>
              <a:rPr dirty="0"/>
              <a:t>and</a:t>
            </a:r>
            <a:r>
              <a:rPr dirty="0" spc="-80"/>
              <a:t> </a:t>
            </a:r>
            <a:r>
              <a:rPr dirty="0"/>
              <a:t>specify</a:t>
            </a:r>
            <a:r>
              <a:rPr dirty="0" spc="-70"/>
              <a:t> </a:t>
            </a:r>
            <a:r>
              <a:rPr dirty="0"/>
              <a:t>a</a:t>
            </a:r>
            <a:r>
              <a:rPr dirty="0" spc="-90"/>
              <a:t> </a:t>
            </a:r>
            <a:r>
              <a:rPr dirty="0"/>
              <a:t>custom</a:t>
            </a:r>
            <a:r>
              <a:rPr dirty="0" spc="-60"/>
              <a:t> </a:t>
            </a:r>
            <a:r>
              <a:rPr dirty="0" spc="-10"/>
              <a:t>table </a:t>
            </a:r>
            <a:r>
              <a:rPr dirty="0" spc="-10"/>
              <a:t>	</a:t>
            </a:r>
            <a:r>
              <a:rPr dirty="0"/>
              <a:t>name</a:t>
            </a:r>
            <a:r>
              <a:rPr dirty="0" spc="-30"/>
              <a:t> </a:t>
            </a:r>
            <a:r>
              <a:rPr dirty="0"/>
              <a:t>(see</a:t>
            </a:r>
            <a:r>
              <a:rPr dirty="0" spc="-45"/>
              <a:t> </a:t>
            </a:r>
            <a:r>
              <a:rPr dirty="0" spc="-10"/>
              <a:t>docs).</a:t>
            </a:r>
          </a:p>
          <a:p>
            <a:pPr marL="240029" marR="5080" indent="-227329">
              <a:lnSpc>
                <a:spcPts val="302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From</a:t>
            </a:r>
            <a:r>
              <a:rPr dirty="0" spc="-65"/>
              <a:t> </a:t>
            </a:r>
            <a:r>
              <a:rPr dirty="0"/>
              <a:t>the</a:t>
            </a:r>
            <a:r>
              <a:rPr dirty="0" spc="-55"/>
              <a:t> </a:t>
            </a:r>
            <a:r>
              <a:rPr dirty="0"/>
              <a:t>logs,</a:t>
            </a:r>
            <a:r>
              <a:rPr dirty="0" spc="-60"/>
              <a:t> </a:t>
            </a:r>
            <a:r>
              <a:rPr dirty="0"/>
              <a:t>we</a:t>
            </a:r>
            <a:r>
              <a:rPr dirty="0" spc="-70"/>
              <a:t> </a:t>
            </a:r>
            <a:r>
              <a:rPr dirty="0"/>
              <a:t>can</a:t>
            </a:r>
            <a:r>
              <a:rPr dirty="0" spc="-45"/>
              <a:t> </a:t>
            </a:r>
            <a:r>
              <a:rPr dirty="0"/>
              <a:t>see</a:t>
            </a:r>
            <a:r>
              <a:rPr dirty="0" spc="-60"/>
              <a:t> </a:t>
            </a:r>
            <a:r>
              <a:rPr dirty="0"/>
              <a:t>that</a:t>
            </a:r>
            <a:r>
              <a:rPr dirty="0" spc="-65"/>
              <a:t> </a:t>
            </a:r>
            <a:r>
              <a:rPr dirty="0"/>
              <a:t>Sequelize</a:t>
            </a:r>
            <a:r>
              <a:rPr dirty="0" spc="-65"/>
              <a:t> </a:t>
            </a:r>
            <a:r>
              <a:rPr dirty="0" spc="-10"/>
              <a:t>checked</a:t>
            </a:r>
            <a:r>
              <a:rPr dirty="0" spc="-55"/>
              <a:t> </a:t>
            </a:r>
            <a:r>
              <a:rPr dirty="0"/>
              <a:t>whether</a:t>
            </a:r>
            <a:r>
              <a:rPr dirty="0" spc="-70"/>
              <a:t> </a:t>
            </a:r>
            <a:r>
              <a:rPr dirty="0"/>
              <a:t>the</a:t>
            </a:r>
            <a:r>
              <a:rPr dirty="0" spc="-55"/>
              <a:t> </a:t>
            </a:r>
            <a:r>
              <a:rPr dirty="0" spc="-10" i="1">
                <a:latin typeface="Calibri"/>
                <a:cs typeface="Calibri"/>
              </a:rPr>
              <a:t>Users </a:t>
            </a:r>
            <a:r>
              <a:rPr dirty="0" spc="-10" i="1">
                <a:latin typeface="Calibri"/>
                <a:cs typeface="Calibri"/>
              </a:rPr>
              <a:t>	</a:t>
            </a:r>
            <a:r>
              <a:rPr dirty="0"/>
              <a:t>table</a:t>
            </a:r>
            <a:r>
              <a:rPr dirty="0" spc="-50"/>
              <a:t> </a:t>
            </a:r>
            <a:r>
              <a:rPr dirty="0" spc="-10"/>
              <a:t>existed</a:t>
            </a:r>
            <a:r>
              <a:rPr dirty="0" spc="-40"/>
              <a:t> </a:t>
            </a:r>
            <a:r>
              <a:rPr dirty="0"/>
              <a:t>(</a:t>
            </a:r>
            <a:r>
              <a:rPr dirty="0" sz="2400">
                <a:latin typeface="Consolas"/>
                <a:cs typeface="Consolas"/>
              </a:rPr>
              <a:t>SELECT</a:t>
            </a:r>
            <a:r>
              <a:rPr dirty="0" sz="2400" spc="-85">
                <a:latin typeface="Consolas"/>
                <a:cs typeface="Consolas"/>
              </a:rPr>
              <a:t> </a:t>
            </a:r>
            <a:r>
              <a:rPr dirty="0" sz="2400">
                <a:latin typeface="Consolas"/>
                <a:cs typeface="Consolas"/>
              </a:rPr>
              <a:t>name</a:t>
            </a:r>
            <a:r>
              <a:rPr dirty="0" sz="2400" spc="-85">
                <a:latin typeface="Consolas"/>
                <a:cs typeface="Consolas"/>
              </a:rPr>
              <a:t> </a:t>
            </a:r>
            <a:r>
              <a:rPr dirty="0" sz="2400">
                <a:latin typeface="Consolas"/>
                <a:cs typeface="Consolas"/>
              </a:rPr>
              <a:t>FROM</a:t>
            </a:r>
            <a:r>
              <a:rPr dirty="0" sz="2400" spc="-80">
                <a:latin typeface="Consolas"/>
                <a:cs typeface="Consolas"/>
              </a:rPr>
              <a:t> </a:t>
            </a:r>
            <a:r>
              <a:rPr dirty="0" sz="2400">
                <a:latin typeface="Consolas"/>
                <a:cs typeface="Consolas"/>
              </a:rPr>
              <a:t>sqlite_master</a:t>
            </a:r>
            <a:r>
              <a:rPr dirty="0" sz="2400" spc="-45">
                <a:latin typeface="Consolas"/>
                <a:cs typeface="Consolas"/>
              </a:rPr>
              <a:t> </a:t>
            </a:r>
            <a:r>
              <a:rPr dirty="0" sz="2400" spc="-10">
                <a:latin typeface="Consolas"/>
                <a:cs typeface="Consolas"/>
              </a:rPr>
              <a:t>WHERE </a:t>
            </a:r>
            <a:r>
              <a:rPr dirty="0" sz="2400" spc="-10">
                <a:latin typeface="Consolas"/>
                <a:cs typeface="Consolas"/>
              </a:rPr>
              <a:t>	</a:t>
            </a:r>
            <a:r>
              <a:rPr dirty="0" sz="2400">
                <a:latin typeface="Consolas"/>
                <a:cs typeface="Consolas"/>
              </a:rPr>
              <a:t>type='table'</a:t>
            </a:r>
            <a:r>
              <a:rPr dirty="0" sz="2400" spc="-85">
                <a:latin typeface="Consolas"/>
                <a:cs typeface="Consolas"/>
              </a:rPr>
              <a:t> </a:t>
            </a:r>
            <a:r>
              <a:rPr dirty="0" sz="2400">
                <a:latin typeface="Consolas"/>
                <a:cs typeface="Consolas"/>
              </a:rPr>
              <a:t>AND</a:t>
            </a:r>
            <a:r>
              <a:rPr dirty="0" sz="2400" spc="-114">
                <a:latin typeface="Consolas"/>
                <a:cs typeface="Consolas"/>
              </a:rPr>
              <a:t> </a:t>
            </a:r>
            <a:r>
              <a:rPr dirty="0" sz="2400" spc="-10">
                <a:latin typeface="Consolas"/>
                <a:cs typeface="Consolas"/>
              </a:rPr>
              <a:t>name='Users';</a:t>
            </a:r>
            <a:r>
              <a:rPr dirty="0" spc="-10"/>
              <a:t>), </a:t>
            </a:r>
            <a:r>
              <a:rPr dirty="0"/>
              <a:t>and</a:t>
            </a:r>
            <a:r>
              <a:rPr dirty="0" spc="-60"/>
              <a:t> </a:t>
            </a:r>
            <a:r>
              <a:rPr dirty="0"/>
              <a:t>then</a:t>
            </a:r>
            <a:r>
              <a:rPr dirty="0" spc="-60"/>
              <a:t> </a:t>
            </a:r>
            <a:r>
              <a:rPr dirty="0"/>
              <a:t>created</a:t>
            </a:r>
            <a:r>
              <a:rPr dirty="0" spc="-80"/>
              <a:t> </a:t>
            </a:r>
            <a:r>
              <a:rPr dirty="0"/>
              <a:t>the</a:t>
            </a:r>
            <a:r>
              <a:rPr dirty="0" spc="-65"/>
              <a:t> </a:t>
            </a:r>
            <a:r>
              <a:rPr dirty="0" spc="-10"/>
              <a:t>table.</a:t>
            </a:r>
            <a:endParaRPr sz="2400">
              <a:latin typeface="Consolas"/>
              <a:cs typeface="Consolas"/>
            </a:endParaRPr>
          </a:p>
          <a:p>
            <a:pPr marL="240029" indent="-227329">
              <a:lnSpc>
                <a:spcPts val="3190"/>
              </a:lnSpc>
              <a:spcBef>
                <a:spcPts val="63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If</a:t>
            </a:r>
            <a:r>
              <a:rPr dirty="0" spc="-60"/>
              <a:t> </a:t>
            </a:r>
            <a:r>
              <a:rPr dirty="0"/>
              <a:t>we</a:t>
            </a:r>
            <a:r>
              <a:rPr dirty="0" spc="-55"/>
              <a:t> </a:t>
            </a:r>
            <a:r>
              <a:rPr dirty="0"/>
              <a:t>run</a:t>
            </a:r>
            <a:r>
              <a:rPr dirty="0" spc="-45"/>
              <a:t> </a:t>
            </a:r>
            <a:r>
              <a:rPr dirty="0"/>
              <a:t>the</a:t>
            </a:r>
            <a:r>
              <a:rPr dirty="0" spc="-50"/>
              <a:t> </a:t>
            </a:r>
            <a:r>
              <a:rPr dirty="0"/>
              <a:t>script</a:t>
            </a:r>
            <a:r>
              <a:rPr dirty="0" spc="-35"/>
              <a:t> </a:t>
            </a:r>
            <a:r>
              <a:rPr dirty="0"/>
              <a:t>again,</a:t>
            </a:r>
            <a:r>
              <a:rPr dirty="0" spc="-65"/>
              <a:t> </a:t>
            </a:r>
            <a:r>
              <a:rPr dirty="0"/>
              <a:t>it</a:t>
            </a:r>
            <a:r>
              <a:rPr dirty="0" spc="-45"/>
              <a:t> </a:t>
            </a:r>
            <a:r>
              <a:rPr dirty="0"/>
              <a:t>won’t</a:t>
            </a:r>
            <a:r>
              <a:rPr dirty="0" spc="-50"/>
              <a:t> </a:t>
            </a:r>
            <a:r>
              <a:rPr dirty="0"/>
              <a:t>create</a:t>
            </a:r>
            <a:r>
              <a:rPr dirty="0" spc="-70"/>
              <a:t> </a:t>
            </a:r>
            <a:r>
              <a:rPr dirty="0"/>
              <a:t>the</a:t>
            </a:r>
            <a:r>
              <a:rPr dirty="0" spc="-50"/>
              <a:t> </a:t>
            </a:r>
            <a:r>
              <a:rPr dirty="0"/>
              <a:t>table</a:t>
            </a:r>
            <a:r>
              <a:rPr dirty="0" spc="-55"/>
              <a:t> </a:t>
            </a:r>
            <a:r>
              <a:rPr dirty="0"/>
              <a:t>since</a:t>
            </a:r>
            <a:r>
              <a:rPr dirty="0" spc="-30"/>
              <a:t> </a:t>
            </a:r>
            <a:r>
              <a:rPr dirty="0"/>
              <a:t>it</a:t>
            </a:r>
            <a:r>
              <a:rPr dirty="0" spc="-60"/>
              <a:t> </a:t>
            </a:r>
            <a:r>
              <a:rPr dirty="0" spc="-10"/>
              <a:t>already</a:t>
            </a:r>
          </a:p>
          <a:p>
            <a:pPr marL="241300">
              <a:lnSpc>
                <a:spcPts val="3190"/>
              </a:lnSpc>
            </a:pPr>
            <a:r>
              <a:rPr dirty="0" spc="-10"/>
              <a:t>exists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MODEL</a:t>
            </a:r>
            <a:r>
              <a:rPr dirty="0" spc="175"/>
              <a:t> </a:t>
            </a:r>
            <a:r>
              <a:rPr dirty="0" spc="-10"/>
              <a:t>SYNCHRONIZATION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76993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Sequelize</a:t>
            </a:r>
            <a:r>
              <a:rPr dirty="0" sz="2800" spc="-1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supports</a:t>
            </a:r>
            <a:r>
              <a:rPr dirty="0" sz="2800" spc="-114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different</a:t>
            </a:r>
            <a:r>
              <a:rPr dirty="0" sz="2800" spc="-1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synchronization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modes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62050" y="5112765"/>
            <a:ext cx="10123170" cy="835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ts val="319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possible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synchronize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multiple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models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once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calling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sync()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190"/>
              </a:lnSpc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database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connection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2396" y="2264664"/>
            <a:ext cx="10427335" cy="258635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19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9"/>
              </a:spcBef>
            </a:pPr>
            <a:r>
              <a:rPr dirty="0" sz="1800" spc="-10">
                <a:latin typeface="Consolas"/>
                <a:cs typeface="Consolas"/>
              </a:rPr>
              <a:t>User.sync();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//creates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table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if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not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exists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(does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nothing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if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exists)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User.sync({force: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1800" spc="-10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//re-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creates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table,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drops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it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if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exists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(destructive!)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User.sync({alter:</a:t>
            </a:r>
            <a:r>
              <a:rPr dirty="0" sz="1800" spc="-7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1800" spc="-10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//checks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state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of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table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(columns,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types,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etc..)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and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alters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it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to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match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model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(if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needed)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453834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CREATING</a:t>
            </a:r>
            <a:r>
              <a:rPr dirty="0" spc="-185"/>
              <a:t> </a:t>
            </a:r>
            <a:r>
              <a:rPr dirty="0" spc="-175"/>
              <a:t>ENTITIES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82396" y="2025395"/>
            <a:ext cx="10427335" cy="369316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janet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User({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//We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can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first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create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an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instance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of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Model...</a:t>
            </a:r>
            <a:endParaRPr sz="1800">
              <a:latin typeface="Consolas"/>
              <a:cs typeface="Consolas"/>
            </a:endParaRPr>
          </a:p>
          <a:p>
            <a:pPr marL="342265" marR="8322309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name: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"Janet"</a:t>
            </a:r>
            <a:r>
              <a:rPr dirty="0" sz="1800" spc="-10">
                <a:latin typeface="Consolas"/>
                <a:cs typeface="Consolas"/>
              </a:rPr>
              <a:t>, </a:t>
            </a:r>
            <a:r>
              <a:rPr dirty="0" sz="1800">
                <a:latin typeface="Consolas"/>
                <a:cs typeface="Consolas"/>
              </a:rPr>
              <a:t>age: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98557"/>
                </a:solidFill>
                <a:latin typeface="Consolas"/>
                <a:cs typeface="Consolas"/>
              </a:rPr>
              <a:t>22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  <a:tabLst>
                <a:tab pos="2724150" algn="l"/>
              </a:tabLst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janet.save();</a:t>
            </a:r>
            <a:r>
              <a:rPr dirty="0" sz="1800">
                <a:latin typeface="Consolas"/>
                <a:cs typeface="Consolas"/>
              </a:rPr>
              <a:t>	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//...and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then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save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it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to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database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"Janet</a:t>
            </a:r>
            <a:r>
              <a:rPr dirty="0" sz="1800" spc="-7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saved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to</a:t>
            </a:r>
            <a:r>
              <a:rPr dirty="0" sz="1800" spc="-6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database."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342265" marR="299720" indent="-250190">
              <a:lnSpc>
                <a:spcPct val="100000"/>
              </a:lnSpc>
              <a:tabLst>
                <a:tab pos="4103370" algn="l"/>
              </a:tabLst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riff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User.create({</a:t>
            </a:r>
            <a:r>
              <a:rPr dirty="0" sz="1800">
                <a:latin typeface="Consolas"/>
                <a:cs typeface="Consolas"/>
              </a:rPr>
              <a:t>	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//Or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we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can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use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static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method</a:t>
            </a:r>
            <a:r>
              <a:rPr dirty="0" sz="1800" spc="-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Model.create() </a:t>
            </a:r>
            <a:r>
              <a:rPr dirty="0" sz="1800">
                <a:latin typeface="Consolas"/>
                <a:cs typeface="Consolas"/>
              </a:rPr>
              <a:t>name: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"Riff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Raff"</a:t>
            </a:r>
            <a:r>
              <a:rPr dirty="0" sz="1800" spc="-10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age: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98557"/>
                </a:solidFill>
                <a:latin typeface="Consolas"/>
                <a:cs typeface="Consolas"/>
              </a:rPr>
              <a:t>26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`Riff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Raff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saved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to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database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with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id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riff.id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.`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DEFINING</a:t>
            </a:r>
            <a:r>
              <a:rPr dirty="0" spc="-190"/>
              <a:t> </a:t>
            </a:r>
            <a:r>
              <a:rPr dirty="0"/>
              <a:t>MODELS</a:t>
            </a:r>
            <a:r>
              <a:rPr dirty="0" spc="-165"/>
              <a:t> </a:t>
            </a:r>
            <a:r>
              <a:rPr dirty="0"/>
              <a:t>(USING</a:t>
            </a:r>
            <a:r>
              <a:rPr dirty="0" spc="-180"/>
              <a:t> </a:t>
            </a:r>
            <a:r>
              <a:rPr dirty="0" spc="-105"/>
              <a:t>CLASSES)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504188"/>
            <a:ext cx="10427335" cy="3694429"/>
          </a:xfrm>
          <a:custGeom>
            <a:avLst/>
            <a:gdLst/>
            <a:ahLst/>
            <a:cxnLst/>
            <a:rect l="l" t="t" r="r" b="b"/>
            <a:pathLst>
              <a:path w="10427335" h="3694429">
                <a:moveTo>
                  <a:pt x="0" y="3694176"/>
                </a:moveTo>
                <a:lnTo>
                  <a:pt x="10427208" y="3694176"/>
                </a:lnTo>
                <a:lnTo>
                  <a:pt x="10427208" y="0"/>
                </a:lnTo>
                <a:lnTo>
                  <a:pt x="0" y="0"/>
                </a:lnTo>
                <a:lnTo>
                  <a:pt x="0" y="3694176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2050" y="1524127"/>
            <a:ext cx="7420609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User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database.define(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'User'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/*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models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specs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*/</a:t>
            </a:r>
            <a:r>
              <a:rPr dirty="0" sz="1800" spc="-10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 marL="12700" marR="4015740">
              <a:lnSpc>
                <a:spcPct val="2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Todo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extends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Model</a:t>
            </a:r>
            <a:r>
              <a:rPr dirty="0" sz="1800" spc="-25">
                <a:latin typeface="Consolas"/>
                <a:cs typeface="Consolas"/>
              </a:rPr>
              <a:t> {} </a:t>
            </a:r>
            <a:r>
              <a:rPr dirty="0" sz="1800" spc="-10">
                <a:latin typeface="Consolas"/>
                <a:cs typeface="Consolas"/>
              </a:rPr>
              <a:t>Todo.init({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1192936" y="2967505"/>
          <a:ext cx="9166860" cy="776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1360"/>
                <a:gridCol w="250190"/>
                <a:gridCol w="751205"/>
                <a:gridCol w="6519545"/>
                <a:gridCol w="846454"/>
              </a:tblGrid>
              <a:tr h="250825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dirty="0" sz="1800" spc="-10">
                          <a:latin typeface="Consolas"/>
                          <a:cs typeface="Consolas"/>
                        </a:rPr>
                        <a:t>todo: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95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95"/>
                        </a:lnSpc>
                      </a:pPr>
                      <a:r>
                        <a:rPr dirty="0" sz="1800" spc="-10">
                          <a:latin typeface="Consolas"/>
                          <a:cs typeface="Consolas"/>
                        </a:rPr>
                        <a:t>type: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695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DataTypes.TEXT,</a:t>
                      </a:r>
                      <a:r>
                        <a:rPr dirty="0" sz="1800" spc="-3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allowNull:</a:t>
                      </a:r>
                      <a:r>
                        <a:rPr dirty="0"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false</a:t>
                      </a:r>
                      <a:r>
                        <a:rPr dirty="0" sz="1800" spc="-3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},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dirty="0" sz="1800" spc="-10">
                          <a:latin typeface="Consolas"/>
                          <a:cs typeface="Consolas"/>
                        </a:rPr>
                        <a:t>done: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0"/>
                        </a:lnSpc>
                      </a:pPr>
                      <a:r>
                        <a:rPr dirty="0" sz="1800" spc="-10">
                          <a:latin typeface="Consolas"/>
                          <a:cs typeface="Consolas"/>
                        </a:rPr>
                        <a:t>type: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8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DataTypes.BOOLEAN,</a:t>
                      </a:r>
                      <a:r>
                        <a:rPr dirty="0" sz="1800" spc="-9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defaultValue:</a:t>
                      </a:r>
                      <a:r>
                        <a:rPr dirty="0" sz="1800" spc="-7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false</a:t>
                      </a:r>
                      <a:r>
                        <a:rPr dirty="0" sz="1800" spc="-7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},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51460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dirty="0" sz="1800" spc="-25">
                          <a:latin typeface="Consolas"/>
                          <a:cs typeface="Consolas"/>
                        </a:rPr>
                        <a:t>id: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0"/>
                        </a:lnSpc>
                      </a:pPr>
                      <a:r>
                        <a:rPr dirty="0" sz="1800" spc="-10">
                          <a:latin typeface="Consolas"/>
                          <a:cs typeface="Consolas"/>
                        </a:rPr>
                        <a:t>type: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8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DataTypes.INTEGER,</a:t>
                      </a:r>
                      <a:r>
                        <a:rPr dirty="0" sz="1800" spc="-6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primaryKey: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true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,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autoIncrement: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880"/>
                        </a:lnSpc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true</a:t>
                      </a:r>
                      <a:r>
                        <a:rPr dirty="0" sz="1800" spc="-3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962050" y="3719321"/>
            <a:ext cx="8675370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onsolas"/>
                <a:cs typeface="Consolas"/>
              </a:rPr>
              <a:t>},{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sequelize: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database,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modelName: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"Todo"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database.sync().then(</a:t>
            </a:r>
            <a:r>
              <a:rPr dirty="0" sz="1800" spc="-9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()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8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"Database</a:t>
            </a:r>
            <a:r>
              <a:rPr dirty="0" sz="1800" spc="-8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synchronized."</a:t>
            </a:r>
            <a:r>
              <a:rPr dirty="0" sz="1800" spc="-10">
                <a:latin typeface="Consolas"/>
                <a:cs typeface="Consolas"/>
              </a:rPr>
              <a:t>)});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DEFINING</a:t>
            </a:r>
            <a:r>
              <a:rPr dirty="0" spc="-204"/>
              <a:t> </a:t>
            </a:r>
            <a:r>
              <a:rPr dirty="0" spc="-45"/>
              <a:t>ASSOCIATIONS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588500" cy="836294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Sequelize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supports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one-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to-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one,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one-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to-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many,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many-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to-many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associations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(see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docs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82396" y="2926079"/>
            <a:ext cx="10427335" cy="2308860"/>
          </a:xfrm>
          <a:custGeom>
            <a:avLst/>
            <a:gdLst/>
            <a:ahLst/>
            <a:cxnLst/>
            <a:rect l="l" t="t" r="r" b="b"/>
            <a:pathLst>
              <a:path w="10427335" h="2308860">
                <a:moveTo>
                  <a:pt x="0" y="2308860"/>
                </a:moveTo>
                <a:lnTo>
                  <a:pt x="10427208" y="2308860"/>
                </a:lnTo>
                <a:lnTo>
                  <a:pt x="10427208" y="0"/>
                </a:lnTo>
                <a:lnTo>
                  <a:pt x="0" y="0"/>
                </a:lnTo>
                <a:lnTo>
                  <a:pt x="0" y="2308860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62050" y="2946908"/>
            <a:ext cx="541528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sequelize.define(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'A'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/*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...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*/</a:t>
            </a:r>
            <a:r>
              <a:rPr dirty="0" sz="1800" spc="-20">
                <a:latin typeface="Consolas"/>
                <a:cs typeface="Consolas"/>
              </a:rPr>
              <a:t>);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B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sequelize.define(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'B'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/*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...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*/</a:t>
            </a:r>
            <a:r>
              <a:rPr dirty="0" sz="1800" spc="-2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943000" y="3841392"/>
          <a:ext cx="4150995" cy="7759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3580"/>
                <a:gridCol w="376555"/>
                <a:gridCol w="251460"/>
                <a:gridCol w="1473835"/>
              </a:tblGrid>
              <a:tr h="250825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dirty="0" sz="1800" spc="-10">
                          <a:latin typeface="Consolas"/>
                          <a:cs typeface="Consolas"/>
                        </a:rPr>
                        <a:t>A.hasOne(B);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95"/>
                        </a:lnSpc>
                      </a:pPr>
                      <a:r>
                        <a:rPr dirty="0" sz="1800" spc="-25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95"/>
                        </a:lnSpc>
                      </a:pPr>
                      <a:r>
                        <a:rPr dirty="0" sz="1800" spc="-5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695"/>
                        </a:lnSpc>
                      </a:pP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HasOne</a:t>
                      </a:r>
                      <a:r>
                        <a:rPr dirty="0" sz="1800" spc="-45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273685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dirty="0" sz="1800" spc="-10">
                          <a:latin typeface="Consolas"/>
                          <a:cs typeface="Consolas"/>
                        </a:rPr>
                        <a:t>A.belongsTo(B);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</a:pPr>
                      <a:r>
                        <a:rPr dirty="0" sz="1800" spc="-25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</a:pPr>
                      <a:r>
                        <a:rPr dirty="0" sz="1800" spc="-5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875"/>
                        </a:lnSpc>
                      </a:pP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BelongsTo</a:t>
                      </a:r>
                      <a:r>
                        <a:rPr dirty="0" sz="1800" spc="-55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251460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dirty="0" sz="1800" spc="-10">
                          <a:latin typeface="Consolas"/>
                          <a:cs typeface="Consolas"/>
                        </a:rPr>
                        <a:t>A.hasMany(B);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0"/>
                        </a:lnSpc>
                      </a:pPr>
                      <a:r>
                        <a:rPr dirty="0" sz="1800" spc="-25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0"/>
                        </a:lnSpc>
                      </a:pPr>
                      <a:r>
                        <a:rPr dirty="0" sz="1800" spc="-5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880"/>
                        </a:lnSpc>
                      </a:pP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HasMany</a:t>
                      </a:r>
                      <a:r>
                        <a:rPr dirty="0" sz="1800" spc="-45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7" name="object 7" descr=""/>
          <p:cNvSpPr txBox="1"/>
          <p:nvPr/>
        </p:nvSpPr>
        <p:spPr>
          <a:xfrm>
            <a:off x="962050" y="4593082"/>
            <a:ext cx="992822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nsolas"/>
                <a:cs typeface="Consolas"/>
              </a:rPr>
              <a:t>A.belongsToMany(B,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through: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'C'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});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BelongsToMany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B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through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junction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table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solidFill>
                  <a:srgbClr val="008000"/>
                </a:solidFill>
                <a:latin typeface="Consolas"/>
                <a:cs typeface="Consolas"/>
              </a:rPr>
              <a:t>C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DEFINING</a:t>
            </a:r>
            <a:r>
              <a:rPr dirty="0" spc="-204"/>
              <a:t> </a:t>
            </a:r>
            <a:r>
              <a:rPr dirty="0" spc="-45"/>
              <a:t>ASSOCIATIONS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82396" y="1748027"/>
            <a:ext cx="10427335" cy="424751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DataTypes,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Model,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Sequelize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"sequelize"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//create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connection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database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Sequelize(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"sqlite:mydb.sqlite"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 marR="3308350">
              <a:lnSpc>
                <a:spcPts val="4320"/>
              </a:lnSpc>
              <a:spcBef>
                <a:spcPts val="50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User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database.define(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'User'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/*model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specs*/</a:t>
            </a:r>
            <a:r>
              <a:rPr dirty="0" sz="1800" spc="-10">
                <a:latin typeface="Consolas"/>
                <a:cs typeface="Consolas"/>
              </a:rPr>
              <a:t>});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Todo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extends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Model</a:t>
            </a:r>
            <a:r>
              <a:rPr dirty="0" sz="1800" spc="-25">
                <a:latin typeface="Consolas"/>
                <a:cs typeface="Consolas"/>
              </a:rPr>
              <a:t> {}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1660"/>
              </a:spcBef>
            </a:pPr>
            <a:r>
              <a:rPr dirty="0" sz="1800">
                <a:latin typeface="Consolas"/>
                <a:cs typeface="Consolas"/>
              </a:rPr>
              <a:t>Todo.init({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/*model</a:t>
            </a:r>
            <a:r>
              <a:rPr dirty="0" sz="1800" spc="-10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specs*/</a:t>
            </a:r>
            <a:r>
              <a:rPr dirty="0" sz="1800" spc="-10">
                <a:latin typeface="Consolas"/>
                <a:cs typeface="Consolas"/>
              </a:rPr>
              <a:t>},{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/*options*/</a:t>
            </a:r>
            <a:r>
              <a:rPr dirty="0" sz="1800" spc="-10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tabLst>
                <a:tab pos="2849245" algn="l"/>
              </a:tabLst>
            </a:pPr>
            <a:r>
              <a:rPr dirty="0" sz="1800" spc="-10">
                <a:latin typeface="Consolas"/>
                <a:cs typeface="Consolas"/>
              </a:rPr>
              <a:t>User.hasMany(Todo);</a:t>
            </a:r>
            <a:r>
              <a:rPr dirty="0" sz="1800">
                <a:latin typeface="Consolas"/>
                <a:cs typeface="Consolas"/>
              </a:rPr>
              <a:t>	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//Sequelize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will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define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foreign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key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Todo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-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&gt;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User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Todo.belongsTo(User);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database.sync({force:</a:t>
            </a:r>
            <a:r>
              <a:rPr dirty="0" sz="1800" spc="-9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1800">
                <a:latin typeface="Consolas"/>
                <a:cs typeface="Consolas"/>
              </a:rPr>
              <a:t>}).then(()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7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"Database</a:t>
            </a:r>
            <a:r>
              <a:rPr dirty="0" sz="1800" spc="-8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synchronized."</a:t>
            </a:r>
            <a:r>
              <a:rPr dirty="0" sz="1800">
                <a:latin typeface="Consolas"/>
                <a:cs typeface="Consolas"/>
              </a:rPr>
              <a:t>)</a:t>
            </a:r>
            <a:r>
              <a:rPr dirty="0" sz="1800" spc="-70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CREATING</a:t>
            </a:r>
            <a:r>
              <a:rPr dirty="0" spc="-190"/>
              <a:t> </a:t>
            </a:r>
            <a:r>
              <a:rPr dirty="0" spc="-30"/>
              <a:t>LINKED</a:t>
            </a:r>
            <a:r>
              <a:rPr dirty="0" spc="-210"/>
              <a:t> </a:t>
            </a:r>
            <a:r>
              <a:rPr dirty="0" spc="-20"/>
              <a:t>DATA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198100" cy="105092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default,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Sequelize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creates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column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named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D70031"/>
                </a:solidFill>
                <a:latin typeface="Calibri"/>
                <a:cs typeface="Calibri"/>
              </a:rPr>
              <a:t>RefModel</a:t>
            </a:r>
            <a:r>
              <a:rPr dirty="0" sz="2800" spc="-10" b="1">
                <a:solidFill>
                  <a:srgbClr val="006379"/>
                </a:solidFill>
                <a:latin typeface="Calibri"/>
                <a:cs typeface="Calibri"/>
              </a:rPr>
              <a:t>RefModelPK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case,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created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D70031"/>
                </a:solidFill>
                <a:latin typeface="Calibri"/>
                <a:cs typeface="Calibri"/>
              </a:rPr>
              <a:t>User</a:t>
            </a:r>
            <a:r>
              <a:rPr dirty="0" sz="2800" b="1">
                <a:solidFill>
                  <a:srgbClr val="006379"/>
                </a:solidFill>
                <a:latin typeface="Calibri"/>
                <a:cs typeface="Calibri"/>
              </a:rPr>
              <a:t>Id</a:t>
            </a:r>
            <a:r>
              <a:rPr dirty="0" sz="2800" spc="-40" b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column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Todo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2848355"/>
            <a:ext cx="10427335" cy="313944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342265" marR="6565265" indent="-250190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riff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User.create({ </a:t>
            </a:r>
            <a:r>
              <a:rPr dirty="0" sz="1800">
                <a:latin typeface="Consolas"/>
                <a:cs typeface="Consolas"/>
              </a:rPr>
              <a:t>name: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"Riff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Raff"</a:t>
            </a:r>
            <a:r>
              <a:rPr dirty="0" sz="1800" spc="-10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age: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98557"/>
                </a:solidFill>
                <a:latin typeface="Consolas"/>
                <a:cs typeface="Consolas"/>
              </a:rPr>
              <a:t>26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`Riff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Raff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saved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to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database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with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id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riff.id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.`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342265" marR="6189345" indent="-25019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todo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Todo.create({ </a:t>
            </a:r>
            <a:r>
              <a:rPr dirty="0" sz="1800">
                <a:latin typeface="Consolas"/>
                <a:cs typeface="Consolas"/>
              </a:rPr>
              <a:t>todo: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"Do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the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time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warp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again"</a:t>
            </a:r>
            <a:r>
              <a:rPr dirty="0" sz="1800" spc="-10">
                <a:latin typeface="Consolas"/>
                <a:cs typeface="Consolas"/>
              </a:rPr>
              <a:t>, </a:t>
            </a:r>
            <a:r>
              <a:rPr dirty="0" sz="1800">
                <a:latin typeface="Consolas"/>
                <a:cs typeface="Consolas"/>
              </a:rPr>
              <a:t>done: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1800" spc="-20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UserId: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riff.id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2330" y="1458343"/>
            <a:ext cx="228777" cy="228777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9686276" y="1382229"/>
            <a:ext cx="2336165" cy="131381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Biagio</a:t>
            </a:r>
            <a:r>
              <a:rPr dirty="0" sz="800" spc="-3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Morgillo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2024-05-</a:t>
            </a:r>
            <a:r>
              <a:rPr dirty="0" sz="800" i="1">
                <a:latin typeface="Arial"/>
                <a:cs typeface="Arial"/>
              </a:rPr>
              <a:t>10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13:57:45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Arial MT"/>
                <a:cs typeface="Arial MT"/>
              </a:rPr>
              <a:t>-------------------------------------------</a:t>
            </a:r>
            <a:r>
              <a:rPr dirty="0" sz="1000" spc="-50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Arial MT"/>
                <a:cs typeface="Arial MT"/>
              </a:rPr>
              <a:t>Esiste un'estensione di Sequelize </a:t>
            </a:r>
            <a:r>
              <a:rPr dirty="0" sz="1000" spc="-25">
                <a:latin typeface="Arial MT"/>
                <a:cs typeface="Arial MT"/>
              </a:rPr>
              <a:t>di </a:t>
            </a:r>
            <a:r>
              <a:rPr dirty="0" sz="1000">
                <a:latin typeface="Arial MT"/>
                <a:cs typeface="Arial MT"/>
              </a:rPr>
              <a:t>VSCode per visualizzare nel </a:t>
            </a:r>
            <a:r>
              <a:rPr dirty="0" sz="1000" spc="-10">
                <a:latin typeface="Arial MT"/>
                <a:cs typeface="Arial MT"/>
              </a:rPr>
              <a:t>momento</a:t>
            </a:r>
            <a:r>
              <a:rPr dirty="0" sz="1000" spc="50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la </a:t>
            </a:r>
            <a:r>
              <a:rPr dirty="0" sz="1000" spc="-10">
                <a:latin typeface="Arial MT"/>
                <a:cs typeface="Arial MT"/>
              </a:rPr>
              <a:t>tabella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CREATING</a:t>
            </a:r>
            <a:r>
              <a:rPr dirty="0" spc="-190"/>
              <a:t> </a:t>
            </a:r>
            <a:r>
              <a:rPr dirty="0" spc="-30"/>
              <a:t>LINKED</a:t>
            </a:r>
            <a:r>
              <a:rPr dirty="0" spc="-210"/>
              <a:t> </a:t>
            </a:r>
            <a:r>
              <a:rPr dirty="0" spc="-20"/>
              <a:t>DATA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879330" cy="836294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instance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created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along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nested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associations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a 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single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step,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provided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elements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new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11986" y="4140530"/>
            <a:ext cx="15176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onsolas"/>
                <a:cs typeface="Consolas"/>
              </a:rPr>
              <a:t>]</a:t>
            </a:r>
            <a:endParaRPr sz="1800">
              <a:latin typeface="Consolas"/>
              <a:cs typeface="Consolas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5723509" y="3048126"/>
          <a:ext cx="5662295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4690"/>
                <a:gridCol w="419734"/>
                <a:gridCol w="329565"/>
                <a:gridCol w="1777364"/>
                <a:gridCol w="2364104"/>
              </a:tblGrid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7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7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7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7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73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916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916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916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916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916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876046" y="2468626"/>
          <a:ext cx="10754995" cy="36912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44900"/>
                <a:gridCol w="762635"/>
                <a:gridCol w="1105535"/>
                <a:gridCol w="478154"/>
                <a:gridCol w="321945"/>
                <a:gridCol w="1776095"/>
                <a:gridCol w="1815465"/>
                <a:gridCol w="761365"/>
              </a:tblGrid>
              <a:tr h="1845945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let</a:t>
                      </a:r>
                      <a:r>
                        <a:rPr dirty="0" sz="1800" spc="-3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janet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await</a:t>
                      </a:r>
                      <a:r>
                        <a:rPr dirty="0" sz="1800" spc="-1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User.create({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2265" marR="2302510">
                        <a:lnSpc>
                          <a:spcPct val="10000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name: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"Janet"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age: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5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22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Todos:</a:t>
                      </a:r>
                      <a:r>
                        <a:rPr dirty="0"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[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591820">
                        <a:lnSpc>
                          <a:spcPct val="10000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{todo: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"Learn</a:t>
                      </a:r>
                      <a:r>
                        <a:rPr dirty="0" sz="1800" spc="-15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Sequelize"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},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591820">
                        <a:lnSpc>
                          <a:spcPct val="10000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{todo: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"Learn</a:t>
                      </a:r>
                      <a:r>
                        <a:rPr dirty="0" sz="1800" spc="-2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Express"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111F35"/>
                      </a:solidFill>
                      <a:prstDash val="solid"/>
                    </a:lnL>
                    <a:lnR w="12700">
                      <a:solidFill>
                        <a:srgbClr val="111F35"/>
                      </a:solidFill>
                      <a:prstDash val="solid"/>
                    </a:lnR>
                    <a:lnT w="12700">
                      <a:solidFill>
                        <a:srgbClr val="111F35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479425" marR="45720">
                        <a:lnSpc>
                          <a:spcPct val="142900"/>
                        </a:lnSpc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Janet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Riff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Raff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8425">
                        <a:lnSpc>
                          <a:spcPct val="100000"/>
                        </a:lnSpc>
                      </a:pPr>
                      <a:r>
                        <a:rPr dirty="0" sz="14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age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842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4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22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842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4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</a:pPr>
                      <a:r>
                        <a:rPr dirty="0" sz="14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id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4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4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createdAt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7747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2023-12-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09</a:t>
                      </a:r>
                      <a:r>
                        <a:rPr dirty="0" sz="1400" spc="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10:03:50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7747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2023-12-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09</a:t>
                      </a:r>
                      <a:r>
                        <a:rPr dirty="0" sz="1400" spc="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10:03:50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37160">
                        <a:lnSpc>
                          <a:spcPct val="100000"/>
                        </a:lnSpc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updatedAt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13716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2023-12-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09</a:t>
                      </a:r>
                      <a:r>
                        <a:rPr dirty="0" sz="1400" spc="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10:03:50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13716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2023-12-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09</a:t>
                      </a:r>
                      <a:r>
                        <a:rPr dirty="0" sz="1400" spc="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10:03:50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04800">
                <a:tc rowSpan="4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},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2265">
                        <a:lnSpc>
                          <a:spcPct val="10000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include:</a:t>
                      </a:r>
                      <a:r>
                        <a:rPr dirty="0"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[Todo]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 spc="-25">
                          <a:latin typeface="Consolas"/>
                          <a:cs typeface="Consolas"/>
                        </a:rPr>
                        <a:t>});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106680">
                    <a:lnL w="12700">
                      <a:solidFill>
                        <a:srgbClr val="111F35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todo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done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createdAt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updatedAt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1981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UserId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</a:tr>
              <a:tr h="30416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06680">
                    <a:lnL w="12700">
                      <a:solidFill>
                        <a:srgbClr val="111F35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Learn</a:t>
                      </a:r>
                      <a:r>
                        <a:rPr dirty="0" sz="14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Sequelize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4E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4604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2023-12-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09</a:t>
                      </a:r>
                      <a:r>
                        <a:rPr dirty="0" sz="1400" spc="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10:03:50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2023-12-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09</a:t>
                      </a:r>
                      <a:r>
                        <a:rPr dirty="0" sz="1400" spc="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10:03:50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1981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4E5F"/>
                    </a:solidFill>
                  </a:tcPr>
                </a:tc>
              </a:tr>
              <a:tr h="3048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06680">
                    <a:lnL w="12700">
                      <a:solidFill>
                        <a:srgbClr val="111F35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Learn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Express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solidFill>
                      <a:srgbClr val="00637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4604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2023-12-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09</a:t>
                      </a:r>
                      <a:r>
                        <a:rPr dirty="0" sz="1400" spc="5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10:03:50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2023-12-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09</a:t>
                      </a:r>
                      <a:r>
                        <a:rPr dirty="0" sz="1400" spc="5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10:03:50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marL="1981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solidFill>
                      <a:srgbClr val="006379"/>
                    </a:solidFill>
                  </a:tcPr>
                </a:tc>
              </a:tr>
              <a:tr h="3048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06680">
                    <a:lnL w="12700">
                      <a:solidFill>
                        <a:srgbClr val="111F35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</a:t>
                      </a:r>
                      <a:r>
                        <a:rPr dirty="0" sz="14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time</a:t>
                      </a:r>
                      <a:r>
                        <a:rPr dirty="0" sz="14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warp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again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solidFill>
                      <a:srgbClr val="004E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4604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2023-12-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09</a:t>
                      </a:r>
                      <a:r>
                        <a:rPr dirty="0" sz="1400" spc="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10:03:50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2023-12-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09</a:t>
                      </a:r>
                      <a:r>
                        <a:rPr dirty="0" sz="1400" spc="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10:03:50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1981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solidFill>
                      <a:srgbClr val="004E5F"/>
                    </a:solidFill>
                  </a:tcPr>
                </a:tc>
              </a:tr>
              <a:tr h="626745">
                <a:tc gridSpan="2">
                  <a:txBody>
                    <a:bodyPr/>
                    <a:lstStyle/>
                    <a:p>
                      <a:pPr marL="92075">
                        <a:lnSpc>
                          <a:spcPts val="2039"/>
                        </a:lnSpc>
                      </a:pP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r>
                        <a:rPr dirty="0" sz="1800" spc="-3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code</a:t>
                      </a:r>
                      <a:r>
                        <a:rPr dirty="0" sz="1800" spc="-2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creating</a:t>
                      </a:r>
                      <a:r>
                        <a:rPr dirty="0" sz="1800" spc="-2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Riff</a:t>
                      </a:r>
                      <a:r>
                        <a:rPr dirty="0" sz="1800" spc="-25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Raff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r>
                        <a:rPr dirty="0" sz="1800" spc="-35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and</a:t>
                      </a:r>
                      <a:r>
                        <a:rPr dirty="0" sz="1800" spc="-2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its</a:t>
                      </a:r>
                      <a:r>
                        <a:rPr dirty="0" sz="1800" spc="-3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Todo</a:t>
                      </a:r>
                      <a:r>
                        <a:rPr dirty="0" sz="1800" spc="-25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goes</a:t>
                      </a:r>
                      <a:r>
                        <a:rPr dirty="0" sz="1800" spc="-1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here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lnR w="12700">
                      <a:solidFill>
                        <a:srgbClr val="111F35"/>
                      </a:solidFill>
                      <a:prstDash val="solid"/>
                    </a:lnR>
                    <a:lnB w="12700">
                      <a:solidFill>
                        <a:srgbClr val="111F35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5"/>
              <a:t>RETRIEVING</a:t>
            </a:r>
            <a:r>
              <a:rPr dirty="0" spc="-75"/>
              <a:t> </a:t>
            </a:r>
            <a:r>
              <a:rPr dirty="0" spc="-20"/>
              <a:t>DATA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8060055" cy="105092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Sequelize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models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provide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simple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ways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retrieve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docs</a:t>
            </a:r>
            <a:r>
              <a:rPr dirty="0" u="sng" sz="2800" spc="-2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complete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reference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queries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2755392"/>
            <a:ext cx="5213985" cy="92392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2075" marR="976630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todos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Todo.findAll();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for</a:t>
            </a:r>
            <a:r>
              <a:rPr dirty="0" sz="1800">
                <a:latin typeface="Consolas"/>
                <a:cs typeface="Consolas"/>
              </a:rPr>
              <a:t>(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i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of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todos)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>
                <a:latin typeface="Consolas"/>
                <a:cs typeface="Consolas"/>
              </a:rPr>
              <a:t>i.id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:</a:t>
            </a:r>
            <a:r>
              <a:rPr dirty="0" sz="1800" spc="-9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i.todo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2396" y="3953255"/>
            <a:ext cx="5213985" cy="230759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Op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"sequelize"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todos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Todo.findAll({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where: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  <a:tabLst>
                <a:tab pos="1344295" algn="l"/>
              </a:tabLst>
            </a:pPr>
            <a:r>
              <a:rPr dirty="0" sz="1800" spc="-25">
                <a:latin typeface="Consolas"/>
                <a:cs typeface="Consolas"/>
              </a:rPr>
              <a:t>id:</a:t>
            </a:r>
            <a:r>
              <a:rPr dirty="0" sz="1800">
                <a:latin typeface="Consolas"/>
                <a:cs typeface="Consolas"/>
              </a:rPr>
              <a:t>	{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[Op.gte]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2</a:t>
            </a:r>
            <a:r>
              <a:rPr dirty="0" sz="1800" spc="-5">
                <a:solidFill>
                  <a:srgbClr val="098557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},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todo: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[Op.like]: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'%Express%’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algn="r" marR="473773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algn="r" marR="473837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237732" y="3953255"/>
            <a:ext cx="5072380" cy="922019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SELECT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*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latin typeface="Consolas"/>
                <a:cs typeface="Consolas"/>
              </a:rPr>
              <a:t>Todos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WHERE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id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&gt;=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2</a:t>
            </a:r>
            <a:r>
              <a:rPr dirty="0" sz="1800" spc="-30">
                <a:solidFill>
                  <a:srgbClr val="098557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AND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todo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LIKE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'%Express'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237732" y="2755392"/>
            <a:ext cx="5072380" cy="64643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SELECT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*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latin typeface="Consolas"/>
                <a:cs typeface="Consolas"/>
              </a:rPr>
              <a:t>Todos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5"/>
              <a:t>RETRIEVING</a:t>
            </a:r>
            <a:r>
              <a:rPr dirty="0" spc="-75"/>
              <a:t> </a:t>
            </a:r>
            <a:r>
              <a:rPr dirty="0" spc="-20"/>
              <a:t>DATA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133840" cy="105092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default,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associations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loaded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retrieve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want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load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associations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well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62050" y="3579367"/>
            <a:ext cx="100310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retrieve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entitity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given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primary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key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.findByPk(pk)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2396" y="2630423"/>
            <a:ext cx="10427335" cy="922019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2075" marR="4058920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5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todos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Todo.findAll({include: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[User]});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for</a:t>
            </a:r>
            <a:r>
              <a:rPr dirty="0" sz="1800">
                <a:latin typeface="Consolas"/>
                <a:cs typeface="Consolas"/>
              </a:rPr>
              <a:t>(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item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of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todos)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>
                <a:latin typeface="Consolas"/>
                <a:cs typeface="Consolas"/>
              </a:rPr>
              <a:t>item.todo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7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-</a:t>
            </a:r>
            <a:r>
              <a:rPr dirty="0" sz="1800" spc="-4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item.User?.name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82396" y="4856988"/>
            <a:ext cx="10427335" cy="92392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Executing:</a:t>
            </a:r>
            <a:r>
              <a:rPr dirty="0" sz="1800" spc="-5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SELECT</a:t>
            </a:r>
            <a:r>
              <a:rPr dirty="0" sz="1800" spc="-3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`todo`,</a:t>
            </a:r>
            <a:r>
              <a:rPr dirty="0" sz="1800" spc="-4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`done`,</a:t>
            </a:r>
            <a:r>
              <a:rPr dirty="0" sz="1800" spc="-4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`id`,</a:t>
            </a:r>
            <a:r>
              <a:rPr dirty="0" sz="1800" spc="-4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`createdAt`,</a:t>
            </a:r>
            <a:r>
              <a:rPr dirty="0" sz="1800" spc="-3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`updatedAt`,</a:t>
            </a:r>
            <a:r>
              <a:rPr dirty="0" sz="1800" spc="-3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`UserId`</a:t>
            </a:r>
            <a:r>
              <a:rPr dirty="0" sz="1800" spc="-4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111F35"/>
                </a:solidFill>
                <a:latin typeface="Consolas"/>
                <a:cs typeface="Consolas"/>
              </a:rPr>
              <a:t>FROM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`Todos`</a:t>
            </a:r>
            <a:r>
              <a:rPr dirty="0" sz="1800" spc="-3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AS</a:t>
            </a:r>
            <a:r>
              <a:rPr dirty="0" sz="1800" spc="-3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`Todo`</a:t>
            </a:r>
            <a:r>
              <a:rPr dirty="0" sz="1800" spc="-2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WHERE</a:t>
            </a:r>
            <a:r>
              <a:rPr dirty="0" sz="1800" spc="-2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`Todo`.`id`</a:t>
            </a:r>
            <a:r>
              <a:rPr dirty="0" sz="1800" spc="-2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=</a:t>
            </a:r>
            <a:r>
              <a:rPr dirty="0" sz="1800" spc="-3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111F35"/>
                </a:solidFill>
                <a:latin typeface="Consolas"/>
                <a:cs typeface="Consolas"/>
              </a:rPr>
              <a:t>3;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t:</a:t>
            </a:r>
            <a:r>
              <a:rPr dirty="0" sz="1800" spc="-3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3</a:t>
            </a:r>
            <a:r>
              <a:rPr dirty="0" sz="1800" spc="-2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Do</a:t>
            </a:r>
            <a:r>
              <a:rPr dirty="0" sz="1800" spc="-2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the</a:t>
            </a:r>
            <a:r>
              <a:rPr dirty="0" sz="1800" spc="-2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time</a:t>
            </a:r>
            <a:r>
              <a:rPr dirty="0" sz="1800" spc="-2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warp</a:t>
            </a:r>
            <a:r>
              <a:rPr dirty="0" sz="1800" spc="-2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again</a:t>
            </a:r>
            <a:r>
              <a:rPr dirty="0" sz="1800" spc="-3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onsolas"/>
                <a:cs typeface="Consolas"/>
              </a:rPr>
              <a:t>false</a:t>
            </a:r>
            <a:r>
              <a:rPr dirty="0" sz="1800" spc="-2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solidFill>
                  <a:srgbClr val="111F35"/>
                </a:solidFill>
                <a:latin typeface="Consolas"/>
                <a:cs typeface="Consolas"/>
              </a:rPr>
              <a:t>2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82396" y="4111752"/>
            <a:ext cx="10427335" cy="64770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Todo.findByPk(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3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"t:"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t.id,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t.todo,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t.done,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t.UserId);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UPDATING</a:t>
            </a:r>
            <a:r>
              <a:rPr dirty="0" spc="35"/>
              <a:t> </a:t>
            </a:r>
            <a:r>
              <a:rPr dirty="0" spc="125"/>
              <a:t>AND</a:t>
            </a:r>
            <a:r>
              <a:rPr dirty="0" spc="40"/>
              <a:t> </a:t>
            </a:r>
            <a:r>
              <a:rPr dirty="0" spc="-40"/>
              <a:t>DELETING</a:t>
            </a:r>
            <a:r>
              <a:rPr dirty="0" spc="10"/>
              <a:t> </a:t>
            </a:r>
            <a:r>
              <a:rPr dirty="0" spc="-20"/>
              <a:t>DATA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57469" y="5202179"/>
            <a:ext cx="631770" cy="60231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82396" y="3160776"/>
            <a:ext cx="7882255" cy="175577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 marR="2267585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learnSequelize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Todo.findByPk(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1</a:t>
            </a:r>
            <a:r>
              <a:rPr dirty="0" sz="1800" spc="-10">
                <a:latin typeface="Consolas"/>
                <a:cs typeface="Consolas"/>
              </a:rPr>
              <a:t>); </a:t>
            </a:r>
            <a:r>
              <a:rPr dirty="0" sz="1800">
                <a:latin typeface="Consolas"/>
                <a:cs typeface="Consolas"/>
              </a:rPr>
              <a:t>learnSequelize.setDataValue(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'done'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14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learnSequelize.save();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//updates</a:t>
            </a:r>
            <a:r>
              <a:rPr dirty="0" sz="1800" spc="-5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entity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on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db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5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learnExpress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Todo.findByPk(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2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learnExpress.destroy();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//deletes</a:t>
            </a:r>
            <a:r>
              <a:rPr dirty="0" sz="1800" spc="-5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entity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from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db</a:t>
            </a:r>
            <a:endParaRPr sz="1800">
              <a:latin typeface="Consolas"/>
              <a:cs typeface="Consolas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3427348" y="1565783"/>
          <a:ext cx="7958455" cy="13392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4385"/>
                <a:gridCol w="598805"/>
                <a:gridCol w="374014"/>
                <a:gridCol w="1960245"/>
                <a:gridCol w="2037715"/>
                <a:gridCol w="846454"/>
              </a:tblGrid>
              <a:tr h="334645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6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todo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6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done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6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createdAt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updatedAt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UserId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Learn</a:t>
                      </a:r>
                      <a:r>
                        <a:rPr dirty="0" sz="16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Sequelize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971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12-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09</a:t>
                      </a:r>
                      <a:r>
                        <a:rPr dirty="0" sz="1600" spc="7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10:03:50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12-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09</a:t>
                      </a:r>
                      <a:r>
                        <a:rPr dirty="0" sz="1600" spc="8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10:03:50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4E5F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Learn</a:t>
                      </a:r>
                      <a:r>
                        <a:rPr dirty="0" sz="1600" spc="-5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Express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971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12-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09</a:t>
                      </a:r>
                      <a:r>
                        <a:rPr dirty="0" sz="1600" spc="7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10:03:50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12-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09</a:t>
                      </a:r>
                      <a:r>
                        <a:rPr dirty="0" sz="1600" spc="8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10:03:50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solidFill>
                      <a:srgbClr val="006379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</a:t>
                      </a:r>
                      <a:r>
                        <a:rPr dirty="0" sz="16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6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time</a:t>
                      </a:r>
                      <a:r>
                        <a:rPr dirty="0" sz="16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warp</a:t>
                      </a:r>
                      <a:r>
                        <a:rPr dirty="0" sz="16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again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971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12-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09</a:t>
                      </a:r>
                      <a:r>
                        <a:rPr dirty="0" sz="1600" spc="7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10:03:50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12-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09</a:t>
                      </a:r>
                      <a:r>
                        <a:rPr dirty="0" sz="1600" spc="8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10:03:50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solidFill>
                      <a:srgbClr val="004E5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3427348" y="5292242"/>
          <a:ext cx="7958455" cy="10058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4385"/>
                <a:gridCol w="598805"/>
                <a:gridCol w="374014"/>
                <a:gridCol w="1960245"/>
                <a:gridCol w="2037715"/>
                <a:gridCol w="846454"/>
              </a:tblGrid>
              <a:tr h="33528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todo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done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createdAt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updatedAt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UserId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Learn</a:t>
                      </a:r>
                      <a:r>
                        <a:rPr dirty="0" sz="16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Sequelize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12-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09</a:t>
                      </a:r>
                      <a:r>
                        <a:rPr dirty="0" sz="1600" spc="7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10:03:50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12-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09</a:t>
                      </a:r>
                      <a:r>
                        <a:rPr dirty="0" sz="1600" spc="8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10:15:12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4E5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</a:t>
                      </a:r>
                      <a:r>
                        <a:rPr dirty="0" sz="16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6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time</a:t>
                      </a:r>
                      <a:r>
                        <a:rPr dirty="0" sz="16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warp</a:t>
                      </a:r>
                      <a:r>
                        <a:rPr dirty="0" sz="16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again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12-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09</a:t>
                      </a:r>
                      <a:r>
                        <a:rPr dirty="0" sz="1600" spc="7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10:03:50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12-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09</a:t>
                      </a:r>
                      <a:r>
                        <a:rPr dirty="0" sz="1600" spc="8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10:03:50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solidFill>
                      <a:srgbClr val="006379"/>
                    </a:solidFill>
                  </a:tcPr>
                </a:tc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11004" y="5153914"/>
            <a:ext cx="595376" cy="652665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5461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430"/>
              </a:spcBef>
              <a:buClr>
                <a:srgbClr val="FFFFFF"/>
              </a:buClr>
              <a:buFont typeface="Arial MT"/>
              <a:buChar char="•"/>
              <a:tabLst>
                <a:tab pos="240029" algn="l"/>
              </a:tabLst>
            </a:pPr>
            <a:r>
              <a:rPr dirty="0"/>
              <a:t>Steeper</a:t>
            </a:r>
            <a:r>
              <a:rPr dirty="0" spc="-70"/>
              <a:t> </a:t>
            </a:r>
            <a:r>
              <a:rPr dirty="0"/>
              <a:t>learning</a:t>
            </a:r>
            <a:r>
              <a:rPr dirty="0" spc="-55"/>
              <a:t> </a:t>
            </a:r>
            <a:r>
              <a:rPr dirty="0" spc="-20"/>
              <a:t>curve</a:t>
            </a:r>
          </a:p>
          <a:p>
            <a:pPr marL="240029" marR="64769" indent="-227329">
              <a:lnSpc>
                <a:spcPts val="269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pc="-10" b="1">
                <a:latin typeface="Calibri"/>
                <a:cs typeface="Calibri"/>
              </a:rPr>
              <a:t>Complexity</a:t>
            </a:r>
            <a:r>
              <a:rPr dirty="0" spc="-10"/>
              <a:t>:</a:t>
            </a:r>
            <a:r>
              <a:rPr dirty="0" spc="-50"/>
              <a:t> </a:t>
            </a:r>
            <a:r>
              <a:rPr dirty="0"/>
              <a:t>some</a:t>
            </a:r>
            <a:r>
              <a:rPr dirty="0" spc="-75"/>
              <a:t> </a:t>
            </a:r>
            <a:r>
              <a:rPr dirty="0" spc="-10"/>
              <a:t>operations </a:t>
            </a:r>
            <a:r>
              <a:rPr dirty="0" spc="-10"/>
              <a:t>	</a:t>
            </a:r>
            <a:r>
              <a:rPr dirty="0"/>
              <a:t>might</a:t>
            </a:r>
            <a:r>
              <a:rPr dirty="0" spc="-80"/>
              <a:t> </a:t>
            </a:r>
            <a:r>
              <a:rPr dirty="0"/>
              <a:t>be</a:t>
            </a:r>
            <a:r>
              <a:rPr dirty="0" spc="-85"/>
              <a:t> </a:t>
            </a:r>
            <a:r>
              <a:rPr dirty="0"/>
              <a:t>more</a:t>
            </a:r>
            <a:r>
              <a:rPr dirty="0" spc="-90"/>
              <a:t> </a:t>
            </a:r>
            <a:r>
              <a:rPr dirty="0"/>
              <a:t>complex</a:t>
            </a:r>
            <a:r>
              <a:rPr dirty="0" spc="-65"/>
              <a:t> </a:t>
            </a:r>
            <a:r>
              <a:rPr dirty="0"/>
              <a:t>with</a:t>
            </a:r>
            <a:r>
              <a:rPr dirty="0" spc="-90"/>
              <a:t> </a:t>
            </a:r>
            <a:r>
              <a:rPr dirty="0" spc="-25"/>
              <a:t>an 	ORM</a:t>
            </a:r>
          </a:p>
          <a:p>
            <a:pPr marL="240029" marR="443865" indent="-227329">
              <a:lnSpc>
                <a:spcPts val="269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pc="-10" b="1">
                <a:latin typeface="Calibri"/>
                <a:cs typeface="Calibri"/>
              </a:rPr>
              <a:t>Vendor</a:t>
            </a:r>
            <a:r>
              <a:rPr dirty="0" spc="-55" b="1">
                <a:latin typeface="Calibri"/>
                <a:cs typeface="Calibri"/>
              </a:rPr>
              <a:t> </a:t>
            </a:r>
            <a:r>
              <a:rPr dirty="0" spc="-20" b="1">
                <a:latin typeface="Calibri"/>
                <a:cs typeface="Calibri"/>
              </a:rPr>
              <a:t>Lock-</a:t>
            </a:r>
            <a:r>
              <a:rPr dirty="0" b="1">
                <a:latin typeface="Calibri"/>
                <a:cs typeface="Calibri"/>
              </a:rPr>
              <a:t>in</a:t>
            </a:r>
            <a:r>
              <a:rPr dirty="0"/>
              <a:t>:</a:t>
            </a:r>
            <a:r>
              <a:rPr dirty="0" spc="-40"/>
              <a:t> </a:t>
            </a:r>
            <a:r>
              <a:rPr dirty="0"/>
              <a:t>might</a:t>
            </a:r>
            <a:r>
              <a:rPr dirty="0" spc="-45"/>
              <a:t> </a:t>
            </a:r>
            <a:r>
              <a:rPr dirty="0" spc="-25"/>
              <a:t>be </a:t>
            </a:r>
            <a:r>
              <a:rPr dirty="0" spc="-25"/>
              <a:t>	</a:t>
            </a:r>
            <a:r>
              <a:rPr dirty="0"/>
              <a:t>difficult</a:t>
            </a:r>
            <a:r>
              <a:rPr dirty="0" spc="-95"/>
              <a:t> </a:t>
            </a:r>
            <a:r>
              <a:rPr dirty="0"/>
              <a:t>to</a:t>
            </a:r>
            <a:r>
              <a:rPr dirty="0" spc="-90"/>
              <a:t> </a:t>
            </a:r>
            <a:r>
              <a:rPr dirty="0"/>
              <a:t>switch</a:t>
            </a:r>
            <a:r>
              <a:rPr dirty="0" spc="-80"/>
              <a:t> </a:t>
            </a:r>
            <a:r>
              <a:rPr dirty="0"/>
              <a:t>to</a:t>
            </a:r>
            <a:r>
              <a:rPr dirty="0" spc="-75"/>
              <a:t> </a:t>
            </a:r>
            <a:r>
              <a:rPr dirty="0" spc="-10"/>
              <a:t>different </a:t>
            </a:r>
            <a:r>
              <a:rPr dirty="0" spc="-10"/>
              <a:t>	</a:t>
            </a:r>
            <a:r>
              <a:rPr dirty="0" spc="-20"/>
              <a:t>ORMs</a:t>
            </a:r>
          </a:p>
          <a:p>
            <a:pPr marL="240029" marR="5080" indent="-227329">
              <a:lnSpc>
                <a:spcPct val="8000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pc="-10" b="1">
                <a:latin typeface="Calibri"/>
                <a:cs typeface="Calibri"/>
              </a:rPr>
              <a:t>Performance</a:t>
            </a:r>
            <a:r>
              <a:rPr dirty="0" spc="-10"/>
              <a:t>:</a:t>
            </a:r>
            <a:r>
              <a:rPr dirty="0" spc="-85"/>
              <a:t> </a:t>
            </a:r>
            <a:r>
              <a:rPr dirty="0"/>
              <a:t>ORMs</a:t>
            </a:r>
            <a:r>
              <a:rPr dirty="0" spc="-80"/>
              <a:t> </a:t>
            </a:r>
            <a:r>
              <a:rPr dirty="0" spc="-10"/>
              <a:t>might </a:t>
            </a:r>
            <a:r>
              <a:rPr dirty="0" spc="-10"/>
              <a:t>	</a:t>
            </a:r>
            <a:r>
              <a:rPr dirty="0"/>
              <a:t>introduce</a:t>
            </a:r>
            <a:r>
              <a:rPr dirty="0" spc="-45"/>
              <a:t> </a:t>
            </a:r>
            <a:r>
              <a:rPr dirty="0"/>
              <a:t>an</a:t>
            </a:r>
            <a:r>
              <a:rPr dirty="0" spc="-85"/>
              <a:t> </a:t>
            </a:r>
            <a:r>
              <a:rPr dirty="0"/>
              <a:t>overhead</a:t>
            </a:r>
            <a:r>
              <a:rPr dirty="0" spc="-70"/>
              <a:t> </a:t>
            </a:r>
            <a:r>
              <a:rPr dirty="0"/>
              <a:t>for</a:t>
            </a:r>
            <a:r>
              <a:rPr dirty="0" spc="-80"/>
              <a:t> </a:t>
            </a:r>
            <a:r>
              <a:rPr dirty="0" spc="-20"/>
              <a:t>some </a:t>
            </a:r>
            <a:r>
              <a:rPr dirty="0" spc="-20"/>
              <a:t>	</a:t>
            </a:r>
            <a:r>
              <a:rPr dirty="0" spc="-10"/>
              <a:t>operations,</a:t>
            </a:r>
            <a:r>
              <a:rPr dirty="0" spc="-50"/>
              <a:t> </a:t>
            </a:r>
            <a:r>
              <a:rPr dirty="0"/>
              <a:t>especially</a:t>
            </a:r>
            <a:r>
              <a:rPr dirty="0" spc="-75"/>
              <a:t> </a:t>
            </a:r>
            <a:r>
              <a:rPr dirty="0" spc="-20"/>
              <a:t>when </a:t>
            </a:r>
            <a:r>
              <a:rPr dirty="0" spc="-20"/>
              <a:t>	</a:t>
            </a:r>
            <a:r>
              <a:rPr dirty="0"/>
              <a:t>used</a:t>
            </a:r>
            <a:r>
              <a:rPr dirty="0" spc="-45"/>
              <a:t> </a:t>
            </a:r>
            <a:r>
              <a:rPr dirty="0" spc="-10"/>
              <a:t>improperly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60325" rIns="0" bIns="0" rtlCol="0" vert="horz">
            <a:spAutoFit/>
          </a:bodyPr>
          <a:lstStyle/>
          <a:p>
            <a:pPr marL="240029" marR="8382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pc="-10" b="1">
                <a:latin typeface="Calibri"/>
                <a:cs typeface="Calibri"/>
              </a:rPr>
              <a:t>Abstraction</a:t>
            </a:r>
            <a:r>
              <a:rPr dirty="0" spc="-10"/>
              <a:t>:</a:t>
            </a:r>
            <a:r>
              <a:rPr dirty="0" spc="-80"/>
              <a:t> </a:t>
            </a:r>
            <a:r>
              <a:rPr dirty="0"/>
              <a:t>Work</a:t>
            </a:r>
            <a:r>
              <a:rPr dirty="0" spc="-95"/>
              <a:t> </a:t>
            </a:r>
            <a:r>
              <a:rPr dirty="0"/>
              <a:t>with</a:t>
            </a:r>
            <a:r>
              <a:rPr dirty="0" spc="-90"/>
              <a:t> </a:t>
            </a:r>
            <a:r>
              <a:rPr dirty="0" spc="-10"/>
              <a:t>objects </a:t>
            </a:r>
            <a:r>
              <a:rPr dirty="0" spc="-10"/>
              <a:t>	</a:t>
            </a:r>
            <a:r>
              <a:rPr dirty="0"/>
              <a:t>and</a:t>
            </a:r>
            <a:r>
              <a:rPr dirty="0" spc="-80"/>
              <a:t> </a:t>
            </a:r>
            <a:r>
              <a:rPr dirty="0"/>
              <a:t>models</a:t>
            </a:r>
            <a:r>
              <a:rPr dirty="0" spc="-65"/>
              <a:t> </a:t>
            </a:r>
            <a:r>
              <a:rPr dirty="0"/>
              <a:t>instead</a:t>
            </a:r>
            <a:r>
              <a:rPr dirty="0" spc="-50"/>
              <a:t> </a:t>
            </a:r>
            <a:r>
              <a:rPr dirty="0"/>
              <a:t>of</a:t>
            </a:r>
            <a:r>
              <a:rPr dirty="0" spc="-85"/>
              <a:t> </a:t>
            </a:r>
            <a:r>
              <a:rPr dirty="0" spc="-25"/>
              <a:t>SQL</a:t>
            </a:r>
          </a:p>
          <a:p>
            <a:pPr marL="240029" marR="240665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pc="-10" b="1">
                <a:latin typeface="Calibri"/>
                <a:cs typeface="Calibri"/>
              </a:rPr>
              <a:t>Productivity</a:t>
            </a:r>
            <a:r>
              <a:rPr dirty="0" spc="-10"/>
              <a:t>:</a:t>
            </a:r>
            <a:r>
              <a:rPr dirty="0" spc="-30"/>
              <a:t> </a:t>
            </a:r>
            <a:r>
              <a:rPr dirty="0"/>
              <a:t>less</a:t>
            </a:r>
            <a:r>
              <a:rPr dirty="0" spc="-45"/>
              <a:t> </a:t>
            </a:r>
            <a:r>
              <a:rPr dirty="0" spc="-10"/>
              <a:t>boilerplate </a:t>
            </a:r>
            <a:r>
              <a:rPr dirty="0" spc="-10"/>
              <a:t>	</a:t>
            </a:r>
            <a:r>
              <a:rPr dirty="0"/>
              <a:t>code,</a:t>
            </a:r>
            <a:r>
              <a:rPr dirty="0" spc="-95"/>
              <a:t> </a:t>
            </a:r>
            <a:r>
              <a:rPr dirty="0" spc="-10"/>
              <a:t>automated</a:t>
            </a:r>
            <a:r>
              <a:rPr dirty="0" spc="-100"/>
              <a:t> </a:t>
            </a:r>
            <a:r>
              <a:rPr dirty="0"/>
              <a:t>schema</a:t>
            </a:r>
            <a:r>
              <a:rPr dirty="0" spc="-85"/>
              <a:t> </a:t>
            </a:r>
            <a:r>
              <a:rPr dirty="0" spc="-20"/>
              <a:t>gen.</a:t>
            </a:r>
          </a:p>
          <a:p>
            <a:pPr marL="240029" marR="59055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pc="-10" b="1">
                <a:latin typeface="Calibri"/>
                <a:cs typeface="Calibri"/>
              </a:rPr>
              <a:t>Portability</a:t>
            </a:r>
            <a:r>
              <a:rPr dirty="0" spc="-10"/>
              <a:t>:</a:t>
            </a:r>
            <a:r>
              <a:rPr dirty="0" spc="-60"/>
              <a:t> </a:t>
            </a:r>
            <a:r>
              <a:rPr dirty="0"/>
              <a:t>easy</a:t>
            </a:r>
            <a:r>
              <a:rPr dirty="0" spc="-85"/>
              <a:t> </a:t>
            </a:r>
            <a:r>
              <a:rPr dirty="0"/>
              <a:t>to</a:t>
            </a:r>
            <a:r>
              <a:rPr dirty="0" spc="-85"/>
              <a:t> </a:t>
            </a:r>
            <a:r>
              <a:rPr dirty="0" spc="-10"/>
              <a:t>switch </a:t>
            </a:r>
            <a:r>
              <a:rPr dirty="0" spc="-10"/>
              <a:t>	</a:t>
            </a:r>
            <a:r>
              <a:rPr dirty="0"/>
              <a:t>between</a:t>
            </a:r>
            <a:r>
              <a:rPr dirty="0" spc="-145"/>
              <a:t> </a:t>
            </a:r>
            <a:r>
              <a:rPr dirty="0"/>
              <a:t>supported</a:t>
            </a:r>
            <a:r>
              <a:rPr dirty="0" spc="-110"/>
              <a:t> </a:t>
            </a:r>
            <a:r>
              <a:rPr dirty="0" spc="-10"/>
              <a:t>RDBMS</a:t>
            </a:r>
          </a:p>
          <a:p>
            <a:pPr marL="240029" marR="5080" indent="-227329">
              <a:lnSpc>
                <a:spcPct val="90000"/>
              </a:lnSpc>
              <a:spcBef>
                <a:spcPts val="9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pc="-10" b="1">
                <a:latin typeface="Calibri"/>
                <a:cs typeface="Calibri"/>
              </a:rPr>
              <a:t>Readability</a:t>
            </a:r>
            <a:r>
              <a:rPr dirty="0" spc="-40" b="1">
                <a:latin typeface="Calibri"/>
                <a:cs typeface="Calibri"/>
              </a:rPr>
              <a:t> 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 spc="-10" b="1">
                <a:latin typeface="Calibri"/>
                <a:cs typeface="Calibri"/>
              </a:rPr>
              <a:t>consistency</a:t>
            </a:r>
            <a:r>
              <a:rPr dirty="0" spc="-10"/>
              <a:t>: </a:t>
            </a:r>
            <a:r>
              <a:rPr dirty="0" spc="-10"/>
              <a:t>	</a:t>
            </a:r>
            <a:r>
              <a:rPr dirty="0"/>
              <a:t>more</a:t>
            </a:r>
            <a:r>
              <a:rPr dirty="0" spc="-75"/>
              <a:t> </a:t>
            </a:r>
            <a:r>
              <a:rPr dirty="0"/>
              <a:t>readable</a:t>
            </a:r>
            <a:r>
              <a:rPr dirty="0" spc="-60"/>
              <a:t> </a:t>
            </a:r>
            <a:r>
              <a:rPr dirty="0"/>
              <a:t>than</a:t>
            </a:r>
            <a:r>
              <a:rPr dirty="0" spc="-75"/>
              <a:t> </a:t>
            </a:r>
            <a:r>
              <a:rPr dirty="0"/>
              <a:t>raw</a:t>
            </a:r>
            <a:r>
              <a:rPr dirty="0" spc="-75"/>
              <a:t> </a:t>
            </a:r>
            <a:r>
              <a:rPr dirty="0" spc="-20"/>
              <a:t>SQL; </a:t>
            </a:r>
            <a:r>
              <a:rPr dirty="0" spc="-20"/>
              <a:t>	</a:t>
            </a:r>
            <a:r>
              <a:rPr dirty="0" spc="-10"/>
              <a:t>enforce</a:t>
            </a:r>
            <a:r>
              <a:rPr dirty="0" spc="-110"/>
              <a:t> </a:t>
            </a:r>
            <a:r>
              <a:rPr dirty="0"/>
              <a:t>specific</a:t>
            </a:r>
            <a:r>
              <a:rPr dirty="0" spc="-100"/>
              <a:t> </a:t>
            </a:r>
            <a:r>
              <a:rPr dirty="0"/>
              <a:t>coding</a:t>
            </a:r>
            <a:r>
              <a:rPr dirty="0" spc="-105"/>
              <a:t> </a:t>
            </a:r>
            <a:r>
              <a:rPr dirty="0" spc="-10"/>
              <a:t>patterns </a:t>
            </a:r>
            <a:r>
              <a:rPr dirty="0" spc="-10"/>
              <a:t>	</a:t>
            </a:r>
            <a:r>
              <a:rPr dirty="0"/>
              <a:t>and</a:t>
            </a:r>
            <a:r>
              <a:rPr dirty="0" spc="-50"/>
              <a:t> </a:t>
            </a:r>
            <a:r>
              <a:rPr dirty="0" spc="-10"/>
              <a:t>conventions.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62050" y="560908"/>
            <a:ext cx="2673985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ORM:</a:t>
            </a:r>
            <a:r>
              <a:rPr dirty="0" spc="70"/>
              <a:t> </a:t>
            </a:r>
            <a:r>
              <a:rPr dirty="0" spc="-45"/>
              <a:t>PROS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6251575" y="553034"/>
            <a:ext cx="136017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20" b="1">
                <a:solidFill>
                  <a:srgbClr val="FFFFFF"/>
                </a:solidFill>
                <a:latin typeface="Tahoma"/>
                <a:cs typeface="Tahoma"/>
              </a:rPr>
              <a:t>CONS</a:t>
            </a:r>
            <a:endParaRPr sz="3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3005708"/>
            <a:ext cx="990663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185"/>
              <a:t>STRUCTURE</a:t>
            </a:r>
            <a:r>
              <a:rPr dirty="0" sz="4800" spc="-20"/>
              <a:t> </a:t>
            </a:r>
            <a:r>
              <a:rPr dirty="0" sz="4800" spc="95"/>
              <a:t>OF</a:t>
            </a:r>
            <a:r>
              <a:rPr dirty="0" sz="4800" spc="-15"/>
              <a:t> </a:t>
            </a:r>
            <a:r>
              <a:rPr dirty="0" sz="4800" spc="275"/>
              <a:t>AN</a:t>
            </a:r>
            <a:r>
              <a:rPr dirty="0" sz="4800" spc="-35"/>
              <a:t> </a:t>
            </a:r>
            <a:r>
              <a:rPr dirty="0" sz="4800" spc="-190"/>
              <a:t>EXPRESS</a:t>
            </a:r>
            <a:r>
              <a:rPr dirty="0" sz="4800" spc="-15"/>
              <a:t> </a:t>
            </a:r>
            <a:r>
              <a:rPr dirty="0" sz="4800" spc="-25"/>
              <a:t>APP</a:t>
            </a:r>
            <a:endParaRPr sz="4800"/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5"/>
              <a:t>ORGANIZING</a:t>
            </a:r>
            <a:r>
              <a:rPr dirty="0" spc="-40"/>
              <a:t> </a:t>
            </a:r>
            <a:r>
              <a:rPr dirty="0" spc="204"/>
              <a:t>AN</a:t>
            </a:r>
            <a:r>
              <a:rPr dirty="0" spc="-35"/>
              <a:t> </a:t>
            </a:r>
            <a:r>
              <a:rPr dirty="0" spc="-150"/>
              <a:t>EXPRESS</a:t>
            </a:r>
            <a:r>
              <a:rPr dirty="0" spc="-35"/>
              <a:t> </a:t>
            </a:r>
            <a:r>
              <a:rPr dirty="0" spc="-50"/>
              <a:t>WEB</a:t>
            </a:r>
            <a:r>
              <a:rPr dirty="0" spc="-25"/>
              <a:t> APP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8412" rIns="0" bIns="0" rtlCol="0" vert="horz">
            <a:spAutoFit/>
          </a:bodyPr>
          <a:lstStyle/>
          <a:p>
            <a:pPr marL="240029" indent="-227329">
              <a:lnSpc>
                <a:spcPts val="3195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Express</a:t>
            </a:r>
            <a:r>
              <a:rPr dirty="0" spc="-40"/>
              <a:t> </a:t>
            </a:r>
            <a:r>
              <a:rPr dirty="0"/>
              <a:t>is</a:t>
            </a:r>
            <a:r>
              <a:rPr dirty="0" spc="-40"/>
              <a:t> </a:t>
            </a:r>
            <a:r>
              <a:rPr dirty="0" spc="-10"/>
              <a:t>unopinionated.</a:t>
            </a:r>
            <a:r>
              <a:rPr dirty="0"/>
              <a:t> As</a:t>
            </a:r>
            <a:r>
              <a:rPr dirty="0" spc="-30"/>
              <a:t> </a:t>
            </a:r>
            <a:r>
              <a:rPr dirty="0"/>
              <a:t>a</a:t>
            </a:r>
            <a:r>
              <a:rPr dirty="0" spc="-55"/>
              <a:t> </a:t>
            </a:r>
            <a:r>
              <a:rPr dirty="0" spc="-10"/>
              <a:t>consequence </a:t>
            </a:r>
            <a:r>
              <a:rPr dirty="0"/>
              <a:t>there</a:t>
            </a:r>
            <a:r>
              <a:rPr dirty="0" spc="-40"/>
              <a:t> </a:t>
            </a:r>
            <a:r>
              <a:rPr dirty="0"/>
              <a:t>is</a:t>
            </a:r>
            <a:r>
              <a:rPr dirty="0" spc="-40"/>
              <a:t> </a:t>
            </a:r>
            <a:r>
              <a:rPr dirty="0"/>
              <a:t>not</a:t>
            </a:r>
            <a:r>
              <a:rPr dirty="0" spc="-45"/>
              <a:t> </a:t>
            </a:r>
            <a:r>
              <a:rPr dirty="0"/>
              <a:t>a</a:t>
            </a:r>
            <a:r>
              <a:rPr dirty="0" spc="-55"/>
              <a:t> </a:t>
            </a:r>
            <a:r>
              <a:rPr dirty="0" spc="-10"/>
              <a:t>single</a:t>
            </a:r>
          </a:p>
          <a:p>
            <a:pPr marL="241300">
              <a:lnSpc>
                <a:spcPts val="3195"/>
              </a:lnSpc>
            </a:pPr>
            <a:r>
              <a:rPr dirty="0" b="1" i="1">
                <a:latin typeface="Calibri"/>
                <a:cs typeface="Calibri"/>
              </a:rPr>
              <a:t>right</a:t>
            </a:r>
            <a:r>
              <a:rPr dirty="0" spc="-60" b="1" i="1">
                <a:latin typeface="Calibri"/>
                <a:cs typeface="Calibri"/>
              </a:rPr>
              <a:t> </a:t>
            </a:r>
            <a:r>
              <a:rPr dirty="0"/>
              <a:t>way</a:t>
            </a:r>
            <a:r>
              <a:rPr dirty="0" spc="-85"/>
              <a:t> </a:t>
            </a:r>
            <a:r>
              <a:rPr dirty="0"/>
              <a:t>of</a:t>
            </a:r>
            <a:r>
              <a:rPr dirty="0" spc="-70"/>
              <a:t> </a:t>
            </a:r>
            <a:r>
              <a:rPr dirty="0"/>
              <a:t>organizing</a:t>
            </a:r>
            <a:r>
              <a:rPr dirty="0" spc="-80"/>
              <a:t> </a:t>
            </a:r>
            <a:r>
              <a:rPr dirty="0"/>
              <a:t>a</a:t>
            </a:r>
            <a:r>
              <a:rPr dirty="0" spc="-75"/>
              <a:t> </a:t>
            </a:r>
            <a:r>
              <a:rPr dirty="0"/>
              <a:t>web</a:t>
            </a:r>
            <a:r>
              <a:rPr dirty="0" spc="-70"/>
              <a:t> </a:t>
            </a:r>
            <a:r>
              <a:rPr dirty="0" spc="-25"/>
              <a:t>app</a:t>
            </a: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In</a:t>
            </a:r>
            <a:r>
              <a:rPr dirty="0" spc="-65"/>
              <a:t> </a:t>
            </a:r>
            <a:r>
              <a:rPr dirty="0"/>
              <a:t>the</a:t>
            </a:r>
            <a:r>
              <a:rPr dirty="0" spc="-50"/>
              <a:t> </a:t>
            </a:r>
            <a:r>
              <a:rPr dirty="0"/>
              <a:t>Web</a:t>
            </a:r>
            <a:r>
              <a:rPr dirty="0" spc="-40"/>
              <a:t> </a:t>
            </a:r>
            <a:r>
              <a:rPr dirty="0" spc="-25"/>
              <a:t>Technologies</a:t>
            </a:r>
            <a:r>
              <a:rPr dirty="0" spc="-50"/>
              <a:t> </a:t>
            </a:r>
            <a:r>
              <a:rPr dirty="0"/>
              <a:t>course</a:t>
            </a:r>
            <a:r>
              <a:rPr dirty="0" spc="-50"/>
              <a:t> </a:t>
            </a:r>
            <a:r>
              <a:rPr dirty="0"/>
              <a:t>we’ll</a:t>
            </a:r>
            <a:r>
              <a:rPr dirty="0" spc="-60"/>
              <a:t> </a:t>
            </a:r>
            <a:r>
              <a:rPr dirty="0"/>
              <a:t>try</a:t>
            </a:r>
            <a:r>
              <a:rPr dirty="0" spc="-45"/>
              <a:t> </a:t>
            </a:r>
            <a:r>
              <a:rPr dirty="0"/>
              <a:t>our</a:t>
            </a:r>
            <a:r>
              <a:rPr dirty="0" spc="-55"/>
              <a:t> </a:t>
            </a:r>
            <a:r>
              <a:rPr dirty="0"/>
              <a:t>hand</a:t>
            </a:r>
            <a:r>
              <a:rPr dirty="0" spc="-30"/>
              <a:t> </a:t>
            </a:r>
            <a:r>
              <a:rPr dirty="0"/>
              <a:t>at</a:t>
            </a:r>
            <a:r>
              <a:rPr dirty="0" spc="-70"/>
              <a:t> </a:t>
            </a:r>
            <a:r>
              <a:rPr dirty="0"/>
              <a:t>an</a:t>
            </a:r>
            <a:r>
              <a:rPr dirty="0" spc="-45"/>
              <a:t> </a:t>
            </a:r>
            <a:r>
              <a:rPr dirty="0" spc="-10"/>
              <a:t>organization</a:t>
            </a:r>
          </a:p>
          <a:p>
            <a:pPr lvl="1" marL="696595" indent="-227329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It’s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carved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stone!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Feel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free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think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about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improve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it!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5"/>
              <a:t>ORGANIZING</a:t>
            </a:r>
            <a:r>
              <a:rPr dirty="0" spc="-40"/>
              <a:t> </a:t>
            </a:r>
            <a:r>
              <a:rPr dirty="0" spc="204"/>
              <a:t>AN</a:t>
            </a:r>
            <a:r>
              <a:rPr dirty="0" spc="-35"/>
              <a:t> </a:t>
            </a:r>
            <a:r>
              <a:rPr dirty="0" spc="-150"/>
              <a:t>EXPRESS</a:t>
            </a:r>
            <a:r>
              <a:rPr dirty="0" spc="-35"/>
              <a:t> </a:t>
            </a:r>
            <a:r>
              <a:rPr dirty="0" spc="-50"/>
              <a:t>WEB</a:t>
            </a:r>
            <a:r>
              <a:rPr dirty="0" spc="-25"/>
              <a:t> APP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556508" y="1446872"/>
            <a:ext cx="7406005" cy="463105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views</a:t>
            </a:r>
            <a:r>
              <a:rPr dirty="0" sz="2800" spc="-12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contains</a:t>
            </a:r>
            <a:r>
              <a:rPr dirty="0" sz="2800" spc="-114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templates</a:t>
            </a:r>
            <a:endParaRPr sz="2800">
              <a:latin typeface="Calibri"/>
              <a:cs typeface="Calibri"/>
            </a:endParaRPr>
          </a:p>
          <a:p>
            <a:pPr marL="240029" marR="46990" indent="-227965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733425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routes</a:t>
            </a:r>
            <a:r>
              <a:rPr dirty="0" sz="2800" spc="-9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contains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definition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Routers.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is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responsible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1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directing</a:t>
            </a:r>
            <a:r>
              <a:rPr dirty="0" sz="2800" spc="-1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requests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1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appropriate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controller</a:t>
            </a:r>
            <a:endParaRPr sz="2800">
              <a:latin typeface="Calibri"/>
              <a:cs typeface="Calibri"/>
            </a:endParaRPr>
          </a:p>
          <a:p>
            <a:pPr marL="240029" marR="100965" indent="-227965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733425" algn="l"/>
              </a:tabLst>
            </a:pP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controllers</a:t>
            </a:r>
            <a:r>
              <a:rPr dirty="0" sz="28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contains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implementing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business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logic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handling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requests</a:t>
            </a:r>
            <a:endParaRPr sz="2800">
              <a:latin typeface="Calibri"/>
              <a:cs typeface="Calibri"/>
            </a:endParaRPr>
          </a:p>
          <a:p>
            <a:pPr marL="240029" marR="455295" indent="-227965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733425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models</a:t>
            </a:r>
            <a:r>
              <a:rPr dirty="0" sz="2800" spc="-8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contains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definition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models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and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database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connections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middleware</a:t>
            </a:r>
            <a:r>
              <a:rPr dirty="0" sz="2800" spc="-12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contains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custom</a:t>
            </a:r>
            <a:r>
              <a:rPr dirty="0" sz="2800" spc="-1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middleware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public</a:t>
            </a:r>
            <a:r>
              <a:rPr dirty="0" sz="28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contains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static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files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organized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directories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872871" y="1555622"/>
            <a:ext cx="2497455" cy="4631055"/>
            <a:chOff x="872871" y="1555622"/>
            <a:chExt cx="2497455" cy="463105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396" y="1565147"/>
              <a:ext cx="2478024" cy="461162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877633" y="1560385"/>
              <a:ext cx="2487930" cy="4621530"/>
            </a:xfrm>
            <a:custGeom>
              <a:avLst/>
              <a:gdLst/>
              <a:ahLst/>
              <a:cxnLst/>
              <a:rect l="l" t="t" r="r" b="b"/>
              <a:pathLst>
                <a:path w="2487929" h="4621530">
                  <a:moveTo>
                    <a:pt x="0" y="4621149"/>
                  </a:moveTo>
                  <a:lnTo>
                    <a:pt x="2487549" y="4621149"/>
                  </a:lnTo>
                  <a:lnTo>
                    <a:pt x="2487549" y="0"/>
                  </a:lnTo>
                  <a:lnTo>
                    <a:pt x="0" y="0"/>
                  </a:lnTo>
                  <a:lnTo>
                    <a:pt x="0" y="4621149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3005708"/>
            <a:ext cx="835977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70"/>
              <a:t>WEB</a:t>
            </a:r>
            <a:r>
              <a:rPr dirty="0" sz="4800" spc="-135"/>
              <a:t> </a:t>
            </a:r>
            <a:r>
              <a:rPr dirty="0" sz="4800"/>
              <a:t>APP</a:t>
            </a:r>
            <a:r>
              <a:rPr dirty="0" sz="4800" spc="-150"/>
              <a:t> </a:t>
            </a:r>
            <a:r>
              <a:rPr dirty="0" sz="4800" spc="-10"/>
              <a:t>CONFIGURATION</a:t>
            </a:r>
            <a:endParaRPr sz="4800"/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WEB</a:t>
            </a:r>
            <a:r>
              <a:rPr dirty="0" spc="-110"/>
              <a:t> </a:t>
            </a:r>
            <a:r>
              <a:rPr dirty="0"/>
              <a:t>APP</a:t>
            </a:r>
            <a:r>
              <a:rPr dirty="0" spc="-85"/>
              <a:t> </a:t>
            </a:r>
            <a:r>
              <a:rPr dirty="0" spc="-10"/>
              <a:t>CONFIGURATION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267950" cy="448119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 marR="396240">
              <a:lnSpc>
                <a:spcPts val="3030"/>
              </a:lnSpc>
              <a:spcBef>
                <a:spcPts val="47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often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depend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sensitive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information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environment-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specific</a:t>
            </a:r>
            <a:r>
              <a:rPr dirty="0" sz="2800" spc="-9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settings</a:t>
            </a:r>
            <a:endParaRPr sz="2800">
              <a:latin typeface="Calibri"/>
              <a:cs typeface="Calibri"/>
            </a:endParaRPr>
          </a:p>
          <a:p>
            <a:pPr marL="696595" indent="-227329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Sensitive:</a:t>
            </a:r>
            <a:r>
              <a:rPr dirty="0" sz="24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API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keys,</a:t>
            </a:r>
            <a:r>
              <a:rPr dirty="0" sz="24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database</a:t>
            </a:r>
            <a:r>
              <a:rPr dirty="0" sz="24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passwords,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AWS</a:t>
            </a:r>
            <a:r>
              <a:rPr dirty="0" sz="24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credentials</a:t>
            </a:r>
            <a:endParaRPr sz="2400">
              <a:latin typeface="Calibri"/>
              <a:cs typeface="Calibri"/>
            </a:endParaRPr>
          </a:p>
          <a:p>
            <a:pPr marL="696595" marR="5080" indent="-227329">
              <a:lnSpc>
                <a:spcPts val="2590"/>
              </a:lnSpc>
              <a:spcBef>
                <a:spcPts val="540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 spc="-20" b="1">
                <a:solidFill>
                  <a:srgbClr val="111F35"/>
                </a:solidFill>
                <a:latin typeface="Calibri"/>
                <a:cs typeface="Calibri"/>
              </a:rPr>
              <a:t>Environment-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specific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: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URL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production/development/staging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database,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logging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levels,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etc…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Hard-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coding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these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settings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good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practice!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4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safe</a:t>
            </a:r>
            <a:r>
              <a:rPr dirty="0" sz="24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version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public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repository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Might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need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change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multiple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files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change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these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settings</a:t>
            </a:r>
            <a:endParaRPr sz="2400">
              <a:latin typeface="Calibri"/>
              <a:cs typeface="Calibri"/>
            </a:endParaRPr>
          </a:p>
          <a:p>
            <a:pPr lvl="1" marL="696595" marR="1009015" indent="-227329">
              <a:lnSpc>
                <a:spcPts val="2590"/>
              </a:lnSpc>
              <a:spcBef>
                <a:spcPts val="54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Leads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different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«versions»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(e.g.: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development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vs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production),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which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all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need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updated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maintained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separately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These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should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stored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dedicated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configuration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file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78058" y="3772702"/>
            <a:ext cx="228777" cy="228777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9686276" y="3700132"/>
            <a:ext cx="2336165" cy="118046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Biagio</a:t>
            </a:r>
            <a:r>
              <a:rPr dirty="0" sz="800" spc="-3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Morgillo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2024-05-</a:t>
            </a:r>
            <a:r>
              <a:rPr dirty="0" sz="800" i="1">
                <a:latin typeface="Arial"/>
                <a:cs typeface="Arial"/>
              </a:rPr>
              <a:t>10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14:01:54</a:t>
            </a:r>
            <a:endParaRPr sz="800">
              <a:latin typeface="Arial"/>
              <a:cs typeface="Arial"/>
            </a:endParaRPr>
          </a:p>
          <a:p>
            <a:pPr marL="25400" marR="1778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Arial MT"/>
                <a:cs typeface="Arial MT"/>
              </a:rPr>
              <a:t>-------------------------------------------</a:t>
            </a:r>
            <a:r>
              <a:rPr dirty="0" sz="1000" spc="-50">
                <a:latin typeface="Arial MT"/>
                <a:cs typeface="Arial MT"/>
              </a:rPr>
              <a:t>- </a:t>
            </a:r>
            <a:r>
              <a:rPr dirty="0" sz="1000">
                <a:latin typeface="Arial MT"/>
                <a:cs typeface="Arial MT"/>
              </a:rPr>
              <a:t>SCONSIGLIATO PER SCRIVERE </a:t>
            </a:r>
            <a:r>
              <a:rPr dirty="0" sz="1000" spc="-25">
                <a:latin typeface="Arial MT"/>
                <a:cs typeface="Arial MT"/>
              </a:rPr>
              <a:t>IL </a:t>
            </a:r>
            <a:r>
              <a:rPr dirty="0" sz="1000" spc="-10">
                <a:latin typeface="Arial MT"/>
                <a:cs typeface="Arial MT"/>
              </a:rPr>
              <a:t>PROGETTO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CONFIGURATION</a:t>
            </a:r>
            <a:r>
              <a:rPr dirty="0" spc="65"/>
              <a:t> </a:t>
            </a:r>
            <a:r>
              <a:rPr dirty="0" spc="-180"/>
              <a:t>FILES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066020" cy="4034154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300355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Configuration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files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should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single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point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where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these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settings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changed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They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should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versioned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(i.e.: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put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‘em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.gitignore</a:t>
            </a: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file)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3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dummy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version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versioned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instead,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each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modify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include</a:t>
            </a:r>
            <a:r>
              <a:rPr dirty="0" sz="2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own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settings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way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manage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settings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.env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project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root</a:t>
            </a:r>
            <a:endParaRPr sz="2800">
              <a:latin typeface="Calibri"/>
              <a:cs typeface="Calibri"/>
            </a:endParaRPr>
          </a:p>
          <a:p>
            <a:pPr marL="240029" marR="371475" indent="-227329">
              <a:lnSpc>
                <a:spcPts val="303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Node.js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packages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such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 b="1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dotenv</a:t>
            </a:r>
            <a:r>
              <a:rPr dirty="0" sz="2800" spc="-60" b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read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.env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file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make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contents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available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(e.g.: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global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process.env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object)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88682" y="1551622"/>
            <a:ext cx="6089650" cy="4640580"/>
            <a:chOff x="888682" y="1551622"/>
            <a:chExt cx="6089650" cy="4640580"/>
          </a:xfrm>
        </p:grpSpPr>
        <p:sp>
          <p:nvSpPr>
            <p:cNvPr id="3" name="object 3" descr=""/>
            <p:cNvSpPr/>
            <p:nvPr/>
          </p:nvSpPr>
          <p:spPr>
            <a:xfrm>
              <a:off x="902969" y="1565910"/>
              <a:ext cx="6061075" cy="4612005"/>
            </a:xfrm>
            <a:custGeom>
              <a:avLst/>
              <a:gdLst/>
              <a:ahLst/>
              <a:cxnLst/>
              <a:rect l="l" t="t" r="r" b="b"/>
              <a:pathLst>
                <a:path w="6061075" h="4612005">
                  <a:moveTo>
                    <a:pt x="6060948" y="0"/>
                  </a:moveTo>
                  <a:lnTo>
                    <a:pt x="0" y="0"/>
                  </a:lnTo>
                  <a:lnTo>
                    <a:pt x="0" y="4611624"/>
                  </a:lnTo>
                  <a:lnTo>
                    <a:pt x="6060948" y="4611624"/>
                  </a:lnTo>
                  <a:lnTo>
                    <a:pt x="6060948" y="0"/>
                  </a:lnTo>
                  <a:close/>
                </a:path>
              </a:pathLst>
            </a:custGeom>
            <a:solidFill>
              <a:srgbClr val="D70031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902969" y="1565910"/>
              <a:ext cx="6061075" cy="4612005"/>
            </a:xfrm>
            <a:custGeom>
              <a:avLst/>
              <a:gdLst/>
              <a:ahLst/>
              <a:cxnLst/>
              <a:rect l="l" t="t" r="r" b="b"/>
              <a:pathLst>
                <a:path w="6061075" h="4612005">
                  <a:moveTo>
                    <a:pt x="0" y="4611624"/>
                  </a:moveTo>
                  <a:lnTo>
                    <a:pt x="6060948" y="4611624"/>
                  </a:lnTo>
                  <a:lnTo>
                    <a:pt x="6060948" y="0"/>
                  </a:lnTo>
                  <a:lnTo>
                    <a:pt x="0" y="0"/>
                  </a:lnTo>
                  <a:lnTo>
                    <a:pt x="0" y="4611624"/>
                  </a:lnTo>
                  <a:close/>
                </a:path>
              </a:pathLst>
            </a:custGeom>
            <a:ln w="28575">
              <a:solidFill>
                <a:srgbClr val="6C0018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980947" y="1583816"/>
            <a:ext cx="13792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1800" spc="-10" b="1">
                <a:solidFill>
                  <a:srgbClr val="111F35"/>
                </a:solidFill>
                <a:latin typeface="Calibri"/>
                <a:cs typeface="Calibri"/>
              </a:rPr>
              <a:t> Versioned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8158162" y="1551622"/>
            <a:ext cx="3166745" cy="4640580"/>
            <a:chOff x="8158162" y="1551622"/>
            <a:chExt cx="3166745" cy="4640580"/>
          </a:xfrm>
        </p:grpSpPr>
        <p:sp>
          <p:nvSpPr>
            <p:cNvPr id="7" name="object 7" descr=""/>
            <p:cNvSpPr/>
            <p:nvPr/>
          </p:nvSpPr>
          <p:spPr>
            <a:xfrm>
              <a:off x="8172450" y="1565910"/>
              <a:ext cx="3138170" cy="4612005"/>
            </a:xfrm>
            <a:custGeom>
              <a:avLst/>
              <a:gdLst/>
              <a:ahLst/>
              <a:cxnLst/>
              <a:rect l="l" t="t" r="r" b="b"/>
              <a:pathLst>
                <a:path w="3138170" h="4612005">
                  <a:moveTo>
                    <a:pt x="3137916" y="0"/>
                  </a:moveTo>
                  <a:lnTo>
                    <a:pt x="0" y="0"/>
                  </a:lnTo>
                  <a:lnTo>
                    <a:pt x="0" y="4611624"/>
                  </a:lnTo>
                  <a:lnTo>
                    <a:pt x="3137916" y="4611624"/>
                  </a:lnTo>
                  <a:lnTo>
                    <a:pt x="3137916" y="0"/>
                  </a:lnTo>
                  <a:close/>
                </a:path>
              </a:pathLst>
            </a:custGeom>
            <a:solidFill>
              <a:srgbClr val="006379">
                <a:alpha val="3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8172450" y="1565910"/>
              <a:ext cx="3138170" cy="4612005"/>
            </a:xfrm>
            <a:custGeom>
              <a:avLst/>
              <a:gdLst/>
              <a:ahLst/>
              <a:cxnLst/>
              <a:rect l="l" t="t" r="r" b="b"/>
              <a:pathLst>
                <a:path w="3138170" h="4612005">
                  <a:moveTo>
                    <a:pt x="0" y="4611624"/>
                  </a:moveTo>
                  <a:lnTo>
                    <a:pt x="3137916" y="4611624"/>
                  </a:lnTo>
                  <a:lnTo>
                    <a:pt x="3137916" y="0"/>
                  </a:lnTo>
                  <a:lnTo>
                    <a:pt x="0" y="0"/>
                  </a:lnTo>
                  <a:lnTo>
                    <a:pt x="0" y="4611624"/>
                  </a:lnTo>
                  <a:close/>
                </a:path>
              </a:pathLst>
            </a:custGeom>
            <a:ln w="28575">
              <a:solidFill>
                <a:srgbClr val="00252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8251063" y="1583816"/>
            <a:ext cx="97281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111F35"/>
                </a:solidFill>
                <a:latin typeface="Calibri"/>
                <a:cs typeface="Calibri"/>
              </a:rPr>
              <a:t>Versioned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WEB</a:t>
            </a:r>
            <a:r>
              <a:rPr dirty="0" spc="-110"/>
              <a:t> </a:t>
            </a:r>
            <a:r>
              <a:rPr dirty="0"/>
              <a:t>APP</a:t>
            </a:r>
            <a:r>
              <a:rPr dirty="0" spc="-85"/>
              <a:t> </a:t>
            </a:r>
            <a:r>
              <a:rPr dirty="0" spc="-10"/>
              <a:t>CONFIGURATION</a:t>
            </a:r>
          </a:p>
        </p:txBody>
      </p:sp>
      <p:grpSp>
        <p:nvGrpSpPr>
          <p:cNvPr id="11" name="object 11" descr=""/>
          <p:cNvGrpSpPr/>
          <p:nvPr/>
        </p:nvGrpSpPr>
        <p:grpSpPr>
          <a:xfrm>
            <a:off x="2686557" y="2035810"/>
            <a:ext cx="2872105" cy="1767205"/>
            <a:chOff x="2686557" y="2035810"/>
            <a:chExt cx="2872105" cy="1767205"/>
          </a:xfrm>
        </p:grpSpPr>
        <p:sp>
          <p:nvSpPr>
            <p:cNvPr id="12" name="object 12" descr=""/>
            <p:cNvSpPr/>
            <p:nvPr/>
          </p:nvSpPr>
          <p:spPr>
            <a:xfrm>
              <a:off x="2692907" y="2081784"/>
              <a:ext cx="2859405" cy="1714500"/>
            </a:xfrm>
            <a:custGeom>
              <a:avLst/>
              <a:gdLst/>
              <a:ahLst/>
              <a:cxnLst/>
              <a:rect l="l" t="t" r="r" b="b"/>
              <a:pathLst>
                <a:path w="2859404" h="1714500">
                  <a:moveTo>
                    <a:pt x="0" y="1714499"/>
                  </a:moveTo>
                  <a:lnTo>
                    <a:pt x="2859023" y="1714499"/>
                  </a:lnTo>
                  <a:lnTo>
                    <a:pt x="2859023" y="0"/>
                  </a:lnTo>
                  <a:lnTo>
                    <a:pt x="0" y="0"/>
                  </a:lnTo>
                  <a:lnTo>
                    <a:pt x="0" y="1714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692907" y="2042160"/>
              <a:ext cx="2859405" cy="1754505"/>
            </a:xfrm>
            <a:custGeom>
              <a:avLst/>
              <a:gdLst/>
              <a:ahLst/>
              <a:cxnLst/>
              <a:rect l="l" t="t" r="r" b="b"/>
              <a:pathLst>
                <a:path w="2859404" h="1754504">
                  <a:moveTo>
                    <a:pt x="0" y="1754124"/>
                  </a:moveTo>
                  <a:lnTo>
                    <a:pt x="2859023" y="1754124"/>
                  </a:lnTo>
                  <a:lnTo>
                    <a:pt x="2859023" y="0"/>
                  </a:lnTo>
                  <a:lnTo>
                    <a:pt x="0" y="0"/>
                  </a:lnTo>
                  <a:lnTo>
                    <a:pt x="0" y="1754124"/>
                  </a:lnTo>
                  <a:close/>
                </a:path>
              </a:pathLst>
            </a:custGeom>
            <a:ln w="12700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2772282" y="2061209"/>
            <a:ext cx="253238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DB_USER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"postgres"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DB_PASS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"7$cX&amp;.;£"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772282" y="2610103"/>
            <a:ext cx="265811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DB_HOST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"123.4.5.6"</a:t>
            </a:r>
            <a:endParaRPr sz="1800">
              <a:latin typeface="Consolas"/>
              <a:cs typeface="Consolas"/>
            </a:endParaRPr>
          </a:p>
          <a:p>
            <a:pPr marL="12700" marR="13081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DB_PORT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"5432"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DB_NAME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"db"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API_KEY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"i8%&amp;787d"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692907" y="1712976"/>
            <a:ext cx="2859405" cy="368935"/>
          </a:xfrm>
          <a:prstGeom prst="rect">
            <a:avLst/>
          </a:prstGeom>
          <a:solidFill>
            <a:srgbClr val="006379"/>
          </a:solidFill>
          <a:ln w="12700">
            <a:solidFill>
              <a:srgbClr val="00252F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 b="1">
                <a:solidFill>
                  <a:srgbClr val="FFFFFF"/>
                </a:solidFill>
                <a:latin typeface="Consolas"/>
                <a:cs typeface="Consolas"/>
              </a:rPr>
              <a:t>.env</a:t>
            </a:r>
            <a:r>
              <a:rPr dirty="0" sz="1800" spc="-30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20" b="1">
                <a:solidFill>
                  <a:srgbClr val="FFFFFF"/>
                </a:solidFill>
                <a:latin typeface="Calibri"/>
                <a:cs typeface="Calibri"/>
              </a:rPr>
              <a:t>FILE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17" name="object 17" descr=""/>
          <p:cNvGraphicFramePr>
            <a:graphicFrameLocks noGrp="1"/>
          </p:cNvGraphicFramePr>
          <p:nvPr/>
        </p:nvGraphicFramePr>
        <p:xfrm>
          <a:off x="1005586" y="3936238"/>
          <a:ext cx="2946400" cy="2081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1875"/>
                <a:gridCol w="250825"/>
                <a:gridCol w="1575435"/>
              </a:tblGrid>
              <a:tr h="370205">
                <a:tc gridSpan="3"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.env.production</a:t>
                      </a:r>
                      <a:r>
                        <a:rPr dirty="0" sz="1800" spc="-90" b="1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lnL w="12700">
                      <a:solidFill>
                        <a:srgbClr val="00252F"/>
                      </a:solidFill>
                      <a:prstDash val="solid"/>
                    </a:lnL>
                    <a:lnR w="12700">
                      <a:solidFill>
                        <a:srgbClr val="00252F"/>
                      </a:solidFill>
                      <a:prstDash val="solid"/>
                    </a:lnR>
                    <a:lnT w="12700">
                      <a:solidFill>
                        <a:srgbClr val="00252F"/>
                      </a:solidFill>
                      <a:prstDash val="solid"/>
                    </a:lnT>
                    <a:lnB w="12700">
                      <a:solidFill>
                        <a:srgbClr val="00252F"/>
                      </a:solidFill>
                      <a:prstDash val="solid"/>
                    </a:lnB>
                    <a:solidFill>
                      <a:srgbClr val="00637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01625">
                <a:tc>
                  <a:txBody>
                    <a:bodyPr/>
                    <a:lstStyle/>
                    <a:p>
                      <a:pPr algn="ctr" marL="27940">
                        <a:lnSpc>
                          <a:spcPts val="2095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DB_USER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lnT w="12700">
                      <a:solidFill>
                        <a:srgbClr val="00252F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5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=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T w="12700">
                      <a:solidFill>
                        <a:srgbClr val="00252F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2095"/>
                        </a:lnSpc>
                      </a:pP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"postgres"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R w="12700">
                      <a:solidFill>
                        <a:srgbClr val="111F35"/>
                      </a:solidFill>
                      <a:prstDash val="solid"/>
                    </a:lnR>
                    <a:lnT w="12700">
                      <a:solidFill>
                        <a:srgbClr val="00252F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algn="ctr" marL="27940">
                        <a:lnSpc>
                          <a:spcPts val="1875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DB_PASS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=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75"/>
                        </a:lnSpc>
                      </a:pP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"7$cX&amp;.;£"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R w="12700">
                      <a:solidFill>
                        <a:srgbClr val="111F35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marL="28575">
                        <a:lnSpc>
                          <a:spcPts val="1880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DB_HOST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=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80"/>
                        </a:lnSpc>
                      </a:pP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"123.4.5.6"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R w="12700">
                      <a:solidFill>
                        <a:srgbClr val="111F35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marL="27940">
                        <a:lnSpc>
                          <a:spcPts val="1880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DB_PORT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=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80"/>
                        </a:lnSpc>
                      </a:pP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"5432"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R w="12700">
                      <a:solidFill>
                        <a:srgbClr val="111F35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marL="27940">
                        <a:lnSpc>
                          <a:spcPts val="1875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DB_NAME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=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75"/>
                        </a:lnSpc>
                      </a:pPr>
                      <a:r>
                        <a:rPr dirty="0" sz="1800" spc="-2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"db"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R w="12700">
                      <a:solidFill>
                        <a:srgbClr val="111F35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313055">
                <a:tc>
                  <a:txBody>
                    <a:bodyPr/>
                    <a:lstStyle/>
                    <a:p>
                      <a:pPr algn="ctr" marL="27940">
                        <a:lnSpc>
                          <a:spcPts val="1875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API_KEY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lnB w="12700">
                      <a:solidFill>
                        <a:srgbClr val="111F3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=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B w="12700">
                      <a:solidFill>
                        <a:srgbClr val="111F3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75"/>
                        </a:lnSpc>
                      </a:pP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"i8%&amp;787d"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R w="12700">
                      <a:solidFill>
                        <a:srgbClr val="111F35"/>
                      </a:solidFill>
                      <a:prstDash val="solid"/>
                    </a:lnR>
                    <a:lnB w="12700">
                      <a:solidFill>
                        <a:srgbClr val="111F3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object 18" descr=""/>
          <p:cNvGraphicFramePr>
            <a:graphicFrameLocks noGrp="1"/>
          </p:cNvGraphicFramePr>
          <p:nvPr/>
        </p:nvGraphicFramePr>
        <p:xfrm>
          <a:off x="3992626" y="3936238"/>
          <a:ext cx="2946400" cy="2081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3470"/>
                <a:gridCol w="127634"/>
                <a:gridCol w="1637030"/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.env.dev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3020">
                    <a:lnL w="12700">
                      <a:solidFill>
                        <a:srgbClr val="00252F"/>
                      </a:solidFill>
                      <a:prstDash val="solid"/>
                    </a:lnL>
                    <a:lnT w="12700">
                      <a:solidFill>
                        <a:srgbClr val="00252F"/>
                      </a:solidFill>
                      <a:prstDash val="solid"/>
                    </a:lnT>
                    <a:lnB w="12700">
                      <a:solidFill>
                        <a:srgbClr val="00252F"/>
                      </a:solidFill>
                      <a:prstDash val="solid"/>
                    </a:lnB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252F"/>
                      </a:solidFill>
                      <a:prstDash val="solid"/>
                    </a:lnT>
                    <a:lnB w="12700">
                      <a:solidFill>
                        <a:srgbClr val="00252F"/>
                      </a:solidFill>
                      <a:prstDash val="solid"/>
                    </a:lnB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8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lnR w="12700">
                      <a:solidFill>
                        <a:srgbClr val="00252F"/>
                      </a:solidFill>
                      <a:prstDash val="solid"/>
                    </a:lnR>
                    <a:lnT w="12700">
                      <a:solidFill>
                        <a:srgbClr val="00252F"/>
                      </a:solidFill>
                      <a:prstDash val="solid"/>
                    </a:lnT>
                    <a:lnB w="12700">
                      <a:solidFill>
                        <a:srgbClr val="00252F"/>
                      </a:solidFill>
                      <a:prstDash val="solid"/>
                    </a:lnB>
                    <a:solidFill>
                      <a:srgbClr val="006379"/>
                    </a:solidFill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marL="91440">
                        <a:lnSpc>
                          <a:spcPts val="2095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DB_USER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lnT w="12700">
                      <a:solidFill>
                        <a:srgbClr val="00252F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2095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=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T w="12700">
                      <a:solidFill>
                        <a:srgbClr val="00252F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2095"/>
                        </a:lnSpc>
                      </a:pP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"dev"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R w="12700">
                      <a:solidFill>
                        <a:srgbClr val="111F35"/>
                      </a:solidFill>
                      <a:prstDash val="solid"/>
                    </a:lnR>
                    <a:lnT w="12700">
                      <a:solidFill>
                        <a:srgbClr val="00252F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91440">
                        <a:lnSpc>
                          <a:spcPts val="1875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DB_PASS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875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=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875"/>
                        </a:lnSpc>
                      </a:pP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"d3v370p"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R w="12700">
                      <a:solidFill>
                        <a:srgbClr val="111F35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91440">
                        <a:lnSpc>
                          <a:spcPts val="1880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DB_HOST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88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=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880"/>
                        </a:lnSpc>
                      </a:pP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"123.4.5.7"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R w="12700">
                      <a:solidFill>
                        <a:srgbClr val="111F35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91440">
                        <a:lnSpc>
                          <a:spcPts val="1880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DB_PORT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88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=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880"/>
                        </a:lnSpc>
                      </a:pP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"5432"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R w="12700">
                      <a:solidFill>
                        <a:srgbClr val="111F35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91440">
                        <a:lnSpc>
                          <a:spcPts val="1875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DB_NAME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875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=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875"/>
                        </a:lnSpc>
                      </a:pP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"dbdev"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R w="12700">
                      <a:solidFill>
                        <a:srgbClr val="111F35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313055">
                <a:tc>
                  <a:txBody>
                    <a:bodyPr/>
                    <a:lstStyle/>
                    <a:p>
                      <a:pPr marL="91440">
                        <a:lnSpc>
                          <a:spcPts val="1875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API_KEY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lnB w="12700">
                      <a:solidFill>
                        <a:srgbClr val="111F3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875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=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B w="12700">
                      <a:solidFill>
                        <a:srgbClr val="111F3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875"/>
                        </a:lnSpc>
                      </a:pP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"i8%&amp;787d"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R w="12700">
                      <a:solidFill>
                        <a:srgbClr val="111F35"/>
                      </a:solidFill>
                      <a:prstDash val="solid"/>
                    </a:lnR>
                    <a:lnB w="12700">
                      <a:solidFill>
                        <a:srgbClr val="111F3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object 19" descr=""/>
          <p:cNvSpPr/>
          <p:nvPr/>
        </p:nvSpPr>
        <p:spPr>
          <a:xfrm>
            <a:off x="8311895" y="3927347"/>
            <a:ext cx="2857500" cy="368935"/>
          </a:xfrm>
          <a:custGeom>
            <a:avLst/>
            <a:gdLst/>
            <a:ahLst/>
            <a:cxnLst/>
            <a:rect l="l" t="t" r="r" b="b"/>
            <a:pathLst>
              <a:path w="2857500" h="368935">
                <a:moveTo>
                  <a:pt x="2857500" y="0"/>
                </a:moveTo>
                <a:lnTo>
                  <a:pt x="0" y="0"/>
                </a:lnTo>
                <a:lnTo>
                  <a:pt x="0" y="368807"/>
                </a:lnTo>
                <a:lnTo>
                  <a:pt x="2857500" y="368807"/>
                </a:lnTo>
                <a:lnTo>
                  <a:pt x="2857500" y="0"/>
                </a:lnTo>
                <a:close/>
              </a:path>
            </a:pathLst>
          </a:custGeom>
          <a:solidFill>
            <a:srgbClr val="006379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0" name="object 20" descr=""/>
          <p:cNvGraphicFramePr>
            <a:graphicFrameLocks noGrp="1"/>
          </p:cNvGraphicFramePr>
          <p:nvPr/>
        </p:nvGraphicFramePr>
        <p:xfrm>
          <a:off x="8305545" y="3920997"/>
          <a:ext cx="2946400" cy="20815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2510"/>
                <a:gridCol w="311150"/>
                <a:gridCol w="1513205"/>
              </a:tblGrid>
              <a:tr h="368300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.env.dummy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00252F"/>
                      </a:solidFill>
                      <a:prstDash val="solid"/>
                    </a:lnL>
                    <a:lnT w="12700">
                      <a:solidFill>
                        <a:srgbClr val="00252F"/>
                      </a:solidFill>
                      <a:prstDash val="solid"/>
                    </a:lnT>
                    <a:lnB w="12700">
                      <a:solidFill>
                        <a:srgbClr val="00252F"/>
                      </a:solidFill>
                      <a:prstDash val="solid"/>
                    </a:lnB>
                    <a:solidFill>
                      <a:srgbClr val="00637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2384">
                    <a:lnR w="12700">
                      <a:solidFill>
                        <a:srgbClr val="00252F"/>
                      </a:solidFill>
                      <a:prstDash val="solid"/>
                    </a:lnR>
                    <a:lnT w="12700">
                      <a:solidFill>
                        <a:srgbClr val="00252F"/>
                      </a:solidFill>
                      <a:prstDash val="solid"/>
                    </a:lnT>
                    <a:lnB w="12700">
                      <a:solidFill>
                        <a:srgbClr val="00252F"/>
                      </a:solidFill>
                      <a:prstDash val="solid"/>
                    </a:lnB>
                    <a:solidFill>
                      <a:srgbClr val="006379"/>
                    </a:solidFill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algn="ctr" marL="29209">
                        <a:lnSpc>
                          <a:spcPts val="2100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DB_USER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lnT w="12700">
                      <a:solidFill>
                        <a:srgbClr val="00252F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2705">
                        <a:lnSpc>
                          <a:spcPts val="210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=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T w="12700">
                      <a:solidFill>
                        <a:srgbClr val="00252F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2100"/>
                        </a:lnSpc>
                      </a:pP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"USER"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R w="12700">
                      <a:solidFill>
                        <a:srgbClr val="111F35"/>
                      </a:solidFill>
                      <a:prstDash val="solid"/>
                    </a:lnR>
                    <a:lnT w="12700">
                      <a:solidFill>
                        <a:srgbClr val="00252F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marL="29209">
                        <a:lnSpc>
                          <a:spcPts val="1880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DB_PASS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2069">
                        <a:lnSpc>
                          <a:spcPts val="188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=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880"/>
                        </a:lnSpc>
                      </a:pP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"PASS"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R w="12700">
                      <a:solidFill>
                        <a:srgbClr val="111F35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marL="29209">
                        <a:lnSpc>
                          <a:spcPts val="1880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DB_HOST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2705">
                        <a:lnSpc>
                          <a:spcPts val="188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=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880"/>
                        </a:lnSpc>
                      </a:pP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"???"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R w="12700">
                      <a:solidFill>
                        <a:srgbClr val="111F35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marL="29209">
                        <a:lnSpc>
                          <a:spcPts val="1875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DB_PORT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2705">
                        <a:lnSpc>
                          <a:spcPts val="1875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=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875"/>
                        </a:lnSpc>
                      </a:pP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"5432"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R w="12700">
                      <a:solidFill>
                        <a:srgbClr val="111F35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marL="29209">
                        <a:lnSpc>
                          <a:spcPts val="1875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DB_NAME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2705">
                        <a:lnSpc>
                          <a:spcPts val="1875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=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875"/>
                        </a:lnSpc>
                      </a:pP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"NAME"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R w="12700">
                      <a:solidFill>
                        <a:srgbClr val="111F35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algn="ctr" marL="29209">
                        <a:lnSpc>
                          <a:spcPts val="1875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API_KEY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lnB w="12700">
                      <a:solidFill>
                        <a:srgbClr val="111F3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2705">
                        <a:lnSpc>
                          <a:spcPts val="1875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=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B w="12700">
                      <a:solidFill>
                        <a:srgbClr val="111F3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875"/>
                        </a:lnSpc>
                      </a:pP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"YOUR_KEY"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R w="12700">
                      <a:solidFill>
                        <a:srgbClr val="111F35"/>
                      </a:solidFill>
                      <a:prstDash val="solid"/>
                    </a:lnR>
                    <a:lnB w="12700">
                      <a:solidFill>
                        <a:srgbClr val="111F3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object 21" descr=""/>
          <p:cNvSpPr/>
          <p:nvPr/>
        </p:nvSpPr>
        <p:spPr>
          <a:xfrm>
            <a:off x="8310371" y="2843783"/>
            <a:ext cx="2859405" cy="923925"/>
          </a:xfrm>
          <a:custGeom>
            <a:avLst/>
            <a:gdLst/>
            <a:ahLst/>
            <a:cxnLst/>
            <a:rect l="l" t="t" r="r" b="b"/>
            <a:pathLst>
              <a:path w="2859404" h="923925">
                <a:moveTo>
                  <a:pt x="0" y="923544"/>
                </a:moveTo>
                <a:lnTo>
                  <a:pt x="2859024" y="923544"/>
                </a:lnTo>
                <a:lnTo>
                  <a:pt x="2859024" y="0"/>
                </a:lnTo>
                <a:lnTo>
                  <a:pt x="0" y="0"/>
                </a:lnTo>
                <a:lnTo>
                  <a:pt x="0" y="923544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8310371" y="2884932"/>
            <a:ext cx="2859405" cy="88265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92710">
              <a:lnSpc>
                <a:spcPts val="2100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Rename</a:t>
            </a:r>
            <a:r>
              <a:rPr dirty="0" sz="1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11F35"/>
                </a:solidFill>
                <a:latin typeface="Consolas"/>
                <a:cs typeface="Consolas"/>
              </a:rPr>
              <a:t>.env.dummy</a:t>
            </a:r>
            <a:r>
              <a:rPr dirty="0" sz="1800" spc="-550" b="1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endParaRPr sz="1800">
              <a:latin typeface="Calibri"/>
              <a:cs typeface="Calibri"/>
            </a:endParaRPr>
          </a:p>
          <a:p>
            <a:pPr marL="92710" marR="93980">
              <a:lnSpc>
                <a:spcPts val="2150"/>
              </a:lnSpc>
              <a:spcBef>
                <a:spcPts val="80"/>
              </a:spcBef>
            </a:pPr>
            <a:r>
              <a:rPr dirty="0" sz="1800" spc="-10" b="1">
                <a:solidFill>
                  <a:srgbClr val="111F35"/>
                </a:solidFill>
                <a:latin typeface="Consolas"/>
                <a:cs typeface="Consolas"/>
              </a:rPr>
              <a:t>.env</a:t>
            </a:r>
            <a:r>
              <a:rPr dirty="0" sz="1800" spc="-565" b="1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1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change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its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content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according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1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your</a:t>
            </a:r>
            <a:r>
              <a:rPr dirty="0" sz="1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needs.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8310371" y="2516123"/>
            <a:ext cx="2859405" cy="368935"/>
          </a:xfrm>
          <a:custGeom>
            <a:avLst/>
            <a:gdLst/>
            <a:ahLst/>
            <a:cxnLst/>
            <a:rect l="l" t="t" r="r" b="b"/>
            <a:pathLst>
              <a:path w="2859404" h="368935">
                <a:moveTo>
                  <a:pt x="2859024" y="0"/>
                </a:moveTo>
                <a:lnTo>
                  <a:pt x="0" y="0"/>
                </a:lnTo>
                <a:lnTo>
                  <a:pt x="0" y="368808"/>
                </a:lnTo>
                <a:lnTo>
                  <a:pt x="2859024" y="368808"/>
                </a:lnTo>
                <a:lnTo>
                  <a:pt x="2859024" y="0"/>
                </a:lnTo>
                <a:close/>
              </a:path>
            </a:pathLst>
          </a:custGeom>
          <a:solidFill>
            <a:srgbClr val="006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8310371" y="2516123"/>
            <a:ext cx="2859405" cy="368935"/>
          </a:xfrm>
          <a:prstGeom prst="rect">
            <a:avLst/>
          </a:prstGeom>
          <a:ln w="12700">
            <a:solidFill>
              <a:srgbClr val="00252F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254"/>
              </a:spcBef>
            </a:pPr>
            <a:r>
              <a:rPr dirty="0" sz="1800" b="1">
                <a:solidFill>
                  <a:srgbClr val="FFFFFF"/>
                </a:solidFill>
                <a:latin typeface="Consolas"/>
                <a:cs typeface="Consolas"/>
              </a:rPr>
              <a:t>README.MD</a:t>
            </a:r>
            <a:r>
              <a:rPr dirty="0" sz="1800" spc="-60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20" b="1">
                <a:solidFill>
                  <a:srgbClr val="FFFFFF"/>
                </a:solidFill>
                <a:latin typeface="Calibri"/>
                <a:cs typeface="Calibri"/>
              </a:rPr>
              <a:t>FILE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5832094" y="1706626"/>
            <a:ext cx="2050414" cy="927100"/>
            <a:chOff x="5832094" y="1706626"/>
            <a:chExt cx="2050414" cy="927100"/>
          </a:xfrm>
        </p:grpSpPr>
        <p:sp>
          <p:nvSpPr>
            <p:cNvPr id="26" name="object 26" descr=""/>
            <p:cNvSpPr/>
            <p:nvPr/>
          </p:nvSpPr>
          <p:spPr>
            <a:xfrm>
              <a:off x="5838444" y="1712976"/>
              <a:ext cx="2037714" cy="914400"/>
            </a:xfrm>
            <a:custGeom>
              <a:avLst/>
              <a:gdLst/>
              <a:ahLst/>
              <a:cxnLst/>
              <a:rect l="l" t="t" r="r" b="b"/>
              <a:pathLst>
                <a:path w="2037715" h="914400">
                  <a:moveTo>
                    <a:pt x="2037588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037588" y="914400"/>
                  </a:lnTo>
                  <a:lnTo>
                    <a:pt x="2037588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838444" y="1712976"/>
              <a:ext cx="2037714" cy="914400"/>
            </a:xfrm>
            <a:custGeom>
              <a:avLst/>
              <a:gdLst/>
              <a:ahLst/>
              <a:cxnLst/>
              <a:rect l="l" t="t" r="r" b="b"/>
              <a:pathLst>
                <a:path w="2037715" h="914400">
                  <a:moveTo>
                    <a:pt x="0" y="914400"/>
                  </a:moveTo>
                  <a:lnTo>
                    <a:pt x="2037588" y="914400"/>
                  </a:lnTo>
                  <a:lnTo>
                    <a:pt x="2037588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5961379" y="1867865"/>
            <a:ext cx="1793239" cy="576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App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reads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Consolas"/>
                <a:cs typeface="Consolas"/>
              </a:rPr>
              <a:t>.env</a:t>
            </a:r>
            <a:r>
              <a:rPr dirty="0" sz="1800" spc="-56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file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5551423" y="2624708"/>
            <a:ext cx="1344295" cy="402590"/>
          </a:xfrm>
          <a:custGeom>
            <a:avLst/>
            <a:gdLst/>
            <a:ahLst/>
            <a:cxnLst/>
            <a:rect l="l" t="t" r="r" b="b"/>
            <a:pathLst>
              <a:path w="1344295" h="402589">
                <a:moveTo>
                  <a:pt x="225678" y="173736"/>
                </a:moveTo>
                <a:lnTo>
                  <a:pt x="0" y="293750"/>
                </a:lnTo>
                <a:lnTo>
                  <a:pt x="231393" y="402208"/>
                </a:lnTo>
                <a:lnTo>
                  <a:pt x="229513" y="327025"/>
                </a:lnTo>
                <a:lnTo>
                  <a:pt x="191642" y="327025"/>
                </a:lnTo>
                <a:lnTo>
                  <a:pt x="189229" y="250825"/>
                </a:lnTo>
                <a:lnTo>
                  <a:pt x="227578" y="249685"/>
                </a:lnTo>
                <a:lnTo>
                  <a:pt x="225752" y="176656"/>
                </a:lnTo>
                <a:lnTo>
                  <a:pt x="225678" y="173736"/>
                </a:lnTo>
                <a:close/>
              </a:path>
              <a:path w="1344295" h="402589">
                <a:moveTo>
                  <a:pt x="227578" y="249685"/>
                </a:moveTo>
                <a:lnTo>
                  <a:pt x="189229" y="250825"/>
                </a:lnTo>
                <a:lnTo>
                  <a:pt x="191478" y="321817"/>
                </a:lnTo>
                <a:lnTo>
                  <a:pt x="191590" y="325374"/>
                </a:lnTo>
                <a:lnTo>
                  <a:pt x="191642" y="327025"/>
                </a:lnTo>
                <a:lnTo>
                  <a:pt x="229484" y="325864"/>
                </a:lnTo>
                <a:lnTo>
                  <a:pt x="227607" y="250825"/>
                </a:lnTo>
                <a:lnTo>
                  <a:pt x="227578" y="249685"/>
                </a:lnTo>
                <a:close/>
              </a:path>
              <a:path w="1344295" h="402589">
                <a:moveTo>
                  <a:pt x="229484" y="325864"/>
                </a:moveTo>
                <a:lnTo>
                  <a:pt x="191642" y="327025"/>
                </a:lnTo>
                <a:lnTo>
                  <a:pt x="229513" y="327025"/>
                </a:lnTo>
                <a:lnTo>
                  <a:pt x="229484" y="325864"/>
                </a:lnTo>
                <a:close/>
              </a:path>
              <a:path w="1344295" h="402589">
                <a:moveTo>
                  <a:pt x="368486" y="240841"/>
                </a:moveTo>
                <a:lnTo>
                  <a:pt x="300913" y="245775"/>
                </a:lnTo>
                <a:lnTo>
                  <a:pt x="241572" y="249299"/>
                </a:lnTo>
                <a:lnTo>
                  <a:pt x="239028" y="249299"/>
                </a:lnTo>
                <a:lnTo>
                  <a:pt x="227578" y="249685"/>
                </a:lnTo>
                <a:lnTo>
                  <a:pt x="229275" y="317500"/>
                </a:lnTo>
                <a:lnTo>
                  <a:pt x="229383" y="321817"/>
                </a:lnTo>
                <a:lnTo>
                  <a:pt x="229484" y="325864"/>
                </a:lnTo>
                <a:lnTo>
                  <a:pt x="306324" y="321817"/>
                </a:lnTo>
                <a:lnTo>
                  <a:pt x="366140" y="317500"/>
                </a:lnTo>
                <a:lnTo>
                  <a:pt x="425323" y="312419"/>
                </a:lnTo>
                <a:lnTo>
                  <a:pt x="483742" y="306704"/>
                </a:lnTo>
                <a:lnTo>
                  <a:pt x="541147" y="300481"/>
                </a:lnTo>
                <a:lnTo>
                  <a:pt x="652526" y="285876"/>
                </a:lnTo>
                <a:lnTo>
                  <a:pt x="706501" y="277749"/>
                </a:lnTo>
                <a:lnTo>
                  <a:pt x="758951" y="269113"/>
                </a:lnTo>
                <a:lnTo>
                  <a:pt x="809751" y="259968"/>
                </a:lnTo>
                <a:lnTo>
                  <a:pt x="859027" y="250189"/>
                </a:lnTo>
                <a:lnTo>
                  <a:pt x="899446" y="241521"/>
                </a:lnTo>
                <a:lnTo>
                  <a:pt x="360433" y="241521"/>
                </a:lnTo>
                <a:lnTo>
                  <a:pt x="368486" y="240841"/>
                </a:lnTo>
                <a:close/>
              </a:path>
              <a:path w="1344295" h="402589">
                <a:moveTo>
                  <a:pt x="300991" y="245775"/>
                </a:moveTo>
                <a:lnTo>
                  <a:pt x="300576" y="245775"/>
                </a:lnTo>
                <a:lnTo>
                  <a:pt x="298728" y="245909"/>
                </a:lnTo>
                <a:lnTo>
                  <a:pt x="300991" y="245775"/>
                </a:lnTo>
                <a:close/>
              </a:path>
              <a:path w="1344295" h="402589">
                <a:moveTo>
                  <a:pt x="594022" y="217019"/>
                </a:moveTo>
                <a:lnTo>
                  <a:pt x="531944" y="224843"/>
                </a:lnTo>
                <a:lnTo>
                  <a:pt x="418149" y="236643"/>
                </a:lnTo>
                <a:lnTo>
                  <a:pt x="360433" y="241521"/>
                </a:lnTo>
                <a:lnTo>
                  <a:pt x="899446" y="241521"/>
                </a:lnTo>
                <a:lnTo>
                  <a:pt x="906399" y="240029"/>
                </a:lnTo>
                <a:lnTo>
                  <a:pt x="952119" y="229488"/>
                </a:lnTo>
                <a:lnTo>
                  <a:pt x="995806" y="218439"/>
                </a:lnTo>
                <a:lnTo>
                  <a:pt x="997841" y="217878"/>
                </a:lnTo>
                <a:lnTo>
                  <a:pt x="587766" y="217878"/>
                </a:lnTo>
                <a:lnTo>
                  <a:pt x="594022" y="217019"/>
                </a:lnTo>
                <a:close/>
              </a:path>
              <a:path w="1344295" h="402589">
                <a:moveTo>
                  <a:pt x="418214" y="236643"/>
                </a:moveTo>
                <a:lnTo>
                  <a:pt x="417779" y="236643"/>
                </a:lnTo>
                <a:lnTo>
                  <a:pt x="415205" y="236897"/>
                </a:lnTo>
                <a:lnTo>
                  <a:pt x="418214" y="236643"/>
                </a:lnTo>
                <a:close/>
              </a:path>
              <a:path w="1344295" h="402589">
                <a:moveTo>
                  <a:pt x="475745" y="230923"/>
                </a:moveTo>
                <a:lnTo>
                  <a:pt x="475395" y="230923"/>
                </a:lnTo>
                <a:lnTo>
                  <a:pt x="470981" y="231397"/>
                </a:lnTo>
                <a:lnTo>
                  <a:pt x="475745" y="230923"/>
                </a:lnTo>
                <a:close/>
              </a:path>
              <a:path w="1344295" h="402589">
                <a:moveTo>
                  <a:pt x="532008" y="224843"/>
                </a:moveTo>
                <a:lnTo>
                  <a:pt x="531572" y="224843"/>
                </a:lnTo>
                <a:lnTo>
                  <a:pt x="528819" y="225188"/>
                </a:lnTo>
                <a:lnTo>
                  <a:pt x="532008" y="224843"/>
                </a:lnTo>
                <a:close/>
              </a:path>
              <a:path w="1344295" h="402589">
                <a:moveTo>
                  <a:pt x="644967" y="210034"/>
                </a:moveTo>
                <a:lnTo>
                  <a:pt x="587766" y="217878"/>
                </a:lnTo>
                <a:lnTo>
                  <a:pt x="997841" y="217878"/>
                </a:lnTo>
                <a:lnTo>
                  <a:pt x="1024532" y="210509"/>
                </a:lnTo>
                <a:lnTo>
                  <a:pt x="641846" y="210509"/>
                </a:lnTo>
                <a:lnTo>
                  <a:pt x="644967" y="210034"/>
                </a:lnTo>
                <a:close/>
              </a:path>
              <a:path w="1344295" h="402589">
                <a:moveTo>
                  <a:pt x="697661" y="202007"/>
                </a:moveTo>
                <a:lnTo>
                  <a:pt x="641846" y="210509"/>
                </a:lnTo>
                <a:lnTo>
                  <a:pt x="1024532" y="210509"/>
                </a:lnTo>
                <a:lnTo>
                  <a:pt x="1037208" y="207010"/>
                </a:lnTo>
                <a:lnTo>
                  <a:pt x="1052740" y="202516"/>
                </a:lnTo>
                <a:lnTo>
                  <a:pt x="694600" y="202516"/>
                </a:lnTo>
                <a:lnTo>
                  <a:pt x="697661" y="202007"/>
                </a:lnTo>
                <a:close/>
              </a:path>
              <a:path w="1344295" h="402589">
                <a:moveTo>
                  <a:pt x="976631" y="144694"/>
                </a:moveTo>
                <a:lnTo>
                  <a:pt x="935861" y="155027"/>
                </a:lnTo>
                <a:lnTo>
                  <a:pt x="889631" y="165717"/>
                </a:lnTo>
                <a:lnTo>
                  <a:pt x="843400" y="175640"/>
                </a:lnTo>
                <a:lnTo>
                  <a:pt x="795200" y="185165"/>
                </a:lnTo>
                <a:lnTo>
                  <a:pt x="747191" y="193773"/>
                </a:lnTo>
                <a:lnTo>
                  <a:pt x="694600" y="202516"/>
                </a:lnTo>
                <a:lnTo>
                  <a:pt x="1052740" y="202516"/>
                </a:lnTo>
                <a:lnTo>
                  <a:pt x="1095502" y="189102"/>
                </a:lnTo>
                <a:lnTo>
                  <a:pt x="1148460" y="170433"/>
                </a:lnTo>
                <a:lnTo>
                  <a:pt x="1195958" y="150749"/>
                </a:lnTo>
                <a:lnTo>
                  <a:pt x="1208637" y="144905"/>
                </a:lnTo>
                <a:lnTo>
                  <a:pt x="975999" y="144905"/>
                </a:lnTo>
                <a:lnTo>
                  <a:pt x="976631" y="144694"/>
                </a:lnTo>
                <a:close/>
              </a:path>
              <a:path w="1344295" h="402589">
                <a:moveTo>
                  <a:pt x="978847" y="144125"/>
                </a:moveTo>
                <a:lnTo>
                  <a:pt x="976631" y="144694"/>
                </a:lnTo>
                <a:lnTo>
                  <a:pt x="975999" y="144905"/>
                </a:lnTo>
                <a:lnTo>
                  <a:pt x="978847" y="144125"/>
                </a:lnTo>
                <a:close/>
              </a:path>
              <a:path w="1344295" h="402589">
                <a:moveTo>
                  <a:pt x="1340527" y="28448"/>
                </a:moveTo>
                <a:lnTo>
                  <a:pt x="1251711" y="28448"/>
                </a:lnTo>
                <a:lnTo>
                  <a:pt x="1250130" y="29844"/>
                </a:lnTo>
                <a:lnTo>
                  <a:pt x="1245616" y="33908"/>
                </a:lnTo>
                <a:lnTo>
                  <a:pt x="1240780" y="37718"/>
                </a:lnTo>
                <a:lnTo>
                  <a:pt x="1238630" y="39496"/>
                </a:lnTo>
                <a:lnTo>
                  <a:pt x="1230706" y="45141"/>
                </a:lnTo>
                <a:lnTo>
                  <a:pt x="1229379" y="46130"/>
                </a:lnTo>
                <a:lnTo>
                  <a:pt x="1228991" y="46363"/>
                </a:lnTo>
                <a:lnTo>
                  <a:pt x="1221906" y="51112"/>
                </a:lnTo>
                <a:lnTo>
                  <a:pt x="1220801" y="51713"/>
                </a:lnTo>
                <a:lnTo>
                  <a:pt x="1212391" y="56919"/>
                </a:lnTo>
                <a:lnTo>
                  <a:pt x="1211677" y="57327"/>
                </a:lnTo>
                <a:lnTo>
                  <a:pt x="1211104" y="57716"/>
                </a:lnTo>
                <a:lnTo>
                  <a:pt x="1210500" y="58038"/>
                </a:lnTo>
                <a:lnTo>
                  <a:pt x="1201955" y="62843"/>
                </a:lnTo>
                <a:lnTo>
                  <a:pt x="1190208" y="69020"/>
                </a:lnTo>
                <a:lnTo>
                  <a:pt x="1189378" y="69516"/>
                </a:lnTo>
                <a:lnTo>
                  <a:pt x="1187973" y="70195"/>
                </a:lnTo>
                <a:lnTo>
                  <a:pt x="1178078" y="75111"/>
                </a:lnTo>
                <a:lnTo>
                  <a:pt x="1177123" y="75485"/>
                </a:lnTo>
                <a:lnTo>
                  <a:pt x="1163962" y="81576"/>
                </a:lnTo>
                <a:lnTo>
                  <a:pt x="1152417" y="86643"/>
                </a:lnTo>
                <a:lnTo>
                  <a:pt x="1104769" y="105346"/>
                </a:lnTo>
                <a:lnTo>
                  <a:pt x="1053587" y="122546"/>
                </a:lnTo>
                <a:lnTo>
                  <a:pt x="1035665" y="128079"/>
                </a:lnTo>
                <a:lnTo>
                  <a:pt x="1035065" y="128323"/>
                </a:lnTo>
                <a:lnTo>
                  <a:pt x="1016746" y="133677"/>
                </a:lnTo>
                <a:lnTo>
                  <a:pt x="1016139" y="133901"/>
                </a:lnTo>
                <a:lnTo>
                  <a:pt x="975999" y="144905"/>
                </a:lnTo>
                <a:lnTo>
                  <a:pt x="1208637" y="144905"/>
                </a:lnTo>
                <a:lnTo>
                  <a:pt x="1210331" y="144125"/>
                </a:lnTo>
                <a:lnTo>
                  <a:pt x="1250187" y="123062"/>
                </a:lnTo>
                <a:lnTo>
                  <a:pt x="1283970" y="100711"/>
                </a:lnTo>
                <a:lnTo>
                  <a:pt x="1319276" y="67437"/>
                </a:lnTo>
                <a:lnTo>
                  <a:pt x="1337436" y="37718"/>
                </a:lnTo>
                <a:lnTo>
                  <a:pt x="1340527" y="28448"/>
                </a:lnTo>
                <a:close/>
              </a:path>
              <a:path w="1344295" h="402589">
                <a:moveTo>
                  <a:pt x="1016746" y="133677"/>
                </a:moveTo>
                <a:lnTo>
                  <a:pt x="1013520" y="134619"/>
                </a:lnTo>
                <a:lnTo>
                  <a:pt x="1016139" y="133901"/>
                </a:lnTo>
                <a:lnTo>
                  <a:pt x="1016746" y="133677"/>
                </a:lnTo>
                <a:close/>
              </a:path>
              <a:path w="1344295" h="402589">
                <a:moveTo>
                  <a:pt x="1035665" y="128079"/>
                </a:moveTo>
                <a:lnTo>
                  <a:pt x="1031505" y="129364"/>
                </a:lnTo>
                <a:lnTo>
                  <a:pt x="1035065" y="128323"/>
                </a:lnTo>
                <a:lnTo>
                  <a:pt x="1035665" y="128079"/>
                </a:lnTo>
                <a:close/>
              </a:path>
              <a:path w="1344295" h="402589">
                <a:moveTo>
                  <a:pt x="1180159" y="74081"/>
                </a:moveTo>
                <a:lnTo>
                  <a:pt x="1177126" y="75485"/>
                </a:lnTo>
                <a:lnTo>
                  <a:pt x="1178078" y="75111"/>
                </a:lnTo>
                <a:lnTo>
                  <a:pt x="1180159" y="74081"/>
                </a:lnTo>
                <a:close/>
              </a:path>
              <a:path w="1344295" h="402589">
                <a:moveTo>
                  <a:pt x="1223409" y="50110"/>
                </a:moveTo>
                <a:lnTo>
                  <a:pt x="1220801" y="51713"/>
                </a:lnTo>
                <a:lnTo>
                  <a:pt x="1221906" y="51112"/>
                </a:lnTo>
                <a:lnTo>
                  <a:pt x="1223409" y="50110"/>
                </a:lnTo>
                <a:close/>
              </a:path>
              <a:path w="1344295" h="402589">
                <a:moveTo>
                  <a:pt x="1342909" y="18414"/>
                </a:moveTo>
                <a:lnTo>
                  <a:pt x="1260982" y="18414"/>
                </a:lnTo>
                <a:lnTo>
                  <a:pt x="1256919" y="23113"/>
                </a:lnTo>
                <a:lnTo>
                  <a:pt x="1256719" y="23313"/>
                </a:lnTo>
                <a:lnTo>
                  <a:pt x="1255014" y="25273"/>
                </a:lnTo>
                <a:lnTo>
                  <a:pt x="1254759" y="25273"/>
                </a:lnTo>
                <a:lnTo>
                  <a:pt x="1250623" y="29409"/>
                </a:lnTo>
                <a:lnTo>
                  <a:pt x="1251711" y="28448"/>
                </a:lnTo>
                <a:lnTo>
                  <a:pt x="1340527" y="28448"/>
                </a:lnTo>
                <a:lnTo>
                  <a:pt x="1341247" y="26288"/>
                </a:lnTo>
                <a:lnTo>
                  <a:pt x="1341461" y="25273"/>
                </a:lnTo>
                <a:lnTo>
                  <a:pt x="1255014" y="25273"/>
                </a:lnTo>
                <a:lnTo>
                  <a:pt x="1256742" y="23313"/>
                </a:lnTo>
                <a:lnTo>
                  <a:pt x="1341875" y="23313"/>
                </a:lnTo>
                <a:lnTo>
                  <a:pt x="1342909" y="18414"/>
                </a:lnTo>
                <a:close/>
              </a:path>
              <a:path w="1344295" h="402589">
                <a:moveTo>
                  <a:pt x="1343719" y="13969"/>
                </a:moveTo>
                <a:lnTo>
                  <a:pt x="1264157" y="13969"/>
                </a:lnTo>
                <a:lnTo>
                  <a:pt x="1263576" y="14858"/>
                </a:lnTo>
                <a:lnTo>
                  <a:pt x="1263216" y="15217"/>
                </a:lnTo>
                <a:lnTo>
                  <a:pt x="1261999" y="17271"/>
                </a:lnTo>
                <a:lnTo>
                  <a:pt x="1261665" y="17271"/>
                </a:lnTo>
                <a:lnTo>
                  <a:pt x="1259630" y="19968"/>
                </a:lnTo>
                <a:lnTo>
                  <a:pt x="1260982" y="18414"/>
                </a:lnTo>
                <a:lnTo>
                  <a:pt x="1342909" y="18414"/>
                </a:lnTo>
                <a:lnTo>
                  <a:pt x="1343150" y="17271"/>
                </a:lnTo>
                <a:lnTo>
                  <a:pt x="1261999" y="17271"/>
                </a:lnTo>
                <a:lnTo>
                  <a:pt x="1263342" y="15217"/>
                </a:lnTo>
                <a:lnTo>
                  <a:pt x="1343584" y="15217"/>
                </a:lnTo>
                <a:lnTo>
                  <a:pt x="1343659" y="14858"/>
                </a:lnTo>
                <a:lnTo>
                  <a:pt x="1343719" y="13969"/>
                </a:lnTo>
                <a:close/>
              </a:path>
              <a:path w="1344295" h="402589">
                <a:moveTo>
                  <a:pt x="1291768" y="1650"/>
                </a:moveTo>
                <a:lnTo>
                  <a:pt x="1268476" y="1650"/>
                </a:lnTo>
                <a:lnTo>
                  <a:pt x="1268198" y="3925"/>
                </a:lnTo>
                <a:lnTo>
                  <a:pt x="1268121" y="4560"/>
                </a:lnTo>
                <a:lnTo>
                  <a:pt x="1268026" y="5333"/>
                </a:lnTo>
                <a:lnTo>
                  <a:pt x="1267901" y="6362"/>
                </a:lnTo>
                <a:lnTo>
                  <a:pt x="1267854" y="6612"/>
                </a:lnTo>
                <a:lnTo>
                  <a:pt x="1267356" y="7764"/>
                </a:lnTo>
                <a:lnTo>
                  <a:pt x="1267179" y="7897"/>
                </a:lnTo>
                <a:lnTo>
                  <a:pt x="1267061" y="8446"/>
                </a:lnTo>
                <a:lnTo>
                  <a:pt x="1266187" y="10467"/>
                </a:lnTo>
                <a:lnTo>
                  <a:pt x="1265820" y="11049"/>
                </a:lnTo>
                <a:lnTo>
                  <a:pt x="1264884" y="12402"/>
                </a:lnTo>
                <a:lnTo>
                  <a:pt x="1263216" y="15217"/>
                </a:lnTo>
                <a:lnTo>
                  <a:pt x="1263576" y="14858"/>
                </a:lnTo>
                <a:lnTo>
                  <a:pt x="1264157" y="13969"/>
                </a:lnTo>
                <a:lnTo>
                  <a:pt x="1343719" y="13969"/>
                </a:lnTo>
                <a:lnTo>
                  <a:pt x="1343823" y="12402"/>
                </a:lnTo>
                <a:lnTo>
                  <a:pt x="1343939" y="10671"/>
                </a:lnTo>
                <a:lnTo>
                  <a:pt x="1344050" y="8994"/>
                </a:lnTo>
                <a:lnTo>
                  <a:pt x="1344132" y="7764"/>
                </a:lnTo>
                <a:lnTo>
                  <a:pt x="1344226" y="6362"/>
                </a:lnTo>
                <a:lnTo>
                  <a:pt x="1344295" y="5333"/>
                </a:lnTo>
                <a:lnTo>
                  <a:pt x="1291768" y="1650"/>
                </a:lnTo>
                <a:close/>
              </a:path>
              <a:path w="1344295" h="402589">
                <a:moveTo>
                  <a:pt x="1266454" y="9492"/>
                </a:moveTo>
                <a:lnTo>
                  <a:pt x="1265870" y="10467"/>
                </a:lnTo>
                <a:lnTo>
                  <a:pt x="1264884" y="12402"/>
                </a:lnTo>
                <a:lnTo>
                  <a:pt x="1266061" y="10671"/>
                </a:lnTo>
                <a:lnTo>
                  <a:pt x="1266187" y="10467"/>
                </a:lnTo>
                <a:lnTo>
                  <a:pt x="1266454" y="9492"/>
                </a:lnTo>
                <a:close/>
              </a:path>
              <a:path w="1344295" h="402589">
                <a:moveTo>
                  <a:pt x="1267211" y="7897"/>
                </a:moveTo>
                <a:lnTo>
                  <a:pt x="1266803" y="8446"/>
                </a:lnTo>
                <a:lnTo>
                  <a:pt x="1266129" y="10467"/>
                </a:lnTo>
                <a:lnTo>
                  <a:pt x="1266609" y="9492"/>
                </a:lnTo>
                <a:lnTo>
                  <a:pt x="1267061" y="8446"/>
                </a:lnTo>
                <a:lnTo>
                  <a:pt x="1267211" y="7897"/>
                </a:lnTo>
                <a:close/>
              </a:path>
              <a:path w="1344295" h="402589">
                <a:moveTo>
                  <a:pt x="1267395" y="6857"/>
                </a:moveTo>
                <a:lnTo>
                  <a:pt x="1267030" y="7764"/>
                </a:lnTo>
                <a:lnTo>
                  <a:pt x="1266803" y="8446"/>
                </a:lnTo>
                <a:lnTo>
                  <a:pt x="1267179" y="7897"/>
                </a:lnTo>
                <a:lnTo>
                  <a:pt x="1267247" y="7764"/>
                </a:lnTo>
                <a:lnTo>
                  <a:pt x="1267395" y="6857"/>
                </a:lnTo>
                <a:close/>
              </a:path>
              <a:path w="1344295" h="402589">
                <a:moveTo>
                  <a:pt x="1267925" y="5333"/>
                </a:moveTo>
                <a:lnTo>
                  <a:pt x="1267247" y="7764"/>
                </a:lnTo>
                <a:lnTo>
                  <a:pt x="1267709" y="6857"/>
                </a:lnTo>
                <a:lnTo>
                  <a:pt x="1267834" y="6612"/>
                </a:lnTo>
                <a:lnTo>
                  <a:pt x="1267925" y="5333"/>
                </a:lnTo>
                <a:close/>
              </a:path>
              <a:path w="1344295" h="402589">
                <a:moveTo>
                  <a:pt x="1267910" y="5333"/>
                </a:moveTo>
                <a:lnTo>
                  <a:pt x="1267498" y="6362"/>
                </a:lnTo>
                <a:lnTo>
                  <a:pt x="1267446" y="6612"/>
                </a:lnTo>
                <a:lnTo>
                  <a:pt x="1267629" y="6362"/>
                </a:lnTo>
                <a:lnTo>
                  <a:pt x="1267910" y="5333"/>
                </a:lnTo>
                <a:close/>
              </a:path>
              <a:path w="1344295" h="402589">
                <a:moveTo>
                  <a:pt x="1267968" y="4560"/>
                </a:moveTo>
                <a:lnTo>
                  <a:pt x="1267774" y="5029"/>
                </a:lnTo>
                <a:lnTo>
                  <a:pt x="1267498" y="6362"/>
                </a:lnTo>
                <a:lnTo>
                  <a:pt x="1267841" y="5333"/>
                </a:lnTo>
                <a:lnTo>
                  <a:pt x="1267942" y="5029"/>
                </a:lnTo>
                <a:lnTo>
                  <a:pt x="1267968" y="4560"/>
                </a:lnTo>
                <a:close/>
              </a:path>
              <a:path w="1344295" h="402589">
                <a:moveTo>
                  <a:pt x="1268476" y="1650"/>
                </a:moveTo>
                <a:lnTo>
                  <a:pt x="1268003" y="3925"/>
                </a:lnTo>
                <a:lnTo>
                  <a:pt x="1267942" y="5029"/>
                </a:lnTo>
                <a:lnTo>
                  <a:pt x="1268098" y="4560"/>
                </a:lnTo>
                <a:lnTo>
                  <a:pt x="1268198" y="3925"/>
                </a:lnTo>
                <a:lnTo>
                  <a:pt x="1268476" y="1650"/>
                </a:lnTo>
                <a:close/>
              </a:path>
              <a:path w="1344295" h="402589">
                <a:moveTo>
                  <a:pt x="1268222" y="0"/>
                </a:moveTo>
                <a:lnTo>
                  <a:pt x="1268130" y="1650"/>
                </a:lnTo>
                <a:lnTo>
                  <a:pt x="1268003" y="3925"/>
                </a:lnTo>
                <a:lnTo>
                  <a:pt x="1268476" y="1650"/>
                </a:lnTo>
                <a:lnTo>
                  <a:pt x="1291768" y="1650"/>
                </a:lnTo>
                <a:lnTo>
                  <a:pt x="1268222" y="0"/>
                </a:lnTo>
                <a:close/>
              </a:path>
            </a:pathLst>
          </a:custGeom>
          <a:solidFill>
            <a:srgbClr val="006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31" name="object 3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190"/>
              <a:t>EXPRESS</a:t>
            </a:r>
            <a:r>
              <a:rPr dirty="0" sz="4800" spc="-95"/>
              <a:t> </a:t>
            </a:r>
            <a:r>
              <a:rPr dirty="0" sz="4800" spc="650"/>
              <a:t>TO-</a:t>
            </a:r>
            <a:r>
              <a:rPr dirty="0" sz="4800" spc="220"/>
              <a:t>DO</a:t>
            </a:r>
            <a:r>
              <a:rPr dirty="0" sz="4800" spc="-50"/>
              <a:t> </a:t>
            </a:r>
            <a:r>
              <a:rPr dirty="0" sz="4800" spc="-350"/>
              <a:t>LIST</a:t>
            </a:r>
            <a:r>
              <a:rPr dirty="0" sz="4800"/>
              <a:t> </a:t>
            </a:r>
            <a:r>
              <a:rPr dirty="0" sz="4800" spc="-70"/>
              <a:t>WEB</a:t>
            </a:r>
            <a:r>
              <a:rPr dirty="0" sz="4800" spc="-50"/>
              <a:t> </a:t>
            </a:r>
            <a:r>
              <a:rPr dirty="0" sz="4800" spc="-25"/>
              <a:t>APP</a:t>
            </a:r>
            <a:endParaRPr sz="4800"/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4235272"/>
            <a:ext cx="860996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solidFill>
                  <a:srgbClr val="006379"/>
                </a:solidFill>
                <a:latin typeface="Calibri"/>
                <a:cs typeface="Calibri"/>
              </a:rPr>
              <a:t>The</a:t>
            </a:r>
            <a:r>
              <a:rPr dirty="0" sz="2400" spc="-35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006379"/>
                </a:solidFill>
                <a:latin typeface="Calibri"/>
                <a:cs typeface="Calibri"/>
              </a:rPr>
              <a:t>same</a:t>
            </a:r>
            <a:r>
              <a:rPr dirty="0" sz="2400" spc="-45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006379"/>
                </a:solidFill>
                <a:latin typeface="Calibri"/>
                <a:cs typeface="Calibri"/>
              </a:rPr>
              <a:t>old</a:t>
            </a:r>
            <a:r>
              <a:rPr dirty="0" sz="2400" spc="-40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006379"/>
                </a:solidFill>
                <a:latin typeface="Calibri"/>
                <a:cs typeface="Calibri"/>
              </a:rPr>
              <a:t>web</a:t>
            </a:r>
            <a:r>
              <a:rPr dirty="0" sz="2400" spc="-50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006379"/>
                </a:solidFill>
                <a:latin typeface="Calibri"/>
                <a:cs typeface="Calibri"/>
              </a:rPr>
              <a:t>app,</a:t>
            </a:r>
            <a:r>
              <a:rPr dirty="0" sz="2400" spc="-40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006379"/>
                </a:solidFill>
                <a:latin typeface="Calibri"/>
                <a:cs typeface="Calibri"/>
              </a:rPr>
              <a:t>now</a:t>
            </a:r>
            <a:r>
              <a:rPr dirty="0" sz="2400" spc="-45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006379"/>
                </a:solidFill>
                <a:latin typeface="Calibri"/>
                <a:cs typeface="Calibri"/>
              </a:rPr>
              <a:t>with</a:t>
            </a:r>
            <a:r>
              <a:rPr dirty="0" sz="2400" spc="-55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006379"/>
                </a:solidFill>
                <a:latin typeface="Calibri"/>
                <a:cs typeface="Calibri"/>
              </a:rPr>
              <a:t>Express</a:t>
            </a:r>
            <a:r>
              <a:rPr dirty="0" sz="2400" spc="-55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006379"/>
                </a:solidFill>
                <a:latin typeface="Calibri"/>
                <a:cs typeface="Calibri"/>
              </a:rPr>
              <a:t>(with</a:t>
            </a:r>
            <a:r>
              <a:rPr dirty="0" sz="2400" spc="-55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006379"/>
                </a:solidFill>
                <a:latin typeface="Calibri"/>
                <a:cs typeface="Calibri"/>
              </a:rPr>
              <a:t>a</a:t>
            </a:r>
            <a:r>
              <a:rPr dirty="0" sz="2400" spc="-30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006379"/>
                </a:solidFill>
                <a:latin typeface="Calibri"/>
                <a:cs typeface="Calibri"/>
              </a:rPr>
              <a:t>few</a:t>
            </a:r>
            <a:r>
              <a:rPr dirty="0" sz="2400" spc="-60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006379"/>
                </a:solidFill>
                <a:latin typeface="Calibri"/>
                <a:cs typeface="Calibri"/>
              </a:rPr>
              <a:t>spicy</a:t>
            </a:r>
            <a:r>
              <a:rPr dirty="0" sz="2400" spc="-40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006379"/>
                </a:solidFill>
                <a:latin typeface="Calibri"/>
                <a:cs typeface="Calibri"/>
              </a:rPr>
              <a:t>additions!)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95"/>
              <a:t>TO-</a:t>
            </a:r>
            <a:r>
              <a:rPr dirty="0" spc="165"/>
              <a:t>DO</a:t>
            </a:r>
            <a:r>
              <a:rPr dirty="0" spc="10"/>
              <a:t> </a:t>
            </a:r>
            <a:r>
              <a:rPr dirty="0" spc="-260"/>
              <a:t>LIST</a:t>
            </a:r>
            <a:r>
              <a:rPr dirty="0" spc="-5"/>
              <a:t> </a:t>
            </a:r>
            <a:r>
              <a:rPr dirty="0"/>
              <a:t>APP</a:t>
            </a:r>
            <a:r>
              <a:rPr dirty="0" spc="30"/>
              <a:t> </a:t>
            </a:r>
            <a:r>
              <a:rPr dirty="0" spc="-145"/>
              <a:t>WITH</a:t>
            </a:r>
            <a:r>
              <a:rPr dirty="0"/>
              <a:t> </a:t>
            </a:r>
            <a:r>
              <a:rPr dirty="0" spc="-114"/>
              <a:t>EXPRESS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035415" cy="223266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Let’s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re-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implement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To-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List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Express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We’ll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make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interesting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adding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few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more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features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Users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able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mark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to-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items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«done»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«not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done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yet»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Users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able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modify</a:t>
            </a:r>
            <a:r>
              <a:rPr dirty="0" sz="24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delete</a:t>
            </a:r>
            <a:r>
              <a:rPr dirty="0" sz="2400" spc="-2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to-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items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We’ll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Sequelize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ORM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manage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persistence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5"/>
              <a:t>LET’S</a:t>
            </a:r>
            <a:r>
              <a:rPr dirty="0" spc="-100"/>
              <a:t> </a:t>
            </a:r>
            <a:r>
              <a:rPr dirty="0" spc="120"/>
              <a:t>LOOK</a:t>
            </a:r>
            <a:r>
              <a:rPr dirty="0" spc="-75"/>
              <a:t> </a:t>
            </a:r>
            <a:r>
              <a:rPr dirty="0"/>
              <a:t>AT</a:t>
            </a:r>
            <a:r>
              <a:rPr dirty="0" spc="-80"/>
              <a:t> </a:t>
            </a:r>
            <a:r>
              <a:rPr dirty="0"/>
              <a:t>THE</a:t>
            </a:r>
            <a:r>
              <a:rPr dirty="0" spc="-80"/>
              <a:t> </a:t>
            </a:r>
            <a:r>
              <a:rPr dirty="0" spc="-20"/>
              <a:t>CODE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7948930" cy="156146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Source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available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course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materials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8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lecturer</a:t>
            </a:r>
            <a:r>
              <a:rPr dirty="0" sz="2800" spc="-3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make</a:t>
            </a:r>
            <a:r>
              <a:rPr dirty="0" sz="28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through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8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live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demo?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800" spc="-9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highlights</a:t>
            </a:r>
            <a:r>
              <a:rPr dirty="0" sz="2800" spc="-8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reported</a:t>
            </a:r>
            <a:r>
              <a:rPr dirty="0" sz="28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10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remaining</a:t>
            </a:r>
            <a:r>
              <a:rPr dirty="0" sz="28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slides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3255" y="3429000"/>
            <a:ext cx="4285488" cy="2572512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933069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CONFIGURING </a:t>
            </a:r>
            <a:r>
              <a:rPr dirty="0" spc="-114"/>
              <a:t>MIDDLEWARE</a:t>
            </a:r>
            <a:r>
              <a:rPr dirty="0" spc="5"/>
              <a:t> </a:t>
            </a:r>
            <a:r>
              <a:rPr dirty="0" spc="-70"/>
              <a:t>(INDEX.JS)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609344"/>
            <a:ext cx="10427335" cy="4525010"/>
          </a:xfrm>
          <a:custGeom>
            <a:avLst/>
            <a:gdLst/>
            <a:ahLst/>
            <a:cxnLst/>
            <a:rect l="l" t="t" r="r" b="b"/>
            <a:pathLst>
              <a:path w="10427335" h="4525010">
                <a:moveTo>
                  <a:pt x="0" y="4524756"/>
                </a:moveTo>
                <a:lnTo>
                  <a:pt x="10427208" y="4524756"/>
                </a:lnTo>
                <a:lnTo>
                  <a:pt x="10427208" y="0"/>
                </a:lnTo>
                <a:lnTo>
                  <a:pt x="0" y="0"/>
                </a:lnTo>
                <a:lnTo>
                  <a:pt x="0" y="4524756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2050" y="1628902"/>
            <a:ext cx="8924925" cy="4415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14616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app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express();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PORT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98557"/>
                </a:solidFill>
                <a:latin typeface="Consolas"/>
                <a:cs typeface="Consolas"/>
              </a:rPr>
              <a:t>3000</a:t>
            </a:r>
            <a:r>
              <a:rPr dirty="0" sz="1800" spc="-2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app.set(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"view</a:t>
            </a:r>
            <a:r>
              <a:rPr dirty="0" sz="1800" spc="-5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engine"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"pug"</a:t>
            </a:r>
            <a:r>
              <a:rPr dirty="0" sz="1800">
                <a:latin typeface="Consolas"/>
                <a:cs typeface="Consolas"/>
              </a:rPr>
              <a:t>);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//use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pug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as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default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template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engine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12700" marR="3012440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app.use(morgan(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'dev'</a:t>
            </a:r>
            <a:r>
              <a:rPr dirty="0" sz="1800" spc="-10">
                <a:latin typeface="Consolas"/>
                <a:cs typeface="Consolas"/>
              </a:rPr>
              <a:t>)); app.use(express.static(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"public"</a:t>
            </a:r>
            <a:r>
              <a:rPr dirty="0" sz="1800" spc="-10">
                <a:latin typeface="Consolas"/>
                <a:cs typeface="Consolas"/>
              </a:rPr>
              <a:t>)); </a:t>
            </a:r>
            <a:r>
              <a:rPr dirty="0" sz="1800">
                <a:latin typeface="Consolas"/>
                <a:cs typeface="Consolas"/>
              </a:rPr>
              <a:t>app.use(express.urlencoded({extended:</a:t>
            </a:r>
            <a:r>
              <a:rPr dirty="0" sz="1800" spc="-15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false</a:t>
            </a:r>
            <a:r>
              <a:rPr dirty="0" sz="1800" spc="-10">
                <a:latin typeface="Consolas"/>
                <a:cs typeface="Consolas"/>
              </a:rPr>
              <a:t>})); app.use(session({</a:t>
            </a:r>
            <a:endParaRPr sz="1800">
              <a:latin typeface="Consolas"/>
              <a:cs typeface="Consolas"/>
            </a:endParaRPr>
          </a:p>
          <a:p>
            <a:pPr marL="262255" marR="363855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secret: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'fu-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tzu</a:t>
            </a:r>
            <a:r>
              <a:rPr dirty="0" sz="1800" spc="-1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the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great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master'</a:t>
            </a:r>
            <a:r>
              <a:rPr dirty="0" sz="1800" spc="-10">
                <a:latin typeface="Consolas"/>
                <a:cs typeface="Consolas"/>
              </a:rPr>
              <a:t>, </a:t>
            </a:r>
            <a:r>
              <a:rPr dirty="0" sz="1800">
                <a:latin typeface="Consolas"/>
                <a:cs typeface="Consolas"/>
              </a:rPr>
              <a:t>resave: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false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saveUninitialized: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false</a:t>
            </a:r>
            <a:r>
              <a:rPr dirty="0" sz="1800" spc="-10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cookie: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maxAge: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10</a:t>
            </a:r>
            <a:r>
              <a:rPr dirty="0" sz="1800">
                <a:latin typeface="Consolas"/>
                <a:cs typeface="Consolas"/>
              </a:rPr>
              <a:t>*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60</a:t>
            </a:r>
            <a:r>
              <a:rPr dirty="0" sz="1800">
                <a:latin typeface="Consolas"/>
                <a:cs typeface="Consolas"/>
              </a:rPr>
              <a:t>*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1000</a:t>
            </a:r>
            <a:r>
              <a:rPr dirty="0" sz="1800" spc="-35">
                <a:solidFill>
                  <a:srgbClr val="098557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/*10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minutes,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ms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*/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6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20">
                <a:latin typeface="Consolas"/>
                <a:cs typeface="Consolas"/>
              </a:rPr>
              <a:t>}));</a:t>
            </a:r>
            <a:endParaRPr sz="1800">
              <a:latin typeface="Consolas"/>
              <a:cs typeface="Consolas"/>
            </a:endParaRPr>
          </a:p>
          <a:p>
            <a:pPr marL="12700" marR="4392295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app.use(flash()); app.use(exportFlashMessagesToViews); app.use(exportAuthenticationStatus);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CONFIGURING</a:t>
            </a:r>
            <a:r>
              <a:rPr dirty="0" spc="-75"/>
              <a:t> </a:t>
            </a:r>
            <a:r>
              <a:rPr dirty="0" spc="-30"/>
              <a:t>ROUTES</a:t>
            </a:r>
            <a:r>
              <a:rPr dirty="0" spc="-75"/>
              <a:t> </a:t>
            </a:r>
            <a:r>
              <a:rPr dirty="0" spc="-80"/>
              <a:t>(INDEX.JS)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278636"/>
            <a:ext cx="10427335" cy="5078095"/>
          </a:xfrm>
          <a:custGeom>
            <a:avLst/>
            <a:gdLst/>
            <a:ahLst/>
            <a:cxnLst/>
            <a:rect l="l" t="t" r="r" b="b"/>
            <a:pathLst>
              <a:path w="10427335" h="5078095">
                <a:moveTo>
                  <a:pt x="0" y="5077968"/>
                </a:moveTo>
                <a:lnTo>
                  <a:pt x="10427208" y="5077968"/>
                </a:lnTo>
                <a:lnTo>
                  <a:pt x="10427208" y="0"/>
                </a:lnTo>
                <a:lnTo>
                  <a:pt x="0" y="0"/>
                </a:lnTo>
                <a:lnTo>
                  <a:pt x="0" y="5077968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2050" y="1297685"/>
            <a:ext cx="10053955" cy="4964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//routes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app.use(homepageRouter);</a:t>
            </a:r>
            <a:r>
              <a:rPr dirty="0" sz="1800" spc="-16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app.use(resetRouter);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app.use(authenticationRouter);</a:t>
            </a:r>
            <a:r>
              <a:rPr dirty="0" sz="1800" spc="-13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app.use(todoRouter);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12700" marR="526986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//catch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all,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if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we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get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here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it's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404 </a:t>
            </a:r>
            <a:r>
              <a:rPr dirty="0" sz="1800">
                <a:latin typeface="Consolas"/>
                <a:cs typeface="Consolas"/>
              </a:rPr>
              <a:t>app.get(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'*'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7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>
                <a:latin typeface="Consolas"/>
                <a:cs typeface="Consolas"/>
              </a:rPr>
              <a:t>(req,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res){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res.status(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404</a:t>
            </a:r>
            <a:r>
              <a:rPr dirty="0" sz="1800">
                <a:latin typeface="Consolas"/>
                <a:cs typeface="Consolas"/>
              </a:rPr>
              <a:t>).render(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"errorPage"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{code: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"404"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description: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“Not</a:t>
            </a:r>
            <a:r>
              <a:rPr dirty="0" sz="1800" spc="-5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found."</a:t>
            </a:r>
            <a:r>
              <a:rPr dirty="0" sz="1800" spc="-10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//error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handler</a:t>
            </a:r>
            <a:endParaRPr sz="1800">
              <a:latin typeface="Consolas"/>
              <a:cs typeface="Consolas"/>
            </a:endParaRPr>
          </a:p>
          <a:p>
            <a:pPr marL="262255" marR="5645785" indent="-25019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app.use(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(err,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req,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res,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next)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 spc="-10">
                <a:latin typeface="Consolas"/>
                <a:cs typeface="Consolas"/>
              </a:rPr>
              <a:t>console.log(err.stack);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res.status(err.status</a:t>
            </a:r>
            <a:r>
              <a:rPr dirty="0" sz="1800" spc="-10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||</a:t>
            </a:r>
            <a:r>
              <a:rPr dirty="0" sz="1800" spc="-10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500</a:t>
            </a:r>
            <a:r>
              <a:rPr dirty="0" sz="1800">
                <a:latin typeface="Consolas"/>
                <a:cs typeface="Consolas"/>
              </a:rPr>
              <a:t>).render(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"errorPage"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10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code: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(err.status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||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500</a:t>
            </a:r>
            <a:r>
              <a:rPr dirty="0" sz="1800">
                <a:latin typeface="Consolas"/>
                <a:cs typeface="Consolas"/>
              </a:rPr>
              <a:t>),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description: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(err.message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||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"An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error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occurred"</a:t>
            </a:r>
            <a:r>
              <a:rPr dirty="0" sz="1800" spc="-10">
                <a:latin typeface="Consolas"/>
                <a:cs typeface="Consolas"/>
              </a:rPr>
              <a:t>)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app.listen(PORT);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ROUTES:</a:t>
            </a:r>
            <a:r>
              <a:rPr dirty="0" spc="-155"/>
              <a:t> </a:t>
            </a:r>
            <a:r>
              <a:rPr dirty="0" spc="-10"/>
              <a:t>TODOROUTER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82396" y="2162555"/>
            <a:ext cx="10427335" cy="341693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todoRouter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express.Router();</a:t>
            </a:r>
            <a:endParaRPr sz="1800">
              <a:latin typeface="Consolas"/>
              <a:cs typeface="Consolas"/>
            </a:endParaRPr>
          </a:p>
          <a:p>
            <a:pPr marL="92075" marR="1427480">
              <a:lnSpc>
                <a:spcPts val="4320"/>
              </a:lnSpc>
              <a:spcBef>
                <a:spcPts val="505"/>
              </a:spcBef>
            </a:pPr>
            <a:r>
              <a:rPr dirty="0" sz="1800">
                <a:latin typeface="Consolas"/>
                <a:cs typeface="Consolas"/>
              </a:rPr>
              <a:t>todoRouter.use(enforceAuthentication);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//middleware</a:t>
            </a:r>
            <a:r>
              <a:rPr dirty="0" sz="1800" spc="-5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used</a:t>
            </a:r>
            <a:r>
              <a:rPr dirty="0" sz="1800" spc="-5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this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router </a:t>
            </a:r>
            <a:r>
              <a:rPr dirty="0" sz="1800">
                <a:latin typeface="Consolas"/>
                <a:cs typeface="Consolas"/>
              </a:rPr>
              <a:t>todoRouter.get(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"/todo"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(req,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res,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next)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ts val="1660"/>
              </a:lnSpc>
            </a:pPr>
            <a:r>
              <a:rPr dirty="0" sz="1800">
                <a:latin typeface="Consolas"/>
                <a:cs typeface="Consolas"/>
              </a:rPr>
              <a:t>TodoController.getTodosForCurrentUser(req).then(todoItems</a:t>
            </a:r>
            <a:r>
              <a:rPr dirty="0" sz="1800" spc="-114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1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91820" marR="568833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res.locals.todoItems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todoItems; res.render(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"todo"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}).catch(err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next(err);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5"/>
              <a:t>CONTROLLER:</a:t>
            </a:r>
            <a:r>
              <a:rPr dirty="0" spc="-170"/>
              <a:t> </a:t>
            </a:r>
            <a:r>
              <a:rPr dirty="0" spc="-10"/>
              <a:t>TODOCONTROLLER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82396" y="1886711"/>
            <a:ext cx="10427335" cy="397002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Todo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"../models/Database.js"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TodoController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591820" marR="4938395" indent="-25019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static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async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getTodosForCurrentUser(req){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Todo.findAll({</a:t>
            </a:r>
            <a:endParaRPr sz="1800">
              <a:latin typeface="Consolas"/>
              <a:cs typeface="Consolas"/>
            </a:endParaRPr>
          </a:p>
          <a:p>
            <a:pPr marL="84328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where: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109474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UserUserName: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req.session.username</a:t>
            </a:r>
            <a:endParaRPr sz="1800">
              <a:latin typeface="Consolas"/>
              <a:cs typeface="Consolas"/>
            </a:endParaRPr>
          </a:p>
          <a:p>
            <a:pPr marL="84328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  <a:spcBef>
                <a:spcPts val="5"/>
              </a:spcBef>
            </a:pP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other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methods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AUTHENTICATION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278636"/>
            <a:ext cx="10427335" cy="5078095"/>
          </a:xfrm>
          <a:custGeom>
            <a:avLst/>
            <a:gdLst/>
            <a:ahLst/>
            <a:cxnLst/>
            <a:rect l="l" t="t" r="r" b="b"/>
            <a:pathLst>
              <a:path w="10427335" h="5078095">
                <a:moveTo>
                  <a:pt x="0" y="5077968"/>
                </a:moveTo>
                <a:lnTo>
                  <a:pt x="10427208" y="5077968"/>
                </a:lnTo>
                <a:lnTo>
                  <a:pt x="10427208" y="0"/>
                </a:lnTo>
                <a:lnTo>
                  <a:pt x="0" y="0"/>
                </a:lnTo>
                <a:lnTo>
                  <a:pt x="0" y="5077968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2050" y="1297685"/>
            <a:ext cx="10053955" cy="4964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AuthController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static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async</a:t>
            </a:r>
            <a:r>
              <a:rPr dirty="0" sz="1800" spc="-5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checkCredentials(req,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res){</a:t>
            </a:r>
            <a:endParaRPr sz="1800">
              <a:latin typeface="Consolas"/>
              <a:cs typeface="Consolas"/>
            </a:endParaRPr>
          </a:p>
          <a:p>
            <a:pPr marL="763905" marR="2262505" indent="-25146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user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User({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//user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data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specified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request </a:t>
            </a:r>
            <a:r>
              <a:rPr dirty="0" sz="1800">
                <a:latin typeface="Consolas"/>
                <a:cs typeface="Consolas"/>
              </a:rPr>
              <a:t>userName: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req.body.usr,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password: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req.body.pwd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found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User.findOne({</a:t>
            </a:r>
            <a:endParaRPr sz="1800">
              <a:latin typeface="Consolas"/>
              <a:cs typeface="Consolas"/>
            </a:endParaRPr>
          </a:p>
          <a:p>
            <a:pPr marL="76390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where: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userName: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user.userName,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password: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user.password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dirty="0" sz="1800">
                <a:latin typeface="Consolas"/>
                <a:cs typeface="Consolas"/>
              </a:rPr>
              <a:t>(found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===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null</a:t>
            </a:r>
            <a:r>
              <a:rPr dirty="0" sz="1800">
                <a:latin typeface="Consolas"/>
                <a:cs typeface="Consolas"/>
              </a:rPr>
              <a:t>)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76390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false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763905" marR="5080" indent="-25146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//credentials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are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valid.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We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create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session </a:t>
            </a:r>
            <a:r>
              <a:rPr dirty="0" sz="1800">
                <a:latin typeface="Consolas"/>
                <a:cs typeface="Consolas"/>
              </a:rPr>
              <a:t>req.session.isAuthenticated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1800">
                <a:latin typeface="Consolas"/>
                <a:cs typeface="Consolas"/>
              </a:rPr>
              <a:t>;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req.session.username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found.userName;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AUTHENTICATION</a:t>
            </a:r>
            <a:r>
              <a:rPr dirty="0" spc="-145"/>
              <a:t> </a:t>
            </a:r>
            <a:r>
              <a:rPr dirty="0" spc="-100"/>
              <a:t>MIDDLEWARE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82396" y="2162555"/>
            <a:ext cx="10427335" cy="341693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/**</a:t>
            </a:r>
            <a:endParaRPr sz="1800">
              <a:latin typeface="Consolas"/>
              <a:cs typeface="Consolas"/>
            </a:endParaRPr>
          </a:p>
          <a:p>
            <a:pPr marL="466090" indent="-248920">
              <a:lnSpc>
                <a:spcPct val="100000"/>
              </a:lnSpc>
              <a:buChar char="*"/>
              <a:tabLst>
                <a:tab pos="466090" algn="l"/>
              </a:tabLst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This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middleware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ensures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that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user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is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currently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authenticated.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If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not,</a:t>
            </a:r>
            <a:endParaRPr sz="1800">
              <a:latin typeface="Consolas"/>
              <a:cs typeface="Consolas"/>
            </a:endParaRPr>
          </a:p>
          <a:p>
            <a:pPr marL="466090" indent="-248920">
              <a:lnSpc>
                <a:spcPct val="100000"/>
              </a:lnSpc>
              <a:buChar char="*"/>
              <a:tabLst>
                <a:tab pos="466090" algn="l"/>
              </a:tabLst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redirects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to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login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with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an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error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message.</a:t>
            </a:r>
            <a:endParaRPr sz="1800">
              <a:latin typeface="Consolas"/>
              <a:cs typeface="Consolas"/>
            </a:endParaRPr>
          </a:p>
          <a:p>
            <a:pPr marL="217170">
              <a:lnSpc>
                <a:spcPct val="100000"/>
              </a:lnSpc>
            </a:pP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*/</a:t>
            </a:r>
            <a:endParaRPr sz="1800">
              <a:latin typeface="Consolas"/>
              <a:cs typeface="Consolas"/>
            </a:endParaRPr>
          </a:p>
          <a:p>
            <a:pPr marL="342265" marR="3557904" indent="-25019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5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enforceAuthentication(req,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res,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next){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dirty="0" sz="1800" spc="-10">
                <a:latin typeface="Consolas"/>
                <a:cs typeface="Consolas"/>
              </a:rPr>
              <a:t>(!req?.session?.isAuthenticated){</a:t>
            </a:r>
            <a:endParaRPr sz="1800">
              <a:latin typeface="Consolas"/>
              <a:cs typeface="Consolas"/>
            </a:endParaRPr>
          </a:p>
          <a:p>
            <a:pPr marL="591820" marR="130238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req.flash(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"error"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"You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must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be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logged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in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to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access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this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feature."</a:t>
            </a:r>
            <a:r>
              <a:rPr dirty="0" sz="1800" spc="-10">
                <a:latin typeface="Consolas"/>
                <a:cs typeface="Consolas"/>
              </a:rPr>
              <a:t>); res.redirect(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"/auth"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r>
              <a:rPr dirty="0" sz="1800" spc="-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next();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606028" y="710691"/>
            <a:ext cx="2734310" cy="2474595"/>
          </a:xfrm>
          <a:custGeom>
            <a:avLst/>
            <a:gdLst/>
            <a:ahLst/>
            <a:cxnLst/>
            <a:rect l="l" t="t" r="r" b="b"/>
            <a:pathLst>
              <a:path w="2734309" h="2474595">
                <a:moveTo>
                  <a:pt x="371856" y="2255774"/>
                </a:moveTo>
                <a:lnTo>
                  <a:pt x="328142" y="2238514"/>
                </a:lnTo>
                <a:lnTo>
                  <a:pt x="290258" y="2206929"/>
                </a:lnTo>
                <a:lnTo>
                  <a:pt x="257644" y="2166010"/>
                </a:lnTo>
                <a:lnTo>
                  <a:pt x="229755" y="2120735"/>
                </a:lnTo>
                <a:lnTo>
                  <a:pt x="206032" y="2076107"/>
                </a:lnTo>
                <a:lnTo>
                  <a:pt x="185928" y="2037080"/>
                </a:lnTo>
                <a:lnTo>
                  <a:pt x="170675" y="2078062"/>
                </a:lnTo>
                <a:lnTo>
                  <a:pt x="147231" y="2117179"/>
                </a:lnTo>
                <a:lnTo>
                  <a:pt x="117005" y="2154478"/>
                </a:lnTo>
                <a:lnTo>
                  <a:pt x="81445" y="2189988"/>
                </a:lnTo>
                <a:lnTo>
                  <a:pt x="41960" y="2223744"/>
                </a:lnTo>
                <a:lnTo>
                  <a:pt x="0" y="2255774"/>
                </a:lnTo>
                <a:lnTo>
                  <a:pt x="45173" y="2279789"/>
                </a:lnTo>
                <a:lnTo>
                  <a:pt x="85877" y="2308021"/>
                </a:lnTo>
                <a:lnTo>
                  <a:pt x="121196" y="2341029"/>
                </a:lnTo>
                <a:lnTo>
                  <a:pt x="150253" y="2379395"/>
                </a:lnTo>
                <a:lnTo>
                  <a:pt x="172123" y="2423680"/>
                </a:lnTo>
                <a:lnTo>
                  <a:pt x="185928" y="2474468"/>
                </a:lnTo>
                <a:lnTo>
                  <a:pt x="202577" y="2429141"/>
                </a:lnTo>
                <a:lnTo>
                  <a:pt x="227939" y="2383294"/>
                </a:lnTo>
                <a:lnTo>
                  <a:pt x="259791" y="2339987"/>
                </a:lnTo>
                <a:lnTo>
                  <a:pt x="295871" y="2302256"/>
                </a:lnTo>
                <a:lnTo>
                  <a:pt x="333971" y="2273173"/>
                </a:lnTo>
                <a:lnTo>
                  <a:pt x="371856" y="2255774"/>
                </a:lnTo>
                <a:close/>
              </a:path>
              <a:path w="2734309" h="2474595">
                <a:moveTo>
                  <a:pt x="2734056" y="393700"/>
                </a:moveTo>
                <a:lnTo>
                  <a:pt x="2698051" y="381000"/>
                </a:lnTo>
                <a:lnTo>
                  <a:pt x="2660510" y="381000"/>
                </a:lnTo>
                <a:lnTo>
                  <a:pt x="2621305" y="368300"/>
                </a:lnTo>
                <a:lnTo>
                  <a:pt x="2580360" y="342900"/>
                </a:lnTo>
                <a:lnTo>
                  <a:pt x="2537536" y="330200"/>
                </a:lnTo>
                <a:lnTo>
                  <a:pt x="2492756" y="304800"/>
                </a:lnTo>
                <a:lnTo>
                  <a:pt x="2466695" y="290677"/>
                </a:lnTo>
                <a:lnTo>
                  <a:pt x="2466695" y="1524000"/>
                </a:lnTo>
                <a:lnTo>
                  <a:pt x="2462606" y="1574800"/>
                </a:lnTo>
                <a:lnTo>
                  <a:pt x="2456904" y="1625600"/>
                </a:lnTo>
                <a:lnTo>
                  <a:pt x="2452903" y="1663700"/>
                </a:lnTo>
                <a:lnTo>
                  <a:pt x="2453894" y="1701800"/>
                </a:lnTo>
                <a:lnTo>
                  <a:pt x="2391003" y="1727200"/>
                </a:lnTo>
                <a:lnTo>
                  <a:pt x="2334247" y="1752600"/>
                </a:lnTo>
                <a:lnTo>
                  <a:pt x="2282660" y="1765300"/>
                </a:lnTo>
                <a:lnTo>
                  <a:pt x="2235301" y="1790700"/>
                </a:lnTo>
                <a:lnTo>
                  <a:pt x="2191245" y="1803400"/>
                </a:lnTo>
                <a:lnTo>
                  <a:pt x="2149551" y="1816100"/>
                </a:lnTo>
                <a:lnTo>
                  <a:pt x="2109266" y="1828800"/>
                </a:lnTo>
                <a:lnTo>
                  <a:pt x="1988794" y="1905000"/>
                </a:lnTo>
                <a:lnTo>
                  <a:pt x="1907755" y="1930400"/>
                </a:lnTo>
                <a:lnTo>
                  <a:pt x="1865503" y="1943100"/>
                </a:lnTo>
                <a:lnTo>
                  <a:pt x="1821014" y="1955800"/>
                </a:lnTo>
                <a:lnTo>
                  <a:pt x="1773491" y="1968500"/>
                </a:lnTo>
                <a:lnTo>
                  <a:pt x="1722132" y="1993900"/>
                </a:lnTo>
                <a:lnTo>
                  <a:pt x="1666113" y="2019300"/>
                </a:lnTo>
                <a:lnTo>
                  <a:pt x="1604645" y="2057400"/>
                </a:lnTo>
                <a:lnTo>
                  <a:pt x="1538236" y="2082800"/>
                </a:lnTo>
                <a:lnTo>
                  <a:pt x="1482686" y="2120900"/>
                </a:lnTo>
                <a:lnTo>
                  <a:pt x="1435760" y="2133600"/>
                </a:lnTo>
                <a:lnTo>
                  <a:pt x="1395222" y="2146300"/>
                </a:lnTo>
                <a:lnTo>
                  <a:pt x="1358811" y="2159000"/>
                </a:lnTo>
                <a:lnTo>
                  <a:pt x="1289494" y="2184400"/>
                </a:lnTo>
                <a:lnTo>
                  <a:pt x="1252093" y="2197100"/>
                </a:lnTo>
                <a:lnTo>
                  <a:pt x="1213586" y="2184400"/>
                </a:lnTo>
                <a:lnTo>
                  <a:pt x="1168273" y="2171700"/>
                </a:lnTo>
                <a:lnTo>
                  <a:pt x="1118184" y="2146300"/>
                </a:lnTo>
                <a:lnTo>
                  <a:pt x="959739" y="2070100"/>
                </a:lnTo>
                <a:lnTo>
                  <a:pt x="910983" y="2057400"/>
                </a:lnTo>
                <a:lnTo>
                  <a:pt x="867676" y="2044700"/>
                </a:lnTo>
                <a:lnTo>
                  <a:pt x="831850" y="2032000"/>
                </a:lnTo>
                <a:lnTo>
                  <a:pt x="798512" y="2019300"/>
                </a:lnTo>
                <a:lnTo>
                  <a:pt x="761441" y="2006600"/>
                </a:lnTo>
                <a:lnTo>
                  <a:pt x="720801" y="1993900"/>
                </a:lnTo>
                <a:lnTo>
                  <a:pt x="676770" y="1968500"/>
                </a:lnTo>
                <a:lnTo>
                  <a:pt x="629513" y="1943100"/>
                </a:lnTo>
                <a:lnTo>
                  <a:pt x="579196" y="1917700"/>
                </a:lnTo>
                <a:lnTo>
                  <a:pt x="525995" y="1892300"/>
                </a:lnTo>
                <a:lnTo>
                  <a:pt x="411607" y="1866900"/>
                </a:lnTo>
                <a:lnTo>
                  <a:pt x="409181" y="1816100"/>
                </a:lnTo>
                <a:lnTo>
                  <a:pt x="409295" y="1765300"/>
                </a:lnTo>
                <a:lnTo>
                  <a:pt x="410616" y="1727200"/>
                </a:lnTo>
                <a:lnTo>
                  <a:pt x="411822" y="1689100"/>
                </a:lnTo>
                <a:lnTo>
                  <a:pt x="411734" y="1663700"/>
                </a:lnTo>
                <a:lnTo>
                  <a:pt x="411645" y="1638300"/>
                </a:lnTo>
                <a:lnTo>
                  <a:pt x="411607" y="1625600"/>
                </a:lnTo>
                <a:lnTo>
                  <a:pt x="452335" y="1651000"/>
                </a:lnTo>
                <a:lnTo>
                  <a:pt x="499732" y="1663700"/>
                </a:lnTo>
                <a:lnTo>
                  <a:pt x="551472" y="1689100"/>
                </a:lnTo>
                <a:lnTo>
                  <a:pt x="658710" y="1739900"/>
                </a:lnTo>
                <a:lnTo>
                  <a:pt x="709561" y="1752600"/>
                </a:lnTo>
                <a:lnTo>
                  <a:pt x="755472" y="1778000"/>
                </a:lnTo>
                <a:lnTo>
                  <a:pt x="794131" y="1790700"/>
                </a:lnTo>
                <a:lnTo>
                  <a:pt x="829818" y="1803400"/>
                </a:lnTo>
                <a:lnTo>
                  <a:pt x="868426" y="1816100"/>
                </a:lnTo>
                <a:lnTo>
                  <a:pt x="909955" y="1841500"/>
                </a:lnTo>
                <a:lnTo>
                  <a:pt x="954417" y="1854200"/>
                </a:lnTo>
                <a:lnTo>
                  <a:pt x="1001801" y="1879600"/>
                </a:lnTo>
                <a:lnTo>
                  <a:pt x="1052144" y="1892300"/>
                </a:lnTo>
                <a:lnTo>
                  <a:pt x="1105420" y="1917700"/>
                </a:lnTo>
                <a:lnTo>
                  <a:pt x="1161669" y="1943100"/>
                </a:lnTo>
                <a:lnTo>
                  <a:pt x="1218158" y="1905000"/>
                </a:lnTo>
                <a:lnTo>
                  <a:pt x="1288796" y="1879600"/>
                </a:lnTo>
                <a:lnTo>
                  <a:pt x="1328813" y="1866900"/>
                </a:lnTo>
                <a:lnTo>
                  <a:pt x="1371638" y="1866900"/>
                </a:lnTo>
                <a:lnTo>
                  <a:pt x="1417027" y="1854200"/>
                </a:lnTo>
                <a:lnTo>
                  <a:pt x="1464741" y="1841500"/>
                </a:lnTo>
                <a:lnTo>
                  <a:pt x="1514538" y="1816100"/>
                </a:lnTo>
                <a:lnTo>
                  <a:pt x="1566151" y="1790700"/>
                </a:lnTo>
                <a:lnTo>
                  <a:pt x="1619377" y="1752600"/>
                </a:lnTo>
                <a:lnTo>
                  <a:pt x="1647698" y="1739900"/>
                </a:lnTo>
                <a:lnTo>
                  <a:pt x="1676031" y="1727200"/>
                </a:lnTo>
                <a:lnTo>
                  <a:pt x="1727847" y="1701800"/>
                </a:lnTo>
                <a:lnTo>
                  <a:pt x="1775498" y="1676400"/>
                </a:lnTo>
                <a:lnTo>
                  <a:pt x="1819694" y="1663700"/>
                </a:lnTo>
                <a:lnTo>
                  <a:pt x="1861121" y="1663700"/>
                </a:lnTo>
                <a:lnTo>
                  <a:pt x="1900466" y="1651000"/>
                </a:lnTo>
                <a:lnTo>
                  <a:pt x="2013038" y="1612900"/>
                </a:lnTo>
                <a:lnTo>
                  <a:pt x="2051050" y="1587500"/>
                </a:lnTo>
                <a:lnTo>
                  <a:pt x="2136521" y="1536700"/>
                </a:lnTo>
                <a:lnTo>
                  <a:pt x="2267051" y="1498600"/>
                </a:lnTo>
                <a:lnTo>
                  <a:pt x="2358821" y="1473200"/>
                </a:lnTo>
                <a:lnTo>
                  <a:pt x="2406942" y="1447800"/>
                </a:lnTo>
                <a:lnTo>
                  <a:pt x="2456942" y="1422400"/>
                </a:lnTo>
                <a:lnTo>
                  <a:pt x="2465908" y="1473200"/>
                </a:lnTo>
                <a:lnTo>
                  <a:pt x="2466695" y="1524000"/>
                </a:lnTo>
                <a:lnTo>
                  <a:pt x="2466695" y="290677"/>
                </a:lnTo>
                <a:lnTo>
                  <a:pt x="2460904" y="287540"/>
                </a:lnTo>
                <a:lnTo>
                  <a:pt x="2460904" y="558800"/>
                </a:lnTo>
                <a:lnTo>
                  <a:pt x="2455634" y="596900"/>
                </a:lnTo>
                <a:lnTo>
                  <a:pt x="2449893" y="647700"/>
                </a:lnTo>
                <a:lnTo>
                  <a:pt x="2449792" y="660400"/>
                </a:lnTo>
                <a:lnTo>
                  <a:pt x="2449703" y="673100"/>
                </a:lnTo>
                <a:lnTo>
                  <a:pt x="2449614" y="685800"/>
                </a:lnTo>
                <a:lnTo>
                  <a:pt x="2449512" y="698500"/>
                </a:lnTo>
                <a:lnTo>
                  <a:pt x="2449423" y="711200"/>
                </a:lnTo>
                <a:lnTo>
                  <a:pt x="2459990" y="762000"/>
                </a:lnTo>
                <a:lnTo>
                  <a:pt x="2409482" y="787400"/>
                </a:lnTo>
                <a:lnTo>
                  <a:pt x="2382342" y="794016"/>
                </a:lnTo>
                <a:lnTo>
                  <a:pt x="2382342" y="1041400"/>
                </a:lnTo>
                <a:lnTo>
                  <a:pt x="2382266" y="1054100"/>
                </a:lnTo>
                <a:lnTo>
                  <a:pt x="2382189" y="1066800"/>
                </a:lnTo>
                <a:lnTo>
                  <a:pt x="2382113" y="1079500"/>
                </a:lnTo>
                <a:lnTo>
                  <a:pt x="2382050" y="1092200"/>
                </a:lnTo>
                <a:lnTo>
                  <a:pt x="2376881" y="1130300"/>
                </a:lnTo>
                <a:lnTo>
                  <a:pt x="2372017" y="1181100"/>
                </a:lnTo>
                <a:lnTo>
                  <a:pt x="2372144" y="1193800"/>
                </a:lnTo>
                <a:lnTo>
                  <a:pt x="2372258" y="1206500"/>
                </a:lnTo>
                <a:lnTo>
                  <a:pt x="2372372" y="1219200"/>
                </a:lnTo>
                <a:lnTo>
                  <a:pt x="2372487" y="1231900"/>
                </a:lnTo>
                <a:lnTo>
                  <a:pt x="2372614" y="1244600"/>
                </a:lnTo>
                <a:lnTo>
                  <a:pt x="2369566" y="1244600"/>
                </a:lnTo>
                <a:lnTo>
                  <a:pt x="2325395" y="1270000"/>
                </a:lnTo>
                <a:lnTo>
                  <a:pt x="2282342" y="1295400"/>
                </a:lnTo>
                <a:lnTo>
                  <a:pt x="2154644" y="1333500"/>
                </a:lnTo>
                <a:lnTo>
                  <a:pt x="2065705" y="1358900"/>
                </a:lnTo>
                <a:lnTo>
                  <a:pt x="2018576" y="1384300"/>
                </a:lnTo>
                <a:lnTo>
                  <a:pt x="1969008" y="1409700"/>
                </a:lnTo>
                <a:lnTo>
                  <a:pt x="1924989" y="1447800"/>
                </a:lnTo>
                <a:lnTo>
                  <a:pt x="1884095" y="1460500"/>
                </a:lnTo>
                <a:lnTo>
                  <a:pt x="1845284" y="1485900"/>
                </a:lnTo>
                <a:lnTo>
                  <a:pt x="1730870" y="1524000"/>
                </a:lnTo>
                <a:lnTo>
                  <a:pt x="1689950" y="1536700"/>
                </a:lnTo>
                <a:lnTo>
                  <a:pt x="1645920" y="1549400"/>
                </a:lnTo>
                <a:lnTo>
                  <a:pt x="1597710" y="1562100"/>
                </a:lnTo>
                <a:lnTo>
                  <a:pt x="1544320" y="1587500"/>
                </a:lnTo>
                <a:lnTo>
                  <a:pt x="1478978" y="1625600"/>
                </a:lnTo>
                <a:lnTo>
                  <a:pt x="1422679" y="1651000"/>
                </a:lnTo>
                <a:lnTo>
                  <a:pt x="1373505" y="1663700"/>
                </a:lnTo>
                <a:lnTo>
                  <a:pt x="1329537" y="1676400"/>
                </a:lnTo>
                <a:lnTo>
                  <a:pt x="1288884" y="1701800"/>
                </a:lnTo>
                <a:lnTo>
                  <a:pt x="1209840" y="1727200"/>
                </a:lnTo>
                <a:lnTo>
                  <a:pt x="1167638" y="1739900"/>
                </a:lnTo>
                <a:lnTo>
                  <a:pt x="1105052" y="1739900"/>
                </a:lnTo>
                <a:lnTo>
                  <a:pt x="1054709" y="1727200"/>
                </a:lnTo>
                <a:lnTo>
                  <a:pt x="1013269" y="1701800"/>
                </a:lnTo>
                <a:lnTo>
                  <a:pt x="977430" y="1689100"/>
                </a:lnTo>
                <a:lnTo>
                  <a:pt x="943864" y="1676400"/>
                </a:lnTo>
                <a:lnTo>
                  <a:pt x="909243" y="1651000"/>
                </a:lnTo>
                <a:lnTo>
                  <a:pt x="870229" y="1625600"/>
                </a:lnTo>
                <a:lnTo>
                  <a:pt x="823531" y="1612900"/>
                </a:lnTo>
                <a:lnTo>
                  <a:pt x="765810" y="1587500"/>
                </a:lnTo>
                <a:lnTo>
                  <a:pt x="704037" y="1562100"/>
                </a:lnTo>
                <a:lnTo>
                  <a:pt x="647090" y="1549400"/>
                </a:lnTo>
                <a:lnTo>
                  <a:pt x="594334" y="1524000"/>
                </a:lnTo>
                <a:lnTo>
                  <a:pt x="545147" y="1498600"/>
                </a:lnTo>
                <a:lnTo>
                  <a:pt x="498868" y="1485900"/>
                </a:lnTo>
                <a:lnTo>
                  <a:pt x="454875" y="1460500"/>
                </a:lnTo>
                <a:lnTo>
                  <a:pt x="371246" y="1435100"/>
                </a:lnTo>
                <a:lnTo>
                  <a:pt x="330327" y="1409700"/>
                </a:lnTo>
                <a:lnTo>
                  <a:pt x="327685" y="1371600"/>
                </a:lnTo>
                <a:lnTo>
                  <a:pt x="330263" y="1320800"/>
                </a:lnTo>
                <a:lnTo>
                  <a:pt x="334937" y="1270000"/>
                </a:lnTo>
                <a:lnTo>
                  <a:pt x="338594" y="1219200"/>
                </a:lnTo>
                <a:lnTo>
                  <a:pt x="338086" y="1181100"/>
                </a:lnTo>
                <a:lnTo>
                  <a:pt x="330327" y="1143000"/>
                </a:lnTo>
                <a:lnTo>
                  <a:pt x="394131" y="1168400"/>
                </a:lnTo>
                <a:lnTo>
                  <a:pt x="451319" y="1193800"/>
                </a:lnTo>
                <a:lnTo>
                  <a:pt x="502805" y="1219200"/>
                </a:lnTo>
                <a:lnTo>
                  <a:pt x="549516" y="1231900"/>
                </a:lnTo>
                <a:lnTo>
                  <a:pt x="592378" y="1257300"/>
                </a:lnTo>
                <a:lnTo>
                  <a:pt x="632307" y="1270000"/>
                </a:lnTo>
                <a:lnTo>
                  <a:pt x="670242" y="1295400"/>
                </a:lnTo>
                <a:lnTo>
                  <a:pt x="707110" y="1295400"/>
                </a:lnTo>
                <a:lnTo>
                  <a:pt x="780275" y="1320800"/>
                </a:lnTo>
                <a:lnTo>
                  <a:pt x="822159" y="1333500"/>
                </a:lnTo>
                <a:lnTo>
                  <a:pt x="868159" y="1346200"/>
                </a:lnTo>
                <a:lnTo>
                  <a:pt x="916914" y="1371600"/>
                </a:lnTo>
                <a:lnTo>
                  <a:pt x="1017308" y="1422400"/>
                </a:lnTo>
                <a:lnTo>
                  <a:pt x="1066228" y="1435100"/>
                </a:lnTo>
                <a:lnTo>
                  <a:pt x="1112520" y="1460500"/>
                </a:lnTo>
                <a:lnTo>
                  <a:pt x="1154811" y="1473200"/>
                </a:lnTo>
                <a:lnTo>
                  <a:pt x="1191768" y="1485900"/>
                </a:lnTo>
                <a:lnTo>
                  <a:pt x="1245527" y="1460500"/>
                </a:lnTo>
                <a:lnTo>
                  <a:pt x="1294053" y="1435100"/>
                </a:lnTo>
                <a:lnTo>
                  <a:pt x="1338656" y="1422400"/>
                </a:lnTo>
                <a:lnTo>
                  <a:pt x="1380655" y="1397000"/>
                </a:lnTo>
                <a:lnTo>
                  <a:pt x="1504010" y="1358900"/>
                </a:lnTo>
                <a:lnTo>
                  <a:pt x="1548612" y="1333500"/>
                </a:lnTo>
                <a:lnTo>
                  <a:pt x="1652879" y="1295400"/>
                </a:lnTo>
                <a:lnTo>
                  <a:pt x="1705546" y="1270000"/>
                </a:lnTo>
                <a:lnTo>
                  <a:pt x="1755317" y="1257300"/>
                </a:lnTo>
                <a:lnTo>
                  <a:pt x="1802384" y="1244600"/>
                </a:lnTo>
                <a:lnTo>
                  <a:pt x="1846910" y="1219200"/>
                </a:lnTo>
                <a:lnTo>
                  <a:pt x="1889112" y="1206500"/>
                </a:lnTo>
                <a:lnTo>
                  <a:pt x="1929155" y="1181100"/>
                </a:lnTo>
                <a:lnTo>
                  <a:pt x="1967230" y="1168400"/>
                </a:lnTo>
                <a:lnTo>
                  <a:pt x="2004529" y="1143000"/>
                </a:lnTo>
                <a:lnTo>
                  <a:pt x="2048941" y="1130300"/>
                </a:lnTo>
                <a:lnTo>
                  <a:pt x="2098230" y="1104900"/>
                </a:lnTo>
                <a:lnTo>
                  <a:pt x="2202611" y="1079500"/>
                </a:lnTo>
                <a:lnTo>
                  <a:pt x="2253284" y="1054100"/>
                </a:lnTo>
                <a:lnTo>
                  <a:pt x="2299982" y="1041400"/>
                </a:lnTo>
                <a:lnTo>
                  <a:pt x="2340495" y="1016000"/>
                </a:lnTo>
                <a:lnTo>
                  <a:pt x="2372614" y="990600"/>
                </a:lnTo>
                <a:lnTo>
                  <a:pt x="2382342" y="1041400"/>
                </a:lnTo>
                <a:lnTo>
                  <a:pt x="2382342" y="794016"/>
                </a:lnTo>
                <a:lnTo>
                  <a:pt x="2305113" y="812800"/>
                </a:lnTo>
                <a:lnTo>
                  <a:pt x="2253196" y="838200"/>
                </a:lnTo>
                <a:lnTo>
                  <a:pt x="2202751" y="850900"/>
                </a:lnTo>
                <a:lnTo>
                  <a:pt x="2154771" y="863600"/>
                </a:lnTo>
                <a:lnTo>
                  <a:pt x="2110206" y="889000"/>
                </a:lnTo>
                <a:lnTo>
                  <a:pt x="2070061" y="914400"/>
                </a:lnTo>
                <a:lnTo>
                  <a:pt x="2035302" y="939800"/>
                </a:lnTo>
                <a:lnTo>
                  <a:pt x="1995373" y="977900"/>
                </a:lnTo>
                <a:lnTo>
                  <a:pt x="1948611" y="1003300"/>
                </a:lnTo>
                <a:lnTo>
                  <a:pt x="1897430" y="1016000"/>
                </a:lnTo>
                <a:lnTo>
                  <a:pt x="1844205" y="1041400"/>
                </a:lnTo>
                <a:lnTo>
                  <a:pt x="1791335" y="1054100"/>
                </a:lnTo>
                <a:lnTo>
                  <a:pt x="1741208" y="1066800"/>
                </a:lnTo>
                <a:lnTo>
                  <a:pt x="1696212" y="1079500"/>
                </a:lnTo>
                <a:lnTo>
                  <a:pt x="1658747" y="1092200"/>
                </a:lnTo>
                <a:lnTo>
                  <a:pt x="1624723" y="1117600"/>
                </a:lnTo>
                <a:lnTo>
                  <a:pt x="1582788" y="1130300"/>
                </a:lnTo>
                <a:lnTo>
                  <a:pt x="1535188" y="1143000"/>
                </a:lnTo>
                <a:lnTo>
                  <a:pt x="1484210" y="1168400"/>
                </a:lnTo>
                <a:lnTo>
                  <a:pt x="1432115" y="1181100"/>
                </a:lnTo>
                <a:lnTo>
                  <a:pt x="1381188" y="1206500"/>
                </a:lnTo>
                <a:lnTo>
                  <a:pt x="1333677" y="1219200"/>
                </a:lnTo>
                <a:lnTo>
                  <a:pt x="1291882" y="1244600"/>
                </a:lnTo>
                <a:lnTo>
                  <a:pt x="1258062" y="1270000"/>
                </a:lnTo>
                <a:lnTo>
                  <a:pt x="1216863" y="1244600"/>
                </a:lnTo>
                <a:lnTo>
                  <a:pt x="1172552" y="1231900"/>
                </a:lnTo>
                <a:lnTo>
                  <a:pt x="1126185" y="1206500"/>
                </a:lnTo>
                <a:lnTo>
                  <a:pt x="1078839" y="1181100"/>
                </a:lnTo>
                <a:lnTo>
                  <a:pt x="1031570" y="1168400"/>
                </a:lnTo>
                <a:lnTo>
                  <a:pt x="985431" y="1143000"/>
                </a:lnTo>
                <a:lnTo>
                  <a:pt x="941489" y="1130300"/>
                </a:lnTo>
                <a:lnTo>
                  <a:pt x="900823" y="1117600"/>
                </a:lnTo>
                <a:lnTo>
                  <a:pt x="864489" y="1104900"/>
                </a:lnTo>
                <a:lnTo>
                  <a:pt x="833285" y="1104900"/>
                </a:lnTo>
                <a:lnTo>
                  <a:pt x="800290" y="1092200"/>
                </a:lnTo>
                <a:lnTo>
                  <a:pt x="765073" y="1079500"/>
                </a:lnTo>
                <a:lnTo>
                  <a:pt x="727202" y="1066800"/>
                </a:lnTo>
                <a:lnTo>
                  <a:pt x="686269" y="1041400"/>
                </a:lnTo>
                <a:lnTo>
                  <a:pt x="641832" y="1028700"/>
                </a:lnTo>
                <a:lnTo>
                  <a:pt x="593483" y="1003300"/>
                </a:lnTo>
                <a:lnTo>
                  <a:pt x="540778" y="977900"/>
                </a:lnTo>
                <a:lnTo>
                  <a:pt x="483298" y="952500"/>
                </a:lnTo>
                <a:lnTo>
                  <a:pt x="420624" y="927100"/>
                </a:lnTo>
                <a:lnTo>
                  <a:pt x="415404" y="876300"/>
                </a:lnTo>
                <a:lnTo>
                  <a:pt x="415302" y="863600"/>
                </a:lnTo>
                <a:lnTo>
                  <a:pt x="415213" y="850900"/>
                </a:lnTo>
                <a:lnTo>
                  <a:pt x="415112" y="838200"/>
                </a:lnTo>
                <a:lnTo>
                  <a:pt x="417614" y="800100"/>
                </a:lnTo>
                <a:lnTo>
                  <a:pt x="420789" y="762000"/>
                </a:lnTo>
                <a:lnTo>
                  <a:pt x="422490" y="711200"/>
                </a:lnTo>
                <a:lnTo>
                  <a:pt x="420624" y="660400"/>
                </a:lnTo>
                <a:lnTo>
                  <a:pt x="463423" y="673100"/>
                </a:lnTo>
                <a:lnTo>
                  <a:pt x="502818" y="685800"/>
                </a:lnTo>
                <a:lnTo>
                  <a:pt x="540664" y="698500"/>
                </a:lnTo>
                <a:lnTo>
                  <a:pt x="578815" y="723900"/>
                </a:lnTo>
                <a:lnTo>
                  <a:pt x="619137" y="749300"/>
                </a:lnTo>
                <a:lnTo>
                  <a:pt x="663498" y="762000"/>
                </a:lnTo>
                <a:lnTo>
                  <a:pt x="713740" y="787400"/>
                </a:lnTo>
                <a:lnTo>
                  <a:pt x="771740" y="812800"/>
                </a:lnTo>
                <a:lnTo>
                  <a:pt x="839343" y="825500"/>
                </a:lnTo>
                <a:lnTo>
                  <a:pt x="899134" y="838200"/>
                </a:lnTo>
                <a:lnTo>
                  <a:pt x="948601" y="863600"/>
                </a:lnTo>
                <a:lnTo>
                  <a:pt x="990104" y="876300"/>
                </a:lnTo>
                <a:lnTo>
                  <a:pt x="1026045" y="889000"/>
                </a:lnTo>
                <a:lnTo>
                  <a:pt x="1090726" y="927100"/>
                </a:lnTo>
                <a:lnTo>
                  <a:pt x="1124242" y="952500"/>
                </a:lnTo>
                <a:lnTo>
                  <a:pt x="1161719" y="965200"/>
                </a:lnTo>
                <a:lnTo>
                  <a:pt x="1205522" y="977900"/>
                </a:lnTo>
                <a:lnTo>
                  <a:pt x="1258062" y="990600"/>
                </a:lnTo>
                <a:lnTo>
                  <a:pt x="1297228" y="965200"/>
                </a:lnTo>
                <a:lnTo>
                  <a:pt x="1377784" y="939800"/>
                </a:lnTo>
                <a:lnTo>
                  <a:pt x="1420431" y="914400"/>
                </a:lnTo>
                <a:lnTo>
                  <a:pt x="1465516" y="901700"/>
                </a:lnTo>
                <a:lnTo>
                  <a:pt x="1513649" y="889000"/>
                </a:lnTo>
                <a:lnTo>
                  <a:pt x="1565478" y="863600"/>
                </a:lnTo>
                <a:lnTo>
                  <a:pt x="1621637" y="838200"/>
                </a:lnTo>
                <a:lnTo>
                  <a:pt x="1682750" y="812800"/>
                </a:lnTo>
                <a:lnTo>
                  <a:pt x="1750364" y="787400"/>
                </a:lnTo>
                <a:lnTo>
                  <a:pt x="1810461" y="774700"/>
                </a:lnTo>
                <a:lnTo>
                  <a:pt x="1864067" y="749300"/>
                </a:lnTo>
                <a:lnTo>
                  <a:pt x="1912251" y="736600"/>
                </a:lnTo>
                <a:lnTo>
                  <a:pt x="1956028" y="723900"/>
                </a:lnTo>
                <a:lnTo>
                  <a:pt x="1996440" y="711200"/>
                </a:lnTo>
                <a:lnTo>
                  <a:pt x="2034540" y="685800"/>
                </a:lnTo>
                <a:lnTo>
                  <a:pt x="2071370" y="660400"/>
                </a:lnTo>
                <a:lnTo>
                  <a:pt x="2110714" y="635000"/>
                </a:lnTo>
                <a:lnTo>
                  <a:pt x="2155037" y="609600"/>
                </a:lnTo>
                <a:lnTo>
                  <a:pt x="2203158" y="596900"/>
                </a:lnTo>
                <a:lnTo>
                  <a:pt x="2253907" y="584200"/>
                </a:lnTo>
                <a:lnTo>
                  <a:pt x="2306142" y="558800"/>
                </a:lnTo>
                <a:lnTo>
                  <a:pt x="2410333" y="533400"/>
                </a:lnTo>
                <a:lnTo>
                  <a:pt x="2459990" y="508000"/>
                </a:lnTo>
                <a:lnTo>
                  <a:pt x="2460904" y="558800"/>
                </a:lnTo>
                <a:lnTo>
                  <a:pt x="2460904" y="287540"/>
                </a:lnTo>
                <a:lnTo>
                  <a:pt x="2445905" y="279400"/>
                </a:lnTo>
                <a:lnTo>
                  <a:pt x="2396883" y="266700"/>
                </a:lnTo>
                <a:lnTo>
                  <a:pt x="2345575" y="241300"/>
                </a:lnTo>
                <a:lnTo>
                  <a:pt x="2291880" y="228600"/>
                </a:lnTo>
                <a:lnTo>
                  <a:pt x="2235708" y="203200"/>
                </a:lnTo>
                <a:lnTo>
                  <a:pt x="2183790" y="190500"/>
                </a:lnTo>
                <a:lnTo>
                  <a:pt x="2133295" y="165100"/>
                </a:lnTo>
                <a:lnTo>
                  <a:pt x="2084070" y="152400"/>
                </a:lnTo>
                <a:lnTo>
                  <a:pt x="2035962" y="127000"/>
                </a:lnTo>
                <a:lnTo>
                  <a:pt x="1942528" y="76200"/>
                </a:lnTo>
                <a:lnTo>
                  <a:pt x="1896897" y="63500"/>
                </a:lnTo>
                <a:lnTo>
                  <a:pt x="1851799" y="38100"/>
                </a:lnTo>
                <a:lnTo>
                  <a:pt x="1718195" y="0"/>
                </a:lnTo>
                <a:lnTo>
                  <a:pt x="1673733" y="0"/>
                </a:lnTo>
                <a:lnTo>
                  <a:pt x="1637220" y="25400"/>
                </a:lnTo>
                <a:lnTo>
                  <a:pt x="1594637" y="50800"/>
                </a:lnTo>
                <a:lnTo>
                  <a:pt x="1547495" y="63500"/>
                </a:lnTo>
                <a:lnTo>
                  <a:pt x="1343926" y="114300"/>
                </a:lnTo>
                <a:lnTo>
                  <a:pt x="1296898" y="127000"/>
                </a:lnTo>
                <a:lnTo>
                  <a:pt x="1254480" y="139700"/>
                </a:lnTo>
                <a:lnTo>
                  <a:pt x="1218184" y="152400"/>
                </a:lnTo>
                <a:lnTo>
                  <a:pt x="1181176" y="177800"/>
                </a:lnTo>
                <a:lnTo>
                  <a:pt x="1142682" y="190500"/>
                </a:lnTo>
                <a:lnTo>
                  <a:pt x="1102321" y="190500"/>
                </a:lnTo>
                <a:lnTo>
                  <a:pt x="1059764" y="203200"/>
                </a:lnTo>
                <a:lnTo>
                  <a:pt x="1014628" y="215900"/>
                </a:lnTo>
                <a:lnTo>
                  <a:pt x="966571" y="228600"/>
                </a:lnTo>
                <a:lnTo>
                  <a:pt x="915250" y="241300"/>
                </a:lnTo>
                <a:lnTo>
                  <a:pt x="860298" y="266700"/>
                </a:lnTo>
                <a:lnTo>
                  <a:pt x="742276" y="342900"/>
                </a:lnTo>
                <a:lnTo>
                  <a:pt x="686943" y="368300"/>
                </a:lnTo>
                <a:lnTo>
                  <a:pt x="635139" y="381000"/>
                </a:lnTo>
                <a:lnTo>
                  <a:pt x="586600" y="406400"/>
                </a:lnTo>
                <a:lnTo>
                  <a:pt x="541083" y="406400"/>
                </a:lnTo>
                <a:lnTo>
                  <a:pt x="498373" y="419100"/>
                </a:lnTo>
                <a:lnTo>
                  <a:pt x="458203" y="431800"/>
                </a:lnTo>
                <a:lnTo>
                  <a:pt x="420344" y="444500"/>
                </a:lnTo>
                <a:lnTo>
                  <a:pt x="384556" y="444500"/>
                </a:lnTo>
                <a:lnTo>
                  <a:pt x="347726" y="469900"/>
                </a:lnTo>
                <a:lnTo>
                  <a:pt x="316763" y="508000"/>
                </a:lnTo>
                <a:lnTo>
                  <a:pt x="291617" y="546100"/>
                </a:lnTo>
                <a:lnTo>
                  <a:pt x="272173" y="584200"/>
                </a:lnTo>
                <a:lnTo>
                  <a:pt x="258381" y="622300"/>
                </a:lnTo>
                <a:lnTo>
                  <a:pt x="250151" y="673100"/>
                </a:lnTo>
                <a:lnTo>
                  <a:pt x="247408" y="723900"/>
                </a:lnTo>
                <a:lnTo>
                  <a:pt x="250075" y="762000"/>
                </a:lnTo>
                <a:lnTo>
                  <a:pt x="258064" y="812800"/>
                </a:lnTo>
                <a:lnTo>
                  <a:pt x="258127" y="825500"/>
                </a:lnTo>
                <a:lnTo>
                  <a:pt x="258203" y="838200"/>
                </a:lnTo>
                <a:lnTo>
                  <a:pt x="258279" y="850900"/>
                </a:lnTo>
                <a:lnTo>
                  <a:pt x="259981" y="876300"/>
                </a:lnTo>
                <a:lnTo>
                  <a:pt x="264464" y="914400"/>
                </a:lnTo>
                <a:lnTo>
                  <a:pt x="273050" y="939800"/>
                </a:lnTo>
                <a:lnTo>
                  <a:pt x="244233" y="977900"/>
                </a:lnTo>
                <a:lnTo>
                  <a:pt x="219100" y="1016000"/>
                </a:lnTo>
                <a:lnTo>
                  <a:pt x="198056" y="1054100"/>
                </a:lnTo>
                <a:lnTo>
                  <a:pt x="181483" y="1104900"/>
                </a:lnTo>
                <a:lnTo>
                  <a:pt x="169748" y="1143000"/>
                </a:lnTo>
                <a:lnTo>
                  <a:pt x="163283" y="1193800"/>
                </a:lnTo>
                <a:lnTo>
                  <a:pt x="162445" y="1244600"/>
                </a:lnTo>
                <a:lnTo>
                  <a:pt x="167640" y="1295400"/>
                </a:lnTo>
                <a:lnTo>
                  <a:pt x="166903" y="1346200"/>
                </a:lnTo>
                <a:lnTo>
                  <a:pt x="174345" y="1384300"/>
                </a:lnTo>
                <a:lnTo>
                  <a:pt x="188556" y="1435100"/>
                </a:lnTo>
                <a:lnTo>
                  <a:pt x="208165" y="1473200"/>
                </a:lnTo>
                <a:lnTo>
                  <a:pt x="231800" y="1524000"/>
                </a:lnTo>
                <a:lnTo>
                  <a:pt x="258064" y="1562100"/>
                </a:lnTo>
                <a:lnTo>
                  <a:pt x="252552" y="1600200"/>
                </a:lnTo>
                <a:lnTo>
                  <a:pt x="252501" y="1612900"/>
                </a:lnTo>
                <a:lnTo>
                  <a:pt x="252387" y="1638300"/>
                </a:lnTo>
                <a:lnTo>
                  <a:pt x="253542" y="1689100"/>
                </a:lnTo>
                <a:lnTo>
                  <a:pt x="251968" y="1739900"/>
                </a:lnTo>
                <a:lnTo>
                  <a:pt x="250177" y="1803400"/>
                </a:lnTo>
                <a:lnTo>
                  <a:pt x="252742" y="1854200"/>
                </a:lnTo>
                <a:lnTo>
                  <a:pt x="260540" y="1892300"/>
                </a:lnTo>
                <a:lnTo>
                  <a:pt x="274434" y="1943100"/>
                </a:lnTo>
                <a:lnTo>
                  <a:pt x="295313" y="1981200"/>
                </a:lnTo>
                <a:lnTo>
                  <a:pt x="324040" y="2006600"/>
                </a:lnTo>
                <a:lnTo>
                  <a:pt x="361492" y="2032000"/>
                </a:lnTo>
                <a:lnTo>
                  <a:pt x="408559" y="2044700"/>
                </a:lnTo>
                <a:lnTo>
                  <a:pt x="469341" y="2057400"/>
                </a:lnTo>
                <a:lnTo>
                  <a:pt x="519252" y="2082800"/>
                </a:lnTo>
                <a:lnTo>
                  <a:pt x="560832" y="2095500"/>
                </a:lnTo>
                <a:lnTo>
                  <a:pt x="596696" y="2120900"/>
                </a:lnTo>
                <a:lnTo>
                  <a:pt x="629386" y="2133600"/>
                </a:lnTo>
                <a:lnTo>
                  <a:pt x="661504" y="2159000"/>
                </a:lnTo>
                <a:lnTo>
                  <a:pt x="695604" y="2171700"/>
                </a:lnTo>
                <a:lnTo>
                  <a:pt x="734288" y="2197100"/>
                </a:lnTo>
                <a:lnTo>
                  <a:pt x="780110" y="2209800"/>
                </a:lnTo>
                <a:lnTo>
                  <a:pt x="835660" y="2222500"/>
                </a:lnTo>
                <a:lnTo>
                  <a:pt x="900087" y="2247900"/>
                </a:lnTo>
                <a:lnTo>
                  <a:pt x="957757" y="2260600"/>
                </a:lnTo>
                <a:lnTo>
                  <a:pt x="1009548" y="2286000"/>
                </a:lnTo>
                <a:lnTo>
                  <a:pt x="1056322" y="2324100"/>
                </a:lnTo>
                <a:lnTo>
                  <a:pt x="1098981" y="2349500"/>
                </a:lnTo>
                <a:lnTo>
                  <a:pt x="1138389" y="2362200"/>
                </a:lnTo>
                <a:lnTo>
                  <a:pt x="1175448" y="2387600"/>
                </a:lnTo>
                <a:lnTo>
                  <a:pt x="1245997" y="2387600"/>
                </a:lnTo>
                <a:lnTo>
                  <a:pt x="1406906" y="2336800"/>
                </a:lnTo>
                <a:lnTo>
                  <a:pt x="1449133" y="2324100"/>
                </a:lnTo>
                <a:lnTo>
                  <a:pt x="1493075" y="2298700"/>
                </a:lnTo>
                <a:lnTo>
                  <a:pt x="1539214" y="2286000"/>
                </a:lnTo>
                <a:lnTo>
                  <a:pt x="1587995" y="2273300"/>
                </a:lnTo>
                <a:lnTo>
                  <a:pt x="1639887" y="2247900"/>
                </a:lnTo>
                <a:lnTo>
                  <a:pt x="1695361" y="2222500"/>
                </a:lnTo>
                <a:lnTo>
                  <a:pt x="1735035" y="2197100"/>
                </a:lnTo>
                <a:lnTo>
                  <a:pt x="1754886" y="2184400"/>
                </a:lnTo>
                <a:lnTo>
                  <a:pt x="1815680" y="2146300"/>
                </a:lnTo>
                <a:lnTo>
                  <a:pt x="1874583" y="2120900"/>
                </a:lnTo>
                <a:lnTo>
                  <a:pt x="1931225" y="2095500"/>
                </a:lnTo>
                <a:lnTo>
                  <a:pt x="1985302" y="2070100"/>
                </a:lnTo>
                <a:lnTo>
                  <a:pt x="2036457" y="2057400"/>
                </a:lnTo>
                <a:lnTo>
                  <a:pt x="2084374" y="2044700"/>
                </a:lnTo>
                <a:lnTo>
                  <a:pt x="2128710" y="2032000"/>
                </a:lnTo>
                <a:lnTo>
                  <a:pt x="2169134" y="2019300"/>
                </a:lnTo>
                <a:lnTo>
                  <a:pt x="2205317" y="2006600"/>
                </a:lnTo>
                <a:lnTo>
                  <a:pt x="2263648" y="1968500"/>
                </a:lnTo>
                <a:lnTo>
                  <a:pt x="2293150" y="1955800"/>
                </a:lnTo>
                <a:lnTo>
                  <a:pt x="2328151" y="1930400"/>
                </a:lnTo>
                <a:lnTo>
                  <a:pt x="2367978" y="1917700"/>
                </a:lnTo>
                <a:lnTo>
                  <a:pt x="2411996" y="1905000"/>
                </a:lnTo>
                <a:lnTo>
                  <a:pt x="2459571" y="1892300"/>
                </a:lnTo>
                <a:lnTo>
                  <a:pt x="2510040" y="1879600"/>
                </a:lnTo>
                <a:lnTo>
                  <a:pt x="2562783" y="1854200"/>
                </a:lnTo>
                <a:lnTo>
                  <a:pt x="2617127" y="1841500"/>
                </a:lnTo>
                <a:lnTo>
                  <a:pt x="2672435" y="1816100"/>
                </a:lnTo>
                <a:lnTo>
                  <a:pt x="2728087" y="1778000"/>
                </a:lnTo>
                <a:lnTo>
                  <a:pt x="2689999" y="1778000"/>
                </a:lnTo>
                <a:lnTo>
                  <a:pt x="2651772" y="1752600"/>
                </a:lnTo>
                <a:lnTo>
                  <a:pt x="2612517" y="1739900"/>
                </a:lnTo>
                <a:lnTo>
                  <a:pt x="2571369" y="1727200"/>
                </a:lnTo>
                <a:lnTo>
                  <a:pt x="2570022" y="1676400"/>
                </a:lnTo>
                <a:lnTo>
                  <a:pt x="2570708" y="1625600"/>
                </a:lnTo>
                <a:lnTo>
                  <a:pt x="2572474" y="1574800"/>
                </a:lnTo>
                <a:lnTo>
                  <a:pt x="2574366" y="1524000"/>
                </a:lnTo>
                <a:lnTo>
                  <a:pt x="2575433" y="1473200"/>
                </a:lnTo>
                <a:lnTo>
                  <a:pt x="2574760" y="1435100"/>
                </a:lnTo>
                <a:lnTo>
                  <a:pt x="2573909" y="1422400"/>
                </a:lnTo>
                <a:lnTo>
                  <a:pt x="2571369" y="1384300"/>
                </a:lnTo>
                <a:lnTo>
                  <a:pt x="2616911" y="1371600"/>
                </a:lnTo>
                <a:lnTo>
                  <a:pt x="2684322" y="1346200"/>
                </a:lnTo>
                <a:lnTo>
                  <a:pt x="2728087" y="1320800"/>
                </a:lnTo>
                <a:lnTo>
                  <a:pt x="2680347" y="1308100"/>
                </a:lnTo>
                <a:lnTo>
                  <a:pt x="2585656" y="1257300"/>
                </a:lnTo>
                <a:lnTo>
                  <a:pt x="2487041" y="1231900"/>
                </a:lnTo>
                <a:lnTo>
                  <a:pt x="2484526" y="1193800"/>
                </a:lnTo>
                <a:lnTo>
                  <a:pt x="2485288" y="1155700"/>
                </a:lnTo>
                <a:lnTo>
                  <a:pt x="2487612" y="1117600"/>
                </a:lnTo>
                <a:lnTo>
                  <a:pt x="2489797" y="1066800"/>
                </a:lnTo>
                <a:lnTo>
                  <a:pt x="2489898" y="1054100"/>
                </a:lnTo>
                <a:lnTo>
                  <a:pt x="2489987" y="1041400"/>
                </a:lnTo>
                <a:lnTo>
                  <a:pt x="2490076" y="1028700"/>
                </a:lnTo>
                <a:lnTo>
                  <a:pt x="2490178" y="1016000"/>
                </a:lnTo>
                <a:lnTo>
                  <a:pt x="2489123" y="990600"/>
                </a:lnTo>
                <a:lnTo>
                  <a:pt x="2487041" y="939800"/>
                </a:lnTo>
                <a:lnTo>
                  <a:pt x="2533497" y="914400"/>
                </a:lnTo>
                <a:lnTo>
                  <a:pt x="2576030" y="901700"/>
                </a:lnTo>
                <a:lnTo>
                  <a:pt x="2693619" y="863600"/>
                </a:lnTo>
                <a:lnTo>
                  <a:pt x="2734056" y="838200"/>
                </a:lnTo>
                <a:lnTo>
                  <a:pt x="2701950" y="825500"/>
                </a:lnTo>
                <a:lnTo>
                  <a:pt x="2666187" y="812800"/>
                </a:lnTo>
                <a:lnTo>
                  <a:pt x="2625191" y="800100"/>
                </a:lnTo>
                <a:lnTo>
                  <a:pt x="2577465" y="787400"/>
                </a:lnTo>
                <a:lnTo>
                  <a:pt x="2572410" y="723900"/>
                </a:lnTo>
                <a:lnTo>
                  <a:pt x="2571292" y="673100"/>
                </a:lnTo>
                <a:lnTo>
                  <a:pt x="2572753" y="622300"/>
                </a:lnTo>
                <a:lnTo>
                  <a:pt x="2575445" y="571500"/>
                </a:lnTo>
                <a:lnTo>
                  <a:pt x="2578023" y="533400"/>
                </a:lnTo>
                <a:lnTo>
                  <a:pt x="2578773" y="508000"/>
                </a:lnTo>
                <a:lnTo>
                  <a:pt x="2579141" y="495300"/>
                </a:lnTo>
                <a:lnTo>
                  <a:pt x="2577465" y="457200"/>
                </a:lnTo>
                <a:lnTo>
                  <a:pt x="2617851" y="431800"/>
                </a:lnTo>
                <a:lnTo>
                  <a:pt x="2653563" y="431800"/>
                </a:lnTo>
                <a:lnTo>
                  <a:pt x="2690368" y="419100"/>
                </a:lnTo>
                <a:lnTo>
                  <a:pt x="2734056" y="39370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271259" y="3549396"/>
            <a:ext cx="372110" cy="439420"/>
          </a:xfrm>
          <a:custGeom>
            <a:avLst/>
            <a:gdLst/>
            <a:ahLst/>
            <a:cxnLst/>
            <a:rect l="l" t="t" r="r" b="b"/>
            <a:pathLst>
              <a:path w="372109" h="439420">
                <a:moveTo>
                  <a:pt x="185927" y="0"/>
                </a:moveTo>
                <a:lnTo>
                  <a:pt x="161730" y="38869"/>
                </a:lnTo>
                <a:lnTo>
                  <a:pt x="134168" y="79050"/>
                </a:lnTo>
                <a:lnTo>
                  <a:pt x="103727" y="118871"/>
                </a:lnTo>
                <a:lnTo>
                  <a:pt x="70894" y="156661"/>
                </a:lnTo>
                <a:lnTo>
                  <a:pt x="36156" y="190746"/>
                </a:lnTo>
                <a:lnTo>
                  <a:pt x="0" y="219455"/>
                </a:lnTo>
                <a:lnTo>
                  <a:pt x="46986" y="253289"/>
                </a:lnTo>
                <a:lnTo>
                  <a:pt x="87601" y="286032"/>
                </a:lnTo>
                <a:lnTo>
                  <a:pt x="121824" y="319325"/>
                </a:lnTo>
                <a:lnTo>
                  <a:pt x="149634" y="354809"/>
                </a:lnTo>
                <a:lnTo>
                  <a:pt x="171009" y="394125"/>
                </a:lnTo>
                <a:lnTo>
                  <a:pt x="185927" y="438911"/>
                </a:lnTo>
                <a:lnTo>
                  <a:pt x="206597" y="392731"/>
                </a:lnTo>
                <a:lnTo>
                  <a:pt x="232748" y="349588"/>
                </a:lnTo>
                <a:lnTo>
                  <a:pt x="263366" y="310086"/>
                </a:lnTo>
                <a:lnTo>
                  <a:pt x="297433" y="274827"/>
                </a:lnTo>
                <a:lnTo>
                  <a:pt x="333935" y="244416"/>
                </a:lnTo>
                <a:lnTo>
                  <a:pt x="371856" y="219455"/>
                </a:lnTo>
                <a:lnTo>
                  <a:pt x="329861" y="187439"/>
                </a:lnTo>
                <a:lnTo>
                  <a:pt x="291676" y="154798"/>
                </a:lnTo>
                <a:lnTo>
                  <a:pt x="257746" y="120634"/>
                </a:lnTo>
                <a:lnTo>
                  <a:pt x="228515" y="84045"/>
                </a:lnTo>
                <a:lnTo>
                  <a:pt x="204427" y="44134"/>
                </a:lnTo>
                <a:lnTo>
                  <a:pt x="185927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664452" y="2820923"/>
            <a:ext cx="307975" cy="364490"/>
          </a:xfrm>
          <a:custGeom>
            <a:avLst/>
            <a:gdLst/>
            <a:ahLst/>
            <a:cxnLst/>
            <a:rect l="l" t="t" r="r" b="b"/>
            <a:pathLst>
              <a:path w="307975" h="364489">
                <a:moveTo>
                  <a:pt x="153924" y="0"/>
                </a:moveTo>
                <a:lnTo>
                  <a:pt x="137233" y="52785"/>
                </a:lnTo>
                <a:lnTo>
                  <a:pt x="111959" y="95963"/>
                </a:lnTo>
                <a:lnTo>
                  <a:pt x="79638" y="130960"/>
                </a:lnTo>
                <a:lnTo>
                  <a:pt x="41806" y="159203"/>
                </a:lnTo>
                <a:lnTo>
                  <a:pt x="0" y="182117"/>
                </a:lnTo>
                <a:lnTo>
                  <a:pt x="43866" y="212165"/>
                </a:lnTo>
                <a:lnTo>
                  <a:pt x="79784" y="240773"/>
                </a:lnTo>
                <a:lnTo>
                  <a:pt x="109161" y="272570"/>
                </a:lnTo>
                <a:lnTo>
                  <a:pt x="133404" y="312182"/>
                </a:lnTo>
                <a:lnTo>
                  <a:pt x="153924" y="364236"/>
                </a:lnTo>
                <a:lnTo>
                  <a:pt x="168639" y="313657"/>
                </a:lnTo>
                <a:lnTo>
                  <a:pt x="190146" y="272149"/>
                </a:lnTo>
                <a:lnTo>
                  <a:pt x="219687" y="237719"/>
                </a:lnTo>
                <a:lnTo>
                  <a:pt x="258506" y="208373"/>
                </a:lnTo>
                <a:lnTo>
                  <a:pt x="307848" y="182117"/>
                </a:lnTo>
                <a:lnTo>
                  <a:pt x="263993" y="155472"/>
                </a:lnTo>
                <a:lnTo>
                  <a:pt x="226545" y="120225"/>
                </a:lnTo>
                <a:lnTo>
                  <a:pt x="195632" y="80089"/>
                </a:lnTo>
                <a:lnTo>
                  <a:pt x="171382" y="38776"/>
                </a:lnTo>
                <a:lnTo>
                  <a:pt x="153924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073895" y="3404615"/>
            <a:ext cx="306705" cy="364490"/>
          </a:xfrm>
          <a:custGeom>
            <a:avLst/>
            <a:gdLst/>
            <a:ahLst/>
            <a:cxnLst/>
            <a:rect l="l" t="t" r="r" b="b"/>
            <a:pathLst>
              <a:path w="306704" h="364489">
                <a:moveTo>
                  <a:pt x="153161" y="0"/>
                </a:moveTo>
                <a:lnTo>
                  <a:pt x="126577" y="50651"/>
                </a:lnTo>
                <a:lnTo>
                  <a:pt x="98554" y="92762"/>
                </a:lnTo>
                <a:lnTo>
                  <a:pt x="68506" y="127759"/>
                </a:lnTo>
                <a:lnTo>
                  <a:pt x="35850" y="157069"/>
                </a:lnTo>
                <a:lnTo>
                  <a:pt x="0" y="182118"/>
                </a:lnTo>
                <a:lnTo>
                  <a:pt x="49981" y="205337"/>
                </a:lnTo>
                <a:lnTo>
                  <a:pt x="87032" y="238030"/>
                </a:lnTo>
                <a:lnTo>
                  <a:pt x="114409" y="277325"/>
                </a:lnTo>
                <a:lnTo>
                  <a:pt x="135367" y="320350"/>
                </a:lnTo>
                <a:lnTo>
                  <a:pt x="153161" y="364236"/>
                </a:lnTo>
                <a:lnTo>
                  <a:pt x="171248" y="315388"/>
                </a:lnTo>
                <a:lnTo>
                  <a:pt x="191786" y="274966"/>
                </a:lnTo>
                <a:lnTo>
                  <a:pt x="218596" y="240755"/>
                </a:lnTo>
                <a:lnTo>
                  <a:pt x="255501" y="210543"/>
                </a:lnTo>
                <a:lnTo>
                  <a:pt x="306324" y="182118"/>
                </a:lnTo>
                <a:lnTo>
                  <a:pt x="258878" y="160117"/>
                </a:lnTo>
                <a:lnTo>
                  <a:pt x="217480" y="131600"/>
                </a:lnTo>
                <a:lnTo>
                  <a:pt x="184489" y="95871"/>
                </a:lnTo>
                <a:lnTo>
                  <a:pt x="162263" y="52236"/>
                </a:lnTo>
                <a:lnTo>
                  <a:pt x="153161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87568" y="3640835"/>
            <a:ext cx="118110" cy="474345"/>
          </a:xfrm>
          <a:custGeom>
            <a:avLst/>
            <a:gdLst/>
            <a:ahLst/>
            <a:cxnLst/>
            <a:rect l="l" t="t" r="r" b="b"/>
            <a:pathLst>
              <a:path w="118109" h="474345">
                <a:moveTo>
                  <a:pt x="59507" y="0"/>
                </a:moveTo>
                <a:lnTo>
                  <a:pt x="39879" y="2998"/>
                </a:lnTo>
                <a:lnTo>
                  <a:pt x="21549" y="16367"/>
                </a:lnTo>
                <a:lnTo>
                  <a:pt x="8482" y="35236"/>
                </a:lnTo>
                <a:lnTo>
                  <a:pt x="4643" y="54737"/>
                </a:lnTo>
                <a:lnTo>
                  <a:pt x="5429" y="116628"/>
                </a:lnTo>
                <a:lnTo>
                  <a:pt x="4465" y="167952"/>
                </a:lnTo>
                <a:lnTo>
                  <a:pt x="857" y="256401"/>
                </a:lnTo>
                <a:lnTo>
                  <a:pt x="0" y="302279"/>
                </a:lnTo>
                <a:lnTo>
                  <a:pt x="964" y="355096"/>
                </a:lnTo>
                <a:lnTo>
                  <a:pt x="4643" y="419226"/>
                </a:lnTo>
                <a:lnTo>
                  <a:pt x="21883" y="460216"/>
                </a:lnTo>
                <a:lnTo>
                  <a:pt x="59507" y="473963"/>
                </a:lnTo>
                <a:lnTo>
                  <a:pt x="81366" y="466143"/>
                </a:lnTo>
                <a:lnTo>
                  <a:pt x="98654" y="454739"/>
                </a:lnTo>
                <a:lnTo>
                  <a:pt x="110084" y="439263"/>
                </a:lnTo>
                <a:lnTo>
                  <a:pt x="114371" y="419226"/>
                </a:lnTo>
                <a:lnTo>
                  <a:pt x="108346" y="354136"/>
                </a:lnTo>
                <a:lnTo>
                  <a:pt x="107506" y="300246"/>
                </a:lnTo>
                <a:lnTo>
                  <a:pt x="109945" y="253442"/>
                </a:lnTo>
                <a:lnTo>
                  <a:pt x="113757" y="209605"/>
                </a:lnTo>
                <a:lnTo>
                  <a:pt x="117036" y="164619"/>
                </a:lnTo>
                <a:lnTo>
                  <a:pt x="117876" y="114369"/>
                </a:lnTo>
                <a:lnTo>
                  <a:pt x="114371" y="54737"/>
                </a:lnTo>
                <a:lnTo>
                  <a:pt x="98607" y="18605"/>
                </a:lnTo>
                <a:lnTo>
                  <a:pt x="81206" y="6731"/>
                </a:lnTo>
                <a:lnTo>
                  <a:pt x="59507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88208" y="3130295"/>
            <a:ext cx="114300" cy="401320"/>
          </a:xfrm>
          <a:custGeom>
            <a:avLst/>
            <a:gdLst/>
            <a:ahLst/>
            <a:cxnLst/>
            <a:rect l="l" t="t" r="r" b="b"/>
            <a:pathLst>
              <a:path w="114300" h="401320">
                <a:moveTo>
                  <a:pt x="58868" y="0"/>
                </a:moveTo>
                <a:lnTo>
                  <a:pt x="37401" y="5925"/>
                </a:lnTo>
                <a:lnTo>
                  <a:pt x="20958" y="19018"/>
                </a:lnTo>
                <a:lnTo>
                  <a:pt x="9754" y="36254"/>
                </a:lnTo>
                <a:lnTo>
                  <a:pt x="4004" y="54609"/>
                </a:lnTo>
                <a:lnTo>
                  <a:pt x="9807" y="105198"/>
                </a:lnTo>
                <a:lnTo>
                  <a:pt x="9366" y="152531"/>
                </a:lnTo>
                <a:lnTo>
                  <a:pt x="5623" y="198453"/>
                </a:lnTo>
                <a:lnTo>
                  <a:pt x="1520" y="244808"/>
                </a:lnTo>
                <a:lnTo>
                  <a:pt x="0" y="293443"/>
                </a:lnTo>
                <a:lnTo>
                  <a:pt x="4004" y="346201"/>
                </a:lnTo>
                <a:lnTo>
                  <a:pt x="20101" y="384651"/>
                </a:lnTo>
                <a:lnTo>
                  <a:pt x="58868" y="400812"/>
                </a:lnTo>
                <a:lnTo>
                  <a:pt x="76477" y="395547"/>
                </a:lnTo>
                <a:lnTo>
                  <a:pt x="94586" y="382127"/>
                </a:lnTo>
                <a:lnTo>
                  <a:pt x="108552" y="364396"/>
                </a:lnTo>
                <a:lnTo>
                  <a:pt x="113732" y="346201"/>
                </a:lnTo>
                <a:lnTo>
                  <a:pt x="106085" y="286811"/>
                </a:lnTo>
                <a:lnTo>
                  <a:pt x="104757" y="238995"/>
                </a:lnTo>
                <a:lnTo>
                  <a:pt x="107302" y="197310"/>
                </a:lnTo>
                <a:lnTo>
                  <a:pt x="111276" y="156313"/>
                </a:lnTo>
                <a:lnTo>
                  <a:pt x="114234" y="110561"/>
                </a:lnTo>
                <a:lnTo>
                  <a:pt x="113732" y="54609"/>
                </a:lnTo>
                <a:lnTo>
                  <a:pt x="112499" y="35254"/>
                </a:lnTo>
                <a:lnTo>
                  <a:pt x="100539" y="18446"/>
                </a:lnTo>
                <a:lnTo>
                  <a:pt x="81460" y="6068"/>
                </a:lnTo>
                <a:lnTo>
                  <a:pt x="58868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7791140" y="2766060"/>
            <a:ext cx="115570" cy="254635"/>
          </a:xfrm>
          <a:custGeom>
            <a:avLst/>
            <a:gdLst/>
            <a:ahLst/>
            <a:cxnLst/>
            <a:rect l="l" t="t" r="r" b="b"/>
            <a:pathLst>
              <a:path w="115570" h="254635">
                <a:moveTo>
                  <a:pt x="55935" y="0"/>
                </a:moveTo>
                <a:lnTo>
                  <a:pt x="33397" y="2905"/>
                </a:lnTo>
                <a:lnTo>
                  <a:pt x="15835" y="15430"/>
                </a:lnTo>
                <a:lnTo>
                  <a:pt x="4607" y="33861"/>
                </a:lnTo>
                <a:lnTo>
                  <a:pt x="1071" y="54482"/>
                </a:lnTo>
                <a:lnTo>
                  <a:pt x="1714" y="95190"/>
                </a:lnTo>
                <a:lnTo>
                  <a:pt x="0" y="158317"/>
                </a:lnTo>
                <a:lnTo>
                  <a:pt x="1071" y="200025"/>
                </a:lnTo>
                <a:lnTo>
                  <a:pt x="15882" y="237553"/>
                </a:lnTo>
                <a:lnTo>
                  <a:pt x="55935" y="254507"/>
                </a:lnTo>
                <a:lnTo>
                  <a:pt x="75241" y="248281"/>
                </a:lnTo>
                <a:lnTo>
                  <a:pt x="92178" y="237077"/>
                </a:lnTo>
                <a:lnTo>
                  <a:pt x="104709" y="220968"/>
                </a:lnTo>
                <a:lnTo>
                  <a:pt x="110799" y="200025"/>
                </a:lnTo>
                <a:lnTo>
                  <a:pt x="110085" y="153906"/>
                </a:lnTo>
                <a:lnTo>
                  <a:pt x="113085" y="117109"/>
                </a:lnTo>
                <a:lnTo>
                  <a:pt x="110799" y="54482"/>
                </a:lnTo>
                <a:lnTo>
                  <a:pt x="96273" y="18192"/>
                </a:lnTo>
                <a:lnTo>
                  <a:pt x="79063" y="4548"/>
                </a:lnTo>
                <a:lnTo>
                  <a:pt x="55935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196276" y="3469489"/>
            <a:ext cx="170180" cy="391160"/>
          </a:xfrm>
          <a:custGeom>
            <a:avLst/>
            <a:gdLst/>
            <a:ahLst/>
            <a:cxnLst/>
            <a:rect l="l" t="t" r="r" b="b"/>
            <a:pathLst>
              <a:path w="170179" h="391160">
                <a:moveTo>
                  <a:pt x="107801" y="0"/>
                </a:moveTo>
                <a:lnTo>
                  <a:pt x="88917" y="7929"/>
                </a:lnTo>
                <a:lnTo>
                  <a:pt x="73606" y="22288"/>
                </a:lnTo>
                <a:lnTo>
                  <a:pt x="63295" y="40790"/>
                </a:lnTo>
                <a:lnTo>
                  <a:pt x="57505" y="101550"/>
                </a:lnTo>
                <a:lnTo>
                  <a:pt x="44240" y="151200"/>
                </a:lnTo>
                <a:lnTo>
                  <a:pt x="12288" y="234461"/>
                </a:lnTo>
                <a:lnTo>
                  <a:pt x="2103" y="276713"/>
                </a:lnTo>
                <a:lnTo>
                  <a:pt x="1446" y="325143"/>
                </a:lnTo>
                <a:lnTo>
                  <a:pt x="0" y="346225"/>
                </a:lnTo>
                <a:lnTo>
                  <a:pt x="7209" y="365593"/>
                </a:lnTo>
                <a:lnTo>
                  <a:pt x="21538" y="381150"/>
                </a:lnTo>
                <a:lnTo>
                  <a:pt x="41451" y="390802"/>
                </a:lnTo>
                <a:lnTo>
                  <a:pt x="44499" y="389786"/>
                </a:lnTo>
                <a:lnTo>
                  <a:pt x="47928" y="390929"/>
                </a:lnTo>
                <a:lnTo>
                  <a:pt x="52373" y="390802"/>
                </a:lnTo>
                <a:lnTo>
                  <a:pt x="69300" y="390425"/>
                </a:lnTo>
                <a:lnTo>
                  <a:pt x="83774" y="382357"/>
                </a:lnTo>
                <a:lnTo>
                  <a:pt x="96200" y="368478"/>
                </a:lnTo>
                <a:lnTo>
                  <a:pt x="106983" y="350670"/>
                </a:lnTo>
                <a:lnTo>
                  <a:pt x="115542" y="299004"/>
                </a:lnTo>
                <a:lnTo>
                  <a:pt x="127110" y="252255"/>
                </a:lnTo>
                <a:lnTo>
                  <a:pt x="139955" y="208018"/>
                </a:lnTo>
                <a:lnTo>
                  <a:pt x="152346" y="163886"/>
                </a:lnTo>
                <a:lnTo>
                  <a:pt x="162549" y="117455"/>
                </a:lnTo>
                <a:lnTo>
                  <a:pt x="168832" y="66317"/>
                </a:lnTo>
                <a:lnTo>
                  <a:pt x="170082" y="41344"/>
                </a:lnTo>
                <a:lnTo>
                  <a:pt x="162831" y="21121"/>
                </a:lnTo>
                <a:lnTo>
                  <a:pt x="148580" y="7113"/>
                </a:lnTo>
                <a:lnTo>
                  <a:pt x="128827" y="785"/>
                </a:lnTo>
                <a:lnTo>
                  <a:pt x="107801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8307451" y="3034815"/>
            <a:ext cx="156845" cy="327025"/>
          </a:xfrm>
          <a:custGeom>
            <a:avLst/>
            <a:gdLst/>
            <a:ahLst/>
            <a:cxnLst/>
            <a:rect l="l" t="t" r="r" b="b"/>
            <a:pathLst>
              <a:path w="156845" h="327025">
                <a:moveTo>
                  <a:pt x="53909" y="325096"/>
                </a:moveTo>
                <a:lnTo>
                  <a:pt x="45084" y="325096"/>
                </a:lnTo>
                <a:lnTo>
                  <a:pt x="47117" y="326874"/>
                </a:lnTo>
                <a:lnTo>
                  <a:pt x="50926" y="325604"/>
                </a:lnTo>
                <a:lnTo>
                  <a:pt x="53909" y="325096"/>
                </a:lnTo>
                <a:close/>
              </a:path>
              <a:path w="156845" h="327025">
                <a:moveTo>
                  <a:pt x="112826" y="0"/>
                </a:moveTo>
                <a:lnTo>
                  <a:pt x="89927" y="0"/>
                </a:lnTo>
                <a:lnTo>
                  <a:pt x="70865" y="8643"/>
                </a:lnTo>
                <a:lnTo>
                  <a:pt x="56372" y="23915"/>
                </a:lnTo>
                <a:lnTo>
                  <a:pt x="47244" y="43791"/>
                </a:lnTo>
                <a:lnTo>
                  <a:pt x="42915" y="90945"/>
                </a:lnTo>
                <a:lnTo>
                  <a:pt x="30815" y="128694"/>
                </a:lnTo>
                <a:lnTo>
                  <a:pt x="16154" y="164455"/>
                </a:lnTo>
                <a:lnTo>
                  <a:pt x="4145" y="205648"/>
                </a:lnTo>
                <a:lnTo>
                  <a:pt x="0" y="259691"/>
                </a:lnTo>
                <a:lnTo>
                  <a:pt x="1875" y="283920"/>
                </a:lnTo>
                <a:lnTo>
                  <a:pt x="10048" y="303791"/>
                </a:lnTo>
                <a:lnTo>
                  <a:pt x="23199" y="318091"/>
                </a:lnTo>
                <a:lnTo>
                  <a:pt x="40004" y="325604"/>
                </a:lnTo>
                <a:lnTo>
                  <a:pt x="45084" y="325096"/>
                </a:lnTo>
                <a:lnTo>
                  <a:pt x="53909" y="325096"/>
                </a:lnTo>
                <a:lnTo>
                  <a:pt x="100451" y="302315"/>
                </a:lnTo>
                <a:lnTo>
                  <a:pt x="114811" y="239921"/>
                </a:lnTo>
                <a:lnTo>
                  <a:pt x="127771" y="199783"/>
                </a:lnTo>
                <a:lnTo>
                  <a:pt x="142596" y="160767"/>
                </a:lnTo>
                <a:lnTo>
                  <a:pt x="153910" y="118708"/>
                </a:lnTo>
                <a:lnTo>
                  <a:pt x="156337" y="69445"/>
                </a:lnTo>
                <a:lnTo>
                  <a:pt x="156082" y="68556"/>
                </a:lnTo>
                <a:lnTo>
                  <a:pt x="156718" y="67413"/>
                </a:lnTo>
                <a:lnTo>
                  <a:pt x="156337" y="65762"/>
                </a:lnTo>
                <a:lnTo>
                  <a:pt x="151602" y="43981"/>
                </a:lnTo>
                <a:lnTo>
                  <a:pt x="143224" y="23915"/>
                </a:lnTo>
                <a:lnTo>
                  <a:pt x="130512" y="8326"/>
                </a:lnTo>
                <a:lnTo>
                  <a:pt x="112826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8558783" y="3312588"/>
            <a:ext cx="355600" cy="474980"/>
          </a:xfrm>
          <a:custGeom>
            <a:avLst/>
            <a:gdLst/>
            <a:ahLst/>
            <a:cxnLst/>
            <a:rect l="l" t="t" r="r" b="b"/>
            <a:pathLst>
              <a:path w="355600" h="474979">
                <a:moveTo>
                  <a:pt x="295513" y="0"/>
                </a:moveTo>
                <a:lnTo>
                  <a:pt x="276461" y="7439"/>
                </a:lnTo>
                <a:lnTo>
                  <a:pt x="259207" y="25987"/>
                </a:lnTo>
                <a:lnTo>
                  <a:pt x="240641" y="72231"/>
                </a:lnTo>
                <a:lnTo>
                  <a:pt x="213437" y="116120"/>
                </a:lnTo>
                <a:lnTo>
                  <a:pt x="180330" y="158006"/>
                </a:lnTo>
                <a:lnTo>
                  <a:pt x="144056" y="198242"/>
                </a:lnTo>
                <a:lnTo>
                  <a:pt x="107351" y="237182"/>
                </a:lnTo>
                <a:lnTo>
                  <a:pt x="72949" y="275180"/>
                </a:lnTo>
                <a:lnTo>
                  <a:pt x="43587" y="312588"/>
                </a:lnTo>
                <a:lnTo>
                  <a:pt x="21999" y="349759"/>
                </a:lnTo>
                <a:lnTo>
                  <a:pt x="10922" y="387048"/>
                </a:lnTo>
                <a:lnTo>
                  <a:pt x="6322" y="395918"/>
                </a:lnTo>
                <a:lnTo>
                  <a:pt x="3175" y="403336"/>
                </a:lnTo>
                <a:lnTo>
                  <a:pt x="1170" y="410801"/>
                </a:lnTo>
                <a:lnTo>
                  <a:pt x="0" y="419814"/>
                </a:lnTo>
                <a:lnTo>
                  <a:pt x="480" y="439600"/>
                </a:lnTo>
                <a:lnTo>
                  <a:pt x="12223" y="455136"/>
                </a:lnTo>
                <a:lnTo>
                  <a:pt x="31539" y="466695"/>
                </a:lnTo>
                <a:lnTo>
                  <a:pt x="54737" y="474551"/>
                </a:lnTo>
                <a:lnTo>
                  <a:pt x="67730" y="473170"/>
                </a:lnTo>
                <a:lnTo>
                  <a:pt x="80105" y="468741"/>
                </a:lnTo>
                <a:lnTo>
                  <a:pt x="91670" y="460835"/>
                </a:lnTo>
                <a:lnTo>
                  <a:pt x="102235" y="449024"/>
                </a:lnTo>
                <a:lnTo>
                  <a:pt x="124743" y="392925"/>
                </a:lnTo>
                <a:lnTo>
                  <a:pt x="149753" y="346262"/>
                </a:lnTo>
                <a:lnTo>
                  <a:pt x="176736" y="306704"/>
                </a:lnTo>
                <a:lnTo>
                  <a:pt x="205165" y="271919"/>
                </a:lnTo>
                <a:lnTo>
                  <a:pt x="234512" y="239574"/>
                </a:lnTo>
                <a:lnTo>
                  <a:pt x="264249" y="207338"/>
                </a:lnTo>
                <a:lnTo>
                  <a:pt x="293848" y="172879"/>
                </a:lnTo>
                <a:lnTo>
                  <a:pt x="322780" y="133865"/>
                </a:lnTo>
                <a:lnTo>
                  <a:pt x="350520" y="87963"/>
                </a:lnTo>
                <a:lnTo>
                  <a:pt x="355274" y="67107"/>
                </a:lnTo>
                <a:lnTo>
                  <a:pt x="354933" y="47037"/>
                </a:lnTo>
                <a:lnTo>
                  <a:pt x="348734" y="29206"/>
                </a:lnTo>
                <a:lnTo>
                  <a:pt x="335915" y="15065"/>
                </a:lnTo>
                <a:lnTo>
                  <a:pt x="315589" y="2823"/>
                </a:lnTo>
                <a:lnTo>
                  <a:pt x="29551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7315072" y="3389927"/>
            <a:ext cx="183515" cy="470534"/>
          </a:xfrm>
          <a:custGeom>
            <a:avLst/>
            <a:gdLst/>
            <a:ahLst/>
            <a:cxnLst/>
            <a:rect l="l" t="t" r="r" b="b"/>
            <a:pathLst>
              <a:path w="183515" h="470535">
                <a:moveTo>
                  <a:pt x="63563" y="0"/>
                </a:moveTo>
                <a:lnTo>
                  <a:pt x="25288" y="11437"/>
                </a:lnTo>
                <a:lnTo>
                  <a:pt x="126" y="45021"/>
                </a:lnTo>
                <a:lnTo>
                  <a:pt x="0" y="68409"/>
                </a:lnTo>
                <a:lnTo>
                  <a:pt x="19116" y="123697"/>
                </a:lnTo>
                <a:lnTo>
                  <a:pt x="31324" y="176322"/>
                </a:lnTo>
                <a:lnTo>
                  <a:pt x="39121" y="227056"/>
                </a:lnTo>
                <a:lnTo>
                  <a:pt x="45009" y="276673"/>
                </a:lnTo>
                <a:lnTo>
                  <a:pt x="51484" y="325945"/>
                </a:lnTo>
                <a:lnTo>
                  <a:pt x="61048" y="375646"/>
                </a:lnTo>
                <a:lnTo>
                  <a:pt x="76200" y="426549"/>
                </a:lnTo>
                <a:lnTo>
                  <a:pt x="110811" y="466054"/>
                </a:lnTo>
                <a:lnTo>
                  <a:pt x="130555" y="470364"/>
                </a:lnTo>
                <a:lnTo>
                  <a:pt x="138049" y="470237"/>
                </a:lnTo>
                <a:lnTo>
                  <a:pt x="141477" y="466681"/>
                </a:lnTo>
                <a:lnTo>
                  <a:pt x="163014" y="459206"/>
                </a:lnTo>
                <a:lnTo>
                  <a:pt x="176895" y="444313"/>
                </a:lnTo>
                <a:lnTo>
                  <a:pt x="183036" y="424158"/>
                </a:lnTo>
                <a:lnTo>
                  <a:pt x="181355" y="400895"/>
                </a:lnTo>
                <a:lnTo>
                  <a:pt x="169797" y="350392"/>
                </a:lnTo>
                <a:lnTo>
                  <a:pt x="162708" y="303645"/>
                </a:lnTo>
                <a:lnTo>
                  <a:pt x="157546" y="258270"/>
                </a:lnTo>
                <a:lnTo>
                  <a:pt x="151766" y="211879"/>
                </a:lnTo>
                <a:lnTo>
                  <a:pt x="142824" y="162087"/>
                </a:lnTo>
                <a:lnTo>
                  <a:pt x="128178" y="106507"/>
                </a:lnTo>
                <a:lnTo>
                  <a:pt x="105282" y="42755"/>
                </a:lnTo>
                <a:lnTo>
                  <a:pt x="100282" y="20518"/>
                </a:lnTo>
                <a:lnTo>
                  <a:pt x="84423" y="6115"/>
                </a:lnTo>
                <a:lnTo>
                  <a:pt x="6356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7237124" y="3037322"/>
            <a:ext cx="139065" cy="254635"/>
          </a:xfrm>
          <a:custGeom>
            <a:avLst/>
            <a:gdLst/>
            <a:ahLst/>
            <a:cxnLst/>
            <a:rect l="l" t="t" r="r" b="b"/>
            <a:pathLst>
              <a:path w="139065" h="254635">
                <a:moveTo>
                  <a:pt x="97192" y="252358"/>
                </a:moveTo>
                <a:lnTo>
                  <a:pt x="87219" y="252358"/>
                </a:lnTo>
                <a:lnTo>
                  <a:pt x="93315" y="254263"/>
                </a:lnTo>
                <a:lnTo>
                  <a:pt x="95601" y="252993"/>
                </a:lnTo>
                <a:lnTo>
                  <a:pt x="97192" y="252358"/>
                </a:lnTo>
                <a:close/>
              </a:path>
              <a:path w="139065" h="254635">
                <a:moveTo>
                  <a:pt x="62823" y="0"/>
                </a:moveTo>
                <a:lnTo>
                  <a:pt x="40737" y="1660"/>
                </a:lnTo>
                <a:lnTo>
                  <a:pt x="23284" y="9346"/>
                </a:lnTo>
                <a:lnTo>
                  <a:pt x="8653" y="24663"/>
                </a:lnTo>
                <a:lnTo>
                  <a:pt x="0" y="44862"/>
                </a:lnTo>
                <a:lnTo>
                  <a:pt x="478" y="67192"/>
                </a:lnTo>
                <a:lnTo>
                  <a:pt x="7685" y="106293"/>
                </a:lnTo>
                <a:lnTo>
                  <a:pt x="12606" y="141011"/>
                </a:lnTo>
                <a:lnTo>
                  <a:pt x="29688" y="209305"/>
                </a:lnTo>
                <a:lnTo>
                  <a:pt x="51325" y="243199"/>
                </a:lnTo>
                <a:lnTo>
                  <a:pt x="84679" y="252993"/>
                </a:lnTo>
                <a:lnTo>
                  <a:pt x="87219" y="252358"/>
                </a:lnTo>
                <a:lnTo>
                  <a:pt x="97192" y="252358"/>
                </a:lnTo>
                <a:lnTo>
                  <a:pt x="117054" y="244433"/>
                </a:lnTo>
                <a:lnTo>
                  <a:pt x="132161" y="229181"/>
                </a:lnTo>
                <a:lnTo>
                  <a:pt x="139053" y="209452"/>
                </a:lnTo>
                <a:lnTo>
                  <a:pt x="135860" y="187461"/>
                </a:lnTo>
                <a:lnTo>
                  <a:pt x="123795" y="149129"/>
                </a:lnTo>
                <a:lnTo>
                  <a:pt x="118302" y="108737"/>
                </a:lnTo>
                <a:lnTo>
                  <a:pt x="114286" y="72179"/>
                </a:lnTo>
                <a:lnTo>
                  <a:pt x="106650" y="45348"/>
                </a:lnTo>
                <a:lnTo>
                  <a:pt x="106269" y="43951"/>
                </a:lnTo>
                <a:lnTo>
                  <a:pt x="106777" y="43189"/>
                </a:lnTo>
                <a:lnTo>
                  <a:pt x="106650" y="41665"/>
                </a:lnTo>
                <a:lnTo>
                  <a:pt x="96565" y="21967"/>
                </a:lnTo>
                <a:lnTo>
                  <a:pt x="81694" y="7423"/>
                </a:lnTo>
                <a:lnTo>
                  <a:pt x="6282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6782789" y="3318843"/>
            <a:ext cx="357505" cy="468630"/>
          </a:xfrm>
          <a:custGeom>
            <a:avLst/>
            <a:gdLst/>
            <a:ahLst/>
            <a:cxnLst/>
            <a:rect l="l" t="t" r="r" b="b"/>
            <a:pathLst>
              <a:path w="357504" h="468629">
                <a:moveTo>
                  <a:pt x="61636" y="0"/>
                </a:moveTo>
                <a:lnTo>
                  <a:pt x="9663" y="27636"/>
                </a:lnTo>
                <a:lnTo>
                  <a:pt x="0" y="65748"/>
                </a:lnTo>
                <a:lnTo>
                  <a:pt x="6502" y="85518"/>
                </a:lnTo>
                <a:lnTo>
                  <a:pt x="35361" y="119591"/>
                </a:lnTo>
                <a:lnTo>
                  <a:pt x="63338" y="159853"/>
                </a:lnTo>
                <a:lnTo>
                  <a:pt x="90670" y="204296"/>
                </a:lnTo>
                <a:lnTo>
                  <a:pt x="144349" y="297706"/>
                </a:lnTo>
                <a:lnTo>
                  <a:pt x="171170" y="342660"/>
                </a:lnTo>
                <a:lnTo>
                  <a:pt x="198295" y="383773"/>
                </a:lnTo>
                <a:lnTo>
                  <a:pt x="225961" y="419039"/>
                </a:lnTo>
                <a:lnTo>
                  <a:pt x="254406" y="446452"/>
                </a:lnTo>
                <a:lnTo>
                  <a:pt x="260840" y="455723"/>
                </a:lnTo>
                <a:lnTo>
                  <a:pt x="271583" y="462232"/>
                </a:lnTo>
                <a:lnTo>
                  <a:pt x="284660" y="466312"/>
                </a:lnTo>
                <a:lnTo>
                  <a:pt x="298094" y="468296"/>
                </a:lnTo>
                <a:lnTo>
                  <a:pt x="307304" y="468254"/>
                </a:lnTo>
                <a:lnTo>
                  <a:pt x="346840" y="444519"/>
                </a:lnTo>
                <a:lnTo>
                  <a:pt x="356989" y="403300"/>
                </a:lnTo>
                <a:lnTo>
                  <a:pt x="345465" y="384476"/>
                </a:lnTo>
                <a:lnTo>
                  <a:pt x="312195" y="352054"/>
                </a:lnTo>
                <a:lnTo>
                  <a:pt x="280895" y="313946"/>
                </a:lnTo>
                <a:lnTo>
                  <a:pt x="251335" y="271766"/>
                </a:lnTo>
                <a:lnTo>
                  <a:pt x="223283" y="227127"/>
                </a:lnTo>
                <a:lnTo>
                  <a:pt x="196508" y="181644"/>
                </a:lnTo>
                <a:lnTo>
                  <a:pt x="170779" y="136930"/>
                </a:lnTo>
                <a:lnTo>
                  <a:pt x="145866" y="94599"/>
                </a:lnTo>
                <a:lnTo>
                  <a:pt x="121537" y="56265"/>
                </a:lnTo>
                <a:lnTo>
                  <a:pt x="97561" y="23542"/>
                </a:lnTo>
                <a:lnTo>
                  <a:pt x="80010" y="6276"/>
                </a:lnTo>
                <a:lnTo>
                  <a:pt x="61636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6251684" y="3980403"/>
            <a:ext cx="3197225" cy="2133600"/>
          </a:xfrm>
          <a:custGeom>
            <a:avLst/>
            <a:gdLst/>
            <a:ahLst/>
            <a:cxnLst/>
            <a:rect l="l" t="t" r="r" b="b"/>
            <a:pathLst>
              <a:path w="3197225" h="2133600">
                <a:moveTo>
                  <a:pt x="1731551" y="2120900"/>
                </a:moveTo>
                <a:lnTo>
                  <a:pt x="1465010" y="2120900"/>
                </a:lnTo>
                <a:lnTo>
                  <a:pt x="1484594" y="2133600"/>
                </a:lnTo>
                <a:lnTo>
                  <a:pt x="1711031" y="2133600"/>
                </a:lnTo>
                <a:lnTo>
                  <a:pt x="1731551" y="2120900"/>
                </a:lnTo>
                <a:close/>
              </a:path>
              <a:path w="3197225" h="2133600">
                <a:moveTo>
                  <a:pt x="1180221" y="1739900"/>
                </a:moveTo>
                <a:lnTo>
                  <a:pt x="551551" y="1739900"/>
                </a:lnTo>
                <a:lnTo>
                  <a:pt x="595997" y="1752600"/>
                </a:lnTo>
                <a:lnTo>
                  <a:pt x="641239" y="1752600"/>
                </a:lnTo>
                <a:lnTo>
                  <a:pt x="734182" y="1778000"/>
                </a:lnTo>
                <a:lnTo>
                  <a:pt x="781919" y="1778000"/>
                </a:lnTo>
                <a:lnTo>
                  <a:pt x="830523" y="1803400"/>
                </a:lnTo>
                <a:lnTo>
                  <a:pt x="930404" y="1828800"/>
                </a:lnTo>
                <a:lnTo>
                  <a:pt x="981716" y="1854200"/>
                </a:lnTo>
                <a:lnTo>
                  <a:pt x="1087175" y="1905000"/>
                </a:lnTo>
                <a:lnTo>
                  <a:pt x="1196529" y="1955800"/>
                </a:lnTo>
                <a:lnTo>
                  <a:pt x="1252712" y="1993900"/>
                </a:lnTo>
                <a:lnTo>
                  <a:pt x="1309923" y="2032000"/>
                </a:lnTo>
                <a:lnTo>
                  <a:pt x="1368178" y="2070100"/>
                </a:lnTo>
                <a:lnTo>
                  <a:pt x="1427497" y="2108200"/>
                </a:lnTo>
                <a:lnTo>
                  <a:pt x="1446736" y="2120900"/>
                </a:lnTo>
                <a:lnTo>
                  <a:pt x="1750571" y="2120900"/>
                </a:lnTo>
                <a:lnTo>
                  <a:pt x="1766841" y="2108200"/>
                </a:lnTo>
                <a:lnTo>
                  <a:pt x="1826544" y="2082800"/>
                </a:lnTo>
                <a:lnTo>
                  <a:pt x="1885949" y="2044700"/>
                </a:lnTo>
                <a:lnTo>
                  <a:pt x="2119334" y="1943100"/>
                </a:lnTo>
                <a:lnTo>
                  <a:pt x="1690260" y="1943100"/>
                </a:lnTo>
                <a:lnTo>
                  <a:pt x="1701382" y="1930400"/>
                </a:lnTo>
                <a:lnTo>
                  <a:pt x="1500522" y="1930400"/>
                </a:lnTo>
                <a:lnTo>
                  <a:pt x="1324800" y="1816100"/>
                </a:lnTo>
                <a:lnTo>
                  <a:pt x="1266635" y="1790700"/>
                </a:lnTo>
                <a:lnTo>
                  <a:pt x="1208859" y="1752600"/>
                </a:lnTo>
                <a:lnTo>
                  <a:pt x="1180221" y="1739900"/>
                </a:lnTo>
                <a:close/>
              </a:path>
              <a:path w="3197225" h="2133600">
                <a:moveTo>
                  <a:pt x="2942977" y="368300"/>
                </a:moveTo>
                <a:lnTo>
                  <a:pt x="2799351" y="368300"/>
                </a:lnTo>
                <a:lnTo>
                  <a:pt x="2814534" y="419100"/>
                </a:lnTo>
                <a:lnTo>
                  <a:pt x="2825702" y="457200"/>
                </a:lnTo>
                <a:lnTo>
                  <a:pt x="2833479" y="508000"/>
                </a:lnTo>
                <a:lnTo>
                  <a:pt x="2838491" y="546100"/>
                </a:lnTo>
                <a:lnTo>
                  <a:pt x="2841364" y="584200"/>
                </a:lnTo>
                <a:lnTo>
                  <a:pt x="2842722" y="635000"/>
                </a:lnTo>
                <a:lnTo>
                  <a:pt x="2843191" y="673100"/>
                </a:lnTo>
                <a:lnTo>
                  <a:pt x="2843294" y="698500"/>
                </a:lnTo>
                <a:lnTo>
                  <a:pt x="2843397" y="723900"/>
                </a:lnTo>
                <a:lnTo>
                  <a:pt x="2843964" y="774700"/>
                </a:lnTo>
                <a:lnTo>
                  <a:pt x="2845518" y="825500"/>
                </a:lnTo>
                <a:lnTo>
                  <a:pt x="2848685" y="876300"/>
                </a:lnTo>
                <a:lnTo>
                  <a:pt x="2854088" y="939800"/>
                </a:lnTo>
                <a:lnTo>
                  <a:pt x="2860782" y="1003300"/>
                </a:lnTo>
                <a:lnTo>
                  <a:pt x="2866294" y="1054100"/>
                </a:lnTo>
                <a:lnTo>
                  <a:pt x="2870904" y="1104900"/>
                </a:lnTo>
                <a:lnTo>
                  <a:pt x="2874890" y="1155700"/>
                </a:lnTo>
                <a:lnTo>
                  <a:pt x="2882113" y="1244600"/>
                </a:lnTo>
                <a:lnTo>
                  <a:pt x="2885907" y="1295400"/>
                </a:lnTo>
                <a:lnTo>
                  <a:pt x="2890196" y="1346200"/>
                </a:lnTo>
                <a:lnTo>
                  <a:pt x="2895260" y="1397000"/>
                </a:lnTo>
                <a:lnTo>
                  <a:pt x="2901376" y="1447800"/>
                </a:lnTo>
                <a:lnTo>
                  <a:pt x="2908825" y="1511300"/>
                </a:lnTo>
                <a:lnTo>
                  <a:pt x="2885493" y="1524000"/>
                </a:lnTo>
                <a:lnTo>
                  <a:pt x="2858953" y="1536700"/>
                </a:lnTo>
                <a:lnTo>
                  <a:pt x="2829370" y="1536700"/>
                </a:lnTo>
                <a:lnTo>
                  <a:pt x="2796910" y="1549400"/>
                </a:lnTo>
                <a:lnTo>
                  <a:pt x="2761739" y="1562100"/>
                </a:lnTo>
                <a:lnTo>
                  <a:pt x="2724023" y="1574800"/>
                </a:lnTo>
                <a:lnTo>
                  <a:pt x="2683927" y="1587500"/>
                </a:lnTo>
                <a:lnTo>
                  <a:pt x="2641617" y="1587500"/>
                </a:lnTo>
                <a:lnTo>
                  <a:pt x="2551016" y="1612900"/>
                </a:lnTo>
                <a:lnTo>
                  <a:pt x="2503058" y="1625600"/>
                </a:lnTo>
                <a:lnTo>
                  <a:pt x="2402651" y="1651000"/>
                </a:lnTo>
                <a:lnTo>
                  <a:pt x="2350535" y="1676400"/>
                </a:lnTo>
                <a:lnTo>
                  <a:pt x="2188521" y="1714500"/>
                </a:lnTo>
                <a:lnTo>
                  <a:pt x="2133180" y="1739900"/>
                </a:lnTo>
                <a:lnTo>
                  <a:pt x="2077447" y="1752600"/>
                </a:lnTo>
                <a:lnTo>
                  <a:pt x="1744098" y="1905000"/>
                </a:lnTo>
                <a:lnTo>
                  <a:pt x="1690260" y="1943100"/>
                </a:lnTo>
                <a:lnTo>
                  <a:pt x="2119334" y="1943100"/>
                </a:lnTo>
                <a:lnTo>
                  <a:pt x="2176309" y="1917700"/>
                </a:lnTo>
                <a:lnTo>
                  <a:pt x="2288174" y="1892300"/>
                </a:lnTo>
                <a:lnTo>
                  <a:pt x="2342939" y="1866900"/>
                </a:lnTo>
                <a:lnTo>
                  <a:pt x="2449819" y="1841500"/>
                </a:lnTo>
                <a:lnTo>
                  <a:pt x="2501809" y="1841500"/>
                </a:lnTo>
                <a:lnTo>
                  <a:pt x="2651228" y="1803400"/>
                </a:lnTo>
                <a:lnTo>
                  <a:pt x="2744754" y="1803400"/>
                </a:lnTo>
                <a:lnTo>
                  <a:pt x="2789502" y="1790700"/>
                </a:lnTo>
                <a:lnTo>
                  <a:pt x="2874658" y="1790700"/>
                </a:lnTo>
                <a:lnTo>
                  <a:pt x="2914940" y="1778000"/>
                </a:lnTo>
                <a:lnTo>
                  <a:pt x="3148449" y="1778000"/>
                </a:lnTo>
                <a:lnTo>
                  <a:pt x="3172017" y="1752600"/>
                </a:lnTo>
                <a:lnTo>
                  <a:pt x="3188989" y="1727200"/>
                </a:lnTo>
                <a:lnTo>
                  <a:pt x="3197115" y="1701800"/>
                </a:lnTo>
                <a:lnTo>
                  <a:pt x="3193432" y="1689100"/>
                </a:lnTo>
                <a:lnTo>
                  <a:pt x="3182619" y="1651000"/>
                </a:lnTo>
                <a:lnTo>
                  <a:pt x="3175419" y="1600200"/>
                </a:lnTo>
                <a:lnTo>
                  <a:pt x="3171037" y="1549400"/>
                </a:lnTo>
                <a:lnTo>
                  <a:pt x="3168677" y="1498600"/>
                </a:lnTo>
                <a:lnTo>
                  <a:pt x="3167545" y="1435100"/>
                </a:lnTo>
                <a:lnTo>
                  <a:pt x="3166845" y="1371600"/>
                </a:lnTo>
                <a:lnTo>
                  <a:pt x="3165783" y="1320800"/>
                </a:lnTo>
                <a:lnTo>
                  <a:pt x="3163562" y="1257300"/>
                </a:lnTo>
                <a:lnTo>
                  <a:pt x="3159387" y="1206500"/>
                </a:lnTo>
                <a:lnTo>
                  <a:pt x="3152464" y="1168400"/>
                </a:lnTo>
                <a:lnTo>
                  <a:pt x="3141997" y="1130300"/>
                </a:lnTo>
                <a:lnTo>
                  <a:pt x="3133428" y="1104900"/>
                </a:lnTo>
                <a:lnTo>
                  <a:pt x="3128318" y="1066800"/>
                </a:lnTo>
                <a:lnTo>
                  <a:pt x="3125911" y="1028700"/>
                </a:lnTo>
                <a:lnTo>
                  <a:pt x="3125448" y="977900"/>
                </a:lnTo>
                <a:lnTo>
                  <a:pt x="3126174" y="927100"/>
                </a:lnTo>
                <a:lnTo>
                  <a:pt x="3127332" y="876300"/>
                </a:lnTo>
                <a:lnTo>
                  <a:pt x="3128165" y="812800"/>
                </a:lnTo>
                <a:lnTo>
                  <a:pt x="3128041" y="787400"/>
                </a:lnTo>
                <a:lnTo>
                  <a:pt x="3127917" y="762000"/>
                </a:lnTo>
                <a:lnTo>
                  <a:pt x="3125829" y="698500"/>
                </a:lnTo>
                <a:lnTo>
                  <a:pt x="3121147" y="647700"/>
                </a:lnTo>
                <a:lnTo>
                  <a:pt x="3113112" y="596900"/>
                </a:lnTo>
                <a:lnTo>
                  <a:pt x="3100968" y="546100"/>
                </a:lnTo>
                <a:lnTo>
                  <a:pt x="3083958" y="508000"/>
                </a:lnTo>
                <a:lnTo>
                  <a:pt x="3054605" y="457200"/>
                </a:lnTo>
                <a:lnTo>
                  <a:pt x="3033684" y="444500"/>
                </a:lnTo>
                <a:lnTo>
                  <a:pt x="2956323" y="444500"/>
                </a:lnTo>
                <a:lnTo>
                  <a:pt x="2944412" y="393700"/>
                </a:lnTo>
                <a:lnTo>
                  <a:pt x="2942977" y="368300"/>
                </a:lnTo>
                <a:close/>
              </a:path>
              <a:path w="3197225" h="2133600">
                <a:moveTo>
                  <a:pt x="920821" y="1384300"/>
                </a:moveTo>
                <a:lnTo>
                  <a:pt x="620674" y="1384300"/>
                </a:lnTo>
                <a:lnTo>
                  <a:pt x="657162" y="1397000"/>
                </a:lnTo>
                <a:lnTo>
                  <a:pt x="696128" y="1397000"/>
                </a:lnTo>
                <a:lnTo>
                  <a:pt x="737329" y="1409700"/>
                </a:lnTo>
                <a:lnTo>
                  <a:pt x="780520" y="1422400"/>
                </a:lnTo>
                <a:lnTo>
                  <a:pt x="825454" y="1435100"/>
                </a:lnTo>
                <a:lnTo>
                  <a:pt x="919577" y="1460500"/>
                </a:lnTo>
                <a:lnTo>
                  <a:pt x="968275" y="1485900"/>
                </a:lnTo>
                <a:lnTo>
                  <a:pt x="1117976" y="1562100"/>
                </a:lnTo>
                <a:lnTo>
                  <a:pt x="1267944" y="1676400"/>
                </a:lnTo>
                <a:lnTo>
                  <a:pt x="1316850" y="1714500"/>
                </a:lnTo>
                <a:lnTo>
                  <a:pt x="1364806" y="1765300"/>
                </a:lnTo>
                <a:lnTo>
                  <a:pt x="1411566" y="1816100"/>
                </a:lnTo>
                <a:lnTo>
                  <a:pt x="1456887" y="1866900"/>
                </a:lnTo>
                <a:lnTo>
                  <a:pt x="1500522" y="1930400"/>
                </a:lnTo>
                <a:lnTo>
                  <a:pt x="1701382" y="1930400"/>
                </a:lnTo>
                <a:lnTo>
                  <a:pt x="1745866" y="1879600"/>
                </a:lnTo>
                <a:lnTo>
                  <a:pt x="1802951" y="1841500"/>
                </a:lnTo>
                <a:lnTo>
                  <a:pt x="1861174" y="1790700"/>
                </a:lnTo>
                <a:lnTo>
                  <a:pt x="1920197" y="1752600"/>
                </a:lnTo>
                <a:lnTo>
                  <a:pt x="1522366" y="1752600"/>
                </a:lnTo>
                <a:lnTo>
                  <a:pt x="1465984" y="1714500"/>
                </a:lnTo>
                <a:lnTo>
                  <a:pt x="1410089" y="1663700"/>
                </a:lnTo>
                <a:lnTo>
                  <a:pt x="1300120" y="1587500"/>
                </a:lnTo>
                <a:lnTo>
                  <a:pt x="1246228" y="1562100"/>
                </a:lnTo>
                <a:lnTo>
                  <a:pt x="1193184" y="1524000"/>
                </a:lnTo>
                <a:lnTo>
                  <a:pt x="1141079" y="1498600"/>
                </a:lnTo>
                <a:lnTo>
                  <a:pt x="1090002" y="1460500"/>
                </a:lnTo>
                <a:lnTo>
                  <a:pt x="1040045" y="1435100"/>
                </a:lnTo>
                <a:lnTo>
                  <a:pt x="991297" y="1409700"/>
                </a:lnTo>
                <a:lnTo>
                  <a:pt x="943850" y="1397000"/>
                </a:lnTo>
                <a:lnTo>
                  <a:pt x="920821" y="1384300"/>
                </a:lnTo>
                <a:close/>
              </a:path>
              <a:path w="3197225" h="2133600">
                <a:moveTo>
                  <a:pt x="851294" y="12700"/>
                </a:moveTo>
                <a:lnTo>
                  <a:pt x="603188" y="12700"/>
                </a:lnTo>
                <a:lnTo>
                  <a:pt x="551832" y="25400"/>
                </a:lnTo>
                <a:lnTo>
                  <a:pt x="513863" y="25400"/>
                </a:lnTo>
                <a:lnTo>
                  <a:pt x="497095" y="38100"/>
                </a:lnTo>
                <a:lnTo>
                  <a:pt x="497006" y="63500"/>
                </a:lnTo>
                <a:lnTo>
                  <a:pt x="496917" y="88900"/>
                </a:lnTo>
                <a:lnTo>
                  <a:pt x="488047" y="139700"/>
                </a:lnTo>
                <a:lnTo>
                  <a:pt x="479129" y="177800"/>
                </a:lnTo>
                <a:lnTo>
                  <a:pt x="479048" y="190500"/>
                </a:lnTo>
                <a:lnTo>
                  <a:pt x="478968" y="203200"/>
                </a:lnTo>
                <a:lnTo>
                  <a:pt x="478888" y="215900"/>
                </a:lnTo>
                <a:lnTo>
                  <a:pt x="478807" y="228600"/>
                </a:lnTo>
                <a:lnTo>
                  <a:pt x="256303" y="228600"/>
                </a:lnTo>
                <a:lnTo>
                  <a:pt x="259179" y="279400"/>
                </a:lnTo>
                <a:lnTo>
                  <a:pt x="251207" y="317500"/>
                </a:lnTo>
                <a:lnTo>
                  <a:pt x="241212" y="381000"/>
                </a:lnTo>
                <a:lnTo>
                  <a:pt x="238015" y="444500"/>
                </a:lnTo>
                <a:lnTo>
                  <a:pt x="156922" y="444500"/>
                </a:lnTo>
                <a:lnTo>
                  <a:pt x="135495" y="457200"/>
                </a:lnTo>
                <a:lnTo>
                  <a:pt x="119735" y="482600"/>
                </a:lnTo>
                <a:lnTo>
                  <a:pt x="110380" y="508000"/>
                </a:lnTo>
                <a:lnTo>
                  <a:pt x="107760" y="558800"/>
                </a:lnTo>
                <a:lnTo>
                  <a:pt x="102464" y="622300"/>
                </a:lnTo>
                <a:lnTo>
                  <a:pt x="95200" y="673100"/>
                </a:lnTo>
                <a:lnTo>
                  <a:pt x="86674" y="723900"/>
                </a:lnTo>
                <a:lnTo>
                  <a:pt x="77592" y="774700"/>
                </a:lnTo>
                <a:lnTo>
                  <a:pt x="68661" y="825500"/>
                </a:lnTo>
                <a:lnTo>
                  <a:pt x="60587" y="876300"/>
                </a:lnTo>
                <a:lnTo>
                  <a:pt x="54077" y="927100"/>
                </a:lnTo>
                <a:lnTo>
                  <a:pt x="49837" y="965200"/>
                </a:lnTo>
                <a:lnTo>
                  <a:pt x="48574" y="1003300"/>
                </a:lnTo>
                <a:lnTo>
                  <a:pt x="50993" y="1041400"/>
                </a:lnTo>
                <a:lnTo>
                  <a:pt x="57802" y="1079500"/>
                </a:lnTo>
                <a:lnTo>
                  <a:pt x="64720" y="1104900"/>
                </a:lnTo>
                <a:lnTo>
                  <a:pt x="67417" y="1143000"/>
                </a:lnTo>
                <a:lnTo>
                  <a:pt x="66522" y="1193800"/>
                </a:lnTo>
                <a:lnTo>
                  <a:pt x="62666" y="1231900"/>
                </a:lnTo>
                <a:lnTo>
                  <a:pt x="56480" y="1295400"/>
                </a:lnTo>
                <a:lnTo>
                  <a:pt x="48595" y="1346200"/>
                </a:lnTo>
                <a:lnTo>
                  <a:pt x="39641" y="1397000"/>
                </a:lnTo>
                <a:lnTo>
                  <a:pt x="30248" y="1460500"/>
                </a:lnTo>
                <a:lnTo>
                  <a:pt x="21048" y="1511300"/>
                </a:lnTo>
                <a:lnTo>
                  <a:pt x="12670" y="1574800"/>
                </a:lnTo>
                <a:lnTo>
                  <a:pt x="5746" y="1638300"/>
                </a:lnTo>
                <a:lnTo>
                  <a:pt x="906" y="1689100"/>
                </a:lnTo>
                <a:lnTo>
                  <a:pt x="0" y="1714500"/>
                </a:lnTo>
                <a:lnTo>
                  <a:pt x="14606" y="1739900"/>
                </a:lnTo>
                <a:lnTo>
                  <a:pt x="37857" y="1765300"/>
                </a:lnTo>
                <a:lnTo>
                  <a:pt x="110087" y="1765300"/>
                </a:lnTo>
                <a:lnTo>
                  <a:pt x="146953" y="1752600"/>
                </a:lnTo>
                <a:lnTo>
                  <a:pt x="222502" y="1752600"/>
                </a:lnTo>
                <a:lnTo>
                  <a:pt x="261221" y="1739900"/>
                </a:lnTo>
                <a:lnTo>
                  <a:pt x="1180221" y="1739900"/>
                </a:lnTo>
                <a:lnTo>
                  <a:pt x="1038976" y="1676400"/>
                </a:lnTo>
                <a:lnTo>
                  <a:pt x="983866" y="1651000"/>
                </a:lnTo>
                <a:lnTo>
                  <a:pt x="929700" y="1638300"/>
                </a:lnTo>
                <a:lnTo>
                  <a:pt x="876588" y="1612900"/>
                </a:lnTo>
                <a:lnTo>
                  <a:pt x="773971" y="1587500"/>
                </a:lnTo>
                <a:lnTo>
                  <a:pt x="676903" y="1562100"/>
                </a:lnTo>
                <a:lnTo>
                  <a:pt x="630726" y="1549400"/>
                </a:lnTo>
                <a:lnTo>
                  <a:pt x="586269" y="1549400"/>
                </a:lnTo>
                <a:lnTo>
                  <a:pt x="543643" y="1536700"/>
                </a:lnTo>
                <a:lnTo>
                  <a:pt x="502957" y="1524000"/>
                </a:lnTo>
                <a:lnTo>
                  <a:pt x="427854" y="1524000"/>
                </a:lnTo>
                <a:lnTo>
                  <a:pt x="393658" y="1511300"/>
                </a:lnTo>
                <a:lnTo>
                  <a:pt x="281830" y="1511300"/>
                </a:lnTo>
                <a:lnTo>
                  <a:pt x="281005" y="1473200"/>
                </a:lnTo>
                <a:lnTo>
                  <a:pt x="284158" y="1435100"/>
                </a:lnTo>
                <a:lnTo>
                  <a:pt x="290399" y="1397000"/>
                </a:lnTo>
                <a:lnTo>
                  <a:pt x="298839" y="1358900"/>
                </a:lnTo>
                <a:lnTo>
                  <a:pt x="308588" y="1308100"/>
                </a:lnTo>
                <a:lnTo>
                  <a:pt x="318756" y="1257300"/>
                </a:lnTo>
                <a:lnTo>
                  <a:pt x="328452" y="1219200"/>
                </a:lnTo>
                <a:lnTo>
                  <a:pt x="336788" y="1155700"/>
                </a:lnTo>
                <a:lnTo>
                  <a:pt x="342874" y="1104900"/>
                </a:lnTo>
                <a:lnTo>
                  <a:pt x="345818" y="1041400"/>
                </a:lnTo>
                <a:lnTo>
                  <a:pt x="344733" y="977900"/>
                </a:lnTo>
                <a:lnTo>
                  <a:pt x="338726" y="914400"/>
                </a:lnTo>
                <a:lnTo>
                  <a:pt x="333350" y="850900"/>
                </a:lnTo>
                <a:lnTo>
                  <a:pt x="332806" y="800100"/>
                </a:lnTo>
                <a:lnTo>
                  <a:pt x="336204" y="762000"/>
                </a:lnTo>
                <a:lnTo>
                  <a:pt x="342655" y="723900"/>
                </a:lnTo>
                <a:lnTo>
                  <a:pt x="351270" y="685800"/>
                </a:lnTo>
                <a:lnTo>
                  <a:pt x="361158" y="647700"/>
                </a:lnTo>
                <a:lnTo>
                  <a:pt x="371430" y="622300"/>
                </a:lnTo>
                <a:lnTo>
                  <a:pt x="381196" y="584200"/>
                </a:lnTo>
                <a:lnTo>
                  <a:pt x="389567" y="546100"/>
                </a:lnTo>
                <a:lnTo>
                  <a:pt x="395653" y="508000"/>
                </a:lnTo>
                <a:lnTo>
                  <a:pt x="398564" y="469900"/>
                </a:lnTo>
                <a:lnTo>
                  <a:pt x="397411" y="419100"/>
                </a:lnTo>
                <a:lnTo>
                  <a:pt x="391304" y="368300"/>
                </a:lnTo>
                <a:lnTo>
                  <a:pt x="638537" y="368300"/>
                </a:lnTo>
                <a:lnTo>
                  <a:pt x="640298" y="342900"/>
                </a:lnTo>
                <a:lnTo>
                  <a:pt x="641085" y="292100"/>
                </a:lnTo>
                <a:lnTo>
                  <a:pt x="638547" y="228600"/>
                </a:lnTo>
                <a:lnTo>
                  <a:pt x="632096" y="165100"/>
                </a:lnTo>
                <a:lnTo>
                  <a:pt x="693304" y="152400"/>
                </a:lnTo>
                <a:lnTo>
                  <a:pt x="1219668" y="152400"/>
                </a:lnTo>
                <a:lnTo>
                  <a:pt x="1130742" y="101600"/>
                </a:lnTo>
                <a:lnTo>
                  <a:pt x="1085502" y="88900"/>
                </a:lnTo>
                <a:lnTo>
                  <a:pt x="1039737" y="63500"/>
                </a:lnTo>
                <a:lnTo>
                  <a:pt x="851294" y="12700"/>
                </a:lnTo>
                <a:close/>
              </a:path>
              <a:path w="3197225" h="2133600">
                <a:moveTo>
                  <a:pt x="1219668" y="152400"/>
                </a:moveTo>
                <a:lnTo>
                  <a:pt x="859272" y="152400"/>
                </a:lnTo>
                <a:lnTo>
                  <a:pt x="909450" y="165100"/>
                </a:lnTo>
                <a:lnTo>
                  <a:pt x="957427" y="177800"/>
                </a:lnTo>
                <a:lnTo>
                  <a:pt x="1003425" y="190500"/>
                </a:lnTo>
                <a:lnTo>
                  <a:pt x="1047665" y="203200"/>
                </a:lnTo>
                <a:lnTo>
                  <a:pt x="1090370" y="215900"/>
                </a:lnTo>
                <a:lnTo>
                  <a:pt x="1131762" y="241300"/>
                </a:lnTo>
                <a:lnTo>
                  <a:pt x="1172064" y="266700"/>
                </a:lnTo>
                <a:lnTo>
                  <a:pt x="1211497" y="279400"/>
                </a:lnTo>
                <a:lnTo>
                  <a:pt x="1326808" y="355600"/>
                </a:lnTo>
                <a:lnTo>
                  <a:pt x="1364990" y="393700"/>
                </a:lnTo>
                <a:lnTo>
                  <a:pt x="1442304" y="444500"/>
                </a:lnTo>
                <a:lnTo>
                  <a:pt x="1481880" y="482600"/>
                </a:lnTo>
                <a:lnTo>
                  <a:pt x="1522366" y="508000"/>
                </a:lnTo>
                <a:lnTo>
                  <a:pt x="1528203" y="571500"/>
                </a:lnTo>
                <a:lnTo>
                  <a:pt x="1530481" y="622300"/>
                </a:lnTo>
                <a:lnTo>
                  <a:pt x="1530404" y="635000"/>
                </a:lnTo>
                <a:lnTo>
                  <a:pt x="1530328" y="647700"/>
                </a:lnTo>
                <a:lnTo>
                  <a:pt x="1530252" y="660400"/>
                </a:lnTo>
                <a:lnTo>
                  <a:pt x="1530176" y="673100"/>
                </a:lnTo>
                <a:lnTo>
                  <a:pt x="1530099" y="685800"/>
                </a:lnTo>
                <a:lnTo>
                  <a:pt x="1527959" y="723900"/>
                </a:lnTo>
                <a:lnTo>
                  <a:pt x="1524959" y="774700"/>
                </a:lnTo>
                <a:lnTo>
                  <a:pt x="1521999" y="812800"/>
                </a:lnTo>
                <a:lnTo>
                  <a:pt x="1519981" y="850900"/>
                </a:lnTo>
                <a:lnTo>
                  <a:pt x="1519922" y="863600"/>
                </a:lnTo>
                <a:lnTo>
                  <a:pt x="1519803" y="889000"/>
                </a:lnTo>
                <a:lnTo>
                  <a:pt x="1522366" y="939800"/>
                </a:lnTo>
                <a:lnTo>
                  <a:pt x="1525898" y="977900"/>
                </a:lnTo>
                <a:lnTo>
                  <a:pt x="1527331" y="1028700"/>
                </a:lnTo>
                <a:lnTo>
                  <a:pt x="1527211" y="1066800"/>
                </a:lnTo>
                <a:lnTo>
                  <a:pt x="1526081" y="1117600"/>
                </a:lnTo>
                <a:lnTo>
                  <a:pt x="1524487" y="1168400"/>
                </a:lnTo>
                <a:lnTo>
                  <a:pt x="1522974" y="1219200"/>
                </a:lnTo>
                <a:lnTo>
                  <a:pt x="1522085" y="1270000"/>
                </a:lnTo>
                <a:lnTo>
                  <a:pt x="1522155" y="1282700"/>
                </a:lnTo>
                <a:lnTo>
                  <a:pt x="1522226" y="1295400"/>
                </a:lnTo>
                <a:lnTo>
                  <a:pt x="1522331" y="1435100"/>
                </a:lnTo>
                <a:lnTo>
                  <a:pt x="1521317" y="1485900"/>
                </a:lnTo>
                <a:lnTo>
                  <a:pt x="1520176" y="1536700"/>
                </a:lnTo>
                <a:lnTo>
                  <a:pt x="1519308" y="1587500"/>
                </a:lnTo>
                <a:lnTo>
                  <a:pt x="1519212" y="1612900"/>
                </a:lnTo>
                <a:lnTo>
                  <a:pt x="1519116" y="1638300"/>
                </a:lnTo>
                <a:lnTo>
                  <a:pt x="1520001" y="1689100"/>
                </a:lnTo>
                <a:lnTo>
                  <a:pt x="1522366" y="1752600"/>
                </a:lnTo>
                <a:lnTo>
                  <a:pt x="1668289" y="1752600"/>
                </a:lnTo>
                <a:lnTo>
                  <a:pt x="1663179" y="1714500"/>
                </a:lnTo>
                <a:lnTo>
                  <a:pt x="1663256" y="1701800"/>
                </a:lnTo>
                <a:lnTo>
                  <a:pt x="1663332" y="1689100"/>
                </a:lnTo>
                <a:lnTo>
                  <a:pt x="1663409" y="1676400"/>
                </a:lnTo>
                <a:lnTo>
                  <a:pt x="1663485" y="1663700"/>
                </a:lnTo>
                <a:lnTo>
                  <a:pt x="1667229" y="1625600"/>
                </a:lnTo>
                <a:lnTo>
                  <a:pt x="1672433" y="1574800"/>
                </a:lnTo>
                <a:lnTo>
                  <a:pt x="1677119" y="1536700"/>
                </a:lnTo>
                <a:lnTo>
                  <a:pt x="1679309" y="1473200"/>
                </a:lnTo>
                <a:lnTo>
                  <a:pt x="1677025" y="1409700"/>
                </a:lnTo>
                <a:lnTo>
                  <a:pt x="1668289" y="1346200"/>
                </a:lnTo>
                <a:lnTo>
                  <a:pt x="1660446" y="1282700"/>
                </a:lnTo>
                <a:lnTo>
                  <a:pt x="1658287" y="1231900"/>
                </a:lnTo>
                <a:lnTo>
                  <a:pt x="1660218" y="1181100"/>
                </a:lnTo>
                <a:lnTo>
                  <a:pt x="1664641" y="1130300"/>
                </a:lnTo>
                <a:lnTo>
                  <a:pt x="1669962" y="1092200"/>
                </a:lnTo>
                <a:lnTo>
                  <a:pt x="1674583" y="1054100"/>
                </a:lnTo>
                <a:lnTo>
                  <a:pt x="1676909" y="1003300"/>
                </a:lnTo>
                <a:lnTo>
                  <a:pt x="1675343" y="965200"/>
                </a:lnTo>
                <a:lnTo>
                  <a:pt x="1668289" y="914400"/>
                </a:lnTo>
                <a:lnTo>
                  <a:pt x="1660320" y="863600"/>
                </a:lnTo>
                <a:lnTo>
                  <a:pt x="1658395" y="812800"/>
                </a:lnTo>
                <a:lnTo>
                  <a:pt x="1660632" y="749300"/>
                </a:lnTo>
                <a:lnTo>
                  <a:pt x="1665146" y="685800"/>
                </a:lnTo>
                <a:lnTo>
                  <a:pt x="1670053" y="635000"/>
                </a:lnTo>
                <a:lnTo>
                  <a:pt x="1673469" y="584200"/>
                </a:lnTo>
                <a:lnTo>
                  <a:pt x="1673509" y="546100"/>
                </a:lnTo>
                <a:lnTo>
                  <a:pt x="1668289" y="508000"/>
                </a:lnTo>
                <a:lnTo>
                  <a:pt x="1706710" y="457200"/>
                </a:lnTo>
                <a:lnTo>
                  <a:pt x="1745362" y="419100"/>
                </a:lnTo>
                <a:lnTo>
                  <a:pt x="1784312" y="393700"/>
                </a:lnTo>
                <a:lnTo>
                  <a:pt x="1810524" y="368300"/>
                </a:lnTo>
                <a:lnTo>
                  <a:pt x="1595391" y="368300"/>
                </a:lnTo>
                <a:lnTo>
                  <a:pt x="1515228" y="317500"/>
                </a:lnTo>
                <a:lnTo>
                  <a:pt x="1433201" y="266700"/>
                </a:lnTo>
                <a:lnTo>
                  <a:pt x="1349264" y="215900"/>
                </a:lnTo>
                <a:lnTo>
                  <a:pt x="1263367" y="165100"/>
                </a:lnTo>
                <a:lnTo>
                  <a:pt x="1219668" y="152400"/>
                </a:lnTo>
                <a:close/>
              </a:path>
              <a:path w="3197225" h="2133600">
                <a:moveTo>
                  <a:pt x="2702079" y="152400"/>
                </a:moveTo>
                <a:lnTo>
                  <a:pt x="2558559" y="152400"/>
                </a:lnTo>
                <a:lnTo>
                  <a:pt x="2574390" y="190500"/>
                </a:lnTo>
                <a:lnTo>
                  <a:pt x="2584472" y="215900"/>
                </a:lnTo>
                <a:lnTo>
                  <a:pt x="2589948" y="254000"/>
                </a:lnTo>
                <a:lnTo>
                  <a:pt x="2591959" y="292100"/>
                </a:lnTo>
                <a:lnTo>
                  <a:pt x="2591881" y="304800"/>
                </a:lnTo>
                <a:lnTo>
                  <a:pt x="2591803" y="317500"/>
                </a:lnTo>
                <a:lnTo>
                  <a:pt x="2591725" y="330200"/>
                </a:lnTo>
                <a:lnTo>
                  <a:pt x="2591647" y="342900"/>
                </a:lnTo>
                <a:lnTo>
                  <a:pt x="2590153" y="393700"/>
                </a:lnTo>
                <a:lnTo>
                  <a:pt x="2588619" y="444500"/>
                </a:lnTo>
                <a:lnTo>
                  <a:pt x="2588511" y="457200"/>
                </a:lnTo>
                <a:lnTo>
                  <a:pt x="2588403" y="469900"/>
                </a:lnTo>
                <a:lnTo>
                  <a:pt x="2588295" y="482600"/>
                </a:lnTo>
                <a:lnTo>
                  <a:pt x="2588187" y="495300"/>
                </a:lnTo>
                <a:lnTo>
                  <a:pt x="2589997" y="558800"/>
                </a:lnTo>
                <a:lnTo>
                  <a:pt x="2595193" y="622300"/>
                </a:lnTo>
                <a:lnTo>
                  <a:pt x="2604914" y="685800"/>
                </a:lnTo>
                <a:lnTo>
                  <a:pt x="2614500" y="749300"/>
                </a:lnTo>
                <a:lnTo>
                  <a:pt x="2621013" y="812800"/>
                </a:lnTo>
                <a:lnTo>
                  <a:pt x="2625090" y="863600"/>
                </a:lnTo>
                <a:lnTo>
                  <a:pt x="2627365" y="914400"/>
                </a:lnTo>
                <a:lnTo>
                  <a:pt x="2628477" y="965200"/>
                </a:lnTo>
                <a:lnTo>
                  <a:pt x="2629060" y="1016000"/>
                </a:lnTo>
                <a:lnTo>
                  <a:pt x="2629752" y="1066800"/>
                </a:lnTo>
                <a:lnTo>
                  <a:pt x="2631189" y="1104900"/>
                </a:lnTo>
                <a:lnTo>
                  <a:pt x="2634007" y="1155700"/>
                </a:lnTo>
                <a:lnTo>
                  <a:pt x="2638843" y="1193800"/>
                </a:lnTo>
                <a:lnTo>
                  <a:pt x="2646332" y="1244600"/>
                </a:lnTo>
                <a:lnTo>
                  <a:pt x="2657111" y="1282700"/>
                </a:lnTo>
                <a:lnTo>
                  <a:pt x="2631236" y="1295400"/>
                </a:lnTo>
                <a:lnTo>
                  <a:pt x="2573977" y="1295400"/>
                </a:lnTo>
                <a:lnTo>
                  <a:pt x="2542599" y="1308100"/>
                </a:lnTo>
                <a:lnTo>
                  <a:pt x="2509394" y="1308100"/>
                </a:lnTo>
                <a:lnTo>
                  <a:pt x="2437512" y="1333500"/>
                </a:lnTo>
                <a:lnTo>
                  <a:pt x="2398842" y="1346200"/>
                </a:lnTo>
                <a:lnTo>
                  <a:pt x="2358356" y="1358900"/>
                </a:lnTo>
                <a:lnTo>
                  <a:pt x="2316059" y="1371600"/>
                </a:lnTo>
                <a:lnTo>
                  <a:pt x="2271952" y="1397000"/>
                </a:lnTo>
                <a:lnTo>
                  <a:pt x="2226040" y="1409700"/>
                </a:lnTo>
                <a:lnTo>
                  <a:pt x="2178325" y="1435100"/>
                </a:lnTo>
                <a:lnTo>
                  <a:pt x="2128810" y="1460500"/>
                </a:lnTo>
                <a:lnTo>
                  <a:pt x="2077499" y="1485900"/>
                </a:lnTo>
                <a:lnTo>
                  <a:pt x="2024395" y="1524000"/>
                </a:lnTo>
                <a:lnTo>
                  <a:pt x="1969501" y="1549400"/>
                </a:lnTo>
                <a:lnTo>
                  <a:pt x="1912820" y="1587500"/>
                </a:lnTo>
                <a:lnTo>
                  <a:pt x="1854355" y="1625600"/>
                </a:lnTo>
                <a:lnTo>
                  <a:pt x="1794110" y="1663700"/>
                </a:lnTo>
                <a:lnTo>
                  <a:pt x="1732087" y="1701800"/>
                </a:lnTo>
                <a:lnTo>
                  <a:pt x="1668289" y="1752600"/>
                </a:lnTo>
                <a:lnTo>
                  <a:pt x="1920197" y="1752600"/>
                </a:lnTo>
                <a:lnTo>
                  <a:pt x="2098657" y="1638300"/>
                </a:lnTo>
                <a:lnTo>
                  <a:pt x="2215391" y="1587500"/>
                </a:lnTo>
                <a:lnTo>
                  <a:pt x="2272066" y="1562100"/>
                </a:lnTo>
                <a:lnTo>
                  <a:pt x="2327159" y="1536700"/>
                </a:lnTo>
                <a:lnTo>
                  <a:pt x="2380331" y="1524000"/>
                </a:lnTo>
                <a:lnTo>
                  <a:pt x="2431241" y="1498600"/>
                </a:lnTo>
                <a:lnTo>
                  <a:pt x="2479550" y="1485900"/>
                </a:lnTo>
                <a:lnTo>
                  <a:pt x="2524917" y="1473200"/>
                </a:lnTo>
                <a:lnTo>
                  <a:pt x="2567003" y="1460500"/>
                </a:lnTo>
                <a:lnTo>
                  <a:pt x="2605466" y="1447800"/>
                </a:lnTo>
                <a:lnTo>
                  <a:pt x="2639968" y="1447800"/>
                </a:lnTo>
                <a:lnTo>
                  <a:pt x="2670169" y="1435100"/>
                </a:lnTo>
                <a:lnTo>
                  <a:pt x="2695727" y="1435100"/>
                </a:lnTo>
                <a:lnTo>
                  <a:pt x="2716304" y="1422400"/>
                </a:lnTo>
                <a:lnTo>
                  <a:pt x="2795444" y="1422400"/>
                </a:lnTo>
                <a:lnTo>
                  <a:pt x="2813956" y="1409700"/>
                </a:lnTo>
                <a:lnTo>
                  <a:pt x="2807069" y="1371600"/>
                </a:lnTo>
                <a:lnTo>
                  <a:pt x="2803056" y="1333500"/>
                </a:lnTo>
                <a:lnTo>
                  <a:pt x="2801055" y="1282700"/>
                </a:lnTo>
                <a:lnTo>
                  <a:pt x="2800208" y="1231900"/>
                </a:lnTo>
                <a:lnTo>
                  <a:pt x="2800097" y="1219200"/>
                </a:lnTo>
                <a:lnTo>
                  <a:pt x="2799986" y="1206500"/>
                </a:lnTo>
                <a:lnTo>
                  <a:pt x="2799875" y="1193800"/>
                </a:lnTo>
                <a:lnTo>
                  <a:pt x="2799764" y="1181100"/>
                </a:lnTo>
                <a:lnTo>
                  <a:pt x="2799653" y="1168400"/>
                </a:lnTo>
                <a:lnTo>
                  <a:pt x="2798530" y="1117600"/>
                </a:lnTo>
                <a:lnTo>
                  <a:pt x="2795980" y="1066800"/>
                </a:lnTo>
                <a:lnTo>
                  <a:pt x="2791141" y="1016000"/>
                </a:lnTo>
                <a:lnTo>
                  <a:pt x="2783154" y="965200"/>
                </a:lnTo>
                <a:lnTo>
                  <a:pt x="2771157" y="927100"/>
                </a:lnTo>
                <a:lnTo>
                  <a:pt x="2760627" y="889000"/>
                </a:lnTo>
                <a:lnTo>
                  <a:pt x="2754342" y="838200"/>
                </a:lnTo>
                <a:lnTo>
                  <a:pt x="2751297" y="787400"/>
                </a:lnTo>
                <a:lnTo>
                  <a:pt x="2750484" y="749300"/>
                </a:lnTo>
                <a:lnTo>
                  <a:pt x="2750650" y="723900"/>
                </a:lnTo>
                <a:lnTo>
                  <a:pt x="2750732" y="711200"/>
                </a:lnTo>
                <a:lnTo>
                  <a:pt x="2750815" y="698500"/>
                </a:lnTo>
                <a:lnTo>
                  <a:pt x="2750898" y="685800"/>
                </a:lnTo>
                <a:lnTo>
                  <a:pt x="2751531" y="635000"/>
                </a:lnTo>
                <a:lnTo>
                  <a:pt x="2751417" y="596900"/>
                </a:lnTo>
                <a:lnTo>
                  <a:pt x="2749432" y="533400"/>
                </a:lnTo>
                <a:lnTo>
                  <a:pt x="2744686" y="469900"/>
                </a:lnTo>
                <a:lnTo>
                  <a:pt x="2736135" y="419100"/>
                </a:lnTo>
                <a:lnTo>
                  <a:pt x="2722770" y="368300"/>
                </a:lnTo>
                <a:lnTo>
                  <a:pt x="2942977" y="368300"/>
                </a:lnTo>
                <a:lnTo>
                  <a:pt x="2942260" y="355600"/>
                </a:lnTo>
                <a:lnTo>
                  <a:pt x="2944235" y="317500"/>
                </a:lnTo>
                <a:lnTo>
                  <a:pt x="2944704" y="279400"/>
                </a:lnTo>
                <a:lnTo>
                  <a:pt x="2938035" y="228600"/>
                </a:lnTo>
                <a:lnTo>
                  <a:pt x="2711848" y="228600"/>
                </a:lnTo>
                <a:lnTo>
                  <a:pt x="2702597" y="177800"/>
                </a:lnTo>
                <a:lnTo>
                  <a:pt x="2702079" y="152400"/>
                </a:lnTo>
                <a:close/>
              </a:path>
              <a:path w="3197225" h="2133600">
                <a:moveTo>
                  <a:pt x="638537" y="368300"/>
                </a:moveTo>
                <a:lnTo>
                  <a:pt x="467885" y="368300"/>
                </a:lnTo>
                <a:lnTo>
                  <a:pt x="473495" y="419100"/>
                </a:lnTo>
                <a:lnTo>
                  <a:pt x="473562" y="469900"/>
                </a:lnTo>
                <a:lnTo>
                  <a:pt x="469231" y="520700"/>
                </a:lnTo>
                <a:lnTo>
                  <a:pt x="461648" y="558800"/>
                </a:lnTo>
                <a:lnTo>
                  <a:pt x="451960" y="596900"/>
                </a:lnTo>
                <a:lnTo>
                  <a:pt x="441311" y="635000"/>
                </a:lnTo>
                <a:lnTo>
                  <a:pt x="430847" y="685800"/>
                </a:lnTo>
                <a:lnTo>
                  <a:pt x="421714" y="723900"/>
                </a:lnTo>
                <a:lnTo>
                  <a:pt x="415057" y="762000"/>
                </a:lnTo>
                <a:lnTo>
                  <a:pt x="412023" y="812800"/>
                </a:lnTo>
                <a:lnTo>
                  <a:pt x="413756" y="850900"/>
                </a:lnTo>
                <a:lnTo>
                  <a:pt x="429622" y="952500"/>
                </a:lnTo>
                <a:lnTo>
                  <a:pt x="431234" y="1003300"/>
                </a:lnTo>
                <a:lnTo>
                  <a:pt x="427621" y="1054100"/>
                </a:lnTo>
                <a:lnTo>
                  <a:pt x="420168" y="1092200"/>
                </a:lnTo>
                <a:lnTo>
                  <a:pt x="410258" y="1130300"/>
                </a:lnTo>
                <a:lnTo>
                  <a:pt x="399275" y="1181100"/>
                </a:lnTo>
                <a:lnTo>
                  <a:pt x="388603" y="1219200"/>
                </a:lnTo>
                <a:lnTo>
                  <a:pt x="379626" y="1257300"/>
                </a:lnTo>
                <a:lnTo>
                  <a:pt x="373727" y="1308100"/>
                </a:lnTo>
                <a:lnTo>
                  <a:pt x="372290" y="1358900"/>
                </a:lnTo>
                <a:lnTo>
                  <a:pt x="376699" y="1409700"/>
                </a:lnTo>
                <a:lnTo>
                  <a:pt x="397785" y="1422400"/>
                </a:lnTo>
                <a:lnTo>
                  <a:pt x="446041" y="1422400"/>
                </a:lnTo>
                <a:lnTo>
                  <a:pt x="444265" y="1409700"/>
                </a:lnTo>
                <a:lnTo>
                  <a:pt x="447417" y="1409700"/>
                </a:lnTo>
                <a:lnTo>
                  <a:pt x="455253" y="1397000"/>
                </a:lnTo>
                <a:lnTo>
                  <a:pt x="483997" y="1397000"/>
                </a:lnTo>
                <a:lnTo>
                  <a:pt x="504414" y="1384300"/>
                </a:lnTo>
                <a:lnTo>
                  <a:pt x="920821" y="1384300"/>
                </a:lnTo>
                <a:lnTo>
                  <a:pt x="897792" y="1371600"/>
                </a:lnTo>
                <a:lnTo>
                  <a:pt x="853215" y="1358900"/>
                </a:lnTo>
                <a:lnTo>
                  <a:pt x="810209" y="1333500"/>
                </a:lnTo>
                <a:lnTo>
                  <a:pt x="768863" y="1320800"/>
                </a:lnTo>
                <a:lnTo>
                  <a:pt x="729270" y="1320800"/>
                </a:lnTo>
                <a:lnTo>
                  <a:pt x="691518" y="1308100"/>
                </a:lnTo>
                <a:lnTo>
                  <a:pt x="655698" y="1295400"/>
                </a:lnTo>
                <a:lnTo>
                  <a:pt x="533544" y="1295400"/>
                </a:lnTo>
                <a:lnTo>
                  <a:pt x="523212" y="1244600"/>
                </a:lnTo>
                <a:lnTo>
                  <a:pt x="518609" y="1193800"/>
                </a:lnTo>
                <a:lnTo>
                  <a:pt x="518673" y="1181100"/>
                </a:lnTo>
                <a:lnTo>
                  <a:pt x="518736" y="1168400"/>
                </a:lnTo>
                <a:lnTo>
                  <a:pt x="518800" y="1155700"/>
                </a:lnTo>
                <a:lnTo>
                  <a:pt x="522854" y="1104900"/>
                </a:lnTo>
                <a:lnTo>
                  <a:pt x="529835" y="1054100"/>
                </a:lnTo>
                <a:lnTo>
                  <a:pt x="538810" y="1003300"/>
                </a:lnTo>
                <a:lnTo>
                  <a:pt x="548846" y="952500"/>
                </a:lnTo>
                <a:lnTo>
                  <a:pt x="559008" y="901700"/>
                </a:lnTo>
                <a:lnTo>
                  <a:pt x="568362" y="850900"/>
                </a:lnTo>
                <a:lnTo>
                  <a:pt x="575976" y="800100"/>
                </a:lnTo>
                <a:lnTo>
                  <a:pt x="580915" y="749300"/>
                </a:lnTo>
                <a:lnTo>
                  <a:pt x="585087" y="711200"/>
                </a:lnTo>
                <a:lnTo>
                  <a:pt x="591242" y="660400"/>
                </a:lnTo>
                <a:lnTo>
                  <a:pt x="598789" y="622300"/>
                </a:lnTo>
                <a:lnTo>
                  <a:pt x="607139" y="584200"/>
                </a:lnTo>
                <a:lnTo>
                  <a:pt x="615702" y="533400"/>
                </a:lnTo>
                <a:lnTo>
                  <a:pt x="623889" y="495300"/>
                </a:lnTo>
                <a:lnTo>
                  <a:pt x="631110" y="444500"/>
                </a:lnTo>
                <a:lnTo>
                  <a:pt x="636777" y="393700"/>
                </a:lnTo>
                <a:lnTo>
                  <a:pt x="638537" y="368300"/>
                </a:lnTo>
                <a:close/>
              </a:path>
              <a:path w="3197225" h="2133600">
                <a:moveTo>
                  <a:pt x="2969894" y="431800"/>
                </a:moveTo>
                <a:lnTo>
                  <a:pt x="2956323" y="444500"/>
                </a:lnTo>
                <a:lnTo>
                  <a:pt x="2984025" y="444500"/>
                </a:lnTo>
                <a:lnTo>
                  <a:pt x="2969894" y="431800"/>
                </a:lnTo>
                <a:close/>
              </a:path>
              <a:path w="3197225" h="2133600">
                <a:moveTo>
                  <a:pt x="2682132" y="25400"/>
                </a:moveTo>
                <a:lnTo>
                  <a:pt x="2292410" y="25400"/>
                </a:lnTo>
                <a:lnTo>
                  <a:pt x="2155957" y="63500"/>
                </a:lnTo>
                <a:lnTo>
                  <a:pt x="2111591" y="88900"/>
                </a:lnTo>
                <a:lnTo>
                  <a:pt x="2024140" y="114300"/>
                </a:lnTo>
                <a:lnTo>
                  <a:pt x="1895180" y="190500"/>
                </a:lnTo>
                <a:lnTo>
                  <a:pt x="1852520" y="203200"/>
                </a:lnTo>
                <a:lnTo>
                  <a:pt x="1767298" y="254000"/>
                </a:lnTo>
                <a:lnTo>
                  <a:pt x="1724603" y="292100"/>
                </a:lnTo>
                <a:lnTo>
                  <a:pt x="1595391" y="368300"/>
                </a:lnTo>
                <a:lnTo>
                  <a:pt x="1810524" y="368300"/>
                </a:lnTo>
                <a:lnTo>
                  <a:pt x="1823630" y="355600"/>
                </a:lnTo>
                <a:lnTo>
                  <a:pt x="1863383" y="330200"/>
                </a:lnTo>
                <a:lnTo>
                  <a:pt x="1903641" y="292100"/>
                </a:lnTo>
                <a:lnTo>
                  <a:pt x="1944472" y="266700"/>
                </a:lnTo>
                <a:lnTo>
                  <a:pt x="1985944" y="254000"/>
                </a:lnTo>
                <a:lnTo>
                  <a:pt x="2028126" y="228600"/>
                </a:lnTo>
                <a:lnTo>
                  <a:pt x="2071086" y="215900"/>
                </a:lnTo>
                <a:lnTo>
                  <a:pt x="2114893" y="190500"/>
                </a:lnTo>
                <a:lnTo>
                  <a:pt x="2205321" y="165100"/>
                </a:lnTo>
                <a:lnTo>
                  <a:pt x="2252079" y="165100"/>
                </a:lnTo>
                <a:lnTo>
                  <a:pt x="2299958" y="152400"/>
                </a:lnTo>
                <a:lnTo>
                  <a:pt x="2702079" y="152400"/>
                </a:lnTo>
                <a:lnTo>
                  <a:pt x="2701561" y="127000"/>
                </a:lnTo>
                <a:lnTo>
                  <a:pt x="2701445" y="114300"/>
                </a:lnTo>
                <a:lnTo>
                  <a:pt x="2701329" y="101600"/>
                </a:lnTo>
                <a:lnTo>
                  <a:pt x="2701213" y="88900"/>
                </a:lnTo>
                <a:lnTo>
                  <a:pt x="2701097" y="76200"/>
                </a:lnTo>
                <a:lnTo>
                  <a:pt x="2693560" y="38100"/>
                </a:lnTo>
                <a:lnTo>
                  <a:pt x="2682132" y="25400"/>
                </a:lnTo>
                <a:close/>
              </a:path>
              <a:path w="3197225" h="2133600">
                <a:moveTo>
                  <a:pt x="400591" y="215900"/>
                </a:moveTo>
                <a:lnTo>
                  <a:pt x="360882" y="215900"/>
                </a:lnTo>
                <a:lnTo>
                  <a:pt x="318279" y="228600"/>
                </a:lnTo>
                <a:lnTo>
                  <a:pt x="439277" y="228600"/>
                </a:lnTo>
                <a:lnTo>
                  <a:pt x="400591" y="215900"/>
                </a:lnTo>
                <a:close/>
              </a:path>
              <a:path w="3197225" h="2133600">
                <a:moveTo>
                  <a:pt x="2586341" y="12700"/>
                </a:moveTo>
                <a:lnTo>
                  <a:pt x="2386833" y="12700"/>
                </a:lnTo>
                <a:lnTo>
                  <a:pt x="2339233" y="25400"/>
                </a:lnTo>
                <a:lnTo>
                  <a:pt x="2638823" y="25400"/>
                </a:lnTo>
                <a:lnTo>
                  <a:pt x="2586341" y="12700"/>
                </a:lnTo>
                <a:close/>
              </a:path>
              <a:path w="3197225" h="2133600">
                <a:moveTo>
                  <a:pt x="753762" y="0"/>
                </a:moveTo>
                <a:lnTo>
                  <a:pt x="704146" y="0"/>
                </a:lnTo>
                <a:lnTo>
                  <a:pt x="653957" y="12700"/>
                </a:lnTo>
                <a:lnTo>
                  <a:pt x="802809" y="12700"/>
                </a:lnTo>
                <a:lnTo>
                  <a:pt x="753762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0"/>
              <a:t>REFERENCES</a:t>
            </a:r>
          </a:p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14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Developing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20"/>
              <a:t> </a:t>
            </a:r>
            <a:r>
              <a:rPr dirty="0"/>
              <a:t>App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Express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7" name="object 17" descr=""/>
          <p:cNvSpPr txBox="1"/>
          <p:nvPr/>
        </p:nvSpPr>
        <p:spPr>
          <a:xfrm>
            <a:off x="962050" y="1533220"/>
            <a:ext cx="7421880" cy="19602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ts val="3285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ORM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Hate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1980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Martin</a:t>
            </a:r>
            <a:r>
              <a:rPr dirty="0" sz="1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Fowler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2050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Available at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1800" spc="-2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https://martinfowler.com/bliki/OrmHate.html</a:t>
            </a:r>
            <a:r>
              <a:rPr dirty="0" sz="1800" spc="3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1800" spc="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archived</a:t>
            </a:r>
            <a:r>
              <a:rPr dirty="0" sz="1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</a:rPr>
              <a:t>here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240029" indent="-227329">
              <a:lnSpc>
                <a:spcPts val="3285"/>
              </a:lnSpc>
              <a:spcBef>
                <a:spcPts val="61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Getting</a:t>
            </a:r>
            <a:r>
              <a:rPr dirty="0" sz="2800" spc="-12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Started:</a:t>
            </a:r>
            <a:r>
              <a:rPr dirty="0" sz="2800" spc="-13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Sequelize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1975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Sequelize</a:t>
            </a:r>
            <a:r>
              <a:rPr dirty="0" sz="1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Official</a:t>
            </a:r>
            <a:r>
              <a:rPr dirty="0" sz="1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Docs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2050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Available</a:t>
            </a:r>
            <a:r>
              <a:rPr dirty="0" sz="1800" spc="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at</a:t>
            </a:r>
            <a:r>
              <a:rPr dirty="0" sz="1800" spc="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1800" spc="-2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https://sequelize.org/docs/v6/getting-</a:t>
            </a: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started/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637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LUIGI LIBERO LUCIO STARACE</dc:creator>
  <dc:title>PowerPoint Presentation</dc:title>
  <dcterms:created xsi:type="dcterms:W3CDTF">2025-04-12T10:08:38Z</dcterms:created>
  <dcterms:modified xsi:type="dcterms:W3CDTF">2025-04-12T10:08:38Z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2024-05-09T00:00:00Z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2025-04-12T00:00:00Z</vt:filetime>
  </property>
  <property fmtid="{D5CDD505-2E9C-101B-9397-08002B2CF9AE}" pid="5" name="MSIP_Label_2ad0b24d-6422-44b0-b3de-abb3a9e8c81a_ActionId">
    <vt:lpwstr>9af74b0e-ab53-453f-acd9-6db9dfe131b8</vt:lpwstr>
  </property>
  <property fmtid="{D5CDD505-2E9C-101B-9397-08002B2CF9AE}" pid="6" name="MSIP_Label_2ad0b24d-6422-44b0-b3de-abb3a9e8c81a_ContentBits">
    <vt:lpwstr>0</vt:lpwstr>
  </property>
  <property fmtid="{D5CDD505-2E9C-101B-9397-08002B2CF9AE}" pid="7" name="MSIP_Label_2ad0b24d-6422-44b0-b3de-abb3a9e8c81a_Enabled">
    <vt:lpwstr>true</vt:lpwstr>
  </property>
  <property fmtid="{D5CDD505-2E9C-101B-9397-08002B2CF9AE}" pid="8" name="MSIP_Label_2ad0b24d-6422-44b0-b3de-abb3a9e8c81a_Method">
    <vt:lpwstr>Standard</vt:lpwstr>
  </property>
  <property fmtid="{D5CDD505-2E9C-101B-9397-08002B2CF9AE}" pid="9" name="MSIP_Label_2ad0b24d-6422-44b0-b3de-abb3a9e8c81a_Name">
    <vt:lpwstr>defa4170-0d19-0005-0004-bc88714345d2</vt:lpwstr>
  </property>
  <property fmtid="{D5CDD505-2E9C-101B-9397-08002B2CF9AE}" pid="10" name="MSIP_Label_2ad0b24d-6422-44b0-b3de-abb3a9e8c81a_SetDate">
    <vt:lpwstr>2023-05-27T10:34:22Z</vt:lpwstr>
  </property>
  <property fmtid="{D5CDD505-2E9C-101B-9397-08002B2CF9AE}" pid="11" name="MSIP_Label_2ad0b24d-6422-44b0-b3de-abb3a9e8c81a_SiteId">
    <vt:lpwstr>2fcfe26a-bb62-46b0-b1e3-28f9da0c45fd</vt:lpwstr>
  </property>
  <property fmtid="{D5CDD505-2E9C-101B-9397-08002B2CF9AE}" pid="12" name="Producer">
    <vt:lpwstr>Microsoft® PowerPoint® for Microsoft 365</vt:lpwstr>
  </property>
</Properties>
</file>