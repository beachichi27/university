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008000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10"/>
              <a:t> </a:t>
            </a:r>
            <a:r>
              <a:rPr dirty="0"/>
              <a:t>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 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 -</a:t>
            </a:r>
            <a:r>
              <a:rPr dirty="0" spc="-10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10"/>
              <a:t>Technologies</a:t>
            </a:r>
            <a:r>
              <a:rPr dirty="0" spc="-2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/>
              <a:t>Implementing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SPA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008000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10"/>
              <a:t> </a:t>
            </a:r>
            <a:r>
              <a:rPr dirty="0"/>
              <a:t>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 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 -</a:t>
            </a:r>
            <a:r>
              <a:rPr dirty="0" spc="-10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10"/>
              <a:t>Technologies</a:t>
            </a:r>
            <a:r>
              <a:rPr dirty="0" spc="-2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/>
              <a:t>Implementing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SPA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10"/>
              <a:t> </a:t>
            </a:r>
            <a:r>
              <a:rPr dirty="0"/>
              <a:t>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 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 -</a:t>
            </a:r>
            <a:r>
              <a:rPr dirty="0" spc="-10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10"/>
              <a:t>Technologies</a:t>
            </a:r>
            <a:r>
              <a:rPr dirty="0" spc="-2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/>
              <a:t>Implementing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SPA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10"/>
              <a:t> </a:t>
            </a:r>
            <a:r>
              <a:rPr dirty="0"/>
              <a:t>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 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 -</a:t>
            </a:r>
            <a:r>
              <a:rPr dirty="0" spc="-10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10"/>
              <a:t>Technologies</a:t>
            </a:r>
            <a:r>
              <a:rPr dirty="0" spc="-2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/>
              <a:t>Implementing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SPA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10"/>
              <a:t> </a:t>
            </a:r>
            <a:r>
              <a:rPr dirty="0"/>
              <a:t>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 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 -</a:t>
            </a:r>
            <a:r>
              <a:rPr dirty="0" spc="-10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10"/>
              <a:t>Technologies</a:t>
            </a:r>
            <a:r>
              <a:rPr dirty="0" spc="-2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/>
              <a:t>Implementing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SPA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2050" y="557529"/>
            <a:ext cx="1058100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2050" y="1591766"/>
            <a:ext cx="7419975" cy="4690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008000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62050" y="6464985"/>
            <a:ext cx="870712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10"/>
              <a:t> </a:t>
            </a:r>
            <a:r>
              <a:rPr dirty="0"/>
              <a:t>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 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 -</a:t>
            </a:r>
            <a:r>
              <a:rPr dirty="0" spc="-10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10"/>
              <a:t>Technologies</a:t>
            </a:r>
            <a:r>
              <a:rPr dirty="0" spc="-2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/>
              <a:t>Implementing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SPA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24616" y="6464985"/>
            <a:ext cx="2444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luigiliberolucio.starace@unina.it" TargetMode="External"/><Relationship Id="rId3" Type="http://schemas.openxmlformats.org/officeDocument/2006/relationships/hyperlink" Target="https://luistar.github.io/" TargetMode="External"/><Relationship Id="rId4" Type="http://schemas.openxmlformats.org/officeDocument/2006/relationships/hyperlink" Target="https://www.docenti.unina.it/luigiliberolucio.starace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localhost:3000/" TargetMode="Externa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62050" y="2231516"/>
            <a:ext cx="6511290" cy="1763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6840"/>
              </a:lnSpc>
              <a:spcBef>
                <a:spcPts val="100"/>
              </a:spcBef>
            </a:pPr>
            <a:r>
              <a:rPr dirty="0" sz="6000" spc="65" b="1">
                <a:solidFill>
                  <a:srgbClr val="111F35"/>
                </a:solidFill>
                <a:latin typeface="Tahoma"/>
                <a:cs typeface="Tahoma"/>
              </a:rPr>
              <a:t>ANGULAR:</a:t>
            </a:r>
            <a:endParaRPr sz="6000">
              <a:latin typeface="Tahoma"/>
              <a:cs typeface="Tahoma"/>
            </a:endParaRPr>
          </a:p>
          <a:p>
            <a:pPr marL="12700">
              <a:lnSpc>
                <a:spcPts val="6840"/>
              </a:lnSpc>
            </a:pPr>
            <a:r>
              <a:rPr dirty="0" sz="6000" spc="825" b="1">
                <a:solidFill>
                  <a:srgbClr val="111F35"/>
                </a:solidFill>
                <a:latin typeface="Tahoma"/>
                <a:cs typeface="Tahoma"/>
              </a:rPr>
              <a:t>TO-</a:t>
            </a:r>
            <a:r>
              <a:rPr dirty="0" sz="6000" spc="275" b="1">
                <a:solidFill>
                  <a:srgbClr val="111F35"/>
                </a:solidFill>
                <a:latin typeface="Tahoma"/>
                <a:cs typeface="Tahoma"/>
              </a:rPr>
              <a:t>DO</a:t>
            </a:r>
            <a:r>
              <a:rPr dirty="0" sz="6000" spc="125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6000" spc="-420" b="1">
                <a:solidFill>
                  <a:srgbClr val="111F35"/>
                </a:solidFill>
                <a:latin typeface="Tahoma"/>
                <a:cs typeface="Tahoma"/>
              </a:rPr>
              <a:t>LIST</a:t>
            </a:r>
            <a:r>
              <a:rPr dirty="0" sz="6000" spc="140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6000" spc="-25" b="1">
                <a:solidFill>
                  <a:srgbClr val="111F35"/>
                </a:solidFill>
                <a:latin typeface="Tahoma"/>
                <a:cs typeface="Tahoma"/>
              </a:rPr>
              <a:t>APP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61136" y="4471274"/>
            <a:ext cx="4639945" cy="160020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420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Luigi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Libero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Lucio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Starace,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PhD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19100"/>
              </a:lnSpc>
              <a:spcBef>
                <a:spcPts val="425"/>
              </a:spcBef>
            </a:pP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luigiliberolucio.starace@unina.it</a:t>
            </a:r>
            <a:r>
              <a:rPr dirty="0" sz="17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https://luistar.github.io</a:t>
            </a:r>
            <a:r>
              <a:rPr dirty="0" sz="17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https://www.docenti.unina.it/luigiliberolucio.starace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589821"/>
            <a:ext cx="6421120" cy="82232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UNIVERSITÀ </a:t>
            </a:r>
            <a:r>
              <a:rPr dirty="0" sz="2000" spc="-10" b="1">
                <a:solidFill>
                  <a:srgbClr val="006379"/>
                </a:solidFill>
                <a:latin typeface="Tahoma"/>
                <a:cs typeface="Tahoma"/>
              </a:rPr>
              <a:t>DEGLI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STUDI</a:t>
            </a:r>
            <a:r>
              <a:rPr dirty="0" sz="2000" spc="-4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DI</a:t>
            </a:r>
            <a:r>
              <a:rPr dirty="0" sz="2000" spc="-5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006379"/>
                </a:solidFill>
                <a:latin typeface="Tahoma"/>
                <a:cs typeface="Tahoma"/>
              </a:rPr>
              <a:t>NAPOLI</a:t>
            </a:r>
            <a:r>
              <a:rPr dirty="0" sz="2000" spc="-6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75" b="1">
                <a:solidFill>
                  <a:srgbClr val="006379"/>
                </a:solidFill>
                <a:latin typeface="Tahoma"/>
                <a:cs typeface="Tahoma"/>
              </a:rPr>
              <a:t>FEDERICO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280" b="1">
                <a:solidFill>
                  <a:srgbClr val="006379"/>
                </a:solidFill>
                <a:latin typeface="Tahoma"/>
                <a:cs typeface="Tahoma"/>
              </a:rPr>
              <a:t>II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2800" spc="-70" b="1">
                <a:solidFill>
                  <a:srgbClr val="006379"/>
                </a:solidFill>
                <a:latin typeface="Tahoma"/>
                <a:cs typeface="Tahoma"/>
              </a:rPr>
              <a:t>WEB</a:t>
            </a:r>
            <a:r>
              <a:rPr dirty="0" sz="2800" spc="-7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6379"/>
                </a:solidFill>
                <a:latin typeface="Tahoma"/>
                <a:cs typeface="Tahoma"/>
              </a:rPr>
              <a:t>TECHNO</a:t>
            </a:r>
            <a:r>
              <a:rPr dirty="0" sz="2800" b="1">
                <a:solidFill>
                  <a:srgbClr val="396C77"/>
                </a:solidFill>
                <a:latin typeface="Tahoma"/>
                <a:cs typeface="Tahoma"/>
              </a:rPr>
              <a:t>L</a:t>
            </a:r>
            <a:r>
              <a:rPr dirty="0" sz="2800" b="1">
                <a:solidFill>
                  <a:srgbClr val="006379"/>
                </a:solidFill>
                <a:latin typeface="Tahoma"/>
                <a:cs typeface="Tahoma"/>
              </a:rPr>
              <a:t>OGIES</a:t>
            </a:r>
            <a:r>
              <a:rPr dirty="0" sz="2800" spc="-4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800" spc="1000" b="1">
                <a:solidFill>
                  <a:srgbClr val="006379"/>
                </a:solidFill>
                <a:latin typeface="Tahoma"/>
                <a:cs typeface="Tahoma"/>
              </a:rPr>
              <a:t>–</a:t>
            </a:r>
            <a:r>
              <a:rPr dirty="0" sz="2800" spc="-7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800" spc="-105" b="1">
                <a:solidFill>
                  <a:srgbClr val="006379"/>
                </a:solidFill>
                <a:latin typeface="Tahoma"/>
                <a:cs typeface="Tahoma"/>
              </a:rPr>
              <a:t>LECTURE</a:t>
            </a:r>
            <a:r>
              <a:rPr dirty="0" sz="2800" spc="-5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800" spc="-25" b="1">
                <a:solidFill>
                  <a:srgbClr val="006379"/>
                </a:solidFill>
                <a:latin typeface="Tahoma"/>
                <a:cs typeface="Tahoma"/>
              </a:rPr>
              <a:t>22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95"/>
              <a:t>TO-</a:t>
            </a:r>
            <a:r>
              <a:rPr dirty="0" spc="165"/>
              <a:t>DO</a:t>
            </a:r>
            <a:r>
              <a:rPr dirty="0" spc="-110"/>
              <a:t> </a:t>
            </a:r>
            <a:r>
              <a:rPr dirty="0" spc="-260"/>
              <a:t>LIST</a:t>
            </a:r>
            <a:r>
              <a:rPr dirty="0"/>
              <a:t> </a:t>
            </a:r>
            <a:r>
              <a:rPr dirty="0" spc="-60"/>
              <a:t>WEB</a:t>
            </a:r>
            <a:r>
              <a:rPr dirty="0" spc="-65"/>
              <a:t> </a:t>
            </a:r>
            <a:r>
              <a:rPr dirty="0"/>
              <a:t>APP:</a:t>
            </a:r>
            <a:r>
              <a:rPr dirty="0" spc="-35"/>
              <a:t> </a:t>
            </a:r>
            <a:r>
              <a:rPr dirty="0"/>
              <a:t>SPA</a:t>
            </a:r>
            <a:r>
              <a:rPr dirty="0" spc="-40"/>
              <a:t> </a:t>
            </a:r>
            <a:r>
              <a:rPr dirty="0" spc="-50"/>
              <a:t>EDITION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7952"/>
            <a:ext cx="9977120" cy="156019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Today,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we’ll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implement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good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ol’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modern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SPA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backend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back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Lecture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15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add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nice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17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frontend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top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071939" y="3190875"/>
            <a:ext cx="6045200" cy="3171190"/>
            <a:chOff x="3071939" y="3190875"/>
            <a:chExt cx="6045200" cy="317119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81527" y="3310482"/>
              <a:ext cx="2290572" cy="304154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076701" y="3195637"/>
              <a:ext cx="2300605" cy="3161665"/>
            </a:xfrm>
            <a:custGeom>
              <a:avLst/>
              <a:gdLst/>
              <a:ahLst/>
              <a:cxnLst/>
              <a:rect l="l" t="t" r="r" b="b"/>
              <a:pathLst>
                <a:path w="2300604" h="3161665">
                  <a:moveTo>
                    <a:pt x="0" y="3161157"/>
                  </a:moveTo>
                  <a:lnTo>
                    <a:pt x="2300097" y="3161157"/>
                  </a:lnTo>
                  <a:lnTo>
                    <a:pt x="2300097" y="0"/>
                  </a:lnTo>
                  <a:lnTo>
                    <a:pt x="0" y="0"/>
                  </a:lnTo>
                  <a:lnTo>
                    <a:pt x="0" y="3161157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819899" y="3200400"/>
              <a:ext cx="2291080" cy="3152140"/>
            </a:xfrm>
            <a:custGeom>
              <a:avLst/>
              <a:gdLst/>
              <a:ahLst/>
              <a:cxnLst/>
              <a:rect l="l" t="t" r="r" b="b"/>
              <a:pathLst>
                <a:path w="2291079" h="3152140">
                  <a:moveTo>
                    <a:pt x="2224024" y="0"/>
                  </a:moveTo>
                  <a:lnTo>
                    <a:pt x="66548" y="0"/>
                  </a:lnTo>
                  <a:lnTo>
                    <a:pt x="40665" y="5236"/>
                  </a:lnTo>
                  <a:lnTo>
                    <a:pt x="19510" y="19510"/>
                  </a:lnTo>
                  <a:lnTo>
                    <a:pt x="5236" y="40665"/>
                  </a:lnTo>
                  <a:lnTo>
                    <a:pt x="0" y="66548"/>
                  </a:lnTo>
                  <a:lnTo>
                    <a:pt x="0" y="3085071"/>
                  </a:lnTo>
                  <a:lnTo>
                    <a:pt x="5236" y="3110976"/>
                  </a:lnTo>
                  <a:lnTo>
                    <a:pt x="19510" y="3132134"/>
                  </a:lnTo>
                  <a:lnTo>
                    <a:pt x="40665" y="3146400"/>
                  </a:lnTo>
                  <a:lnTo>
                    <a:pt x="66548" y="3151632"/>
                  </a:lnTo>
                  <a:lnTo>
                    <a:pt x="2224024" y="3151632"/>
                  </a:lnTo>
                  <a:lnTo>
                    <a:pt x="2249906" y="3146400"/>
                  </a:lnTo>
                  <a:lnTo>
                    <a:pt x="2271061" y="3132134"/>
                  </a:lnTo>
                  <a:lnTo>
                    <a:pt x="2285335" y="3110976"/>
                  </a:lnTo>
                  <a:lnTo>
                    <a:pt x="2290572" y="3085071"/>
                  </a:lnTo>
                  <a:lnTo>
                    <a:pt x="2290572" y="66548"/>
                  </a:lnTo>
                  <a:lnTo>
                    <a:pt x="2285335" y="40665"/>
                  </a:lnTo>
                  <a:lnTo>
                    <a:pt x="2271061" y="19510"/>
                  </a:lnTo>
                  <a:lnTo>
                    <a:pt x="2249906" y="5236"/>
                  </a:lnTo>
                  <a:lnTo>
                    <a:pt x="222402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819899" y="3200400"/>
              <a:ext cx="2291080" cy="3152140"/>
            </a:xfrm>
            <a:custGeom>
              <a:avLst/>
              <a:gdLst/>
              <a:ahLst/>
              <a:cxnLst/>
              <a:rect l="l" t="t" r="r" b="b"/>
              <a:pathLst>
                <a:path w="2291079" h="3152140">
                  <a:moveTo>
                    <a:pt x="0" y="66548"/>
                  </a:moveTo>
                  <a:lnTo>
                    <a:pt x="5236" y="40665"/>
                  </a:lnTo>
                  <a:lnTo>
                    <a:pt x="19510" y="19510"/>
                  </a:lnTo>
                  <a:lnTo>
                    <a:pt x="40665" y="5236"/>
                  </a:lnTo>
                  <a:lnTo>
                    <a:pt x="66548" y="0"/>
                  </a:lnTo>
                  <a:lnTo>
                    <a:pt x="2224024" y="0"/>
                  </a:lnTo>
                  <a:lnTo>
                    <a:pt x="2249906" y="5236"/>
                  </a:lnTo>
                  <a:lnTo>
                    <a:pt x="2271061" y="19510"/>
                  </a:lnTo>
                  <a:lnTo>
                    <a:pt x="2285335" y="40665"/>
                  </a:lnTo>
                  <a:lnTo>
                    <a:pt x="2290572" y="66548"/>
                  </a:lnTo>
                  <a:lnTo>
                    <a:pt x="2290572" y="3085071"/>
                  </a:lnTo>
                  <a:lnTo>
                    <a:pt x="2285335" y="3110976"/>
                  </a:lnTo>
                  <a:lnTo>
                    <a:pt x="2271061" y="3132134"/>
                  </a:lnTo>
                  <a:lnTo>
                    <a:pt x="2249906" y="3146400"/>
                  </a:lnTo>
                  <a:lnTo>
                    <a:pt x="2224024" y="3151632"/>
                  </a:lnTo>
                  <a:lnTo>
                    <a:pt x="66548" y="3151632"/>
                  </a:lnTo>
                  <a:lnTo>
                    <a:pt x="40665" y="3146400"/>
                  </a:lnTo>
                  <a:lnTo>
                    <a:pt x="19510" y="3132134"/>
                  </a:lnTo>
                  <a:lnTo>
                    <a:pt x="5236" y="3110976"/>
                  </a:lnTo>
                  <a:lnTo>
                    <a:pt x="0" y="3085071"/>
                  </a:lnTo>
                  <a:lnTo>
                    <a:pt x="0" y="66548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537450" y="4338320"/>
            <a:ext cx="85661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REST</a:t>
            </a:r>
            <a:r>
              <a:rPr dirty="0" sz="18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180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Express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414517" y="4527550"/>
            <a:ext cx="1363345" cy="497840"/>
            <a:chOff x="5414517" y="4527550"/>
            <a:chExt cx="1363345" cy="497840"/>
          </a:xfrm>
        </p:grpSpPr>
        <p:sp>
          <p:nvSpPr>
            <p:cNvPr id="11" name="object 11" descr=""/>
            <p:cNvSpPr/>
            <p:nvPr/>
          </p:nvSpPr>
          <p:spPr>
            <a:xfrm>
              <a:off x="5420867" y="4533900"/>
              <a:ext cx="1350645" cy="485140"/>
            </a:xfrm>
            <a:custGeom>
              <a:avLst/>
              <a:gdLst/>
              <a:ahLst/>
              <a:cxnLst/>
              <a:rect l="l" t="t" r="r" b="b"/>
              <a:pathLst>
                <a:path w="1350645" h="485139">
                  <a:moveTo>
                    <a:pt x="1107948" y="0"/>
                  </a:moveTo>
                  <a:lnTo>
                    <a:pt x="1107948" y="121157"/>
                  </a:lnTo>
                  <a:lnTo>
                    <a:pt x="242316" y="121157"/>
                  </a:lnTo>
                  <a:lnTo>
                    <a:pt x="242316" y="0"/>
                  </a:lnTo>
                  <a:lnTo>
                    <a:pt x="0" y="242316"/>
                  </a:lnTo>
                  <a:lnTo>
                    <a:pt x="242316" y="484631"/>
                  </a:lnTo>
                  <a:lnTo>
                    <a:pt x="242316" y="363474"/>
                  </a:lnTo>
                  <a:lnTo>
                    <a:pt x="1107948" y="363474"/>
                  </a:lnTo>
                  <a:lnTo>
                    <a:pt x="1107948" y="484631"/>
                  </a:lnTo>
                  <a:lnTo>
                    <a:pt x="1350264" y="24231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420867" y="4533900"/>
              <a:ext cx="1350645" cy="485140"/>
            </a:xfrm>
            <a:custGeom>
              <a:avLst/>
              <a:gdLst/>
              <a:ahLst/>
              <a:cxnLst/>
              <a:rect l="l" t="t" r="r" b="b"/>
              <a:pathLst>
                <a:path w="1350645" h="485139">
                  <a:moveTo>
                    <a:pt x="0" y="242316"/>
                  </a:moveTo>
                  <a:lnTo>
                    <a:pt x="242316" y="0"/>
                  </a:lnTo>
                  <a:lnTo>
                    <a:pt x="242316" y="121157"/>
                  </a:lnTo>
                  <a:lnTo>
                    <a:pt x="1107948" y="121157"/>
                  </a:lnTo>
                  <a:lnTo>
                    <a:pt x="1107948" y="0"/>
                  </a:lnTo>
                  <a:lnTo>
                    <a:pt x="1350264" y="242316"/>
                  </a:lnTo>
                  <a:lnTo>
                    <a:pt x="1107948" y="484631"/>
                  </a:lnTo>
                  <a:lnTo>
                    <a:pt x="1107948" y="363474"/>
                  </a:lnTo>
                  <a:lnTo>
                    <a:pt x="242316" y="363474"/>
                  </a:lnTo>
                  <a:lnTo>
                    <a:pt x="242316" y="484631"/>
                  </a:lnTo>
                  <a:lnTo>
                    <a:pt x="0" y="242316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841619" y="4612640"/>
            <a:ext cx="5111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HTTP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10"/>
              <a:t> </a:t>
            </a:r>
            <a:r>
              <a:rPr dirty="0"/>
              <a:t>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 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 -</a:t>
            </a:r>
            <a:r>
              <a:rPr dirty="0" spc="-10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10"/>
              <a:t>Technologies</a:t>
            </a:r>
            <a:r>
              <a:rPr dirty="0" spc="-2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/>
              <a:t>Implementing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SPA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95"/>
              <a:t>TO-</a:t>
            </a:r>
            <a:r>
              <a:rPr dirty="0" spc="165"/>
              <a:t>DO</a:t>
            </a:r>
            <a:r>
              <a:rPr dirty="0" spc="-110"/>
              <a:t> </a:t>
            </a:r>
            <a:r>
              <a:rPr dirty="0" spc="-260"/>
              <a:t>LIST</a:t>
            </a:r>
            <a:r>
              <a:rPr dirty="0"/>
              <a:t> </a:t>
            </a:r>
            <a:r>
              <a:rPr dirty="0" spc="-60"/>
              <a:t>WEB</a:t>
            </a:r>
            <a:r>
              <a:rPr dirty="0" spc="-65"/>
              <a:t> </a:t>
            </a:r>
            <a:r>
              <a:rPr dirty="0"/>
              <a:t>APP:</a:t>
            </a:r>
            <a:r>
              <a:rPr dirty="0" spc="-35"/>
              <a:t> </a:t>
            </a:r>
            <a:r>
              <a:rPr dirty="0"/>
              <a:t>SPA</a:t>
            </a:r>
            <a:r>
              <a:rPr dirty="0" spc="-40"/>
              <a:t> </a:t>
            </a:r>
            <a:r>
              <a:rPr dirty="0" spc="-50"/>
              <a:t>EDITION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905"/>
            <a:ext cx="6316980" cy="339534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During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today’s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lecture,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we’ll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check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SPA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teacher 	implemented</a:t>
            </a:r>
            <a:endParaRPr sz="2800">
              <a:latin typeface="Calibri"/>
              <a:cs typeface="Calibri"/>
            </a:endParaRPr>
          </a:p>
          <a:p>
            <a:pPr marL="240029" marR="113030" indent="-227329">
              <a:lnSpc>
                <a:spcPts val="302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source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course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materials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Teams</a:t>
            </a:r>
            <a:endParaRPr sz="2800">
              <a:latin typeface="Calibri"/>
              <a:cs typeface="Calibri"/>
            </a:endParaRPr>
          </a:p>
          <a:p>
            <a:pPr marL="240029" marR="219075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remainder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slides,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we’ll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go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over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interesting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parts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for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reference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819199" y="1380363"/>
            <a:ext cx="3500120" cy="4806315"/>
            <a:chOff x="7819199" y="1380363"/>
            <a:chExt cx="3500120" cy="480631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28787" y="1557088"/>
              <a:ext cx="3480815" cy="4619683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7823961" y="1385125"/>
              <a:ext cx="3490595" cy="4796790"/>
            </a:xfrm>
            <a:custGeom>
              <a:avLst/>
              <a:gdLst/>
              <a:ahLst/>
              <a:cxnLst/>
              <a:rect l="l" t="t" r="r" b="b"/>
              <a:pathLst>
                <a:path w="3490595" h="4796790">
                  <a:moveTo>
                    <a:pt x="0" y="4796409"/>
                  </a:moveTo>
                  <a:lnTo>
                    <a:pt x="3490340" y="4796409"/>
                  </a:lnTo>
                  <a:lnTo>
                    <a:pt x="3490340" y="0"/>
                  </a:lnTo>
                  <a:lnTo>
                    <a:pt x="0" y="0"/>
                  </a:lnTo>
                  <a:lnTo>
                    <a:pt x="0" y="4796409"/>
                  </a:lnTo>
                  <a:close/>
                </a:path>
              </a:pathLst>
            </a:custGeom>
            <a:ln w="9524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10"/>
              <a:t> </a:t>
            </a:r>
            <a:r>
              <a:rPr dirty="0"/>
              <a:t>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 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 -</a:t>
            </a:r>
            <a:r>
              <a:rPr dirty="0" spc="-10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10"/>
              <a:t>Technologies</a:t>
            </a:r>
            <a:r>
              <a:rPr dirty="0" spc="-2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/>
              <a:t>Implementing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SPA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79883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95"/>
              <a:t>TO-</a:t>
            </a:r>
            <a:r>
              <a:rPr dirty="0" spc="165"/>
              <a:t>DO</a:t>
            </a:r>
            <a:r>
              <a:rPr dirty="0" spc="-65"/>
              <a:t> </a:t>
            </a:r>
            <a:r>
              <a:rPr dirty="0" spc="-260"/>
              <a:t>LIST</a:t>
            </a:r>
            <a:r>
              <a:rPr dirty="0"/>
              <a:t> SPA:</a:t>
            </a:r>
            <a:r>
              <a:rPr dirty="0" spc="-25"/>
              <a:t> </a:t>
            </a:r>
            <a:r>
              <a:rPr dirty="0" spc="-114"/>
              <a:t>LIVE</a:t>
            </a:r>
            <a:r>
              <a:rPr dirty="0" spc="-20"/>
              <a:t> </a:t>
            </a:r>
            <a:r>
              <a:rPr dirty="0" spc="50"/>
              <a:t>DEMO</a:t>
            </a:r>
            <a:r>
              <a:rPr dirty="0" spc="-20"/>
              <a:t> </a:t>
            </a:r>
            <a:r>
              <a:rPr dirty="0" spc="-90"/>
              <a:t>TIME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5511" y="2127504"/>
            <a:ext cx="4762499" cy="3486912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10"/>
              <a:t> </a:t>
            </a:r>
            <a:r>
              <a:rPr dirty="0"/>
              <a:t>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 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 -</a:t>
            </a:r>
            <a:r>
              <a:rPr dirty="0" spc="-10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10"/>
              <a:t>Technologies</a:t>
            </a:r>
            <a:r>
              <a:rPr dirty="0" spc="-2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/>
              <a:t>Implementing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SPA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95"/>
              <a:t>TO-</a:t>
            </a:r>
            <a:r>
              <a:rPr dirty="0" spc="165"/>
              <a:t>DO</a:t>
            </a:r>
            <a:r>
              <a:rPr dirty="0" spc="-50"/>
              <a:t> </a:t>
            </a:r>
            <a:r>
              <a:rPr dirty="0" spc="-260"/>
              <a:t>LIST</a:t>
            </a:r>
            <a:r>
              <a:rPr dirty="0"/>
              <a:t> SPA:</a:t>
            </a:r>
            <a:r>
              <a:rPr dirty="0" spc="-15"/>
              <a:t> </a:t>
            </a:r>
            <a:r>
              <a:rPr dirty="0" spc="-35"/>
              <a:t>ROUTES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572767"/>
            <a:ext cx="10427335" cy="4800600"/>
          </a:xfrm>
          <a:custGeom>
            <a:avLst/>
            <a:gdLst/>
            <a:ahLst/>
            <a:cxnLst/>
            <a:rect l="l" t="t" r="r" b="b"/>
            <a:pathLst>
              <a:path w="10427335" h="4800600">
                <a:moveTo>
                  <a:pt x="0" y="4800600"/>
                </a:moveTo>
                <a:lnTo>
                  <a:pt x="10427208" y="4800600"/>
                </a:lnTo>
                <a:lnTo>
                  <a:pt x="10427208" y="0"/>
                </a:lnTo>
                <a:lnTo>
                  <a:pt x="0" y="0"/>
                </a:lnTo>
                <a:lnTo>
                  <a:pt x="0" y="4800600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/*</a:t>
            </a:r>
            <a:r>
              <a:rPr dirty="0" spc="-30"/>
              <a:t> </a:t>
            </a:r>
            <a:r>
              <a:rPr dirty="0"/>
              <a:t>Nothing</a:t>
            </a:r>
            <a:r>
              <a:rPr dirty="0" spc="-35"/>
              <a:t> </a:t>
            </a:r>
            <a:r>
              <a:rPr dirty="0"/>
              <a:t>much</a:t>
            </a:r>
            <a:r>
              <a:rPr dirty="0" spc="-30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/>
              <a:t>going</a:t>
            </a:r>
            <a:r>
              <a:rPr dirty="0" spc="-15"/>
              <a:t> </a:t>
            </a:r>
            <a:r>
              <a:rPr dirty="0"/>
              <a:t>on</a:t>
            </a:r>
            <a:r>
              <a:rPr dirty="0" spc="-30"/>
              <a:t> </a:t>
            </a:r>
            <a:r>
              <a:rPr dirty="0"/>
              <a:t>here</a:t>
            </a:r>
            <a:r>
              <a:rPr dirty="0" spc="-15"/>
              <a:t> </a:t>
            </a:r>
            <a:r>
              <a:rPr dirty="0" spc="-25"/>
              <a:t>*/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>
                <a:solidFill>
                  <a:srgbClr val="0000FF"/>
                </a:solidFill>
              </a:rPr>
              <a:t>export</a:t>
            </a:r>
            <a:r>
              <a:rPr dirty="0" spc="-3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const</a:t>
            </a:r>
            <a:r>
              <a:rPr dirty="0" spc="-1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routes: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Routes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=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[{</a:t>
            </a:r>
          </a:p>
          <a:p>
            <a:pPr marL="512445" marR="1507490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path: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A21515"/>
                </a:solidFill>
              </a:rPr>
              <a:t>"home"</a:t>
            </a:r>
            <a:r>
              <a:rPr dirty="0">
                <a:solidFill>
                  <a:srgbClr val="000000"/>
                </a:solidFill>
              </a:rPr>
              <a:t>,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component: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HomepageComponent, </a:t>
            </a:r>
            <a:r>
              <a:rPr dirty="0">
                <a:solidFill>
                  <a:srgbClr val="000000"/>
                </a:solidFill>
              </a:rPr>
              <a:t>title: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A21515"/>
                </a:solidFill>
              </a:rPr>
              <a:t>"To-</a:t>
            </a:r>
            <a:r>
              <a:rPr dirty="0">
                <a:solidFill>
                  <a:srgbClr val="A21515"/>
                </a:solidFill>
              </a:rPr>
              <a:t>do</a:t>
            </a:r>
            <a:r>
              <a:rPr dirty="0" spc="-10">
                <a:solidFill>
                  <a:srgbClr val="A21515"/>
                </a:solidFill>
              </a:rPr>
              <a:t> </a:t>
            </a:r>
            <a:r>
              <a:rPr dirty="0">
                <a:solidFill>
                  <a:srgbClr val="A21515"/>
                </a:solidFill>
              </a:rPr>
              <a:t>List</a:t>
            </a:r>
            <a:r>
              <a:rPr dirty="0" spc="-20">
                <a:solidFill>
                  <a:srgbClr val="A21515"/>
                </a:solidFill>
              </a:rPr>
              <a:t> </a:t>
            </a:r>
            <a:r>
              <a:rPr dirty="0">
                <a:solidFill>
                  <a:srgbClr val="A21515"/>
                </a:solidFill>
              </a:rPr>
              <a:t>Angular</a:t>
            </a:r>
            <a:r>
              <a:rPr dirty="0" spc="-20">
                <a:solidFill>
                  <a:srgbClr val="A21515"/>
                </a:solidFill>
              </a:rPr>
              <a:t> App"</a:t>
            </a:r>
          </a:p>
          <a:p>
            <a:pPr marL="262255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},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 spc="-50">
                <a:solidFill>
                  <a:srgbClr val="000000"/>
                </a:solidFill>
              </a:rPr>
              <a:t>{</a:t>
            </a:r>
          </a:p>
          <a:p>
            <a:pPr marL="512445" marR="1757045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path: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A21515"/>
                </a:solidFill>
              </a:rPr>
              <a:t>"login"</a:t>
            </a:r>
            <a:r>
              <a:rPr dirty="0">
                <a:solidFill>
                  <a:srgbClr val="000000"/>
                </a:solidFill>
              </a:rPr>
              <a:t>,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component: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LoginComponent, </a:t>
            </a:r>
            <a:r>
              <a:rPr dirty="0">
                <a:solidFill>
                  <a:srgbClr val="000000"/>
                </a:solidFill>
              </a:rPr>
              <a:t>title: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A21515"/>
                </a:solidFill>
              </a:rPr>
              <a:t>"Login</a:t>
            </a:r>
            <a:r>
              <a:rPr dirty="0" spc="-15">
                <a:solidFill>
                  <a:srgbClr val="A21515"/>
                </a:solidFill>
              </a:rPr>
              <a:t> </a:t>
            </a:r>
            <a:r>
              <a:rPr dirty="0">
                <a:solidFill>
                  <a:srgbClr val="A21515"/>
                </a:solidFill>
              </a:rPr>
              <a:t>|</a:t>
            </a:r>
            <a:r>
              <a:rPr dirty="0" spc="-15">
                <a:solidFill>
                  <a:srgbClr val="A21515"/>
                </a:solidFill>
              </a:rPr>
              <a:t> </a:t>
            </a:r>
            <a:r>
              <a:rPr dirty="0" spc="-10">
                <a:solidFill>
                  <a:srgbClr val="A21515"/>
                </a:solidFill>
              </a:rPr>
              <a:t>To-</a:t>
            </a:r>
            <a:r>
              <a:rPr dirty="0">
                <a:solidFill>
                  <a:srgbClr val="A21515"/>
                </a:solidFill>
              </a:rPr>
              <a:t>do</a:t>
            </a:r>
            <a:r>
              <a:rPr dirty="0" spc="-20">
                <a:solidFill>
                  <a:srgbClr val="A21515"/>
                </a:solidFill>
              </a:rPr>
              <a:t> </a:t>
            </a:r>
            <a:r>
              <a:rPr dirty="0">
                <a:solidFill>
                  <a:srgbClr val="A21515"/>
                </a:solidFill>
              </a:rPr>
              <a:t>List</a:t>
            </a:r>
            <a:r>
              <a:rPr dirty="0" spc="-25">
                <a:solidFill>
                  <a:srgbClr val="A21515"/>
                </a:solidFill>
              </a:rPr>
              <a:t> </a:t>
            </a:r>
            <a:r>
              <a:rPr dirty="0">
                <a:solidFill>
                  <a:srgbClr val="A21515"/>
                </a:solidFill>
              </a:rPr>
              <a:t>Angular</a:t>
            </a:r>
            <a:r>
              <a:rPr dirty="0" spc="-20">
                <a:solidFill>
                  <a:srgbClr val="A21515"/>
                </a:solidFill>
              </a:rPr>
              <a:t> App"</a:t>
            </a:r>
          </a:p>
          <a:p>
            <a:pPr marL="512445" marR="5080" indent="-250190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},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{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/>
              <a:t>/*some</a:t>
            </a:r>
            <a:r>
              <a:rPr dirty="0" spc="-25"/>
              <a:t> </a:t>
            </a:r>
            <a:r>
              <a:rPr dirty="0"/>
              <a:t>routes</a:t>
            </a:r>
            <a:r>
              <a:rPr dirty="0" spc="-15"/>
              <a:t> </a:t>
            </a:r>
            <a:r>
              <a:rPr dirty="0"/>
              <a:t>were</a:t>
            </a:r>
            <a:r>
              <a:rPr dirty="0" spc="-25"/>
              <a:t> </a:t>
            </a:r>
            <a:r>
              <a:rPr dirty="0"/>
              <a:t>omitted</a:t>
            </a:r>
            <a:r>
              <a:rPr dirty="0" spc="-25"/>
              <a:t> </a:t>
            </a:r>
            <a:r>
              <a:rPr dirty="0"/>
              <a:t>for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sake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brevity*/ </a:t>
            </a:r>
            <a:r>
              <a:rPr dirty="0">
                <a:solidFill>
                  <a:srgbClr val="000000"/>
                </a:solidFill>
              </a:rPr>
              <a:t>path: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A21515"/>
                </a:solidFill>
              </a:rPr>
              <a:t>"todos"</a:t>
            </a:r>
            <a:r>
              <a:rPr dirty="0">
                <a:solidFill>
                  <a:srgbClr val="000000"/>
                </a:solidFill>
              </a:rPr>
              <a:t>,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component: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TodoPageComponent,</a:t>
            </a:r>
          </a:p>
          <a:p>
            <a:pPr marL="512445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title: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A21515"/>
                </a:solidFill>
              </a:rPr>
              <a:t>"To-</a:t>
            </a:r>
            <a:r>
              <a:rPr dirty="0">
                <a:solidFill>
                  <a:srgbClr val="A21515"/>
                </a:solidFill>
              </a:rPr>
              <a:t>do</a:t>
            </a:r>
            <a:r>
              <a:rPr dirty="0" spc="-10">
                <a:solidFill>
                  <a:srgbClr val="A21515"/>
                </a:solidFill>
              </a:rPr>
              <a:t> </a:t>
            </a:r>
            <a:r>
              <a:rPr dirty="0">
                <a:solidFill>
                  <a:srgbClr val="A21515"/>
                </a:solidFill>
              </a:rPr>
              <a:t>List</a:t>
            </a:r>
            <a:r>
              <a:rPr dirty="0" spc="-30">
                <a:solidFill>
                  <a:srgbClr val="A21515"/>
                </a:solidFill>
              </a:rPr>
              <a:t> </a:t>
            </a:r>
            <a:r>
              <a:rPr dirty="0">
                <a:solidFill>
                  <a:srgbClr val="A21515"/>
                </a:solidFill>
              </a:rPr>
              <a:t>|</a:t>
            </a:r>
            <a:r>
              <a:rPr dirty="0" spc="-10">
                <a:solidFill>
                  <a:srgbClr val="A21515"/>
                </a:solidFill>
              </a:rPr>
              <a:t> To-</a:t>
            </a:r>
            <a:r>
              <a:rPr dirty="0">
                <a:solidFill>
                  <a:srgbClr val="A21515"/>
                </a:solidFill>
              </a:rPr>
              <a:t>do</a:t>
            </a:r>
            <a:r>
              <a:rPr dirty="0" spc="-20">
                <a:solidFill>
                  <a:srgbClr val="A21515"/>
                </a:solidFill>
              </a:rPr>
              <a:t> </a:t>
            </a:r>
            <a:r>
              <a:rPr dirty="0">
                <a:solidFill>
                  <a:srgbClr val="A21515"/>
                </a:solidFill>
              </a:rPr>
              <a:t>List</a:t>
            </a:r>
            <a:r>
              <a:rPr dirty="0" spc="-20">
                <a:solidFill>
                  <a:srgbClr val="A21515"/>
                </a:solidFill>
              </a:rPr>
              <a:t> </a:t>
            </a:r>
            <a:r>
              <a:rPr dirty="0">
                <a:solidFill>
                  <a:srgbClr val="A21515"/>
                </a:solidFill>
              </a:rPr>
              <a:t>Angular</a:t>
            </a:r>
            <a:r>
              <a:rPr dirty="0" spc="-15">
                <a:solidFill>
                  <a:srgbClr val="A21515"/>
                </a:solidFill>
              </a:rPr>
              <a:t> </a:t>
            </a:r>
            <a:r>
              <a:rPr dirty="0" spc="-10">
                <a:solidFill>
                  <a:srgbClr val="A21515"/>
                </a:solidFill>
              </a:rPr>
              <a:t>App"</a:t>
            </a:r>
            <a:r>
              <a:rPr dirty="0" spc="-10">
                <a:solidFill>
                  <a:srgbClr val="000000"/>
                </a:solidFill>
              </a:rPr>
              <a:t>,</a:t>
            </a:r>
          </a:p>
          <a:p>
            <a:pPr marL="512445">
              <a:lnSpc>
                <a:spcPct val="100000"/>
              </a:lnSpc>
              <a:spcBef>
                <a:spcPts val="5"/>
              </a:spcBef>
            </a:pPr>
            <a:r>
              <a:rPr dirty="0">
                <a:solidFill>
                  <a:srgbClr val="000000"/>
                </a:solidFill>
              </a:rPr>
              <a:t>canActivate: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[authGuard]</a:t>
            </a:r>
          </a:p>
          <a:p>
            <a:pPr marL="262255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},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 spc="-50">
                <a:solidFill>
                  <a:srgbClr val="000000"/>
                </a:solidFill>
              </a:rPr>
              <a:t>{</a:t>
            </a:r>
          </a:p>
          <a:p>
            <a:pPr marL="512445" marR="629285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path: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A21515"/>
                </a:solidFill>
              </a:rPr>
              <a:t>"todos/:id"</a:t>
            </a:r>
            <a:r>
              <a:rPr dirty="0">
                <a:solidFill>
                  <a:srgbClr val="000000"/>
                </a:solidFill>
              </a:rPr>
              <a:t>,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component: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TodoDetailComponent, </a:t>
            </a:r>
            <a:r>
              <a:rPr dirty="0">
                <a:solidFill>
                  <a:srgbClr val="000000"/>
                </a:solidFill>
              </a:rPr>
              <a:t>title: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A21515"/>
                </a:solidFill>
              </a:rPr>
              <a:t>"To-</a:t>
            </a:r>
            <a:r>
              <a:rPr dirty="0">
                <a:solidFill>
                  <a:srgbClr val="A21515"/>
                </a:solidFill>
              </a:rPr>
              <a:t>do</a:t>
            </a:r>
            <a:r>
              <a:rPr dirty="0" spc="-10">
                <a:solidFill>
                  <a:srgbClr val="A21515"/>
                </a:solidFill>
              </a:rPr>
              <a:t> </a:t>
            </a:r>
            <a:r>
              <a:rPr dirty="0">
                <a:solidFill>
                  <a:srgbClr val="A21515"/>
                </a:solidFill>
              </a:rPr>
              <a:t>Detail</a:t>
            </a:r>
            <a:r>
              <a:rPr dirty="0" spc="-10">
                <a:solidFill>
                  <a:srgbClr val="A21515"/>
                </a:solidFill>
              </a:rPr>
              <a:t> </a:t>
            </a:r>
            <a:r>
              <a:rPr dirty="0">
                <a:solidFill>
                  <a:srgbClr val="A21515"/>
                </a:solidFill>
              </a:rPr>
              <a:t>|</a:t>
            </a:r>
            <a:r>
              <a:rPr dirty="0" spc="-20">
                <a:solidFill>
                  <a:srgbClr val="A21515"/>
                </a:solidFill>
              </a:rPr>
              <a:t> </a:t>
            </a:r>
            <a:r>
              <a:rPr dirty="0" spc="-10">
                <a:solidFill>
                  <a:srgbClr val="A21515"/>
                </a:solidFill>
              </a:rPr>
              <a:t>To-</a:t>
            </a:r>
            <a:r>
              <a:rPr dirty="0">
                <a:solidFill>
                  <a:srgbClr val="A21515"/>
                </a:solidFill>
              </a:rPr>
              <a:t>do</a:t>
            </a:r>
            <a:r>
              <a:rPr dirty="0" spc="-10">
                <a:solidFill>
                  <a:srgbClr val="A21515"/>
                </a:solidFill>
              </a:rPr>
              <a:t> </a:t>
            </a:r>
            <a:r>
              <a:rPr dirty="0">
                <a:solidFill>
                  <a:srgbClr val="A21515"/>
                </a:solidFill>
              </a:rPr>
              <a:t>List</a:t>
            </a:r>
            <a:r>
              <a:rPr dirty="0" spc="-20">
                <a:solidFill>
                  <a:srgbClr val="A21515"/>
                </a:solidFill>
              </a:rPr>
              <a:t> </a:t>
            </a:r>
            <a:r>
              <a:rPr dirty="0">
                <a:solidFill>
                  <a:srgbClr val="A21515"/>
                </a:solidFill>
              </a:rPr>
              <a:t>Angular</a:t>
            </a:r>
            <a:r>
              <a:rPr dirty="0" spc="-15">
                <a:solidFill>
                  <a:srgbClr val="A21515"/>
                </a:solidFill>
              </a:rPr>
              <a:t> </a:t>
            </a:r>
            <a:r>
              <a:rPr dirty="0" spc="-10">
                <a:solidFill>
                  <a:srgbClr val="A21515"/>
                </a:solidFill>
              </a:rPr>
              <a:t>App"</a:t>
            </a:r>
            <a:r>
              <a:rPr dirty="0" spc="-10">
                <a:solidFill>
                  <a:srgbClr val="000000"/>
                </a:solidFill>
              </a:rPr>
              <a:t>, </a:t>
            </a:r>
            <a:r>
              <a:rPr dirty="0">
                <a:solidFill>
                  <a:srgbClr val="000000"/>
                </a:solidFill>
              </a:rPr>
              <a:t>canActivate: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[authGuard]</a:t>
            </a:r>
          </a:p>
          <a:p>
            <a:pPr marL="262255">
              <a:lnSpc>
                <a:spcPct val="100000"/>
              </a:lnSpc>
            </a:pPr>
            <a:r>
              <a:rPr dirty="0" spc="-50">
                <a:solidFill>
                  <a:srgbClr val="000000"/>
                </a:solidFill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dirty="0" spc="-25">
                <a:solidFill>
                  <a:srgbClr val="000000"/>
                </a:solidFill>
              </a:rPr>
              <a:t>];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8854185" y="3934714"/>
            <a:ext cx="2341880" cy="927100"/>
            <a:chOff x="8854185" y="3934714"/>
            <a:chExt cx="2341880" cy="927100"/>
          </a:xfrm>
        </p:grpSpPr>
        <p:sp>
          <p:nvSpPr>
            <p:cNvPr id="6" name="object 6" descr=""/>
            <p:cNvSpPr/>
            <p:nvPr/>
          </p:nvSpPr>
          <p:spPr>
            <a:xfrm>
              <a:off x="8860535" y="3941064"/>
              <a:ext cx="2329180" cy="914400"/>
            </a:xfrm>
            <a:custGeom>
              <a:avLst/>
              <a:gdLst/>
              <a:ahLst/>
              <a:cxnLst/>
              <a:rect l="l" t="t" r="r" b="b"/>
              <a:pathLst>
                <a:path w="2329179" h="914400">
                  <a:moveTo>
                    <a:pt x="2251964" y="0"/>
                  </a:moveTo>
                  <a:lnTo>
                    <a:pt x="76708" y="0"/>
                  </a:lnTo>
                  <a:lnTo>
                    <a:pt x="46827" y="6020"/>
                  </a:lnTo>
                  <a:lnTo>
                    <a:pt x="22447" y="22447"/>
                  </a:lnTo>
                  <a:lnTo>
                    <a:pt x="6020" y="46827"/>
                  </a:lnTo>
                  <a:lnTo>
                    <a:pt x="0" y="76708"/>
                  </a:lnTo>
                  <a:lnTo>
                    <a:pt x="0" y="837692"/>
                  </a:lnTo>
                  <a:lnTo>
                    <a:pt x="6020" y="867572"/>
                  </a:lnTo>
                  <a:lnTo>
                    <a:pt x="22447" y="891952"/>
                  </a:lnTo>
                  <a:lnTo>
                    <a:pt x="46827" y="908379"/>
                  </a:lnTo>
                  <a:lnTo>
                    <a:pt x="76708" y="914400"/>
                  </a:lnTo>
                  <a:lnTo>
                    <a:pt x="2251964" y="914400"/>
                  </a:lnTo>
                  <a:lnTo>
                    <a:pt x="2281844" y="908379"/>
                  </a:lnTo>
                  <a:lnTo>
                    <a:pt x="2306224" y="891952"/>
                  </a:lnTo>
                  <a:lnTo>
                    <a:pt x="2322651" y="867572"/>
                  </a:lnTo>
                  <a:lnTo>
                    <a:pt x="2328672" y="837692"/>
                  </a:lnTo>
                  <a:lnTo>
                    <a:pt x="2328672" y="76708"/>
                  </a:lnTo>
                  <a:lnTo>
                    <a:pt x="2322651" y="46827"/>
                  </a:lnTo>
                  <a:lnTo>
                    <a:pt x="2306224" y="22447"/>
                  </a:lnTo>
                  <a:lnTo>
                    <a:pt x="2281844" y="6020"/>
                  </a:lnTo>
                  <a:lnTo>
                    <a:pt x="225196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860535" y="3941064"/>
              <a:ext cx="2329180" cy="914400"/>
            </a:xfrm>
            <a:custGeom>
              <a:avLst/>
              <a:gdLst/>
              <a:ahLst/>
              <a:cxnLst/>
              <a:rect l="l" t="t" r="r" b="b"/>
              <a:pathLst>
                <a:path w="2329179" h="914400">
                  <a:moveTo>
                    <a:pt x="0" y="76708"/>
                  </a:moveTo>
                  <a:lnTo>
                    <a:pt x="6020" y="46827"/>
                  </a:lnTo>
                  <a:lnTo>
                    <a:pt x="22447" y="22447"/>
                  </a:lnTo>
                  <a:lnTo>
                    <a:pt x="46827" y="6020"/>
                  </a:lnTo>
                  <a:lnTo>
                    <a:pt x="76708" y="0"/>
                  </a:lnTo>
                  <a:lnTo>
                    <a:pt x="2251964" y="0"/>
                  </a:lnTo>
                  <a:lnTo>
                    <a:pt x="2281844" y="6020"/>
                  </a:lnTo>
                  <a:lnTo>
                    <a:pt x="2306224" y="22447"/>
                  </a:lnTo>
                  <a:lnTo>
                    <a:pt x="2322651" y="46827"/>
                  </a:lnTo>
                  <a:lnTo>
                    <a:pt x="2328672" y="76708"/>
                  </a:lnTo>
                  <a:lnTo>
                    <a:pt x="2328672" y="837692"/>
                  </a:lnTo>
                  <a:lnTo>
                    <a:pt x="2322651" y="867572"/>
                  </a:lnTo>
                  <a:lnTo>
                    <a:pt x="2306224" y="891952"/>
                  </a:lnTo>
                  <a:lnTo>
                    <a:pt x="2281844" y="908379"/>
                  </a:lnTo>
                  <a:lnTo>
                    <a:pt x="2251964" y="914400"/>
                  </a:lnTo>
                  <a:lnTo>
                    <a:pt x="76708" y="914400"/>
                  </a:lnTo>
                  <a:lnTo>
                    <a:pt x="46827" y="908379"/>
                  </a:lnTo>
                  <a:lnTo>
                    <a:pt x="22447" y="891952"/>
                  </a:lnTo>
                  <a:lnTo>
                    <a:pt x="6020" y="867572"/>
                  </a:lnTo>
                  <a:lnTo>
                    <a:pt x="0" y="837692"/>
                  </a:lnTo>
                  <a:lnTo>
                    <a:pt x="0" y="76708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8963025" y="3960621"/>
            <a:ext cx="212344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Notice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routes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guarded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by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authGuard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8854185" y="4937505"/>
            <a:ext cx="2341880" cy="927100"/>
            <a:chOff x="8854185" y="4937505"/>
            <a:chExt cx="2341880" cy="927100"/>
          </a:xfrm>
        </p:grpSpPr>
        <p:sp>
          <p:nvSpPr>
            <p:cNvPr id="10" name="object 10" descr=""/>
            <p:cNvSpPr/>
            <p:nvPr/>
          </p:nvSpPr>
          <p:spPr>
            <a:xfrm>
              <a:off x="8860535" y="4943855"/>
              <a:ext cx="2329180" cy="914400"/>
            </a:xfrm>
            <a:custGeom>
              <a:avLst/>
              <a:gdLst/>
              <a:ahLst/>
              <a:cxnLst/>
              <a:rect l="l" t="t" r="r" b="b"/>
              <a:pathLst>
                <a:path w="2329179" h="914400">
                  <a:moveTo>
                    <a:pt x="2251964" y="0"/>
                  </a:moveTo>
                  <a:lnTo>
                    <a:pt x="76708" y="0"/>
                  </a:lnTo>
                  <a:lnTo>
                    <a:pt x="46827" y="6020"/>
                  </a:lnTo>
                  <a:lnTo>
                    <a:pt x="22447" y="22447"/>
                  </a:lnTo>
                  <a:lnTo>
                    <a:pt x="6020" y="46827"/>
                  </a:lnTo>
                  <a:lnTo>
                    <a:pt x="0" y="76708"/>
                  </a:lnTo>
                  <a:lnTo>
                    <a:pt x="0" y="837679"/>
                  </a:lnTo>
                  <a:lnTo>
                    <a:pt x="6020" y="867540"/>
                  </a:lnTo>
                  <a:lnTo>
                    <a:pt x="22447" y="891927"/>
                  </a:lnTo>
                  <a:lnTo>
                    <a:pt x="46827" y="908370"/>
                  </a:lnTo>
                  <a:lnTo>
                    <a:pt x="76708" y="914400"/>
                  </a:lnTo>
                  <a:lnTo>
                    <a:pt x="2251964" y="914400"/>
                  </a:lnTo>
                  <a:lnTo>
                    <a:pt x="2281844" y="908370"/>
                  </a:lnTo>
                  <a:lnTo>
                    <a:pt x="2306224" y="891927"/>
                  </a:lnTo>
                  <a:lnTo>
                    <a:pt x="2322651" y="867540"/>
                  </a:lnTo>
                  <a:lnTo>
                    <a:pt x="2328672" y="837679"/>
                  </a:lnTo>
                  <a:lnTo>
                    <a:pt x="2328672" y="76708"/>
                  </a:lnTo>
                  <a:lnTo>
                    <a:pt x="2322651" y="46827"/>
                  </a:lnTo>
                  <a:lnTo>
                    <a:pt x="2306224" y="22447"/>
                  </a:lnTo>
                  <a:lnTo>
                    <a:pt x="2281844" y="6020"/>
                  </a:lnTo>
                  <a:lnTo>
                    <a:pt x="225196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860535" y="4943855"/>
              <a:ext cx="2329180" cy="914400"/>
            </a:xfrm>
            <a:custGeom>
              <a:avLst/>
              <a:gdLst/>
              <a:ahLst/>
              <a:cxnLst/>
              <a:rect l="l" t="t" r="r" b="b"/>
              <a:pathLst>
                <a:path w="2329179" h="914400">
                  <a:moveTo>
                    <a:pt x="0" y="76708"/>
                  </a:moveTo>
                  <a:lnTo>
                    <a:pt x="6020" y="46827"/>
                  </a:lnTo>
                  <a:lnTo>
                    <a:pt x="22447" y="22447"/>
                  </a:lnTo>
                  <a:lnTo>
                    <a:pt x="46827" y="6020"/>
                  </a:lnTo>
                  <a:lnTo>
                    <a:pt x="76708" y="0"/>
                  </a:lnTo>
                  <a:lnTo>
                    <a:pt x="2251964" y="0"/>
                  </a:lnTo>
                  <a:lnTo>
                    <a:pt x="2281844" y="6020"/>
                  </a:lnTo>
                  <a:lnTo>
                    <a:pt x="2306224" y="22447"/>
                  </a:lnTo>
                  <a:lnTo>
                    <a:pt x="2322651" y="46827"/>
                  </a:lnTo>
                  <a:lnTo>
                    <a:pt x="2328672" y="76708"/>
                  </a:lnTo>
                  <a:lnTo>
                    <a:pt x="2328672" y="837679"/>
                  </a:lnTo>
                  <a:lnTo>
                    <a:pt x="2322651" y="867540"/>
                  </a:lnTo>
                  <a:lnTo>
                    <a:pt x="2306224" y="891927"/>
                  </a:lnTo>
                  <a:lnTo>
                    <a:pt x="2281844" y="908370"/>
                  </a:lnTo>
                  <a:lnTo>
                    <a:pt x="2251964" y="914400"/>
                  </a:lnTo>
                  <a:lnTo>
                    <a:pt x="76708" y="914400"/>
                  </a:lnTo>
                  <a:lnTo>
                    <a:pt x="46827" y="908370"/>
                  </a:lnTo>
                  <a:lnTo>
                    <a:pt x="22447" y="891927"/>
                  </a:lnTo>
                  <a:lnTo>
                    <a:pt x="6020" y="867540"/>
                  </a:lnTo>
                  <a:lnTo>
                    <a:pt x="0" y="837679"/>
                  </a:lnTo>
                  <a:lnTo>
                    <a:pt x="0" y="76708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9017889" y="5099761"/>
            <a:ext cx="201485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Notice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route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parametric!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10"/>
              <a:t> </a:t>
            </a:r>
            <a:r>
              <a:rPr dirty="0"/>
              <a:t>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 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 -</a:t>
            </a:r>
            <a:r>
              <a:rPr dirty="0" spc="-10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10"/>
              <a:t>Technologies</a:t>
            </a:r>
            <a:r>
              <a:rPr dirty="0" spc="-2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/>
              <a:t>Implementing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SPA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10"/>
              <a:t> </a:t>
            </a:r>
            <a:r>
              <a:rPr dirty="0"/>
              <a:t>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 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 -</a:t>
            </a:r>
            <a:r>
              <a:rPr dirty="0" spc="-10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10"/>
              <a:t>Technologies</a:t>
            </a:r>
            <a:r>
              <a:rPr dirty="0" spc="-2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/>
              <a:t>Implementing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SPA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95"/>
              <a:t>TO-</a:t>
            </a:r>
            <a:r>
              <a:rPr dirty="0" spc="165"/>
              <a:t>DO</a:t>
            </a:r>
            <a:r>
              <a:rPr dirty="0" spc="-50"/>
              <a:t> </a:t>
            </a:r>
            <a:r>
              <a:rPr dirty="0" spc="-260"/>
              <a:t>LIST</a:t>
            </a:r>
            <a:r>
              <a:rPr dirty="0"/>
              <a:t> SPA:</a:t>
            </a:r>
            <a:r>
              <a:rPr dirty="0" spc="-15"/>
              <a:t> </a:t>
            </a:r>
            <a:r>
              <a:rPr dirty="0" spc="-10"/>
              <a:t>AUTHGUARD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2366772"/>
            <a:ext cx="10427335" cy="313817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342265" marR="2931160" indent="-250190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authGuard: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CanActivateFn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(route,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state)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authService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inject(AuthService);</a:t>
            </a:r>
            <a:endParaRPr sz="1800">
              <a:latin typeface="Consolas"/>
              <a:cs typeface="Consolas"/>
            </a:endParaRPr>
          </a:p>
          <a:p>
            <a:pPr marL="342265" marR="531368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toastr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inject(ToastrService);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router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inject(Router);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 spc="-10">
                <a:latin typeface="Consolas"/>
                <a:cs typeface="Consolas"/>
              </a:rPr>
              <a:t>(authService.isUserAuthenticated()){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dirty="0" sz="1800" spc="-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 marR="80073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toastr.warning(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"Please,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login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to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access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this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feature"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"Unauthorized!"</a:t>
            </a:r>
            <a:r>
              <a:rPr dirty="0" sz="1800" spc="-10">
                <a:latin typeface="Consolas"/>
                <a:cs typeface="Consolas"/>
              </a:rPr>
              <a:t>);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router.parseUrl(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"/login"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//return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UrlTree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76046" y="1602994"/>
            <a:ext cx="10764520" cy="4537710"/>
            <a:chOff x="876046" y="1602994"/>
            <a:chExt cx="10764520" cy="4537710"/>
          </a:xfrm>
        </p:grpSpPr>
        <p:sp>
          <p:nvSpPr>
            <p:cNvPr id="3" name="object 3" descr=""/>
            <p:cNvSpPr/>
            <p:nvPr/>
          </p:nvSpPr>
          <p:spPr>
            <a:xfrm>
              <a:off x="4859781" y="3621227"/>
              <a:ext cx="1253490" cy="228600"/>
            </a:xfrm>
            <a:custGeom>
              <a:avLst/>
              <a:gdLst/>
              <a:ahLst/>
              <a:cxnLst/>
              <a:rect l="l" t="t" r="r" b="b"/>
              <a:pathLst>
                <a:path w="1253489" h="228600">
                  <a:moveTo>
                    <a:pt x="1253413" y="8"/>
                  </a:moveTo>
                  <a:lnTo>
                    <a:pt x="0" y="8"/>
                  </a:lnTo>
                  <a:lnTo>
                    <a:pt x="0" y="228597"/>
                  </a:lnTo>
                  <a:lnTo>
                    <a:pt x="1253413" y="228597"/>
                  </a:lnTo>
                  <a:lnTo>
                    <a:pt x="1253413" y="8"/>
                  </a:lnTo>
                  <a:close/>
                </a:path>
              </a:pathLst>
            </a:custGeom>
            <a:solidFill>
              <a:srgbClr val="FFD1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82396" y="1609344"/>
              <a:ext cx="10751820" cy="4525010"/>
            </a:xfrm>
            <a:custGeom>
              <a:avLst/>
              <a:gdLst/>
              <a:ahLst/>
              <a:cxnLst/>
              <a:rect l="l" t="t" r="r" b="b"/>
              <a:pathLst>
                <a:path w="10751820" h="4525010">
                  <a:moveTo>
                    <a:pt x="0" y="4524756"/>
                  </a:moveTo>
                  <a:lnTo>
                    <a:pt x="10751820" y="4524756"/>
                  </a:lnTo>
                  <a:lnTo>
                    <a:pt x="10751820" y="0"/>
                  </a:lnTo>
                  <a:lnTo>
                    <a:pt x="0" y="0"/>
                  </a:lnTo>
                  <a:lnTo>
                    <a:pt x="0" y="4524756"/>
                  </a:lnTo>
                  <a:close/>
                </a:path>
              </a:pathLst>
            </a:custGeom>
            <a:ln w="12700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95"/>
              <a:t>TO-</a:t>
            </a:r>
            <a:r>
              <a:rPr dirty="0" spc="165"/>
              <a:t>DO</a:t>
            </a:r>
            <a:r>
              <a:rPr dirty="0"/>
              <a:t> </a:t>
            </a:r>
            <a:r>
              <a:rPr dirty="0" spc="-260"/>
              <a:t>LIST</a:t>
            </a:r>
            <a:r>
              <a:rPr dirty="0" spc="-5"/>
              <a:t> </a:t>
            </a:r>
            <a:r>
              <a:rPr dirty="0"/>
              <a:t>SPA:</a:t>
            </a:r>
            <a:r>
              <a:rPr dirty="0" spc="10"/>
              <a:t> </a:t>
            </a:r>
            <a:r>
              <a:rPr dirty="0" spc="55"/>
              <a:t>LOGIN</a:t>
            </a:r>
            <a:r>
              <a:rPr dirty="0" spc="-5"/>
              <a:t> </a:t>
            </a:r>
            <a:r>
              <a:rPr dirty="0" spc="45"/>
              <a:t>COMPONENT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10"/>
              <a:t> </a:t>
            </a:r>
            <a:r>
              <a:rPr dirty="0"/>
              <a:t>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 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 -</a:t>
            </a:r>
            <a:r>
              <a:rPr dirty="0" spc="-10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10"/>
              <a:t>Technologies</a:t>
            </a:r>
            <a:r>
              <a:rPr dirty="0" spc="-2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/>
              <a:t>Implementing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SPA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1628902"/>
            <a:ext cx="5415280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 marR="1256030" indent="-25019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LoginComponent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toastr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inject(ToastrService); </a:t>
            </a:r>
            <a:r>
              <a:rPr dirty="0" sz="1800">
                <a:latin typeface="Consolas"/>
                <a:cs typeface="Consolas"/>
              </a:rPr>
              <a:t>router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inject(Router);</a:t>
            </a:r>
            <a:endParaRPr sz="1800">
              <a:latin typeface="Consolas"/>
              <a:cs typeface="Consolas"/>
            </a:endParaRPr>
          </a:p>
          <a:p>
            <a:pPr marL="262255" marR="508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restService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inject(RestBackendService); </a:t>
            </a:r>
            <a:r>
              <a:rPr dirty="0" sz="1800">
                <a:latin typeface="Consolas"/>
                <a:cs typeface="Consolas"/>
              </a:rPr>
              <a:t>authService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inject(AuthService);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24686" y="3072343"/>
            <a:ext cx="2256790" cy="228600"/>
          </a:xfrm>
          <a:prstGeom prst="rect">
            <a:avLst/>
          </a:prstGeom>
          <a:solidFill>
            <a:srgbClr val="FFD100">
              <a:alpha val="399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95"/>
              </a:lnSpc>
            </a:pPr>
            <a:r>
              <a:rPr dirty="0" sz="1800">
                <a:latin typeface="Consolas"/>
                <a:cs typeface="Consolas"/>
              </a:rPr>
              <a:t>submitted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62050" y="3274898"/>
            <a:ext cx="6668770" cy="2769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loginForm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FormGroup({</a:t>
            </a:r>
            <a:endParaRPr sz="1800">
              <a:latin typeface="Consolas"/>
              <a:cs typeface="Consolas"/>
            </a:endParaRPr>
          </a:p>
          <a:p>
            <a:pPr marL="512445" marR="508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user: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FormControl(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[Validators.required]), </a:t>
            </a:r>
            <a:r>
              <a:rPr dirty="0" sz="1800">
                <a:latin typeface="Consolas"/>
                <a:cs typeface="Consolas"/>
              </a:rPr>
              <a:t>pass: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FormControl(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[</a:t>
            </a:r>
            <a:endParaRPr sz="1800">
              <a:latin typeface="Consolas"/>
              <a:cs typeface="Consolas"/>
            </a:endParaRPr>
          </a:p>
          <a:p>
            <a:pPr marL="763905" marR="2637790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Validators.required, Validators.minLength(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4</a:t>
            </a:r>
            <a:r>
              <a:rPr dirty="0" sz="1800" spc="-10">
                <a:latin typeface="Consolas"/>
                <a:cs typeface="Consolas"/>
              </a:rPr>
              <a:t>), Validators.maxLength(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16</a:t>
            </a:r>
            <a:r>
              <a:rPr dirty="0" sz="1800" spc="-10">
                <a:latin typeface="Consolas"/>
                <a:cs typeface="Consolas"/>
              </a:rPr>
              <a:t>)])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handleLogin()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handles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login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submit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*/</a:t>
            </a:r>
            <a:r>
              <a:rPr dirty="0" sz="1800" spc="-25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686276" y="3072815"/>
            <a:ext cx="2336165" cy="125539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Biagio</a:t>
            </a:r>
            <a:r>
              <a:rPr dirty="0" sz="800" spc="-3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Morgillo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2024-06-</a:t>
            </a:r>
            <a:r>
              <a:rPr dirty="0" sz="800" i="1">
                <a:latin typeface="Arial"/>
                <a:cs typeface="Arial"/>
              </a:rPr>
              <a:t>04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09:13:55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Arial MT"/>
                <a:cs typeface="Arial MT"/>
              </a:rPr>
              <a:t>-------------------------------------------</a:t>
            </a:r>
            <a:r>
              <a:rPr dirty="0" sz="1000" spc="-5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Arial MT"/>
                <a:cs typeface="Arial MT"/>
              </a:rPr>
              <a:t>Mostra all'utente che deve inserire </a:t>
            </a:r>
            <a:r>
              <a:rPr dirty="0" sz="1000" spc="-20">
                <a:latin typeface="Arial MT"/>
                <a:cs typeface="Arial MT"/>
              </a:rPr>
              <a:t>mail</a:t>
            </a:r>
            <a:r>
              <a:rPr dirty="0" sz="1000" spc="50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 </a:t>
            </a:r>
            <a:r>
              <a:rPr dirty="0" sz="1000" spc="-10">
                <a:latin typeface="Arial MT"/>
                <a:cs typeface="Arial MT"/>
              </a:rPr>
              <a:t>password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686276" y="3625710"/>
            <a:ext cx="2336165" cy="118046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Biagio</a:t>
            </a:r>
            <a:r>
              <a:rPr dirty="0" sz="800" spc="-3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Morgillo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2024-06-</a:t>
            </a:r>
            <a:r>
              <a:rPr dirty="0" sz="800" i="1">
                <a:latin typeface="Arial"/>
                <a:cs typeface="Arial"/>
              </a:rPr>
              <a:t>04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09:15:47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Arial MT"/>
                <a:cs typeface="Arial MT"/>
              </a:rPr>
              <a:t>-------------------------------------------</a:t>
            </a:r>
            <a:r>
              <a:rPr dirty="0" sz="1000" spc="-5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Arial MT"/>
                <a:cs typeface="Arial MT"/>
              </a:rPr>
              <a:t>Validator è una classe presa </a:t>
            </a:r>
            <a:r>
              <a:rPr dirty="0" sz="1000" spc="-25">
                <a:latin typeface="Arial MT"/>
                <a:cs typeface="Arial MT"/>
              </a:rPr>
              <a:t>da </a:t>
            </a:r>
            <a:r>
              <a:rPr dirty="0" sz="1000" spc="-10">
                <a:latin typeface="Arial MT"/>
                <a:cs typeface="Arial MT"/>
              </a:rPr>
              <a:t>AngularForm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76046" y="1327150"/>
            <a:ext cx="10861040" cy="5092700"/>
            <a:chOff x="876046" y="1327150"/>
            <a:chExt cx="10861040" cy="5092700"/>
          </a:xfrm>
        </p:grpSpPr>
        <p:sp>
          <p:nvSpPr>
            <p:cNvPr id="3" name="object 3" descr=""/>
            <p:cNvSpPr/>
            <p:nvPr/>
          </p:nvSpPr>
          <p:spPr>
            <a:xfrm>
              <a:off x="3732022" y="2248259"/>
              <a:ext cx="4763770" cy="229235"/>
            </a:xfrm>
            <a:custGeom>
              <a:avLst/>
              <a:gdLst/>
              <a:ahLst/>
              <a:cxnLst/>
              <a:rect l="l" t="t" r="r" b="b"/>
              <a:pathLst>
                <a:path w="4763770" h="229235">
                  <a:moveTo>
                    <a:pt x="4763213" y="2"/>
                  </a:moveTo>
                  <a:lnTo>
                    <a:pt x="0" y="2"/>
                  </a:lnTo>
                  <a:lnTo>
                    <a:pt x="0" y="228900"/>
                  </a:lnTo>
                  <a:lnTo>
                    <a:pt x="4763213" y="228900"/>
                  </a:lnTo>
                  <a:lnTo>
                    <a:pt x="4763213" y="2"/>
                  </a:lnTo>
                  <a:close/>
                </a:path>
              </a:pathLst>
            </a:custGeom>
            <a:solidFill>
              <a:srgbClr val="FFD1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82396" y="1333500"/>
              <a:ext cx="10848340" cy="5080000"/>
            </a:xfrm>
            <a:custGeom>
              <a:avLst/>
              <a:gdLst/>
              <a:ahLst/>
              <a:cxnLst/>
              <a:rect l="l" t="t" r="r" b="b"/>
              <a:pathLst>
                <a:path w="10848340" h="5080000">
                  <a:moveTo>
                    <a:pt x="0" y="5079492"/>
                  </a:moveTo>
                  <a:lnTo>
                    <a:pt x="10847832" y="5079492"/>
                  </a:lnTo>
                  <a:lnTo>
                    <a:pt x="10847832" y="0"/>
                  </a:lnTo>
                  <a:lnTo>
                    <a:pt x="0" y="0"/>
                  </a:lnTo>
                  <a:lnTo>
                    <a:pt x="0" y="5079492"/>
                  </a:lnTo>
                  <a:close/>
                </a:path>
              </a:pathLst>
            </a:custGeom>
            <a:ln w="12700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95"/>
              <a:t>TO-</a:t>
            </a:r>
            <a:r>
              <a:rPr dirty="0" spc="165"/>
              <a:t>DO</a:t>
            </a:r>
            <a:r>
              <a:rPr dirty="0"/>
              <a:t> </a:t>
            </a:r>
            <a:r>
              <a:rPr dirty="0" spc="-260"/>
              <a:t>LIST</a:t>
            </a:r>
            <a:r>
              <a:rPr dirty="0" spc="-5"/>
              <a:t> </a:t>
            </a:r>
            <a:r>
              <a:rPr dirty="0"/>
              <a:t>SPA:</a:t>
            </a:r>
            <a:r>
              <a:rPr dirty="0" spc="10"/>
              <a:t> </a:t>
            </a:r>
            <a:r>
              <a:rPr dirty="0" spc="55"/>
              <a:t>LOGIN</a:t>
            </a:r>
            <a:r>
              <a:rPr dirty="0" spc="-5"/>
              <a:t> </a:t>
            </a:r>
            <a:r>
              <a:rPr dirty="0" spc="45"/>
              <a:t>COMPONENT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10"/>
              <a:t> </a:t>
            </a:r>
            <a:r>
              <a:rPr dirty="0"/>
              <a:t>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 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 -</a:t>
            </a:r>
            <a:r>
              <a:rPr dirty="0" spc="-10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10"/>
              <a:t>Technologies</a:t>
            </a:r>
            <a:r>
              <a:rPr dirty="0" spc="-2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/>
              <a:t>Implementing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SPA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1354073"/>
            <a:ext cx="9302115" cy="2769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 marR="5647690" indent="-25019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handleLogin()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.submitted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20">
                <a:latin typeface="Consolas"/>
                <a:cs typeface="Consolas"/>
              </a:rPr>
              <a:t>;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 spc="-10">
                <a:latin typeface="Consolas"/>
                <a:cs typeface="Consolas"/>
              </a:rPr>
              <a:t>(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.loginForm.invalid){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.toastr.error(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"Invalid</a:t>
            </a:r>
            <a:r>
              <a:rPr dirty="0" sz="1800" spc="-8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data!"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"Oops!</a:t>
            </a:r>
            <a:r>
              <a:rPr dirty="0" sz="1800" spc="-7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Invalid</a:t>
            </a:r>
            <a:r>
              <a:rPr dirty="0" sz="1800" spc="-6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data!"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512445" marR="5772150" indent="-25019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dirty="0" sz="1800" spc="-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.restService.login({</a:t>
            </a:r>
            <a:endParaRPr sz="1800">
              <a:latin typeface="Consolas"/>
              <a:cs typeface="Consolas"/>
            </a:endParaRPr>
          </a:p>
          <a:p>
            <a:pPr marL="763905" marR="3389629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usr: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.loginForm.value.user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as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string, </a:t>
            </a:r>
            <a:r>
              <a:rPr dirty="0" sz="1800">
                <a:latin typeface="Consolas"/>
                <a:cs typeface="Consolas"/>
              </a:rPr>
              <a:t>pwd: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.loginForm.value.pass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as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string,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onsolas"/>
                <a:cs typeface="Consolas"/>
              </a:rPr>
              <a:t>}).subscribe({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next: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(token)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.authService.updateToken(token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as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string);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},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713357" y="4097782"/>
            <a:ext cx="15303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error: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(err) </a:t>
            </a:r>
            <a:r>
              <a:rPr dirty="0" sz="1800">
                <a:latin typeface="Consolas"/>
                <a:cs typeface="Consolas"/>
              </a:rPr>
              <a:t>complete: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spc="-35">
                <a:latin typeface="Consolas"/>
                <a:cs typeface="Consolas"/>
              </a:rPr>
              <a:t>()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469385" y="4097782"/>
            <a:ext cx="81743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6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.toastr.error(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"Invalid"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"Oops!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Invalid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credentials"</a:t>
            </a:r>
            <a:r>
              <a:rPr dirty="0" sz="1800" spc="-10">
                <a:latin typeface="Consolas"/>
                <a:cs typeface="Consolas"/>
              </a:rPr>
              <a:t>);},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62050" y="4646117"/>
            <a:ext cx="9928225" cy="16725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1536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.toastr.success(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`Welcome`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`Welcome</a:t>
            </a:r>
            <a:r>
              <a:rPr dirty="0" sz="1800" spc="-2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${this</a:t>
            </a:r>
            <a:r>
              <a:rPr dirty="0" sz="1800" spc="-10">
                <a:latin typeface="Consolas"/>
                <a:cs typeface="Consolas"/>
              </a:rPr>
              <a:t>.loginForm.value.user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!`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01536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.router.navigateByUrl(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"/todos"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686276" y="2243467"/>
            <a:ext cx="2336165" cy="13716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Biagio</a:t>
            </a:r>
            <a:r>
              <a:rPr dirty="0" sz="800" spc="-3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Morgillo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2024-06-</a:t>
            </a:r>
            <a:r>
              <a:rPr dirty="0" sz="800" i="1">
                <a:latin typeface="Arial"/>
                <a:cs typeface="Arial"/>
              </a:rPr>
              <a:t>04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09:23:10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Arial MT"/>
                <a:cs typeface="Arial MT"/>
              </a:rPr>
              <a:t>-------------------------------------------</a:t>
            </a:r>
            <a:r>
              <a:rPr dirty="0" sz="1000" spc="-5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</a:pPr>
            <a:r>
              <a:rPr dirty="0" sz="1000">
                <a:latin typeface="Arial MT"/>
                <a:cs typeface="Arial MT"/>
              </a:rPr>
              <a:t>Il primo è il titolo, il secondo è il </a:t>
            </a:r>
            <a:r>
              <a:rPr dirty="0" sz="1000" spc="-20">
                <a:latin typeface="Arial MT"/>
                <a:cs typeface="Arial MT"/>
              </a:rPr>
              <a:t>body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95"/>
              <a:t>TO-</a:t>
            </a:r>
            <a:r>
              <a:rPr dirty="0" spc="165"/>
              <a:t>DO</a:t>
            </a:r>
            <a:r>
              <a:rPr dirty="0"/>
              <a:t> </a:t>
            </a:r>
            <a:r>
              <a:rPr dirty="0" spc="-260"/>
              <a:t>LIST</a:t>
            </a:r>
            <a:r>
              <a:rPr dirty="0" spc="-5"/>
              <a:t> </a:t>
            </a:r>
            <a:r>
              <a:rPr dirty="0"/>
              <a:t>SPA:</a:t>
            </a:r>
            <a:r>
              <a:rPr dirty="0" spc="10"/>
              <a:t> </a:t>
            </a:r>
            <a:r>
              <a:rPr dirty="0" spc="55"/>
              <a:t>LOGIN</a:t>
            </a:r>
            <a:r>
              <a:rPr dirty="0" spc="-5"/>
              <a:t> </a:t>
            </a:r>
            <a:r>
              <a:rPr dirty="0" spc="-55"/>
              <a:t>TEMPLATE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653795" y="3314700"/>
            <a:ext cx="10884535" cy="2862580"/>
          </a:xfrm>
          <a:custGeom>
            <a:avLst/>
            <a:gdLst/>
            <a:ahLst/>
            <a:cxnLst/>
            <a:rect l="l" t="t" r="r" b="b"/>
            <a:pathLst>
              <a:path w="10884535" h="2862579">
                <a:moveTo>
                  <a:pt x="0" y="2862072"/>
                </a:moveTo>
                <a:lnTo>
                  <a:pt x="10884408" y="2862072"/>
                </a:lnTo>
                <a:lnTo>
                  <a:pt x="10884408" y="0"/>
                </a:lnTo>
                <a:lnTo>
                  <a:pt x="0" y="0"/>
                </a:lnTo>
                <a:lnTo>
                  <a:pt x="0" y="2862072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32536" y="1447952"/>
            <a:ext cx="10555605" cy="46564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469265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Interesting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bit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LoginComponent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endParaRPr sz="2800">
              <a:latin typeface="Calibri"/>
              <a:cs typeface="Calibri"/>
            </a:endParaRPr>
          </a:p>
          <a:p>
            <a:pPr marL="469265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conditionally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show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input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errors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needed</a:t>
            </a:r>
            <a:endParaRPr sz="2800">
              <a:latin typeface="Calibri"/>
              <a:cs typeface="Calibri"/>
            </a:endParaRPr>
          </a:p>
          <a:p>
            <a:pPr lvl="1" marL="926465" indent="-227329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9264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17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control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flow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syntax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111F35"/>
                </a:solidFill>
                <a:latin typeface="Calibri"/>
                <a:cs typeface="Calibri"/>
              </a:rPr>
              <a:t>@if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!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&lt;label</a:t>
            </a:r>
            <a:r>
              <a:rPr dirty="0" sz="1800" spc="-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for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"pass"</a:t>
            </a:r>
            <a:r>
              <a:rPr dirty="0" sz="1800" spc="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class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"classes-omitted"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1800" spc="-10">
                <a:latin typeface="Consolas"/>
                <a:cs typeface="Consolas"/>
              </a:rPr>
              <a:t>Password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&lt;/label&gt;</a:t>
            </a:r>
            <a:endParaRPr sz="180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dirty="0" sz="1800" spc="-7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"password"</a:t>
            </a:r>
            <a:r>
              <a:rPr dirty="0"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formControlName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"pass"</a:t>
            </a:r>
            <a:r>
              <a:rPr dirty="0" sz="1800" spc="-6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id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"pass"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class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"omitted"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required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@if</a:t>
            </a:r>
            <a:r>
              <a:rPr dirty="0" sz="1800">
                <a:latin typeface="Consolas"/>
                <a:cs typeface="Consolas"/>
              </a:rPr>
              <a:t>(submitted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&amp;&amp;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loginForm.controls.pass.errors){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@if</a:t>
            </a:r>
            <a:r>
              <a:rPr dirty="0" sz="1800" spc="-10">
                <a:latin typeface="Consolas"/>
                <a:cs typeface="Consolas"/>
              </a:rPr>
              <a:t>(loginForm.controls.pass.errors['required']){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&lt;p</a:t>
            </a:r>
            <a:r>
              <a:rPr dirty="0" sz="1800" spc="-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class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"form-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error"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1800">
                <a:latin typeface="Consolas"/>
                <a:cs typeface="Consolas"/>
              </a:rPr>
              <a:t>Password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is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required.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&lt;/p&gt;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@if</a:t>
            </a:r>
            <a:r>
              <a:rPr dirty="0" sz="1800" spc="-10">
                <a:latin typeface="Consolas"/>
                <a:cs typeface="Consolas"/>
              </a:rPr>
              <a:t>(loginForm.controls.pass.errors['minlength']){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&lt;p</a:t>
            </a:r>
            <a:r>
              <a:rPr dirty="0" sz="1800" spc="-1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class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"form-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error"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1800">
                <a:latin typeface="Consolas"/>
                <a:cs typeface="Consolas"/>
              </a:rPr>
              <a:t>Password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should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contain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at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least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4</a:t>
            </a:r>
            <a:r>
              <a:rPr dirty="0" sz="1800" spc="-10">
                <a:latin typeface="Consolas"/>
                <a:cs typeface="Consolas"/>
              </a:rPr>
              <a:t> characters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&lt;/p&gt;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10"/>
              <a:t> </a:t>
            </a:r>
            <a:r>
              <a:rPr dirty="0"/>
              <a:t>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 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 -</a:t>
            </a:r>
            <a:r>
              <a:rPr dirty="0" spc="-10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10"/>
              <a:t>Technologies</a:t>
            </a:r>
            <a:r>
              <a:rPr dirty="0" spc="-2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/>
              <a:t>Implementing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SPA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95"/>
              <a:t>TO-</a:t>
            </a:r>
            <a:r>
              <a:rPr dirty="0" spc="165"/>
              <a:t>DO</a:t>
            </a:r>
            <a:r>
              <a:rPr dirty="0" spc="-5"/>
              <a:t> </a:t>
            </a:r>
            <a:r>
              <a:rPr dirty="0" spc="-260"/>
              <a:t>LIST</a:t>
            </a:r>
            <a:r>
              <a:rPr dirty="0" spc="-5"/>
              <a:t> </a:t>
            </a:r>
            <a:r>
              <a:rPr dirty="0"/>
              <a:t>SPA:</a:t>
            </a:r>
            <a:r>
              <a:rPr dirty="0" spc="10"/>
              <a:t> </a:t>
            </a:r>
            <a:r>
              <a:rPr dirty="0" spc="50"/>
              <a:t>AUTH</a:t>
            </a:r>
            <a:r>
              <a:rPr dirty="0" spc="20"/>
              <a:t> </a:t>
            </a:r>
            <a:r>
              <a:rPr dirty="0" spc="-155"/>
              <a:t>SERVICE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565147"/>
            <a:ext cx="10427335" cy="4802505"/>
          </a:xfrm>
          <a:custGeom>
            <a:avLst/>
            <a:gdLst/>
            <a:ahLst/>
            <a:cxnLst/>
            <a:rect l="l" t="t" r="r" b="b"/>
            <a:pathLst>
              <a:path w="10427335" h="4802505">
                <a:moveTo>
                  <a:pt x="0" y="4802124"/>
                </a:moveTo>
                <a:lnTo>
                  <a:pt x="10427208" y="4802124"/>
                </a:lnTo>
                <a:lnTo>
                  <a:pt x="10427208" y="0"/>
                </a:lnTo>
                <a:lnTo>
                  <a:pt x="0" y="0"/>
                </a:lnTo>
                <a:lnTo>
                  <a:pt x="0" y="4802124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585036"/>
            <a:ext cx="10053320" cy="4416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 marR="7150100" indent="-25019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type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AuthState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user: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0">
                <a:latin typeface="Consolas"/>
                <a:cs typeface="Consolas"/>
              </a:rPr>
              <a:t>null, </a:t>
            </a:r>
            <a:r>
              <a:rPr dirty="0" sz="1800">
                <a:latin typeface="Consolas"/>
                <a:cs typeface="Consolas"/>
              </a:rPr>
              <a:t>token: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0">
                <a:latin typeface="Consolas"/>
                <a:cs typeface="Consolas"/>
              </a:rPr>
              <a:t>null,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isAuthenticated: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boolean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262255" marR="7524750" indent="-25019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onsolas"/>
                <a:cs typeface="Consolas"/>
              </a:rPr>
              <a:t>@Injectable({ </a:t>
            </a:r>
            <a:r>
              <a:rPr dirty="0" sz="1800">
                <a:latin typeface="Consolas"/>
                <a:cs typeface="Consolas"/>
              </a:rPr>
              <a:t>providedIn: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'root'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AuthService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spc="-6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512445" marR="2512060" indent="-2501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authState: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WritableSignal&lt;AuthState&gt;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signal&lt;AuthState&gt;({ </a:t>
            </a:r>
            <a:r>
              <a:rPr dirty="0" sz="1800">
                <a:latin typeface="Consolas"/>
                <a:cs typeface="Consolas"/>
              </a:rPr>
              <a:t>user: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.getUser(),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token: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.getToken(),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//get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token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from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localStorage,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if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there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isAuthenticated: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.verifyToken(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.getToken())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//verify</a:t>
            </a:r>
            <a:r>
              <a:rPr dirty="0" sz="1800" spc="-6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it's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not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expired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1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 spc="-1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30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 spc="-10"/>
              <a:t>Implementing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 spc="-20"/>
              <a:t>SPA</a:t>
            </a:r>
            <a:r>
              <a:rPr dirty="0"/>
              <a:t>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1050016" y="6464985"/>
            <a:ext cx="18097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1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 spc="-1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30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 spc="-10"/>
              <a:t>Implementing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 spc="-20"/>
              <a:t>SPA</a:t>
            </a:r>
            <a:r>
              <a:rPr dirty="0"/>
              <a:t>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95"/>
              <a:t>TO-</a:t>
            </a:r>
            <a:r>
              <a:rPr dirty="0" spc="165"/>
              <a:t>DO</a:t>
            </a:r>
            <a:r>
              <a:rPr dirty="0" spc="-5"/>
              <a:t> </a:t>
            </a:r>
            <a:r>
              <a:rPr dirty="0" spc="-260"/>
              <a:t>LIST</a:t>
            </a:r>
            <a:r>
              <a:rPr dirty="0" spc="-5"/>
              <a:t> </a:t>
            </a:r>
            <a:r>
              <a:rPr dirty="0"/>
              <a:t>SPA:</a:t>
            </a:r>
            <a:r>
              <a:rPr dirty="0" spc="10"/>
              <a:t> </a:t>
            </a:r>
            <a:r>
              <a:rPr dirty="0" spc="50"/>
              <a:t>AUTH</a:t>
            </a:r>
            <a:r>
              <a:rPr dirty="0" spc="20"/>
              <a:t> </a:t>
            </a:r>
            <a:r>
              <a:rPr dirty="0" spc="-155"/>
              <a:t>SERVICE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1565147"/>
            <a:ext cx="10427335" cy="313944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 spc="-10">
                <a:latin typeface="Consolas"/>
                <a:cs typeface="Consolas"/>
              </a:rPr>
              <a:t>@Injectable({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providedIn: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'root'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AuthService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//continues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from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previous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slide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2265" marR="418528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user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computed(()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.authState().user); </a:t>
            </a:r>
            <a:r>
              <a:rPr dirty="0" sz="1800">
                <a:latin typeface="Consolas"/>
                <a:cs typeface="Consolas"/>
              </a:rPr>
              <a:t>token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computed(()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.authState().token);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isAuthenticated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computed(()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.authState().isAuthenticated);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95"/>
              <a:t>TO-</a:t>
            </a:r>
            <a:r>
              <a:rPr dirty="0" spc="165"/>
              <a:t>DO</a:t>
            </a:r>
            <a:r>
              <a:rPr dirty="0" spc="-5"/>
              <a:t> </a:t>
            </a:r>
            <a:r>
              <a:rPr dirty="0" spc="-260"/>
              <a:t>LIST</a:t>
            </a:r>
            <a:r>
              <a:rPr dirty="0" spc="-5"/>
              <a:t> </a:t>
            </a:r>
            <a:r>
              <a:rPr dirty="0"/>
              <a:t>SPA:</a:t>
            </a:r>
            <a:r>
              <a:rPr dirty="0" spc="10"/>
              <a:t> </a:t>
            </a:r>
            <a:r>
              <a:rPr dirty="0" spc="50"/>
              <a:t>AUTH</a:t>
            </a:r>
            <a:r>
              <a:rPr dirty="0" spc="20"/>
              <a:t> </a:t>
            </a:r>
            <a:r>
              <a:rPr dirty="0" spc="-155"/>
              <a:t>SERVICE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470660"/>
            <a:ext cx="10427335" cy="4800600"/>
          </a:xfrm>
          <a:custGeom>
            <a:avLst/>
            <a:gdLst/>
            <a:ahLst/>
            <a:cxnLst/>
            <a:rect l="l" t="t" r="r" b="b"/>
            <a:pathLst>
              <a:path w="10427335" h="4800600">
                <a:moveTo>
                  <a:pt x="0" y="4800600"/>
                </a:moveTo>
                <a:lnTo>
                  <a:pt x="10427208" y="4800600"/>
                </a:lnTo>
                <a:lnTo>
                  <a:pt x="10427208" y="0"/>
                </a:lnTo>
                <a:lnTo>
                  <a:pt x="0" y="0"/>
                </a:lnTo>
                <a:lnTo>
                  <a:pt x="0" y="4800600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490598"/>
            <a:ext cx="9552305" cy="4690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26923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@Injectable({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providedIn: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'root'</a:t>
            </a:r>
            <a:r>
              <a:rPr dirty="0" sz="1800" spc="-10">
                <a:latin typeface="Consolas"/>
                <a:cs typeface="Consolas"/>
              </a:rPr>
              <a:t>})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AuthService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137160" marR="50196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//continues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from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previous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slide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constructor</a:t>
            </a:r>
            <a:r>
              <a:rPr dirty="0" sz="1800" spc="-10">
                <a:latin typeface="Consolas"/>
                <a:cs typeface="Consolas"/>
              </a:rPr>
              <a:t>(){</a:t>
            </a:r>
            <a:endParaRPr sz="1800">
              <a:latin typeface="Consolas"/>
              <a:cs typeface="Consolas"/>
            </a:endParaRPr>
          </a:p>
          <a:p>
            <a:pPr marL="38862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effect(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//we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use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effect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keep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data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aligned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with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localStorage</a:t>
            </a:r>
            <a:endParaRPr sz="1800">
              <a:latin typeface="Consolas"/>
              <a:cs typeface="Consolas"/>
            </a:endParaRPr>
          </a:p>
          <a:p>
            <a:pPr marL="638810" marR="426593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token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.authState().token;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user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.authState().user;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>
                <a:latin typeface="Consolas"/>
                <a:cs typeface="Consolas"/>
              </a:rPr>
              <a:t>(token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!==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null</a:t>
            </a:r>
            <a:r>
              <a:rPr dirty="0" sz="1800" spc="-2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890269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localStorage.setItem(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"token"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19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token);</a:t>
            </a:r>
            <a:endParaRPr sz="1800">
              <a:latin typeface="Consolas"/>
              <a:cs typeface="Consolas"/>
            </a:endParaRPr>
          </a:p>
          <a:p>
            <a:pPr marL="638810">
              <a:lnSpc>
                <a:spcPct val="100000"/>
              </a:lnSpc>
              <a:spcBef>
                <a:spcPts val="5"/>
              </a:spcBef>
            </a:pP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1800">
              <a:latin typeface="Consolas"/>
              <a:cs typeface="Consolas"/>
            </a:endParaRPr>
          </a:p>
          <a:p>
            <a:pPr marL="638810" marR="4518025" indent="251460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localStorage.removeItem(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"token"</a:t>
            </a:r>
            <a:r>
              <a:rPr dirty="0" sz="1800" spc="-10">
                <a:latin typeface="Consolas"/>
                <a:cs typeface="Consolas"/>
              </a:rPr>
              <a:t>);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>
                <a:latin typeface="Consolas"/>
                <a:cs typeface="Consolas"/>
              </a:rPr>
              <a:t>(user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!==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null</a:t>
            </a:r>
            <a:r>
              <a:rPr dirty="0" sz="1800" spc="-1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890269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localStorage.setItem(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"user"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114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user);</a:t>
            </a:r>
            <a:endParaRPr sz="1800">
              <a:latin typeface="Consolas"/>
              <a:cs typeface="Consolas"/>
            </a:endParaRPr>
          </a:p>
          <a:p>
            <a:pPr marL="638810">
              <a:lnSpc>
                <a:spcPct val="100000"/>
              </a:lnSpc>
            </a:pP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1800">
              <a:latin typeface="Consolas"/>
              <a:cs typeface="Consolas"/>
            </a:endParaRPr>
          </a:p>
          <a:p>
            <a:pPr marL="890269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localStorage.removeItem(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"user"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38862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13716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1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 spc="-1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30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 spc="-10"/>
              <a:t>Implementing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 spc="-20"/>
              <a:t>SPA</a:t>
            </a:r>
            <a:r>
              <a:rPr dirty="0"/>
              <a:t>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11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95"/>
              <a:t>TO-</a:t>
            </a:r>
            <a:r>
              <a:rPr dirty="0" spc="165"/>
              <a:t>DO</a:t>
            </a:r>
            <a:r>
              <a:rPr dirty="0" spc="25"/>
              <a:t> </a:t>
            </a:r>
            <a:r>
              <a:rPr dirty="0" spc="-260"/>
              <a:t>LIST</a:t>
            </a:r>
            <a:r>
              <a:rPr dirty="0" spc="5"/>
              <a:t> </a:t>
            </a:r>
            <a:r>
              <a:rPr dirty="0"/>
              <a:t>SPA:</a:t>
            </a:r>
            <a:r>
              <a:rPr dirty="0" spc="30"/>
              <a:t> </a:t>
            </a:r>
            <a:r>
              <a:rPr dirty="0" spc="-210"/>
              <a:t>REST</a:t>
            </a:r>
            <a:r>
              <a:rPr dirty="0" spc="30"/>
              <a:t> </a:t>
            </a:r>
            <a:r>
              <a:rPr dirty="0"/>
              <a:t>BACKEND</a:t>
            </a:r>
            <a:r>
              <a:rPr dirty="0" spc="25"/>
              <a:t> </a:t>
            </a:r>
            <a:r>
              <a:rPr dirty="0" spc="-135"/>
              <a:t>SERVICE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565147"/>
            <a:ext cx="10427335" cy="4525010"/>
          </a:xfrm>
          <a:custGeom>
            <a:avLst/>
            <a:gdLst/>
            <a:ahLst/>
            <a:cxnLst/>
            <a:rect l="l" t="t" r="r" b="b"/>
            <a:pathLst>
              <a:path w="10427335" h="4525010">
                <a:moveTo>
                  <a:pt x="0" y="4524756"/>
                </a:moveTo>
                <a:lnTo>
                  <a:pt x="10427208" y="4524756"/>
                </a:lnTo>
                <a:lnTo>
                  <a:pt x="10427208" y="0"/>
                </a:lnTo>
                <a:lnTo>
                  <a:pt x="0" y="0"/>
                </a:lnTo>
                <a:lnTo>
                  <a:pt x="0" y="4524756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585036"/>
            <a:ext cx="8925560" cy="4416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@Injectable(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providedIn: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'root'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262255" marR="4767580" indent="-2501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RestBackendService</a:t>
            </a:r>
            <a:r>
              <a:rPr dirty="0" sz="1800" spc="-50">
                <a:latin typeface="Consolas"/>
                <a:cs typeface="Consolas"/>
              </a:rPr>
              <a:t> { </a:t>
            </a:r>
            <a:r>
              <a:rPr dirty="0" sz="1800">
                <a:latin typeface="Consolas"/>
                <a:cs typeface="Consolas"/>
              </a:rPr>
              <a:t>url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  <a:hlinkClick r:id="rId2"/>
              </a:rPr>
              <a:t>http://localhost:3000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constructor</a:t>
            </a:r>
            <a:r>
              <a:rPr dirty="0" sz="1800"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private</a:t>
            </a:r>
            <a:r>
              <a:rPr dirty="0" sz="1800" spc="-6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http: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HttpClient)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{}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httpOptions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headers: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HttpHeaders({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'Content-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Type'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'application/json'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512445" marR="4517390" indent="-25019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login(loginRequest: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AuthRequest){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url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${this</a:t>
            </a:r>
            <a:r>
              <a:rPr dirty="0" sz="1800" spc="-10">
                <a:latin typeface="Consolas"/>
                <a:cs typeface="Consolas"/>
              </a:rPr>
              <a:t>.url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/auth`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7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.http.post&lt;string&gt;(url,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loginRequest,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.httpOptions);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//rest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service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omitted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for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sake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brevity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1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 spc="-1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30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 spc="-10"/>
              <a:t>Implementing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 spc="-20"/>
              <a:t>SPA</a:t>
            </a:r>
            <a:r>
              <a:rPr dirty="0"/>
              <a:t>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1050016" y="6464985"/>
            <a:ext cx="18097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7153402" y="1758695"/>
          <a:ext cx="4079240" cy="1200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6144"/>
                <a:gridCol w="1253490"/>
                <a:gridCol w="1504314"/>
                <a:gridCol w="325754"/>
              </a:tblGrid>
              <a:tr h="342265">
                <a:tc>
                  <a:txBody>
                    <a:bodyPr/>
                    <a:lstStyle/>
                    <a:p>
                      <a:pPr algn="r" marR="546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export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111F35"/>
                      </a:solidFill>
                      <a:prstDash val="solid"/>
                    </a:lnL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interface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1750"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AuthRequest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1750"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1750"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marR="54610">
                        <a:lnSpc>
                          <a:spcPts val="1880"/>
                        </a:lnSpc>
                      </a:pPr>
                      <a:r>
                        <a:rPr dirty="0" sz="1800" spc="-20">
                          <a:latin typeface="Consolas"/>
                          <a:cs typeface="Consolas"/>
                        </a:rPr>
                        <a:t>usr: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80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string,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</a:tcPr>
                </a:tc>
              </a:tr>
              <a:tr h="583565">
                <a:tc>
                  <a:txBody>
                    <a:bodyPr/>
                    <a:lstStyle/>
                    <a:p>
                      <a:pPr marL="340995">
                        <a:lnSpc>
                          <a:spcPts val="1875"/>
                        </a:lnSpc>
                      </a:pPr>
                      <a:r>
                        <a:rPr dirty="0" sz="1800" spc="-20">
                          <a:latin typeface="Consolas"/>
                          <a:cs typeface="Consolas"/>
                        </a:rPr>
                        <a:t>pwd: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75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string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1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 spc="-1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30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 spc="-10"/>
              <a:t>Implementing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 spc="-20"/>
              <a:t>SPA</a:t>
            </a:r>
            <a:r>
              <a:rPr dirty="0"/>
              <a:t>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14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95"/>
              <a:t>TO-</a:t>
            </a:r>
            <a:r>
              <a:rPr dirty="0" spc="165"/>
              <a:t>DO</a:t>
            </a:r>
            <a:r>
              <a:rPr dirty="0" spc="-5"/>
              <a:t> </a:t>
            </a:r>
            <a:r>
              <a:rPr dirty="0" spc="-260"/>
              <a:t>LIST</a:t>
            </a:r>
            <a:r>
              <a:rPr dirty="0" spc="-5"/>
              <a:t> </a:t>
            </a:r>
            <a:r>
              <a:rPr dirty="0"/>
              <a:t>SPA:</a:t>
            </a:r>
            <a:r>
              <a:rPr dirty="0" spc="10"/>
              <a:t> </a:t>
            </a:r>
            <a:r>
              <a:rPr dirty="0" spc="50"/>
              <a:t>AUTH</a:t>
            </a:r>
            <a:r>
              <a:rPr dirty="0" spc="20"/>
              <a:t> </a:t>
            </a:r>
            <a:r>
              <a:rPr dirty="0" spc="-114"/>
              <a:t>INTERCEPTOR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1748027"/>
            <a:ext cx="10427335" cy="424751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342265" marR="1677035" indent="-250190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authInterceptor(request: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HttpRequest,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next: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HttpHandlerFn)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authService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inject(AuthService);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token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authService.getToken();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(token)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 marR="13042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Clone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request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and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add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Authorization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header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with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token </a:t>
            </a:r>
            <a:r>
              <a:rPr dirty="0" sz="1800">
                <a:latin typeface="Consolas"/>
                <a:cs typeface="Consolas"/>
              </a:rPr>
              <a:t>request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request.clone({</a:t>
            </a:r>
            <a:endParaRPr sz="1800">
              <a:latin typeface="Consolas"/>
              <a:cs typeface="Consolas"/>
            </a:endParaRPr>
          </a:p>
          <a:p>
            <a:pPr marL="84328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setHeaders: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109474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Authorization: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'Bearer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+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token</a:t>
            </a:r>
            <a:endParaRPr sz="1800">
              <a:latin typeface="Consolas"/>
              <a:cs typeface="Consolas"/>
            </a:endParaRPr>
          </a:p>
          <a:p>
            <a:pPr algn="r" marR="945007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algn="r" marR="945007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next(request);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5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Continue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with</a:t>
            </a:r>
            <a:r>
              <a:rPr dirty="0" sz="1800" spc="-5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subsequent</a:t>
            </a:r>
            <a:r>
              <a:rPr dirty="0" sz="1800" spc="-5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interceptors,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if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any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95"/>
              <a:t>TO-</a:t>
            </a:r>
            <a:r>
              <a:rPr dirty="0" spc="165"/>
              <a:t>DO</a:t>
            </a:r>
            <a:r>
              <a:rPr dirty="0" spc="55"/>
              <a:t> </a:t>
            </a:r>
            <a:r>
              <a:rPr dirty="0" spc="-260"/>
              <a:t>LIST</a:t>
            </a:r>
            <a:r>
              <a:rPr dirty="0" spc="40"/>
              <a:t> </a:t>
            </a:r>
            <a:r>
              <a:rPr dirty="0"/>
              <a:t>SPA:</a:t>
            </a:r>
            <a:r>
              <a:rPr dirty="0" spc="60"/>
              <a:t> </a:t>
            </a:r>
            <a:r>
              <a:rPr dirty="0" spc="500"/>
              <a:t>TO-</a:t>
            </a:r>
            <a:r>
              <a:rPr dirty="0" spc="165"/>
              <a:t>DO</a:t>
            </a:r>
            <a:r>
              <a:rPr dirty="0" spc="55"/>
              <a:t> </a:t>
            </a:r>
            <a:r>
              <a:rPr dirty="0"/>
              <a:t>PAGE</a:t>
            </a:r>
            <a:r>
              <a:rPr dirty="0" spc="60"/>
              <a:t> COMPONENT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609344"/>
            <a:ext cx="10803890" cy="4525010"/>
          </a:xfrm>
          <a:custGeom>
            <a:avLst/>
            <a:gdLst/>
            <a:ahLst/>
            <a:cxnLst/>
            <a:rect l="l" t="t" r="r" b="b"/>
            <a:pathLst>
              <a:path w="10803890" h="4525010">
                <a:moveTo>
                  <a:pt x="0" y="4524756"/>
                </a:moveTo>
                <a:lnTo>
                  <a:pt x="10803636" y="4524756"/>
                </a:lnTo>
                <a:lnTo>
                  <a:pt x="10803636" y="0"/>
                </a:lnTo>
                <a:lnTo>
                  <a:pt x="0" y="0"/>
                </a:lnTo>
                <a:lnTo>
                  <a:pt x="0" y="4524756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628902"/>
            <a:ext cx="6543675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 marR="2512060" indent="-25019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TodoPageComponent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createTodoSubmitted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262255" marR="113284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restService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inject(RestBackendService); </a:t>
            </a:r>
            <a:r>
              <a:rPr dirty="0" sz="1800">
                <a:latin typeface="Consolas"/>
                <a:cs typeface="Consolas"/>
              </a:rPr>
              <a:t>toastr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inject(ToastrService);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router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inject(Router);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todos: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TodoItem[]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[];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//array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TodoItems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newTodoForm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FormGroup({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todo: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FormControl(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[Validators.required])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262255" marR="213550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ngOnInit()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.fetchTodos();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 </a:t>
            </a:r>
            <a:r>
              <a:rPr dirty="0" sz="1800">
                <a:latin typeface="Consolas"/>
                <a:cs typeface="Consolas"/>
              </a:rPr>
              <a:t>fetchTodos(){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/*...*/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 </a:t>
            </a:r>
            <a:r>
              <a:rPr dirty="0" sz="1800">
                <a:latin typeface="Consolas"/>
                <a:cs typeface="Consolas"/>
              </a:rPr>
              <a:t>handleTodoSubmit(){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/*...*/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handleDelete(id: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undefined){</a:t>
            </a:r>
            <a:r>
              <a:rPr dirty="0" sz="1800" spc="-8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/*...*/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1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 spc="-1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30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 spc="-10"/>
              <a:t>Implementing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 spc="-20"/>
              <a:t>SPA</a:t>
            </a:r>
            <a:r>
              <a:rPr dirty="0"/>
              <a:t>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14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1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 spc="-1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30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 spc="-10"/>
              <a:t>Implementing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 spc="-20"/>
              <a:t>SPA</a:t>
            </a:r>
            <a:r>
              <a:rPr dirty="0"/>
              <a:t>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14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84112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95"/>
              <a:t>TO-</a:t>
            </a:r>
            <a:r>
              <a:rPr dirty="0" spc="165"/>
              <a:t>DO</a:t>
            </a:r>
            <a:r>
              <a:rPr dirty="0" spc="-5"/>
              <a:t> </a:t>
            </a:r>
            <a:r>
              <a:rPr dirty="0" spc="-260"/>
              <a:t>LIST</a:t>
            </a:r>
            <a:r>
              <a:rPr dirty="0" spc="-5"/>
              <a:t> </a:t>
            </a:r>
            <a:r>
              <a:rPr dirty="0"/>
              <a:t>SPA:</a:t>
            </a:r>
            <a:r>
              <a:rPr dirty="0" spc="10"/>
              <a:t> </a:t>
            </a:r>
            <a:r>
              <a:rPr dirty="0" spc="500"/>
              <a:t>TO-</a:t>
            </a:r>
            <a:r>
              <a:rPr dirty="0" spc="165"/>
              <a:t>DO</a:t>
            </a:r>
            <a:r>
              <a:rPr dirty="0" spc="10"/>
              <a:t> </a:t>
            </a:r>
            <a:r>
              <a:rPr dirty="0" spc="-55"/>
              <a:t>TEMPLATE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7952"/>
            <a:ext cx="9987280" cy="245491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Interesting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bit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shown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below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Note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800000"/>
                </a:solidFill>
                <a:latin typeface="Consolas"/>
                <a:cs typeface="Consolas"/>
              </a:rPr>
              <a:t>&lt;app-todo-item&gt;</a:t>
            </a:r>
            <a:r>
              <a:rPr dirty="0" sz="2400" spc="-62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separate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component,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taking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care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of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displaying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Item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TodoItem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show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passed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property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Note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emit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E40000"/>
                </a:solidFill>
                <a:latin typeface="Consolas"/>
                <a:cs typeface="Consolas"/>
              </a:rPr>
              <a:t>delete</a:t>
            </a:r>
            <a:r>
              <a:rPr dirty="0" sz="2400" spc="-660">
                <a:solidFill>
                  <a:srgbClr val="E40000"/>
                </a:solidFill>
                <a:latin typeface="Consolas"/>
                <a:cs typeface="Consolas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events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4151376"/>
            <a:ext cx="1042733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algn="ctr" marR="6725284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&lt;ul</a:t>
            </a:r>
            <a:r>
              <a:rPr dirty="0" sz="1800" spc="3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class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"classes-omitted"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algn="ctr" marR="53460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@for</a:t>
            </a:r>
            <a:r>
              <a:rPr dirty="0" sz="1800">
                <a:latin typeface="Consolas"/>
                <a:cs typeface="Consolas"/>
              </a:rPr>
              <a:t>(item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of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todos;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track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item.id){</a:t>
            </a:r>
            <a:endParaRPr sz="1800">
              <a:latin typeface="Consolas"/>
              <a:cs typeface="Consolas"/>
            </a:endParaRPr>
          </a:p>
          <a:p>
            <a:pPr algn="ctr" marR="121158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&lt;app-todo-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item</a:t>
            </a:r>
            <a:r>
              <a:rPr dirty="0" sz="1800" spc="-2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[todoItem]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item</a:t>
            </a:r>
            <a:r>
              <a:rPr dirty="0" sz="1800" spc="-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(delete)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"handleDelete($event)"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algn="ctr" marR="848106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@empty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algn="ctr" marR="221361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&lt;li</a:t>
            </a:r>
            <a:r>
              <a:rPr dirty="0" sz="1800" spc="-1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class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"classes-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omitted"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1800">
                <a:latin typeface="Consolas"/>
                <a:cs typeface="Consolas"/>
              </a:rPr>
              <a:t>No</a:t>
            </a:r>
            <a:r>
              <a:rPr dirty="0" sz="1800" spc="-10">
                <a:latin typeface="Consolas"/>
                <a:cs typeface="Consolas"/>
              </a:rPr>
              <a:t> to-</a:t>
            </a:r>
            <a:r>
              <a:rPr dirty="0" sz="1800">
                <a:latin typeface="Consolas"/>
                <a:cs typeface="Consolas"/>
              </a:rPr>
              <a:t>do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items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</a:t>
            </a:r>
            <a:r>
              <a:rPr dirty="0" sz="1800" spc="-10">
                <a:latin typeface="Consolas"/>
                <a:cs typeface="Consolas"/>
              </a:rPr>
              <a:t> show.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&lt;/li&gt;</a:t>
            </a:r>
            <a:endParaRPr sz="1800">
              <a:latin typeface="Consolas"/>
              <a:cs typeface="Consolas"/>
            </a:endParaRPr>
          </a:p>
          <a:p>
            <a:pPr algn="ctr" marR="960882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algn="ctr" marR="960882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&lt;/ul&gt;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1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 spc="-1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30"/>
              <a:t> </a:t>
            </a:r>
            <a:r>
              <a:rPr dirty="0"/>
              <a:t>22 -</a:t>
            </a:r>
            <a:r>
              <a:rPr dirty="0" spc="-15"/>
              <a:t> </a:t>
            </a:r>
            <a:r>
              <a:rPr dirty="0" spc="-10"/>
              <a:t>Implementing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 spc="-20"/>
              <a:t>SPA</a:t>
            </a:r>
            <a:r>
              <a:rPr dirty="0"/>
              <a:t> with</a:t>
            </a:r>
            <a:r>
              <a:rPr dirty="0" spc="-15"/>
              <a:t> </a:t>
            </a:r>
            <a:r>
              <a:rPr dirty="0" spc="-10"/>
              <a:t>Angular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14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70"/>
              <a:t> </a:t>
            </a:r>
            <a:r>
              <a:rPr dirty="0" spc="495"/>
              <a:t>TO-</a:t>
            </a:r>
            <a:r>
              <a:rPr dirty="0" spc="165"/>
              <a:t>DO</a:t>
            </a:r>
            <a:r>
              <a:rPr dirty="0" spc="-65"/>
              <a:t> </a:t>
            </a:r>
            <a:r>
              <a:rPr dirty="0" spc="-165"/>
              <a:t>ITEM</a:t>
            </a:r>
            <a:r>
              <a:rPr dirty="0" spc="-80"/>
              <a:t> </a:t>
            </a:r>
            <a:r>
              <a:rPr dirty="0" spc="45"/>
              <a:t>COMPONENT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2153411"/>
            <a:ext cx="10427335" cy="3694429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TodoItemComponent</a:t>
            </a:r>
            <a:r>
              <a:rPr dirty="0" sz="1800" spc="-8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@Input</a:t>
            </a:r>
            <a:r>
              <a:rPr dirty="0" sz="1800">
                <a:latin typeface="Consolas"/>
                <a:cs typeface="Consolas"/>
              </a:rPr>
              <a:t>({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required: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>
                <a:latin typeface="Consolas"/>
                <a:cs typeface="Consolas"/>
              </a:rPr>
              <a:t>})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todoItem: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TodoItem;</a:t>
            </a:r>
            <a:endParaRPr sz="1800">
              <a:latin typeface="Consolas"/>
              <a:cs typeface="Consolas"/>
            </a:endParaRPr>
          </a:p>
          <a:p>
            <a:pPr marL="342265" marR="105029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@Output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delete: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EventEmitter&lt;number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undefined&gt;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EventEmitter(); </a:t>
            </a:r>
            <a:r>
              <a:rPr dirty="0" sz="1800">
                <a:latin typeface="Consolas"/>
                <a:cs typeface="Consolas"/>
              </a:rPr>
              <a:t>editLink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""</a:t>
            </a:r>
            <a:r>
              <a:rPr dirty="0" sz="1800" spc="-25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restBackend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inject(RestBackendService);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toastr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inject(ToastrService);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2265" marR="2806065">
              <a:lnSpc>
                <a:spcPct val="2001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ngOnInit(){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.editLink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"/todos/"</a:t>
            </a:r>
            <a:r>
              <a:rPr dirty="0" sz="1800">
                <a:latin typeface="Consolas"/>
                <a:cs typeface="Consolas"/>
              </a:rPr>
              <a:t>+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.todoItem?.id;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 </a:t>
            </a:r>
            <a:r>
              <a:rPr dirty="0" sz="1800">
                <a:latin typeface="Consolas"/>
                <a:cs typeface="Consolas"/>
              </a:rPr>
              <a:t>handleToggleDoneStatus(){</a:t>
            </a:r>
            <a:r>
              <a:rPr dirty="0" sz="1800" spc="-8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/*...*/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handleDelete(){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/*...*/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LUIGI LIBERO LUCIO STARACE</dc:creator>
  <dc:title>PowerPoint Presentation</dc:title>
  <dcterms:created xsi:type="dcterms:W3CDTF">2025-04-12T10:15:31Z</dcterms:created>
  <dcterms:modified xsi:type="dcterms:W3CDTF">2025-04-12T10:15:31Z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2024-06-03T00:00:00Z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2025-04-12T00:00:00Z</vt:filetime>
  </property>
  <property fmtid="{D5CDD505-2E9C-101B-9397-08002B2CF9AE}" pid="5" name="MSIP_Label_2ad0b24d-6422-44b0-b3de-abb3a9e8c81a_ActionId">
    <vt:lpwstr>9af74b0e-ab53-453f-acd9-6db9dfe131b8</vt:lpwstr>
  </property>
  <property fmtid="{D5CDD505-2E9C-101B-9397-08002B2CF9AE}" pid="6" name="MSIP_Label_2ad0b24d-6422-44b0-b3de-abb3a9e8c81a_ContentBits">
    <vt:lpwstr>0</vt:lpwstr>
  </property>
  <property fmtid="{D5CDD505-2E9C-101B-9397-08002B2CF9AE}" pid="7" name="MSIP_Label_2ad0b24d-6422-44b0-b3de-abb3a9e8c81a_Enabled">
    <vt:lpwstr>true</vt:lpwstr>
  </property>
  <property fmtid="{D5CDD505-2E9C-101B-9397-08002B2CF9AE}" pid="8" name="MSIP_Label_2ad0b24d-6422-44b0-b3de-abb3a9e8c81a_Method">
    <vt:lpwstr>Standard</vt:lpwstr>
  </property>
  <property fmtid="{D5CDD505-2E9C-101B-9397-08002B2CF9AE}" pid="9" name="MSIP_Label_2ad0b24d-6422-44b0-b3de-abb3a9e8c81a_Name">
    <vt:lpwstr>defa4170-0d19-0005-0004-bc88714345d2</vt:lpwstr>
  </property>
  <property fmtid="{D5CDD505-2E9C-101B-9397-08002B2CF9AE}" pid="10" name="MSIP_Label_2ad0b24d-6422-44b0-b3de-abb3a9e8c81a_SetDate">
    <vt:lpwstr>2023-05-27T10:34:22Z</vt:lpwstr>
  </property>
  <property fmtid="{D5CDD505-2E9C-101B-9397-08002B2CF9AE}" pid="11" name="MSIP_Label_2ad0b24d-6422-44b0-b3de-abb3a9e8c81a_SiteId">
    <vt:lpwstr>2fcfe26a-bb62-46b0-b1e3-28f9da0c45fd</vt:lpwstr>
  </property>
  <property fmtid="{D5CDD505-2E9C-101B-9397-08002B2CF9AE}" pid="12" name="Producer">
    <vt:lpwstr>Microsoft® PowerPoint® for Microsoft 365</vt:lpwstr>
  </property>
</Properties>
</file>